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11088826" r:id="rId2"/>
    <p:sldId id="11088827" r:id="rId3"/>
    <p:sldId id="11088828" r:id="rId4"/>
    <p:sldId id="11088829" r:id="rId5"/>
    <p:sldId id="11088830" r:id="rId6"/>
    <p:sldId id="11088831" r:id="rId7"/>
    <p:sldId id="11088832" r:id="rId8"/>
    <p:sldId id="11088833" r:id="rId9"/>
    <p:sldId id="11088834" r:id="rId10"/>
    <p:sldId id="11088835" r:id="rId11"/>
    <p:sldId id="11088836" r:id="rId12"/>
    <p:sldId id="11088837" r:id="rId13"/>
    <p:sldId id="11088838" r:id="rId14"/>
    <p:sldId id="11088840" r:id="rId15"/>
    <p:sldId id="11088839" r:id="rId16"/>
    <p:sldId id="11088841" r:id="rId17"/>
    <p:sldId id="11088842" r:id="rId18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6" autoAdjust="0"/>
    <p:restoredTop sz="87435" autoAdjust="0"/>
  </p:normalViewPr>
  <p:slideViewPr>
    <p:cSldViewPr snapToGrid="0" showGuides="1">
      <p:cViewPr varScale="1">
        <p:scale>
          <a:sx n="83" d="100"/>
          <a:sy n="83" d="100"/>
        </p:scale>
        <p:origin x="54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2024-08-07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队列</a:t>
            </a:r>
            <a:endParaRPr lang="zh-CN" altLang="en-US" sz="5900" b="1" dirty="0">
              <a:solidFill>
                <a:srgbClr val="075AA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57345" y="1313633"/>
            <a:ext cx="3273786" cy="65421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 defTabSz="252095">
              <a:defRPr/>
            </a:pPr>
            <a:r>
              <a:rPr lang="zh-CN" altLang="en-US" sz="3700" dirty="0">
                <a:solidFill>
                  <a:schemeClr val="bg1"/>
                </a:solidFill>
                <a:latin typeface="Arial" panose="020B0604020202020204" pitchFamily="34" charset="0"/>
                <a:ea typeface="Source Han Serif SC" panose="02020400000000000000" pitchFamily="18" charset="-122"/>
                <a:cs typeface="Arial" panose="020B0604020202020204" pitchFamily="34" charset="0"/>
                <a:sym typeface="Source Han Serif SC" panose="02020400000000000000" pitchFamily="18" charset="-122"/>
              </a:rPr>
              <a:t>第三章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37857"/>
            <a:ext cx="3329076" cy="837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3.1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队列的定义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34" y="560650"/>
            <a:ext cx="89554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队列简称队，类似于生活中的排队策略，是一种可以实现“先进先出”的线性存储结构，存入数据只能从一端（称为队尾）进入，取出数据只能从另一端（队首）取出。向队列中插入新元素称为进队或入队，新元素进队后就成为新的队尾元素；从队列中删除元素称为离队或出队，元素离队后，其后继元素就成为队首元素。</a:t>
            </a: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65555" y="2650444"/>
            <a:ext cx="5848625" cy="1968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63219"/>
            <a:ext cx="89601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队列的基本操作有：</a:t>
            </a:r>
          </a:p>
          <a:p>
            <a:pPr lvl="0"/>
            <a:r>
              <a:rPr lang="zh-CN" altLang="zh-CN" dirty="0"/>
              <a:t>入队列：</a:t>
            </a:r>
            <a:r>
              <a:rPr lang="en-US" altLang="zh-CN" dirty="0" err="1"/>
              <a:t>AddQueue</a:t>
            </a:r>
            <a:r>
              <a:rPr lang="en-US" altLang="zh-CN" dirty="0"/>
              <a:t>(</a:t>
            </a:r>
            <a:r>
              <a:rPr lang="en-US" altLang="zh-CN" dirty="0" err="1"/>
              <a:t>Q,x</a:t>
            </a:r>
            <a:r>
              <a:rPr lang="en-US" altLang="zh-CN" dirty="0"/>
              <a:t>)</a:t>
            </a:r>
            <a:r>
              <a:rPr lang="zh-CN" altLang="zh-CN" dirty="0"/>
              <a:t>，将元素</a:t>
            </a:r>
            <a:r>
              <a:rPr lang="en-US" altLang="zh-CN" dirty="0"/>
              <a:t>x</a:t>
            </a:r>
            <a:r>
              <a:rPr lang="zh-CN" altLang="zh-CN" dirty="0"/>
              <a:t>插入到队列</a:t>
            </a:r>
            <a:r>
              <a:rPr lang="en-US" altLang="zh-CN" dirty="0"/>
              <a:t>Q</a:t>
            </a:r>
            <a:r>
              <a:rPr lang="zh-CN" altLang="zh-CN" dirty="0"/>
              <a:t>中。</a:t>
            </a:r>
          </a:p>
          <a:p>
            <a:pPr lvl="0"/>
            <a:r>
              <a:rPr lang="zh-CN" altLang="zh-CN" dirty="0"/>
              <a:t>出队列：</a:t>
            </a:r>
            <a:r>
              <a:rPr lang="en-US" altLang="zh-CN" dirty="0" err="1"/>
              <a:t>DelQueue</a:t>
            </a:r>
            <a:r>
              <a:rPr lang="en-US" altLang="zh-CN" dirty="0"/>
              <a:t>(Q)</a:t>
            </a:r>
            <a:r>
              <a:rPr lang="zh-CN" altLang="zh-CN" dirty="0"/>
              <a:t>，从队列</a:t>
            </a:r>
            <a:r>
              <a:rPr lang="en-US" altLang="zh-CN" dirty="0"/>
              <a:t>Q</a:t>
            </a:r>
            <a:r>
              <a:rPr lang="zh-CN" altLang="zh-CN" dirty="0"/>
              <a:t>中退出一个元素。</a:t>
            </a:r>
          </a:p>
          <a:p>
            <a:pPr lvl="0"/>
            <a:r>
              <a:rPr lang="zh-CN" altLang="zh-CN" dirty="0"/>
              <a:t>取队首元素：</a:t>
            </a:r>
            <a:r>
              <a:rPr lang="en-US" altLang="zh-CN" dirty="0" err="1"/>
              <a:t>GetHead</a:t>
            </a:r>
            <a:r>
              <a:rPr lang="en-US" altLang="zh-CN" dirty="0"/>
              <a:t>(Q)</a:t>
            </a:r>
            <a:r>
              <a:rPr lang="zh-CN" altLang="zh-CN" dirty="0"/>
              <a:t>，返回当前的队首元素。</a:t>
            </a:r>
          </a:p>
          <a:p>
            <a:pPr lvl="0"/>
            <a:r>
              <a:rPr lang="zh-CN" altLang="zh-CN" dirty="0"/>
              <a:t>判断队列是否为空：</a:t>
            </a:r>
            <a:r>
              <a:rPr lang="en-US" altLang="zh-CN" dirty="0"/>
              <a:t>Empty(Q)</a:t>
            </a:r>
            <a:r>
              <a:rPr lang="zh-CN" altLang="zh-CN" dirty="0"/>
              <a:t>，若队列</a:t>
            </a:r>
            <a:r>
              <a:rPr lang="en-US" altLang="zh-CN" dirty="0"/>
              <a:t>Q</a:t>
            </a:r>
            <a:r>
              <a:rPr lang="zh-CN" altLang="zh-CN" dirty="0"/>
              <a:t>为空，则返回</a:t>
            </a:r>
            <a:r>
              <a:rPr lang="en-US" altLang="zh-CN" dirty="0"/>
              <a:t>1</a:t>
            </a:r>
            <a:r>
              <a:rPr lang="zh-CN" altLang="zh-CN" dirty="0"/>
              <a:t>，否则返回</a:t>
            </a:r>
            <a:r>
              <a:rPr lang="en-US" altLang="zh-CN" dirty="0"/>
              <a:t>0</a:t>
            </a:r>
            <a:r>
              <a:rPr lang="zh-CN" altLang="zh-CN" dirty="0"/>
              <a:t>。</a:t>
            </a:r>
          </a:p>
          <a:p>
            <a:pPr lvl="0"/>
            <a:r>
              <a:rPr lang="zh-CN" altLang="zh-CN" dirty="0"/>
              <a:t>显示队列中元素：</a:t>
            </a:r>
            <a:r>
              <a:rPr lang="en-US" altLang="zh-CN" dirty="0"/>
              <a:t>Display(Q)</a:t>
            </a:r>
            <a:r>
              <a:rPr lang="zh-CN" altLang="zh-CN" dirty="0"/>
              <a:t>，从队首到队尾顺序显示队中所有元素。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6869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3.2 </a:t>
            </a:r>
            <a:r>
              <a:rPr lang="zh-CN" altLang="zh-CN" b="1"/>
              <a:t>数组</a:t>
            </a:r>
            <a:r>
              <a:rPr lang="zh-CN" altLang="en-US" b="1"/>
              <a:t>模拟</a:t>
            </a:r>
            <a:r>
              <a:rPr lang="zh-CN" altLang="zh-CN" b="1"/>
              <a:t>队列</a:t>
            </a:r>
            <a:endParaRPr lang="zh-CN" altLang="zh-CN" b="1" dirty="0"/>
          </a:p>
        </p:txBody>
      </p:sp>
      <p:sp>
        <p:nvSpPr>
          <p:cNvPr id="3" name="矩形 2"/>
          <p:cNvSpPr/>
          <p:nvPr/>
        </p:nvSpPr>
        <p:spPr>
          <a:xfrm>
            <a:off x="70702" y="492443"/>
            <a:ext cx="907329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void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AddQueue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8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value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&gt;=</a:t>
            </a:r>
            <a:r>
              <a:rPr lang="en-US" altLang="zh-CN" sz="18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4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8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18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18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错误，队列已满</a:t>
            </a:r>
            <a:r>
              <a:rPr lang="en-US" altLang="zh-CN" sz="18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!\n"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 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Queue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[++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 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DelQueue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8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18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18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//</a:t>
            </a:r>
            <a:r>
              <a:rPr lang="zh-CN" altLang="zh-CN" sz="18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队列为空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8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v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Queue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[++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];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</a:t>
            </a:r>
            <a:r>
              <a:rPr lang="en-US" altLang="zh-CN" sz="18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8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队首元素暂存到</a:t>
            </a:r>
            <a:r>
              <a:rPr lang="en-US" altLang="zh-CN" sz="18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v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Queue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18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</a:t>
            </a:r>
            <a:r>
              <a:rPr lang="en-US" altLang="zh-CN" sz="18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8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清空队首元素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8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v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8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 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549" y="422401"/>
            <a:ext cx="89507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void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Display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5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Queue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]^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用按位异或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“^”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替代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“!=”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的操作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Queue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' '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"\n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队首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front="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 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队尾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rear="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"\n\n"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6869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3.3 </a:t>
            </a:r>
            <a:r>
              <a:rPr lang="zh-CN" altLang="zh-CN" b="1" dirty="0"/>
              <a:t>数组循环队列</a:t>
            </a:r>
          </a:p>
        </p:txBody>
      </p:sp>
      <p:sp>
        <p:nvSpPr>
          <p:cNvPr id="3" name="矩形 2"/>
          <p:cNvSpPr/>
          <p:nvPr/>
        </p:nvSpPr>
        <p:spPr>
          <a:xfrm>
            <a:off x="65988" y="525036"/>
            <a:ext cx="8964890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如果数组仿真队列进行插入一次删一次的操作，只要</a:t>
            </a:r>
            <a:r>
              <a:rPr lang="en-US" altLang="zh-CN" dirty="0"/>
              <a:t>2</a:t>
            </a:r>
            <a:r>
              <a:rPr lang="en-US" altLang="zh-CN" i="1" dirty="0"/>
              <a:t>n</a:t>
            </a:r>
            <a:r>
              <a:rPr lang="zh-CN" altLang="zh-CN" dirty="0"/>
              <a:t>次数组就会被用光，当数组仿真的队列的元素出队后，队的首部会空出许多位置，而队尾指针指向队列中最后一个元素位置，空出的位置将无法再被利用，导致队列空间的浪费，并且在新的数据元素入队时，会造成“假溢出”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168" y="2827647"/>
            <a:ext cx="5577690" cy="1390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986" y="70961"/>
            <a:ext cx="899788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解决的方法是将线形数组模拟成环形。例如，一个有</a:t>
            </a:r>
            <a:r>
              <a:rPr lang="en-US" altLang="zh-CN" dirty="0"/>
              <a:t>4</a:t>
            </a:r>
            <a:r>
              <a:rPr lang="zh-CN" altLang="zh-CN" dirty="0"/>
              <a:t>个元素的环状数组</a:t>
            </a:r>
            <a:r>
              <a:rPr lang="en-US" altLang="zh-CN" dirty="0"/>
              <a:t> a[4]</a:t>
            </a:r>
            <a:r>
              <a:rPr lang="zh-CN" altLang="zh-CN" dirty="0"/>
              <a:t>的入队出队操作如图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5618" y="990025"/>
            <a:ext cx="6212513" cy="3285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810" y="124900"/>
            <a:ext cx="871979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队满条件是</a:t>
            </a:r>
            <a:r>
              <a:rPr lang="en-US" altLang="zh-CN" dirty="0"/>
              <a:t>Rear</a:t>
            </a:r>
            <a:r>
              <a:rPr lang="zh-CN" altLang="zh-CN" dirty="0"/>
              <a:t>＝</a:t>
            </a:r>
            <a:r>
              <a:rPr lang="en-US" altLang="zh-CN" dirty="0"/>
              <a:t>Front</a:t>
            </a:r>
            <a:r>
              <a:rPr lang="zh-CN" altLang="zh-CN" dirty="0"/>
              <a:t>，队空条件也是</a:t>
            </a:r>
            <a:r>
              <a:rPr lang="en-US" altLang="zh-CN" dirty="0"/>
              <a:t>Rear</a:t>
            </a:r>
            <a:r>
              <a:rPr lang="zh-CN" altLang="zh-CN" dirty="0"/>
              <a:t>＝</a:t>
            </a:r>
            <a:r>
              <a:rPr lang="en-US" altLang="zh-CN" dirty="0"/>
              <a:t>Front</a:t>
            </a:r>
            <a:r>
              <a:rPr lang="zh-CN" altLang="zh-CN" dirty="0"/>
              <a:t>，所以无法判断究竟是队满还是队空。</a:t>
            </a:r>
          </a:p>
        </p:txBody>
      </p:sp>
      <p:sp>
        <p:nvSpPr>
          <p:cNvPr id="3" name="矩形 2"/>
          <p:cNvSpPr/>
          <p:nvPr/>
        </p:nvSpPr>
        <p:spPr>
          <a:xfrm>
            <a:off x="358218" y="1598632"/>
            <a:ext cx="856896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解决方法是在入队时少用一个数据元素空间。</a:t>
            </a:r>
          </a:p>
          <a:p>
            <a:r>
              <a:rPr lang="zh-CN" altLang="zh-CN" dirty="0"/>
              <a:t>此时队满的条件可用（</a:t>
            </a:r>
            <a:r>
              <a:rPr lang="en-US" altLang="zh-CN" dirty="0"/>
              <a:t>Rear</a:t>
            </a:r>
            <a:r>
              <a:rPr lang="zh-CN" altLang="zh-CN" dirty="0"/>
              <a:t>＋</a:t>
            </a:r>
            <a:r>
              <a:rPr lang="en-US" altLang="zh-CN" dirty="0"/>
              <a:t>1) %</a:t>
            </a:r>
            <a:r>
              <a:rPr lang="en-US" altLang="zh-CN" dirty="0" err="1"/>
              <a:t>MaxSize</a:t>
            </a:r>
            <a:r>
              <a:rPr lang="zh-CN" altLang="zh-CN" dirty="0"/>
              <a:t>＝</a:t>
            </a:r>
            <a:r>
              <a:rPr lang="en-US" altLang="zh-CN" dirty="0"/>
              <a:t>Front</a:t>
            </a:r>
            <a:r>
              <a:rPr lang="zh-CN" altLang="zh-CN" dirty="0"/>
              <a:t>来判断，其中</a:t>
            </a:r>
            <a:r>
              <a:rPr lang="en-US" altLang="zh-CN" dirty="0" err="1"/>
              <a:t>MaxSize</a:t>
            </a:r>
            <a:r>
              <a:rPr lang="zh-CN" altLang="zh-CN" dirty="0"/>
              <a:t>为队列空间大小。</a:t>
            </a:r>
          </a:p>
          <a:p>
            <a:r>
              <a:rPr lang="zh-CN" altLang="zh-CN" dirty="0"/>
              <a:t>队空条件仍为</a:t>
            </a:r>
            <a:r>
              <a:rPr lang="en-US" altLang="zh-CN" dirty="0"/>
              <a:t>Rear</a:t>
            </a:r>
            <a:r>
              <a:rPr lang="zh-CN" altLang="zh-CN" dirty="0"/>
              <a:t>＝</a:t>
            </a:r>
            <a:r>
              <a:rPr lang="en-US" altLang="zh-CN" dirty="0"/>
              <a:t>Front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5542" y="288869"/>
            <a:ext cx="883291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void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AddQueue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4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value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//value</a:t>
            </a:r>
            <a:r>
              <a:rPr lang="zh-CN" altLang="zh-CN" sz="2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入队列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((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)%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MAXN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/>
            <a:r>
              <a:rPr lang="en-US" altLang="zh-CN" sz="2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4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2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队满</a:t>
            </a:r>
            <a:r>
              <a:rPr lang="en-US" altLang="zh-CN" sz="2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"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endl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Queue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value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Rear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=(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)%</a:t>
            </a:r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MAXN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017" y="653579"/>
            <a:ext cx="890515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DelQueue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删除队列数据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Rear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队列为空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endl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temp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Queue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Queue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]=-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取出后该位置设置为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-1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)%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MAXN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指向下一位置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temp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输出元素值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988" y="240697"/>
            <a:ext cx="89648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【题目描述】舞林大会（</a:t>
            </a:r>
            <a:r>
              <a:rPr lang="en-US" altLang="zh-CN" sz="2000" dirty="0"/>
              <a:t>party</a:t>
            </a:r>
            <a:r>
              <a:rPr lang="zh-CN" altLang="zh-CN" sz="2000" dirty="0"/>
              <a:t>）</a:t>
            </a:r>
          </a:p>
          <a:p>
            <a:r>
              <a:rPr lang="zh-CN" altLang="zh-CN" sz="2000" dirty="0"/>
              <a:t>舞林大会吸引了很多人，参加比赛的女选手和男选手进入赛场时各自排成一队。比赛开始时，依次从男队和女队的队头上各出一人配成舞伴。规定每场比赛只能有一对跳舞者，若两队初始不相同，则较长的那一队中未配对者等待下一轮舞曲，现要求输出第</a:t>
            </a:r>
            <a:r>
              <a:rPr lang="en-US" altLang="zh-CN" sz="2000" i="1" dirty="0"/>
              <a:t>k</a:t>
            </a:r>
            <a:r>
              <a:rPr lang="zh-CN" altLang="zh-CN" sz="2000" dirty="0"/>
              <a:t>轮测试的匹配情况。</a:t>
            </a:r>
          </a:p>
          <a:p>
            <a:r>
              <a:rPr lang="zh-CN" altLang="zh-CN" sz="2000" dirty="0"/>
              <a:t>【输入格式】</a:t>
            </a:r>
          </a:p>
          <a:p>
            <a:r>
              <a:rPr lang="zh-CN" altLang="zh-CN" sz="2000" dirty="0"/>
              <a:t>第一行为三个正整数，即男选手数</a:t>
            </a:r>
            <a:r>
              <a:rPr lang="en-US" altLang="zh-CN" sz="2000" i="1" dirty="0"/>
              <a:t>m</a:t>
            </a:r>
            <a:r>
              <a:rPr lang="zh-CN" altLang="zh-CN" sz="2000" dirty="0"/>
              <a:t>、女选手数</a:t>
            </a:r>
            <a:r>
              <a:rPr lang="en-US" altLang="zh-CN" sz="2000" i="1" dirty="0"/>
              <a:t>n</a:t>
            </a:r>
            <a:r>
              <a:rPr lang="zh-CN" altLang="zh-CN" sz="2000" dirty="0"/>
              <a:t>和</a:t>
            </a:r>
            <a:r>
              <a:rPr lang="en-US" altLang="zh-CN" sz="2000" i="1" dirty="0"/>
              <a:t>k</a:t>
            </a:r>
            <a:r>
              <a:rPr lang="zh-CN" altLang="zh-CN" sz="2000" dirty="0"/>
              <a:t>值</a:t>
            </a:r>
            <a:r>
              <a:rPr lang="en-US" altLang="zh-CN" sz="2000" dirty="0"/>
              <a:t>(1</a:t>
            </a:r>
            <a:r>
              <a:rPr lang="zh-CN" altLang="zh-CN" sz="2000" dirty="0"/>
              <a:t>≤</a:t>
            </a:r>
            <a:r>
              <a:rPr lang="en-US" altLang="zh-CN" sz="2000" i="1" dirty="0"/>
              <a:t>m</a:t>
            </a:r>
            <a:r>
              <a:rPr lang="zh-CN" altLang="zh-CN" sz="2000" dirty="0"/>
              <a:t>，</a:t>
            </a:r>
            <a:r>
              <a:rPr lang="en-US" altLang="zh-CN" sz="2000" i="1" dirty="0"/>
              <a:t>n</a:t>
            </a:r>
            <a:r>
              <a:rPr lang="zh-CN" altLang="zh-CN" sz="2000" dirty="0"/>
              <a:t>≤</a:t>
            </a:r>
            <a:r>
              <a:rPr lang="en-US" altLang="zh-CN" sz="2000" dirty="0"/>
              <a:t>1 000</a:t>
            </a:r>
            <a:r>
              <a:rPr lang="zh-CN" altLang="zh-CN" sz="2000" dirty="0"/>
              <a:t>，</a:t>
            </a:r>
            <a:r>
              <a:rPr lang="en-US" altLang="zh-CN" sz="2000" dirty="0"/>
              <a:t>1</a:t>
            </a:r>
            <a:r>
              <a:rPr lang="zh-CN" altLang="zh-CN" sz="2000" dirty="0"/>
              <a:t>≤</a:t>
            </a:r>
            <a:r>
              <a:rPr lang="en-US" altLang="zh-CN" sz="2000" i="1" dirty="0"/>
              <a:t>k</a:t>
            </a:r>
            <a:r>
              <a:rPr lang="zh-CN" altLang="zh-CN" sz="2000" dirty="0"/>
              <a:t>≤</a:t>
            </a:r>
            <a:r>
              <a:rPr lang="en-US" altLang="zh-CN" sz="2000" dirty="0"/>
              <a:t>1 000)</a:t>
            </a:r>
            <a:r>
              <a:rPr lang="zh-CN" altLang="zh-CN" sz="2000" dirty="0"/>
              <a:t>。</a:t>
            </a:r>
          </a:p>
          <a:p>
            <a:r>
              <a:rPr lang="zh-CN" altLang="zh-CN" sz="2000" dirty="0"/>
              <a:t>【输出格式】</a:t>
            </a:r>
          </a:p>
          <a:p>
            <a:r>
              <a:rPr lang="zh-CN" altLang="zh-CN" sz="2000" dirty="0"/>
              <a:t>输出第</a:t>
            </a:r>
            <a:r>
              <a:rPr lang="en-US" altLang="zh-CN" sz="2000" i="1" dirty="0"/>
              <a:t>k</a:t>
            </a:r>
            <a:r>
              <a:rPr lang="zh-CN" altLang="zh-CN" sz="2000" dirty="0"/>
              <a:t>轮测试的匹配情况。每一行为一个匹配。</a:t>
            </a:r>
          </a:p>
          <a:p>
            <a:r>
              <a:rPr lang="zh-CN" altLang="zh-CN" sz="2000" dirty="0"/>
              <a:t>【输入样例】</a:t>
            </a:r>
          </a:p>
          <a:p>
            <a:r>
              <a:rPr lang="en-US" altLang="zh-CN" sz="2000" dirty="0"/>
              <a:t>2 4 6</a:t>
            </a:r>
            <a:endParaRPr lang="zh-CN" altLang="zh-CN" sz="2000" dirty="0"/>
          </a:p>
          <a:p>
            <a:r>
              <a:rPr lang="zh-CN" altLang="zh-CN" sz="2000" dirty="0"/>
              <a:t>【输出样例】</a:t>
            </a:r>
          </a:p>
          <a:p>
            <a:r>
              <a:rPr lang="en-US" altLang="zh-CN" sz="2000" dirty="0"/>
              <a:t>2 2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418" y="-58084"/>
            <a:ext cx="904501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【题目描述】</a:t>
            </a:r>
            <a:r>
              <a:rPr lang="en-US" altLang="zh-CN" sz="2000" dirty="0"/>
              <a:t>Blah</a:t>
            </a:r>
            <a:r>
              <a:rPr lang="zh-CN" altLang="zh-CN" sz="2000" dirty="0"/>
              <a:t>数集（</a:t>
            </a:r>
            <a:r>
              <a:rPr lang="en-US" altLang="zh-CN" sz="2000" dirty="0"/>
              <a:t>blah</a:t>
            </a:r>
            <a:r>
              <a:rPr lang="zh-CN" altLang="zh-CN" sz="2000" dirty="0"/>
              <a:t>）</a:t>
            </a:r>
          </a:p>
          <a:p>
            <a:r>
              <a:rPr lang="en-US" altLang="zh-CN" sz="2000" dirty="0"/>
              <a:t>Blah</a:t>
            </a:r>
            <a:r>
              <a:rPr lang="zh-CN" altLang="zh-CN" sz="2000" dirty="0"/>
              <a:t>数集定义如下：</a:t>
            </a:r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</a:t>
            </a:r>
            <a:r>
              <a:rPr lang="en-US" altLang="zh-CN" sz="2000" i="1" dirty="0"/>
              <a:t>a</a:t>
            </a:r>
            <a:r>
              <a:rPr lang="zh-CN" altLang="zh-CN" sz="2000" dirty="0"/>
              <a:t>是数集的基，且</a:t>
            </a:r>
            <a:r>
              <a:rPr lang="en-US" altLang="zh-CN" sz="2000" i="1" dirty="0"/>
              <a:t>a</a:t>
            </a:r>
            <a:r>
              <a:rPr lang="zh-CN" altLang="zh-CN" sz="2000" dirty="0"/>
              <a:t>是数集的第一个数；</a:t>
            </a:r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2</a:t>
            </a:r>
            <a:r>
              <a:rPr lang="zh-CN" altLang="zh-CN" sz="2000" dirty="0"/>
              <a:t>）如果</a:t>
            </a:r>
            <a:r>
              <a:rPr lang="en-US" altLang="zh-CN" sz="2000" i="1" dirty="0"/>
              <a:t>x</a:t>
            </a:r>
            <a:r>
              <a:rPr lang="zh-CN" altLang="zh-CN" sz="2000" dirty="0"/>
              <a:t>在数集中，则</a:t>
            </a:r>
            <a:r>
              <a:rPr lang="en-US" altLang="zh-CN" sz="2000" dirty="0"/>
              <a:t>2</a:t>
            </a:r>
            <a:r>
              <a:rPr lang="en-US" altLang="zh-CN" sz="2000" i="1" dirty="0"/>
              <a:t>x</a:t>
            </a:r>
            <a:r>
              <a:rPr lang="zh-CN" altLang="zh-CN" sz="2000" dirty="0"/>
              <a:t>＋</a:t>
            </a:r>
            <a:r>
              <a:rPr lang="en-US" altLang="zh-CN" sz="2000" dirty="0"/>
              <a:t>1</a:t>
            </a:r>
            <a:r>
              <a:rPr lang="zh-CN" altLang="zh-CN" sz="2000" dirty="0"/>
              <a:t>和</a:t>
            </a:r>
            <a:r>
              <a:rPr lang="en-US" altLang="zh-CN" sz="2000" dirty="0"/>
              <a:t>3</a:t>
            </a:r>
            <a:r>
              <a:rPr lang="en-US" altLang="zh-CN" sz="2000" i="1" dirty="0"/>
              <a:t>x</a:t>
            </a:r>
            <a:r>
              <a:rPr lang="zh-CN" altLang="zh-CN" sz="2000" dirty="0"/>
              <a:t>＋</a:t>
            </a:r>
            <a:r>
              <a:rPr lang="en-US" altLang="zh-CN" sz="2000" dirty="0"/>
              <a:t>1</a:t>
            </a:r>
            <a:r>
              <a:rPr lang="zh-CN" altLang="zh-CN" sz="2000" dirty="0"/>
              <a:t>也都在数集中；</a:t>
            </a:r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3</a:t>
            </a:r>
            <a:r>
              <a:rPr lang="zh-CN" altLang="zh-CN" sz="2000" dirty="0"/>
              <a:t>）没有其他元素在数集中了。</a:t>
            </a:r>
          </a:p>
          <a:p>
            <a:r>
              <a:rPr lang="zh-CN" altLang="zh-CN" sz="2000" dirty="0"/>
              <a:t>请问如果把数集的元素按升序排列，第</a:t>
            </a:r>
            <a:r>
              <a:rPr lang="en-US" altLang="zh-CN" sz="2000" i="1" dirty="0"/>
              <a:t>n</a:t>
            </a:r>
            <a:r>
              <a:rPr lang="zh-CN" altLang="zh-CN" sz="2000" dirty="0"/>
              <a:t>个元素是多少？</a:t>
            </a:r>
          </a:p>
          <a:p>
            <a:r>
              <a:rPr lang="zh-CN" altLang="zh-CN" sz="2000" dirty="0"/>
              <a:t>【输入格式】</a:t>
            </a:r>
          </a:p>
          <a:p>
            <a:r>
              <a:rPr lang="zh-CN" altLang="zh-CN" sz="2000" dirty="0"/>
              <a:t>输入包括很多行，每行输入包括两个数字，数集的基</a:t>
            </a:r>
            <a:r>
              <a:rPr lang="en-US" altLang="zh-CN" sz="2000" i="1" dirty="0"/>
              <a:t>a</a:t>
            </a:r>
            <a:r>
              <a:rPr lang="en-US" altLang="zh-CN" sz="2000" dirty="0"/>
              <a:t>(1</a:t>
            </a:r>
            <a:r>
              <a:rPr lang="zh-CN" altLang="zh-CN" sz="2000" dirty="0"/>
              <a:t>≤</a:t>
            </a:r>
            <a:r>
              <a:rPr lang="en-US" altLang="zh-CN" sz="2000" i="1" dirty="0"/>
              <a:t>a</a:t>
            </a:r>
            <a:r>
              <a:rPr lang="zh-CN" altLang="zh-CN" sz="2000" dirty="0"/>
              <a:t>≤</a:t>
            </a:r>
            <a:r>
              <a:rPr lang="en-US" altLang="zh-CN" sz="2000" dirty="0"/>
              <a:t>50)</a:t>
            </a:r>
            <a:r>
              <a:rPr lang="zh-CN" altLang="zh-CN" sz="2000" dirty="0"/>
              <a:t>以及所求元素序号</a:t>
            </a:r>
            <a:r>
              <a:rPr lang="en-US" altLang="zh-CN" sz="2000" i="1" dirty="0"/>
              <a:t>n</a:t>
            </a:r>
            <a:r>
              <a:rPr lang="en-US" altLang="zh-CN" sz="2000" dirty="0"/>
              <a:t>(1</a:t>
            </a:r>
            <a:r>
              <a:rPr lang="zh-CN" altLang="zh-CN" sz="2000" dirty="0"/>
              <a:t>≤</a:t>
            </a:r>
            <a:r>
              <a:rPr lang="en-US" altLang="zh-CN" sz="2000" i="1" dirty="0"/>
              <a:t>n</a:t>
            </a:r>
            <a:r>
              <a:rPr lang="zh-CN" altLang="zh-CN" sz="2000" dirty="0"/>
              <a:t>≤</a:t>
            </a:r>
            <a:r>
              <a:rPr lang="en-US" altLang="zh-CN" sz="2000" dirty="0"/>
              <a:t>1 000 000)</a:t>
            </a:r>
            <a:r>
              <a:rPr lang="zh-CN" altLang="zh-CN" sz="2000" dirty="0"/>
              <a:t>。</a:t>
            </a:r>
          </a:p>
          <a:p>
            <a:r>
              <a:rPr lang="zh-CN" altLang="zh-CN" sz="2000" dirty="0"/>
              <a:t>【输出格式】</a:t>
            </a:r>
          </a:p>
          <a:p>
            <a:r>
              <a:rPr lang="zh-CN" altLang="zh-CN" sz="2000" dirty="0"/>
              <a:t>对于每一组输入，输出集合中第</a:t>
            </a:r>
            <a:r>
              <a:rPr lang="en-US" altLang="zh-CN" sz="2000" i="1" dirty="0"/>
              <a:t>n</a:t>
            </a:r>
            <a:r>
              <a:rPr lang="zh-CN" altLang="zh-CN" sz="2000" dirty="0"/>
              <a:t>个元素。</a:t>
            </a:r>
          </a:p>
          <a:p>
            <a:r>
              <a:rPr lang="zh-CN" altLang="zh-CN" sz="2000" dirty="0"/>
              <a:t>【输入样例】</a:t>
            </a:r>
          </a:p>
          <a:p>
            <a:r>
              <a:rPr lang="en-US" altLang="zh-CN" sz="2000" dirty="0"/>
              <a:t>1 100</a:t>
            </a:r>
            <a:endParaRPr lang="zh-CN" altLang="zh-CN" sz="2000" dirty="0"/>
          </a:p>
          <a:p>
            <a:r>
              <a:rPr lang="en-US" altLang="zh-CN" sz="2000" dirty="0"/>
              <a:t>28 5437</a:t>
            </a:r>
            <a:endParaRPr lang="zh-CN" altLang="zh-CN" sz="2000" dirty="0"/>
          </a:p>
          <a:p>
            <a:r>
              <a:rPr lang="zh-CN" altLang="zh-CN" sz="2000" dirty="0"/>
              <a:t>【输出样例】</a:t>
            </a:r>
          </a:p>
          <a:p>
            <a:r>
              <a:rPr lang="en-US" altLang="zh-CN" sz="2000" dirty="0"/>
              <a:t>418</a:t>
            </a:r>
            <a:endParaRPr lang="zh-CN" altLang="zh-CN" sz="2000" dirty="0"/>
          </a:p>
          <a:p>
            <a:r>
              <a:rPr lang="en-US" altLang="zh-CN" sz="2000" dirty="0"/>
              <a:t>900585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886"/>
            <a:ext cx="90968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【题目描述】封闭面积问题（</a:t>
            </a:r>
            <a:r>
              <a:rPr lang="en-US" altLang="zh-CN" sz="2000" dirty="0"/>
              <a:t>area</a:t>
            </a:r>
            <a:r>
              <a:rPr lang="zh-CN" altLang="zh-CN" sz="2000" dirty="0"/>
              <a:t>）</a:t>
            </a:r>
          </a:p>
          <a:p>
            <a:r>
              <a:rPr lang="zh-CN" altLang="zh-CN" sz="2000" dirty="0"/>
              <a:t>一个由“</a:t>
            </a:r>
            <a:r>
              <a:rPr lang="en-US" altLang="zh-CN" sz="2000" dirty="0"/>
              <a:t>*</a:t>
            </a:r>
            <a:r>
              <a:rPr lang="zh-CN" altLang="zh-CN" sz="2000" dirty="0"/>
              <a:t>”号围成的图形，其面积的计算方法是统计“</a:t>
            </a:r>
            <a:r>
              <a:rPr lang="en-US" altLang="zh-CN" sz="2000" dirty="0"/>
              <a:t>*</a:t>
            </a:r>
            <a:r>
              <a:rPr lang="zh-CN" altLang="zh-CN" sz="2000" dirty="0"/>
              <a:t>”号所围成的闭合曲线中水平线和垂直线交点的数目。如图</a:t>
            </a:r>
            <a:r>
              <a:rPr lang="en-US" altLang="zh-CN" sz="2000" dirty="0"/>
              <a:t>3.4</a:t>
            </a:r>
            <a:r>
              <a:rPr lang="zh-CN" altLang="zh-CN" sz="2000" dirty="0"/>
              <a:t>所示，在</a:t>
            </a:r>
            <a:r>
              <a:rPr lang="en-US" altLang="zh-CN" sz="2000" dirty="0"/>
              <a:t>10</a:t>
            </a:r>
            <a:r>
              <a:rPr lang="zh-CN" altLang="zh-CN" sz="2000" dirty="0"/>
              <a:t>×</a:t>
            </a:r>
            <a:r>
              <a:rPr lang="en-US" altLang="zh-CN" sz="2000" dirty="0"/>
              <a:t>10</a:t>
            </a:r>
            <a:r>
              <a:rPr lang="zh-CN" altLang="zh-CN" sz="2000" dirty="0"/>
              <a:t>的二维数组中，由“</a:t>
            </a:r>
            <a:r>
              <a:rPr lang="en-US" altLang="zh-CN" sz="2000" dirty="0"/>
              <a:t>*</a:t>
            </a:r>
            <a:r>
              <a:rPr lang="zh-CN" altLang="zh-CN" sz="2000" dirty="0"/>
              <a:t>”号围住</a:t>
            </a:r>
            <a:r>
              <a:rPr lang="en-US" altLang="zh-CN" sz="2000" dirty="0"/>
              <a:t>15</a:t>
            </a:r>
            <a:r>
              <a:rPr lang="zh-CN" altLang="zh-CN" sz="2000" dirty="0"/>
              <a:t>个点，因此面积为</a:t>
            </a:r>
            <a:r>
              <a:rPr lang="en-US" altLang="zh-CN" sz="2000" dirty="0"/>
              <a:t>15</a:t>
            </a:r>
            <a:r>
              <a:rPr lang="zh-CN" altLang="zh-CN" sz="2000" dirty="0"/>
              <a:t>。</a:t>
            </a:r>
            <a:endParaRPr lang="zh-CN" altLang="en-US" sz="2000" dirty="0"/>
          </a:p>
        </p:txBody>
      </p:sp>
      <p:pic>
        <p:nvPicPr>
          <p:cNvPr id="3" name="图片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8499" y="1113779"/>
            <a:ext cx="1907134" cy="21808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37706" y="3050619"/>
            <a:ext cx="90591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【输入格式】</a:t>
            </a:r>
          </a:p>
          <a:p>
            <a:r>
              <a:rPr lang="zh-CN" altLang="zh-CN" sz="2000" dirty="0"/>
              <a:t>一个</a:t>
            </a:r>
            <a:r>
              <a:rPr lang="en-US" altLang="zh-CN" sz="2000" dirty="0"/>
              <a:t>10×10</a:t>
            </a:r>
            <a:r>
              <a:rPr lang="zh-CN" altLang="zh-CN" sz="2000" dirty="0"/>
              <a:t>的二维数组，里面的数为</a:t>
            </a:r>
            <a:r>
              <a:rPr lang="en-US" altLang="zh-CN" sz="2000" dirty="0"/>
              <a:t>0</a:t>
            </a:r>
            <a:r>
              <a:rPr lang="zh-CN" altLang="zh-CN" sz="2000" dirty="0"/>
              <a:t>和</a:t>
            </a:r>
            <a:r>
              <a:rPr lang="en-US" altLang="zh-CN" sz="2000" dirty="0"/>
              <a:t>1</a:t>
            </a:r>
            <a:r>
              <a:rPr lang="zh-CN" altLang="zh-CN" sz="2000" dirty="0"/>
              <a:t>，</a:t>
            </a:r>
            <a:r>
              <a:rPr lang="en-US" altLang="zh-CN" sz="2000" dirty="0"/>
              <a:t>1</a:t>
            </a:r>
            <a:r>
              <a:rPr lang="zh-CN" altLang="zh-CN" sz="2000" dirty="0"/>
              <a:t>代表“</a:t>
            </a:r>
            <a:r>
              <a:rPr lang="en-US" altLang="zh-CN" sz="2000" dirty="0"/>
              <a:t>*</a:t>
            </a:r>
            <a:r>
              <a:rPr lang="zh-CN" altLang="zh-CN" sz="2000" dirty="0"/>
              <a:t>”号。</a:t>
            </a:r>
          </a:p>
          <a:p>
            <a:r>
              <a:rPr lang="zh-CN" altLang="zh-CN" sz="2000" dirty="0"/>
              <a:t>【输出格式】</a:t>
            </a:r>
          </a:p>
          <a:p>
            <a:r>
              <a:rPr lang="zh-CN" altLang="zh-CN" sz="2000" dirty="0"/>
              <a:t>一个整数，即围住的区域数。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889" y="44242"/>
            <a:ext cx="202010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3.4 </a:t>
            </a:r>
            <a:r>
              <a:rPr lang="zh-CN" altLang="zh-CN" b="1" dirty="0"/>
              <a:t>单调队列</a:t>
            </a:r>
          </a:p>
        </p:txBody>
      </p:sp>
      <p:sp>
        <p:nvSpPr>
          <p:cNvPr id="3" name="矩形 2"/>
          <p:cNvSpPr/>
          <p:nvPr/>
        </p:nvSpPr>
        <p:spPr>
          <a:xfrm>
            <a:off x="131974" y="533291"/>
            <a:ext cx="894603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【题目描述】密钥（</a:t>
            </a:r>
            <a:r>
              <a:rPr lang="en-US" altLang="zh-CN" sz="2000" dirty="0"/>
              <a:t>key</a:t>
            </a:r>
            <a:r>
              <a:rPr lang="zh-CN" altLang="zh-CN" sz="2000" dirty="0"/>
              <a:t>）</a:t>
            </a:r>
          </a:p>
          <a:p>
            <a:r>
              <a:rPr lang="zh-CN" altLang="zh-CN" sz="2000" dirty="0"/>
              <a:t>有一种密钥是这样的：给出一个长度为</a:t>
            </a:r>
            <a:r>
              <a:rPr lang="en-US" altLang="zh-CN" sz="2000" i="1" dirty="0"/>
              <a:t>n</a:t>
            </a:r>
            <a:r>
              <a:rPr lang="zh-CN" altLang="zh-CN" sz="2000" dirty="0"/>
              <a:t>的序列</a:t>
            </a:r>
            <a:r>
              <a:rPr lang="en-US" altLang="zh-CN" sz="2000" dirty="0"/>
              <a:t>A</a:t>
            </a:r>
            <a:r>
              <a:rPr lang="zh-CN" altLang="zh-CN" sz="2000" dirty="0"/>
              <a:t>，输出</a:t>
            </a:r>
            <a:r>
              <a:rPr lang="en-US" altLang="zh-CN" sz="2000" dirty="0"/>
              <a:t>A</a:t>
            </a:r>
            <a:r>
              <a:rPr lang="zh-CN" altLang="zh-CN" sz="2000" dirty="0"/>
              <a:t>中所有长度为</a:t>
            </a:r>
            <a:r>
              <a:rPr lang="en-US" altLang="zh-CN" sz="2000" i="1" dirty="0"/>
              <a:t>m</a:t>
            </a:r>
            <a:r>
              <a:rPr lang="zh-CN" altLang="zh-CN" sz="2000" dirty="0"/>
              <a:t>的连续子序列的最大值即为密钥。例如</a:t>
            </a:r>
            <a:r>
              <a:rPr lang="en-US" altLang="zh-CN" sz="2000" i="1" dirty="0"/>
              <a:t>n</a:t>
            </a:r>
            <a:r>
              <a:rPr lang="zh-CN" altLang="zh-CN" sz="2000" dirty="0"/>
              <a:t>＝</a:t>
            </a:r>
            <a:r>
              <a:rPr lang="en-US" altLang="zh-CN" sz="2000" dirty="0"/>
              <a:t>7</a:t>
            </a:r>
            <a:r>
              <a:rPr lang="zh-CN" altLang="zh-CN" sz="2000" dirty="0"/>
              <a:t>，有数组</a:t>
            </a:r>
            <a:r>
              <a:rPr lang="en-US" altLang="zh-CN" sz="2000" dirty="0"/>
              <a:t>{8,7,1,5,9,3,6}</a:t>
            </a:r>
            <a:r>
              <a:rPr lang="zh-CN" altLang="zh-CN" sz="2000" dirty="0"/>
              <a:t>，当</a:t>
            </a:r>
            <a:r>
              <a:rPr lang="en-US" altLang="zh-CN" sz="2000" i="1" dirty="0"/>
              <a:t>m</a:t>
            </a:r>
            <a:r>
              <a:rPr lang="zh-CN" altLang="zh-CN" sz="2000" dirty="0"/>
              <a:t>＝</a:t>
            </a:r>
            <a:r>
              <a:rPr lang="en-US" altLang="zh-CN" sz="2000" dirty="0"/>
              <a:t>3</a:t>
            </a:r>
            <a:r>
              <a:rPr lang="zh-CN" altLang="zh-CN" sz="2000" dirty="0"/>
              <a:t>，则密钥为</a:t>
            </a:r>
            <a:r>
              <a:rPr lang="en-US" altLang="zh-CN" sz="2000" dirty="0"/>
              <a:t>87 999</a:t>
            </a:r>
            <a:r>
              <a:rPr lang="zh-CN" altLang="zh-CN" sz="2000" dirty="0"/>
              <a:t>，其获取密钥过程如图</a:t>
            </a:r>
            <a:endParaRPr lang="zh-CN" altLang="en-US" sz="2000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4168" y="2217895"/>
            <a:ext cx="3608224" cy="205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7749"/>
            <a:ext cx="895546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高效率解决此题一般使用单调队列的数据结构。顾名思义，单调队列就是使队列中的元素保持单调递增（减），而保持的方式就是通过插队，把队尾破坏了单调性的数全部挤掉，从而使队列元素保持单调。可以这么想象：有一长串队伍排队买票，忽然来了一个人高马大的家伙，一看这么长的队伍，心情急躁，于是就从队尾开始，看到好欺负的就赶出队列</a:t>
            </a:r>
            <a:r>
              <a:rPr lang="en-US" altLang="zh-CN" dirty="0"/>
              <a:t>……</a:t>
            </a:r>
            <a:r>
              <a:rPr lang="zh-CN" altLang="zh-CN" dirty="0"/>
              <a:t>如此一路向前直到遇到比他更强壮的家伙为止。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01" y="344078"/>
            <a:ext cx="883964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cin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index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(!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empty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&gt;=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back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维护单调队列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pop_back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push_back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当前元素入队列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().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index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保证队列的长度不超过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m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pop_front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Time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dq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front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().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val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5740"/>
            <a:ext cx="4572000" cy="7293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课后练习</a:t>
            </a:r>
            <a:r>
              <a:rPr lang="en-US" altLang="zh-CN" sz="2800" b="1" kern="100" dirty="0">
                <a:latin typeface="Cambria" panose="02040503050406030204"/>
              </a:rPr>
              <a:t> </a:t>
            </a:r>
            <a:endParaRPr lang="zh-CN" altLang="zh-CN" sz="2800" b="1" kern="100" dirty="0"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81027" y="1353503"/>
            <a:ext cx="60001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人际关系（网站题目编号：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403005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密钥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（网站题目编号：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403006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滑动窗口（网站题目编号：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403007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棋盘（网站题目编号：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403008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1f14f1f6-e0ff-4ed0-b89a-43930b50ae1f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1486</Words>
  <Application>Microsoft Office PowerPoint</Application>
  <PresentationFormat>全屏显示(16:9)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YaHei Consolas Hybrid</vt:lpstr>
      <vt:lpstr>等线</vt:lpstr>
      <vt:lpstr>微软雅黑</vt:lpstr>
      <vt:lpstr>Arial</vt:lpstr>
      <vt:lpstr>Calibri</vt:lpstr>
      <vt:lpstr>Calibri Light</vt:lpstr>
      <vt:lpstr>Cambria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立军 袁</cp:lastModifiedBy>
  <cp:revision>178</cp:revision>
  <dcterms:created xsi:type="dcterms:W3CDTF">2019-03-15T02:52:00Z</dcterms:created>
  <dcterms:modified xsi:type="dcterms:W3CDTF">2024-08-07T00:31:36Z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C23725BB0FA5415F8845D03D8BF95772</vt:lpwstr>
  </property>
  <property fmtid="{D5CDD505-2E9C-101B-9397-08002B2CF9AE}" pid="3" name="KSOProductBuildVer">
    <vt:lpwstr>2052-11.1.0.12763</vt:lpwstr>
  </property>
</Properties>
</file>