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11088826" r:id="rId2"/>
    <p:sldId id="4873" r:id="rId3"/>
    <p:sldId id="11088828" r:id="rId4"/>
    <p:sldId id="11088835" r:id="rId5"/>
    <p:sldId id="11088836" r:id="rId6"/>
    <p:sldId id="11088837" r:id="rId7"/>
    <p:sldId id="11088838" r:id="rId8"/>
    <p:sldId id="11088839" r:id="rId9"/>
    <p:sldId id="11088840" r:id="rId10"/>
    <p:sldId id="11088841" r:id="rId11"/>
    <p:sldId id="11088842" r:id="rId12"/>
    <p:sldId id="11088843" r:id="rId13"/>
  </p:sldIdLst>
  <p:sldSz cx="9144000" cy="5143500" type="screen16x9"/>
  <p:notesSz cx="6858000" cy="9144000"/>
  <p:custDataLst>
    <p:tags r:id="rId15"/>
  </p:custDataLst>
  <p:defaultTextStyle>
    <a:defPPr>
      <a:defRPr lang="en-US"/>
    </a:defPPr>
    <a:lvl1pPr marL="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7246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4429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201676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8922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36105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403352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70598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37781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8ED0"/>
    <a:srgbClr val="075AA4"/>
    <a:srgbClr val="2F4732"/>
    <a:srgbClr val="2B44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76" autoAdjust="0"/>
    <p:restoredTop sz="87435" autoAdjust="0"/>
  </p:normalViewPr>
  <p:slideViewPr>
    <p:cSldViewPr snapToGrid="0" showGuides="1">
      <p:cViewPr varScale="1">
        <p:scale>
          <a:sx n="134" d="100"/>
          <a:sy n="134" d="100"/>
        </p:scale>
        <p:origin x="54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CBD01-EFF3-401D-9E3D-436DA00BC4F9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AD115-59BE-4C7A-B849-7A2D456698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878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6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36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6143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2774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619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0357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0325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1952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092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4469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88641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1690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535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35915" indent="0" algn="ctr">
              <a:buNone/>
              <a:defRPr sz="1400"/>
            </a:lvl2pPr>
            <a:lvl3pPr marL="672465" indent="0" algn="ctr">
              <a:buNone/>
              <a:defRPr sz="1400"/>
            </a:lvl3pPr>
            <a:lvl4pPr marL="1008380" indent="0" algn="ctr">
              <a:buNone/>
              <a:defRPr sz="1200"/>
            </a:lvl4pPr>
            <a:lvl5pPr marL="1344295" indent="0" algn="ctr">
              <a:buNone/>
              <a:defRPr sz="1200"/>
            </a:lvl5pPr>
            <a:lvl6pPr marL="1680845" indent="0" algn="ctr">
              <a:buNone/>
              <a:defRPr sz="1200"/>
            </a:lvl6pPr>
            <a:lvl7pPr marL="2016760" indent="0" algn="ctr">
              <a:buNone/>
              <a:defRPr sz="1200"/>
            </a:lvl7pPr>
            <a:lvl8pPr marL="2352675" indent="0" algn="ctr">
              <a:buNone/>
              <a:defRPr sz="1200"/>
            </a:lvl8pPr>
            <a:lvl9pPr marL="2689225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282306"/>
            <a:ext cx="7886700" cy="2139553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359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724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083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442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6808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167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52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6892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6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2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2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35915" indent="0">
              <a:buNone/>
              <a:defRPr sz="2000"/>
            </a:lvl2pPr>
            <a:lvl3pPr marL="672465" indent="0">
              <a:buNone/>
              <a:defRPr sz="1800"/>
            </a:lvl3pPr>
            <a:lvl4pPr marL="1008380" indent="0">
              <a:buNone/>
              <a:defRPr sz="1400"/>
            </a:lvl4pPr>
            <a:lvl5pPr marL="1344295" indent="0">
              <a:buNone/>
              <a:defRPr sz="1400"/>
            </a:lvl5pPr>
            <a:lvl6pPr marL="1680845" indent="0">
              <a:buNone/>
              <a:defRPr sz="1400"/>
            </a:lvl6pPr>
            <a:lvl7pPr marL="2016760" indent="0">
              <a:buNone/>
              <a:defRPr sz="1400"/>
            </a:lvl7pPr>
            <a:lvl8pPr marL="2352675" indent="0">
              <a:buNone/>
              <a:defRPr sz="1400"/>
            </a:lvl8pPr>
            <a:lvl9pPr marL="2689225" indent="0">
              <a:buNone/>
              <a:defRPr sz="14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6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5"/>
            <a:ext cx="5800726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3801" y="4830418"/>
            <a:ext cx="9140200" cy="313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6"/>
            <a:ext cx="7886700" cy="994172"/>
          </a:xfrm>
          <a:prstGeom prst="rect">
            <a:avLst/>
          </a:prstGeom>
        </p:spPr>
        <p:txBody>
          <a:bodyPr vert="horz" lIns="134452" tIns="67226" rIns="134452" bIns="6722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134452" tIns="67226" rIns="134452" bIns="67226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4"/>
            <a:ext cx="30861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67246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672465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7665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1257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4848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8503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2095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5686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3591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7246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38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429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8084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1676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5267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8922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9"/>
          <p:cNvSpPr txBox="1"/>
          <p:nvPr/>
        </p:nvSpPr>
        <p:spPr>
          <a:xfrm>
            <a:off x="834888" y="2109253"/>
            <a:ext cx="7255566" cy="1043706"/>
          </a:xfrm>
          <a:prstGeom prst="rect">
            <a:avLst/>
          </a:prstGeom>
          <a:noFill/>
        </p:spPr>
        <p:txBody>
          <a:bodyPr wrap="square" lIns="134452" tIns="67226" rIns="134452" bIns="67226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252095">
              <a:defRPr/>
            </a:pPr>
            <a:r>
              <a:rPr lang="zh-CN" altLang="en-US" sz="5900" b="1" dirty="0" smtClean="0">
                <a:solidFill>
                  <a:srgbClr val="075A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合并石子</a:t>
            </a:r>
            <a:r>
              <a:rPr lang="en-US" altLang="zh-CN" sz="5900" b="1" dirty="0" smtClean="0">
                <a:solidFill>
                  <a:srgbClr val="075A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1</a:t>
            </a:r>
            <a:endParaRPr lang="zh-CN" altLang="en-US" sz="5900" b="1" dirty="0">
              <a:solidFill>
                <a:srgbClr val="075AA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erif SC" panose="02020400000000000000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-50489"/>
            <a:ext cx="9144000" cy="1982424"/>
          </a:xfrm>
          <a:prstGeom prst="rect">
            <a:avLst/>
          </a:prstGeom>
        </p:spPr>
        <p:txBody>
          <a:bodyPr wrap="square" lIns="134452" tIns="67226" rIns="134452" bIns="67226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有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堆石子排成一排，其编号为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1,2,3,…,n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n≤100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）。每堆石子有一定的数量，例如有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7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堆石子，分别为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13,7,8,16,21,4,18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。</a:t>
            </a:r>
          </a:p>
          <a:p>
            <a:pPr algn="just"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现在要将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堆石子归并成为一堆，归并的过程为每次只能将相邻的两堆石子堆成一堆，这样经过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n-1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次归并后成为一堆，如上面的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7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堆石子，可以有多种方法归并成一堆，其中的两种方法如</a:t>
            </a:r>
            <a:r>
              <a:rPr lang="zh-CN" altLang="en-US" sz="2400" kern="100" dirty="0" smtClean="0">
                <a:latin typeface="Times New Roman" panose="02020603050405020304"/>
                <a:ea typeface="宋体" panose="02010600030101010101" pitchFamily="2" charset="-122"/>
              </a:rPr>
              <a:t>图所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示。</a:t>
            </a:r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13777" y="1818823"/>
            <a:ext cx="4286885" cy="19132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-32564" y="3561107"/>
            <a:ext cx="90827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则（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）的归并代价为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20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24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25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44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69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87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267</a:t>
            </a:r>
          </a:p>
          <a:p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b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）的归并代价为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15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37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22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28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59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87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248</a:t>
            </a:r>
          </a:p>
          <a:p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可见不同的过程得到的归并代价是不一样的，现在请编程找出一种合理的方法，使归并代价最小。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6712" y="0"/>
            <a:ext cx="90780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2800" kern="100" dirty="0">
                <a:latin typeface="Times New Roman" panose="02020603050405020304"/>
                <a:ea typeface="宋体" panose="02010600030101010101" pitchFamily="2" charset="-122"/>
              </a:rPr>
              <a:t>一般地，我们思考问题总是要尽可能将复杂问题简单化，对于此题，也是一样，可以先取一个小一点的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en-US" sz="2800" kern="100" dirty="0">
                <a:latin typeface="Times New Roman" panose="02020603050405020304"/>
                <a:ea typeface="宋体" panose="02010600030101010101" pitchFamily="2" charset="-122"/>
              </a:rPr>
              <a:t>值，看能否从中找出规律。</a:t>
            </a:r>
            <a:endParaRPr lang="zh-CN" altLang="zh-CN" sz="24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8526" y="1972552"/>
            <a:ext cx="817303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当</a:t>
            </a:r>
            <a:r>
              <a:rPr lang="en-US" altLang="zh-CN" i="1" dirty="0"/>
              <a:t>n</a:t>
            </a:r>
            <a:r>
              <a:rPr lang="zh-CN" altLang="zh-CN" dirty="0"/>
              <a:t>＝</a:t>
            </a:r>
            <a:r>
              <a:rPr lang="en-US" altLang="zh-CN" dirty="0"/>
              <a:t>2</a:t>
            </a:r>
            <a:r>
              <a:rPr lang="zh-CN" altLang="zh-CN" dirty="0"/>
              <a:t>时，事实上仅有一种堆法，因此总的归并代价为</a:t>
            </a:r>
            <a:r>
              <a:rPr lang="en-US" altLang="zh-CN" dirty="0"/>
              <a:t>2</a:t>
            </a:r>
            <a:r>
              <a:rPr lang="zh-CN" altLang="zh-CN" dirty="0"/>
              <a:t>堆石子数量的和</a:t>
            </a:r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2857" y="3230340"/>
            <a:ext cx="4844379" cy="1390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262" y="194190"/>
            <a:ext cx="884234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9400" algn="just">
              <a:spcAft>
                <a:spcPts val="0"/>
              </a:spcAft>
            </a:pP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当</a:t>
            </a:r>
            <a:r>
              <a:rPr lang="en-US" altLang="zh-CN" sz="2800" i="1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＝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时，有两种堆法，可以看到它们总的归并代价分别为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54 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和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55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，注意最后加的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34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是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堆石子的数量和</a:t>
            </a:r>
            <a:endParaRPr lang="zh-CN" altLang="en-US" sz="2800" kern="100" dirty="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2916" y="1427590"/>
            <a:ext cx="5179863" cy="1452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当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时，有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5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种堆法，注意最后加的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40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是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堆石子的数量和</a:t>
            </a:r>
            <a:endParaRPr lang="zh-CN" altLang="en-US" sz="2400" dirty="0"/>
          </a:p>
        </p:txBody>
      </p:sp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6" y="461665"/>
            <a:ext cx="8306108" cy="19835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47349" y="2550112"/>
            <a:ext cx="901673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6225" algn="just">
              <a:spcAft>
                <a:spcPts val="0"/>
              </a:spcAft>
            </a:pP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这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5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种方法其实可以归并成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类方法：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第一类是（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）和（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b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），是先归并前面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堆，再归并最后一堆，即前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堆的最小代价加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40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第二类仅有方法（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c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），即先分别两两归并后再归并成一堆，最后归并时加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40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第三类是（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d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）和（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e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），是先归并后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堆再加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40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。　</a:t>
            </a:r>
            <a:endParaRPr lang="zh-CN" altLang="zh-CN" sz="24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因此设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F[I][J]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表示从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堆到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堆石子的归并最小代价数，则：</a:t>
            </a:r>
          </a:p>
          <a:p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F[1][4]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min{F[1][3]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F[1][2]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F[3][4]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F[2][4]}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40</a:t>
            </a:r>
          </a:p>
          <a:p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   F[1][3]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min{F[1][2]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F[2][3]}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34</a:t>
            </a:r>
          </a:p>
          <a:p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   F[1][2]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</a:p>
          <a:p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   F[3][4]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</a:p>
          <a:p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   F[2][3]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21</a:t>
            </a:r>
          </a:p>
          <a:p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   F[2][4]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MIN{ F[2][3]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F[3][4]}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27</a:t>
            </a:r>
          </a:p>
          <a:p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另外引入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G[I][J]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表示第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堆到第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堆石子的数量和，则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G[1][1]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13,G[1][2]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20,…,G[1][4]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40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由此推出一般公式为：</a:t>
            </a:r>
          </a:p>
          <a:p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F[1][N]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min{ F[1][N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1], F[1][2]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F[3][N], F[1][3]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F[4][N],…,F[2][N] }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G[1][N]</a:t>
            </a:r>
          </a:p>
          <a:p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也即：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F[I][J]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min{(F[I][K]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F[K+1][J]}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G[I][J]  (I≤K</a:t>
            </a:r>
            <a:r>
              <a:rPr lang="zh-CN" altLang="en-US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＜</a:t>
            </a:r>
            <a:r>
              <a:rPr lang="en-US" altLang="zh-CN" sz="2000" dirty="0"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J)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假设有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6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堆石子，每堆石子的数量分别为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4,4,8,5,4,3,5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，计算初始时，所有的石子未合并，所以最小代价数均为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，这是边界条件</a:t>
            </a:r>
            <a:endParaRPr lang="en-US" altLang="zh-CN" sz="2000" dirty="0"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6314" y="1313382"/>
            <a:ext cx="6935133" cy="1000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首先相邻的两两合并，因为仅有一种堆法，所以计算出的值如</a:t>
            </a:r>
            <a:r>
              <a:rPr lang="zh-CN" altLang="en-US" sz="2000" kern="100" dirty="0" smtClean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图所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示。</a:t>
            </a:r>
            <a:endParaRPr lang="en-US" altLang="zh-CN" sz="2000" dirty="0"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3798" y="1384172"/>
            <a:ext cx="6631278" cy="12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接下来相邻的三个三个合并，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3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堆石子合并成一堆有两种堆法，计算出来的值如</a:t>
            </a:r>
            <a:r>
              <a:rPr lang="zh-CN" altLang="en-US" sz="2000" kern="100" dirty="0" smtClean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图所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示</a:t>
            </a:r>
            <a:endParaRPr lang="en-US" altLang="zh-CN" sz="2000" dirty="0"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7648" y="1074250"/>
            <a:ext cx="6459911" cy="1588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71495" y="3113032"/>
            <a:ext cx="3933314" cy="1376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接下来相邻的四个四个合并，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4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堆石子合并成一堆有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3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种堆法，计算出来的值如</a:t>
            </a:r>
            <a:r>
              <a:rPr lang="zh-CN" altLang="en-US" sz="2000" kern="100" dirty="0" smtClean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图所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示</a:t>
            </a:r>
            <a:endParaRPr lang="en-US" altLang="zh-CN" sz="2000" dirty="0"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180" y="402400"/>
            <a:ext cx="4927076" cy="2494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图片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31750" y="3349527"/>
            <a:ext cx="4625975" cy="120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1513" y="557203"/>
            <a:ext cx="5653242" cy="405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7134" y="140315"/>
            <a:ext cx="903559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scanf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"%</a:t>
            </a:r>
            <a:r>
              <a:rPr lang="en-US" altLang="zh-CN" sz="2000" kern="0" dirty="0" err="1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d"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,&amp;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for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scanf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"%</a:t>
            </a:r>
            <a:r>
              <a:rPr lang="en-US" altLang="zh-CN" sz="2000" kern="0" dirty="0" err="1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d"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,&amp;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a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for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for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g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][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g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][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]+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a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</a:t>
            </a:r>
            <a:r>
              <a:rPr lang="en-US" altLang="zh-CN" sz="2000" kern="0" dirty="0" smtClean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g[</a:t>
            </a:r>
            <a:r>
              <a:rPr lang="en-US" altLang="zh-CN" sz="2000" kern="0" dirty="0" err="1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][j]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初始化 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for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s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2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s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s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++)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</a:t>
            </a:r>
            <a:r>
              <a:rPr lang="en-US" altLang="zh-CN" sz="2000" kern="0" dirty="0" smtClean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控制合并的宽度 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for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++,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</a:t>
            </a:r>
            <a:r>
              <a:rPr lang="en-US" altLang="zh-CN" sz="2000" kern="0" dirty="0" smtClean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相同宽度的合并逐个进行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][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30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for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k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k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k</a:t>
            </a:r>
            <a:r>
              <a:rPr lang="en-US" altLang="zh-CN" sz="2000" b="1" kern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++)</a:t>
            </a:r>
            <a:r>
              <a:rPr lang="en-US" altLang="zh-CN" sz="2000" kern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</a:t>
            </a:r>
            <a:r>
              <a:rPr lang="en-US" altLang="zh-CN" sz="2000" kern="0" smtClean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//k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为切割点 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][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min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][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],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][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k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]+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k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][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]+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g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][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printf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"%d\n"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][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]);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5-0315-3小清新手绘唯美教育教学PPT模板"/>
  <p:tag name="KSO_WPP_MARK_KEY" val="b818a2ac-c6af-41d2-b17d-0baa991ca4a7"/>
  <p:tag name="COMMONDATA" val="eyJoZGlkIjoiZWNkNzQwYjliNGZkYjkxNzQ5NTNjZWEyZGU4NWM2NWIifQ=="/>
</p:tagLst>
</file>

<file path=ppt/theme/theme1.xml><?xml version="1.0" encoding="utf-8"?>
<a:theme xmlns:a="http://schemas.openxmlformats.org/drawingml/2006/main" name="AAAAAAAAAAAAAAAAAAAAAAAAAAA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884</Words>
  <Application>Microsoft Office PowerPoint</Application>
  <PresentationFormat>全屏显示(16:9)</PresentationFormat>
  <Paragraphs>55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Source Han Serif SC</vt:lpstr>
      <vt:lpstr>YaHei Consolas Hybrid</vt:lpstr>
      <vt:lpstr>等线</vt:lpstr>
      <vt:lpstr>等线 Light</vt:lpstr>
      <vt:lpstr>宋体</vt:lpstr>
      <vt:lpstr>微软雅黑</vt:lpstr>
      <vt:lpstr>Arial</vt:lpstr>
      <vt:lpstr>Calibri</vt:lpstr>
      <vt:lpstr>Calibri Light</vt:lpstr>
      <vt:lpstr>Courier New</vt:lpstr>
      <vt:lpstr>Times New Roman</vt:lpstr>
      <vt:lpstr>AAAAAAAAAAAAAAAAAAAAAAAAAAA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5-0315-3小清新手绘唯美教育教学PPT模板</dc:title>
  <dc:creator>Administrator</dc:creator>
  <cp:lastModifiedBy>微软用户</cp:lastModifiedBy>
  <cp:revision>194</cp:revision>
  <dcterms:created xsi:type="dcterms:W3CDTF">2019-03-15T02:52:00Z</dcterms:created>
  <dcterms:modified xsi:type="dcterms:W3CDTF">2024-10-12T09:28:52Z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7B2729A97E7849B1B9ADE7FAF3FF7FFB</vt:lpwstr>
  </property>
  <property fmtid="{D5CDD505-2E9C-101B-9397-08002B2CF9AE}" pid="3" name="KSOProductBuildVer">
    <vt:lpwstr>2052-11.1.0.12763</vt:lpwstr>
  </property>
</Properties>
</file>