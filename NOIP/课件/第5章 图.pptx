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9"/>
  </p:notesMasterIdLst>
  <p:sldIdLst>
    <p:sldId id="11088826" r:id="rId2"/>
    <p:sldId id="11088827" r:id="rId3"/>
    <p:sldId id="11088828" r:id="rId4"/>
    <p:sldId id="11088829" r:id="rId5"/>
    <p:sldId id="11088830" r:id="rId6"/>
    <p:sldId id="11088831" r:id="rId7"/>
    <p:sldId id="11088832" r:id="rId8"/>
    <p:sldId id="11088833" r:id="rId9"/>
    <p:sldId id="11088835" r:id="rId10"/>
    <p:sldId id="11088834" r:id="rId11"/>
    <p:sldId id="11088836" r:id="rId12"/>
    <p:sldId id="11088837" r:id="rId13"/>
    <p:sldId id="11088838" r:id="rId14"/>
    <p:sldId id="11088839" r:id="rId15"/>
    <p:sldId id="11088840" r:id="rId16"/>
    <p:sldId id="11088843" r:id="rId17"/>
    <p:sldId id="11088842" r:id="rId18"/>
    <p:sldId id="11088841" r:id="rId19"/>
    <p:sldId id="11088844" r:id="rId20"/>
    <p:sldId id="11088845" r:id="rId21"/>
    <p:sldId id="11088847" r:id="rId22"/>
    <p:sldId id="11088846" r:id="rId23"/>
    <p:sldId id="11088848" r:id="rId24"/>
    <p:sldId id="11088849" r:id="rId25"/>
    <p:sldId id="11088853" r:id="rId26"/>
    <p:sldId id="11088852" r:id="rId27"/>
    <p:sldId id="11088851" r:id="rId28"/>
    <p:sldId id="11088850" r:id="rId29"/>
    <p:sldId id="11088856" r:id="rId30"/>
    <p:sldId id="11088854" r:id="rId31"/>
    <p:sldId id="11088855" r:id="rId32"/>
    <p:sldId id="11088857" r:id="rId33"/>
    <p:sldId id="11088858" r:id="rId34"/>
    <p:sldId id="11088859" r:id="rId35"/>
    <p:sldId id="11088867" r:id="rId36"/>
    <p:sldId id="11088860" r:id="rId37"/>
    <p:sldId id="11088863" r:id="rId38"/>
    <p:sldId id="11088862" r:id="rId39"/>
    <p:sldId id="11088861" r:id="rId40"/>
    <p:sldId id="11088864" r:id="rId41"/>
    <p:sldId id="11088865" r:id="rId42"/>
    <p:sldId id="11088866" r:id="rId43"/>
    <p:sldId id="11088868" r:id="rId44"/>
    <p:sldId id="11088869" r:id="rId45"/>
    <p:sldId id="11088870" r:id="rId46"/>
    <p:sldId id="11088872" r:id="rId47"/>
    <p:sldId id="11088871" r:id="rId48"/>
    <p:sldId id="11088873" r:id="rId49"/>
    <p:sldId id="11088874" r:id="rId50"/>
    <p:sldId id="11088875" r:id="rId51"/>
    <p:sldId id="11088880" r:id="rId52"/>
    <p:sldId id="11088879" r:id="rId53"/>
    <p:sldId id="11088878" r:id="rId54"/>
    <p:sldId id="11088877" r:id="rId55"/>
    <p:sldId id="11088876" r:id="rId56"/>
    <p:sldId id="11088881" r:id="rId57"/>
    <p:sldId id="11088883" r:id="rId58"/>
    <p:sldId id="11088884" r:id="rId59"/>
    <p:sldId id="11088882" r:id="rId60"/>
    <p:sldId id="11088885" r:id="rId61"/>
    <p:sldId id="11088890" r:id="rId62"/>
    <p:sldId id="11088889" r:id="rId63"/>
    <p:sldId id="11088888" r:id="rId64"/>
    <p:sldId id="11088891" r:id="rId65"/>
    <p:sldId id="11088893" r:id="rId66"/>
    <p:sldId id="11088892" r:id="rId67"/>
    <p:sldId id="11088894" r:id="rId68"/>
    <p:sldId id="11088896" r:id="rId69"/>
    <p:sldId id="11088895" r:id="rId70"/>
    <p:sldId id="11088897" r:id="rId71"/>
    <p:sldId id="11088898" r:id="rId72"/>
    <p:sldId id="11088899" r:id="rId73"/>
    <p:sldId id="11088900" r:id="rId74"/>
    <p:sldId id="11088901" r:id="rId75"/>
    <p:sldId id="11088902" r:id="rId76"/>
    <p:sldId id="11088903" r:id="rId77"/>
    <p:sldId id="11088904" r:id="rId78"/>
    <p:sldId id="11088908" r:id="rId79"/>
    <p:sldId id="11088907" r:id="rId80"/>
    <p:sldId id="11088906" r:id="rId81"/>
    <p:sldId id="11088905" r:id="rId82"/>
    <p:sldId id="11088909" r:id="rId83"/>
    <p:sldId id="11088910" r:id="rId84"/>
    <p:sldId id="11088911" r:id="rId85"/>
    <p:sldId id="11088912" r:id="rId86"/>
    <p:sldId id="11088915" r:id="rId87"/>
    <p:sldId id="11088914" r:id="rId88"/>
    <p:sldId id="11088913" r:id="rId89"/>
    <p:sldId id="11088916" r:id="rId90"/>
    <p:sldId id="11088921" r:id="rId91"/>
    <p:sldId id="11088920" r:id="rId92"/>
    <p:sldId id="11088919" r:id="rId93"/>
    <p:sldId id="11088918" r:id="rId94"/>
    <p:sldId id="11088917" r:id="rId95"/>
    <p:sldId id="11088922" r:id="rId96"/>
    <p:sldId id="11088923" r:id="rId97"/>
    <p:sldId id="11088930" r:id="rId98"/>
    <p:sldId id="11088929" r:id="rId99"/>
    <p:sldId id="11088928" r:id="rId100"/>
    <p:sldId id="11088927" r:id="rId101"/>
    <p:sldId id="11088926" r:id="rId102"/>
    <p:sldId id="11088925" r:id="rId103"/>
    <p:sldId id="11088924" r:id="rId104"/>
    <p:sldId id="11088931" r:id="rId105"/>
    <p:sldId id="11088932" r:id="rId106"/>
    <p:sldId id="11088936" r:id="rId107"/>
    <p:sldId id="11088935" r:id="rId108"/>
    <p:sldId id="11088934" r:id="rId109"/>
    <p:sldId id="11088933" r:id="rId110"/>
    <p:sldId id="11088937" r:id="rId111"/>
    <p:sldId id="11088939" r:id="rId112"/>
    <p:sldId id="11088938" r:id="rId113"/>
    <p:sldId id="11088940" r:id="rId114"/>
    <p:sldId id="11088945" r:id="rId115"/>
    <p:sldId id="11088944" r:id="rId116"/>
    <p:sldId id="11088943" r:id="rId117"/>
    <p:sldId id="11088942" r:id="rId118"/>
    <p:sldId id="11088941" r:id="rId119"/>
    <p:sldId id="11088946" r:id="rId120"/>
    <p:sldId id="11088948" r:id="rId121"/>
    <p:sldId id="11088947" r:id="rId122"/>
    <p:sldId id="11088949" r:id="rId123"/>
    <p:sldId id="11088952" r:id="rId124"/>
    <p:sldId id="11088951" r:id="rId125"/>
    <p:sldId id="11088950" r:id="rId126"/>
    <p:sldId id="11088953" r:id="rId127"/>
    <p:sldId id="11088958" r:id="rId128"/>
    <p:sldId id="11088957" r:id="rId129"/>
    <p:sldId id="11088956" r:id="rId130"/>
    <p:sldId id="11088955" r:id="rId131"/>
    <p:sldId id="11088954" r:id="rId132"/>
    <p:sldId id="11088959" r:id="rId133"/>
    <p:sldId id="11088960" r:id="rId134"/>
    <p:sldId id="11088961" r:id="rId135"/>
    <p:sldId id="11088962" r:id="rId136"/>
    <p:sldId id="11088968" r:id="rId137"/>
    <p:sldId id="11088967" r:id="rId138"/>
    <p:sldId id="11088966" r:id="rId139"/>
    <p:sldId id="11088965" r:id="rId140"/>
    <p:sldId id="11088964" r:id="rId141"/>
    <p:sldId id="11088963" r:id="rId142"/>
    <p:sldId id="11088969" r:id="rId143"/>
    <p:sldId id="11088970" r:id="rId144"/>
    <p:sldId id="11088972" r:id="rId145"/>
    <p:sldId id="11088971" r:id="rId146"/>
    <p:sldId id="11088973" r:id="rId147"/>
    <p:sldId id="11088975" r:id="rId148"/>
    <p:sldId id="11088974" r:id="rId149"/>
    <p:sldId id="11088976" r:id="rId150"/>
    <p:sldId id="11088978" r:id="rId151"/>
    <p:sldId id="11088977" r:id="rId152"/>
    <p:sldId id="11088979" r:id="rId153"/>
    <p:sldId id="11088980" r:id="rId154"/>
    <p:sldId id="11088981" r:id="rId155"/>
    <p:sldId id="11088984" r:id="rId156"/>
    <p:sldId id="11088983" r:id="rId157"/>
    <p:sldId id="11088982" r:id="rId158"/>
    <p:sldId id="11088985" r:id="rId159"/>
    <p:sldId id="11088987" r:id="rId160"/>
    <p:sldId id="11088986" r:id="rId161"/>
    <p:sldId id="11088988" r:id="rId162"/>
    <p:sldId id="11088992" r:id="rId163"/>
    <p:sldId id="11088991" r:id="rId164"/>
    <p:sldId id="11088990" r:id="rId165"/>
    <p:sldId id="11088989" r:id="rId166"/>
    <p:sldId id="11088993" r:id="rId167"/>
    <p:sldId id="11088996" r:id="rId168"/>
    <p:sldId id="11088995" r:id="rId169"/>
    <p:sldId id="11088994" r:id="rId170"/>
    <p:sldId id="11088997" r:id="rId171"/>
    <p:sldId id="11089002" r:id="rId172"/>
    <p:sldId id="11089001" r:id="rId173"/>
    <p:sldId id="11089000" r:id="rId174"/>
    <p:sldId id="11088999" r:id="rId175"/>
    <p:sldId id="11088998" r:id="rId176"/>
    <p:sldId id="11089003" r:id="rId177"/>
    <p:sldId id="11089004" r:id="rId178"/>
  </p:sldIdLst>
  <p:sldSz cx="9144000" cy="5143500" type="screen16x9"/>
  <p:notesSz cx="6858000" cy="9144000"/>
  <p:custDataLst>
    <p:tags r:id="rId180"/>
  </p:custDataLst>
  <p:defaultTextStyle>
    <a:defPPr>
      <a:defRPr lang="en-US"/>
    </a:defPPr>
    <a:lvl1pPr marL="0" algn="l" defTabSz="672465" rtl="0" eaLnBrk="1" latinLnBrk="0" hangingPunct="1">
      <a:defRPr sz="2600" kern="1200">
        <a:solidFill>
          <a:schemeClr val="tx1"/>
        </a:solidFill>
        <a:latin typeface="+mn-lt"/>
        <a:ea typeface="+mn-ea"/>
        <a:cs typeface="+mn-cs"/>
      </a:defRPr>
    </a:lvl1pPr>
    <a:lvl2pPr marL="672465" algn="l" defTabSz="672465" rtl="0" eaLnBrk="1" latinLnBrk="0" hangingPunct="1">
      <a:defRPr sz="2600" kern="1200">
        <a:solidFill>
          <a:schemeClr val="tx1"/>
        </a:solidFill>
        <a:latin typeface="+mn-lt"/>
        <a:ea typeface="+mn-ea"/>
        <a:cs typeface="+mn-cs"/>
      </a:defRPr>
    </a:lvl2pPr>
    <a:lvl3pPr marL="1344295" algn="l" defTabSz="672465" rtl="0" eaLnBrk="1" latinLnBrk="0" hangingPunct="1">
      <a:defRPr sz="2600" kern="1200">
        <a:solidFill>
          <a:schemeClr val="tx1"/>
        </a:solidFill>
        <a:latin typeface="+mn-lt"/>
        <a:ea typeface="+mn-ea"/>
        <a:cs typeface="+mn-cs"/>
      </a:defRPr>
    </a:lvl3pPr>
    <a:lvl4pPr marL="2016760" algn="l" defTabSz="672465" rtl="0" eaLnBrk="1" latinLnBrk="0" hangingPunct="1">
      <a:defRPr sz="2600" kern="1200">
        <a:solidFill>
          <a:schemeClr val="tx1"/>
        </a:solidFill>
        <a:latin typeface="+mn-lt"/>
        <a:ea typeface="+mn-ea"/>
        <a:cs typeface="+mn-cs"/>
      </a:defRPr>
    </a:lvl4pPr>
    <a:lvl5pPr marL="2689225" algn="l" defTabSz="672465" rtl="0" eaLnBrk="1" latinLnBrk="0" hangingPunct="1">
      <a:defRPr sz="2600" kern="1200">
        <a:solidFill>
          <a:schemeClr val="tx1"/>
        </a:solidFill>
        <a:latin typeface="+mn-lt"/>
        <a:ea typeface="+mn-ea"/>
        <a:cs typeface="+mn-cs"/>
      </a:defRPr>
    </a:lvl5pPr>
    <a:lvl6pPr marL="3361055" algn="l" defTabSz="672465" rtl="0" eaLnBrk="1" latinLnBrk="0" hangingPunct="1">
      <a:defRPr sz="2600" kern="1200">
        <a:solidFill>
          <a:schemeClr val="tx1"/>
        </a:solidFill>
        <a:latin typeface="+mn-lt"/>
        <a:ea typeface="+mn-ea"/>
        <a:cs typeface="+mn-cs"/>
      </a:defRPr>
    </a:lvl6pPr>
    <a:lvl7pPr marL="4033520" algn="l" defTabSz="672465" rtl="0" eaLnBrk="1" latinLnBrk="0" hangingPunct="1">
      <a:defRPr sz="2600" kern="1200">
        <a:solidFill>
          <a:schemeClr val="tx1"/>
        </a:solidFill>
        <a:latin typeface="+mn-lt"/>
        <a:ea typeface="+mn-ea"/>
        <a:cs typeface="+mn-cs"/>
      </a:defRPr>
    </a:lvl7pPr>
    <a:lvl8pPr marL="4705985" algn="l" defTabSz="672465" rtl="0" eaLnBrk="1" latinLnBrk="0" hangingPunct="1">
      <a:defRPr sz="2600" kern="1200">
        <a:solidFill>
          <a:schemeClr val="tx1"/>
        </a:solidFill>
        <a:latin typeface="+mn-lt"/>
        <a:ea typeface="+mn-ea"/>
        <a:cs typeface="+mn-cs"/>
      </a:defRPr>
    </a:lvl8pPr>
    <a:lvl9pPr marL="5377815" algn="l" defTabSz="672465" rtl="0" eaLnBrk="1" latinLnBrk="0" hangingPunct="1">
      <a:defRPr sz="2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A8ED0"/>
    <a:srgbClr val="075AA4"/>
    <a:srgbClr val="2F4732"/>
    <a:srgbClr val="2B44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476" autoAdjust="0"/>
    <p:restoredTop sz="87435" autoAdjust="0"/>
  </p:normalViewPr>
  <p:slideViewPr>
    <p:cSldViewPr snapToGrid="0" showGuides="1">
      <p:cViewPr varScale="1">
        <p:scale>
          <a:sx n="83" d="100"/>
          <a:sy n="83" d="100"/>
        </p:scale>
        <p:origin x="540" y="90"/>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slide" Target="slides/slide174.xml"/><Relationship Id="rId170" Type="http://schemas.openxmlformats.org/officeDocument/2006/relationships/slide" Target="slides/slide169.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4" Type="http://schemas.openxmlformats.org/officeDocument/2006/relationships/slide" Target="slides/slide3.xml"/><Relationship Id="rId9" Type="http://schemas.openxmlformats.org/officeDocument/2006/relationships/slide" Target="slides/slide8.xml"/><Relationship Id="rId172" Type="http://schemas.openxmlformats.org/officeDocument/2006/relationships/slide" Target="slides/slide171.xml"/><Relationship Id="rId180" Type="http://schemas.openxmlformats.org/officeDocument/2006/relationships/tags" Target="tags/tag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2CBD01-EFF3-401D-9E3D-436DA00BC4F9}" type="datetimeFigureOut">
              <a:rPr lang="zh-CN" altLang="en-US" smtClean="0"/>
              <a:t>2024-08-07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7AD115-59BE-4C7A-B849-7A2D4566988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399665" algn="l" defTabSz="685800" rtl="0" eaLnBrk="1" latinLnBrk="0" hangingPunct="1">
      <a:defRPr sz="900" kern="1200">
        <a:solidFill>
          <a:schemeClr val="tx1"/>
        </a:solidFill>
        <a:latin typeface="+mn-lt"/>
        <a:ea typeface="+mn-ea"/>
        <a:cs typeface="+mn-cs"/>
      </a:defRPr>
    </a:lvl8pPr>
    <a:lvl9pPr marL="2742565"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A7AD115-59BE-4C7A-B849-7A2D45669885}"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A7AD115-59BE-4C7A-B849-7A2D45669885}"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A7AD115-59BE-4C7A-B849-7A2D45669885}"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A7AD115-59BE-4C7A-B849-7A2D45669885}"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A7AD115-59BE-4C7A-B849-7A2D45669885}"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A7AD115-59BE-4C7A-B849-7A2D45669885}"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A7AD115-59BE-4C7A-B849-7A2D45669885}"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A7AD115-59BE-4C7A-B849-7A2D45669885}"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A7AD115-59BE-4C7A-B849-7A2D45669885}"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A7AD115-59BE-4C7A-B849-7A2D45669885}" type="slidenum">
              <a:rPr lang="zh-CN" altLang="en-US" smtClean="0"/>
              <a:t>10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841772"/>
            <a:ext cx="7772400" cy="1790700"/>
          </a:xfrm>
        </p:spPr>
        <p:txBody>
          <a:bodyPr anchor="b"/>
          <a:lstStyle>
            <a:lvl1pPr algn="ctr">
              <a:defRPr sz="44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35915" indent="0" algn="ctr">
              <a:buNone/>
              <a:defRPr sz="1400"/>
            </a:lvl2pPr>
            <a:lvl3pPr marL="672465" indent="0" algn="ctr">
              <a:buNone/>
              <a:defRPr sz="1400"/>
            </a:lvl3pPr>
            <a:lvl4pPr marL="1008380" indent="0" algn="ctr">
              <a:buNone/>
              <a:defRPr sz="1200"/>
            </a:lvl4pPr>
            <a:lvl5pPr marL="1344295" indent="0" algn="ctr">
              <a:buNone/>
              <a:defRPr sz="1200"/>
            </a:lvl5pPr>
            <a:lvl6pPr marL="1680845" indent="0" algn="ctr">
              <a:buNone/>
              <a:defRPr sz="1200"/>
            </a:lvl6pPr>
            <a:lvl7pPr marL="2016760" indent="0" algn="ctr">
              <a:buNone/>
              <a:defRPr sz="1200"/>
            </a:lvl7pPr>
            <a:lvl8pPr marL="2352675" indent="0" algn="ctr">
              <a:buNone/>
              <a:defRPr sz="1200"/>
            </a:lvl8pPr>
            <a:lvl9pPr marL="2689225" indent="0" algn="ctr">
              <a:buNone/>
              <a:defRPr sz="12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762A0673-328F-4FB6-8972-97C9BE18F66D}" type="datetimeFigureOut">
              <a:rPr lang="zh-CN" altLang="en-US" smtClean="0"/>
              <a:t>2024-08-07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3537275-CEF5-4616-BE4A-1CDBC8BDCA2E}"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762A0673-328F-4FB6-8972-97C9BE18F66D}" type="datetimeFigureOut">
              <a:rPr lang="zh-CN" altLang="en-US" smtClean="0"/>
              <a:t>2024-08-07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3537275-CEF5-4616-BE4A-1CDBC8BDCA2E}"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9" y="1282306"/>
            <a:ext cx="7886700" cy="2139553"/>
          </a:xfrm>
        </p:spPr>
        <p:txBody>
          <a:bodyPr anchor="b"/>
          <a:lstStyle>
            <a:lvl1pPr>
              <a:defRPr sz="44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9" y="3442099"/>
            <a:ext cx="7886700" cy="1125140"/>
          </a:xfrm>
        </p:spPr>
        <p:txBody>
          <a:bodyPr/>
          <a:lstStyle>
            <a:lvl1pPr marL="0" indent="0">
              <a:buNone/>
              <a:defRPr sz="1800">
                <a:solidFill>
                  <a:schemeClr val="tx1"/>
                </a:solidFill>
              </a:defRPr>
            </a:lvl1pPr>
            <a:lvl2pPr marL="335915" indent="0">
              <a:buNone/>
              <a:defRPr sz="1400">
                <a:solidFill>
                  <a:schemeClr val="tx1">
                    <a:tint val="75000"/>
                  </a:schemeClr>
                </a:solidFill>
              </a:defRPr>
            </a:lvl2pPr>
            <a:lvl3pPr marL="672465" indent="0">
              <a:buNone/>
              <a:defRPr sz="1400">
                <a:solidFill>
                  <a:schemeClr val="tx1">
                    <a:tint val="75000"/>
                  </a:schemeClr>
                </a:solidFill>
              </a:defRPr>
            </a:lvl3pPr>
            <a:lvl4pPr marL="1008380" indent="0">
              <a:buNone/>
              <a:defRPr sz="1200">
                <a:solidFill>
                  <a:schemeClr val="tx1">
                    <a:tint val="75000"/>
                  </a:schemeClr>
                </a:solidFill>
              </a:defRPr>
            </a:lvl4pPr>
            <a:lvl5pPr marL="1344295" indent="0">
              <a:buNone/>
              <a:defRPr sz="1200">
                <a:solidFill>
                  <a:schemeClr val="tx1">
                    <a:tint val="75000"/>
                  </a:schemeClr>
                </a:solidFill>
              </a:defRPr>
            </a:lvl5pPr>
            <a:lvl6pPr marL="1680845" indent="0">
              <a:buNone/>
              <a:defRPr sz="1200">
                <a:solidFill>
                  <a:schemeClr val="tx1">
                    <a:tint val="75000"/>
                  </a:schemeClr>
                </a:solidFill>
              </a:defRPr>
            </a:lvl6pPr>
            <a:lvl7pPr marL="2016760" indent="0">
              <a:buNone/>
              <a:defRPr sz="1200">
                <a:solidFill>
                  <a:schemeClr val="tx1">
                    <a:tint val="75000"/>
                  </a:schemeClr>
                </a:solidFill>
              </a:defRPr>
            </a:lvl7pPr>
            <a:lvl8pPr marL="2352675" indent="0">
              <a:buNone/>
              <a:defRPr sz="1200">
                <a:solidFill>
                  <a:schemeClr val="tx1">
                    <a:tint val="75000"/>
                  </a:schemeClr>
                </a:solidFill>
              </a:defRPr>
            </a:lvl8pPr>
            <a:lvl9pPr marL="2689225" indent="0">
              <a:buNone/>
              <a:defRPr sz="12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762A0673-328F-4FB6-8972-97C9BE18F66D}" type="datetimeFigureOut">
              <a:rPr lang="zh-CN" altLang="en-US" smtClean="0"/>
              <a:t>2024-08-07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3537275-CEF5-4616-BE4A-1CDBC8BDCA2E}"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762A0673-328F-4FB6-8972-97C9BE18F66D}" type="datetimeFigureOut">
              <a:rPr lang="zh-CN" altLang="en-US" smtClean="0"/>
              <a:t>2024-08-07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3537275-CEF5-4616-BE4A-1CDBC8BDCA2E}"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3" y="273846"/>
            <a:ext cx="7886700" cy="99417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35915" indent="0">
              <a:buNone/>
              <a:defRPr sz="1400" b="1"/>
            </a:lvl2pPr>
            <a:lvl3pPr marL="672465" indent="0">
              <a:buNone/>
              <a:defRPr sz="1400" b="1"/>
            </a:lvl3pPr>
            <a:lvl4pPr marL="1008380" indent="0">
              <a:buNone/>
              <a:defRPr sz="1200" b="1"/>
            </a:lvl4pPr>
            <a:lvl5pPr marL="1344295" indent="0">
              <a:buNone/>
              <a:defRPr sz="1200" b="1"/>
            </a:lvl5pPr>
            <a:lvl6pPr marL="1680845" indent="0">
              <a:buNone/>
              <a:defRPr sz="1200" b="1"/>
            </a:lvl6pPr>
            <a:lvl7pPr marL="2016760" indent="0">
              <a:buNone/>
              <a:defRPr sz="1200" b="1"/>
            </a:lvl7pPr>
            <a:lvl8pPr marL="2352675" indent="0">
              <a:buNone/>
              <a:defRPr sz="1200" b="1"/>
            </a:lvl8pPr>
            <a:lvl9pPr marL="2689225"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629842" y="1878806"/>
            <a:ext cx="3868340" cy="276344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1" y="1260872"/>
            <a:ext cx="3887392" cy="617934"/>
          </a:xfrm>
        </p:spPr>
        <p:txBody>
          <a:bodyPr anchor="b"/>
          <a:lstStyle>
            <a:lvl1pPr marL="0" indent="0">
              <a:buNone/>
              <a:defRPr sz="1800" b="1"/>
            </a:lvl1pPr>
            <a:lvl2pPr marL="335915" indent="0">
              <a:buNone/>
              <a:defRPr sz="1400" b="1"/>
            </a:lvl2pPr>
            <a:lvl3pPr marL="672465" indent="0">
              <a:buNone/>
              <a:defRPr sz="1400" b="1"/>
            </a:lvl3pPr>
            <a:lvl4pPr marL="1008380" indent="0">
              <a:buNone/>
              <a:defRPr sz="1200" b="1"/>
            </a:lvl4pPr>
            <a:lvl5pPr marL="1344295" indent="0">
              <a:buNone/>
              <a:defRPr sz="1200" b="1"/>
            </a:lvl5pPr>
            <a:lvl6pPr marL="1680845" indent="0">
              <a:buNone/>
              <a:defRPr sz="1200" b="1"/>
            </a:lvl6pPr>
            <a:lvl7pPr marL="2016760" indent="0">
              <a:buNone/>
              <a:defRPr sz="1200" b="1"/>
            </a:lvl7pPr>
            <a:lvl8pPr marL="2352675" indent="0">
              <a:buNone/>
              <a:defRPr sz="1200" b="1"/>
            </a:lvl8pPr>
            <a:lvl9pPr marL="2689225"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4629151" y="1878806"/>
            <a:ext cx="3887392" cy="276344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762A0673-328F-4FB6-8972-97C9BE18F66D}" type="datetimeFigureOut">
              <a:rPr lang="zh-CN" altLang="en-US" smtClean="0"/>
              <a:t>2024-08-07</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3537275-CEF5-4616-BE4A-1CDBC8BDCA2E}"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762A0673-328F-4FB6-8972-97C9BE18F66D}" type="datetimeFigureOut">
              <a:rPr lang="zh-CN" altLang="en-US" smtClean="0"/>
              <a:t>2024-08-07</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3537275-CEF5-4616-BE4A-1CDBC8BDCA2E}"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2A0673-328F-4FB6-8972-97C9BE18F66D}" type="datetimeFigureOut">
              <a:rPr lang="zh-CN" altLang="en-US" smtClean="0"/>
              <a:t>2024-08-07</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3537275-CEF5-4616-BE4A-1CDBC8BDCA2E}"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4" y="342900"/>
            <a:ext cx="2949178" cy="120015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740571"/>
            <a:ext cx="4629150" cy="3655219"/>
          </a:xfrm>
        </p:spPr>
        <p:txBody>
          <a:bodyPr/>
          <a:lstStyle>
            <a:lvl1pPr>
              <a:defRPr sz="2400"/>
            </a:lvl1pPr>
            <a:lvl2pPr>
              <a:defRPr sz="2000"/>
            </a:lvl2pPr>
            <a:lvl3pPr>
              <a:defRPr sz="1800"/>
            </a:lvl3pPr>
            <a:lvl4pPr>
              <a:defRPr sz="1400"/>
            </a:lvl4pPr>
            <a:lvl5pPr>
              <a:defRPr sz="1400"/>
            </a:lvl5pPr>
            <a:lvl6pPr>
              <a:defRPr sz="1400"/>
            </a:lvl6pPr>
            <a:lvl7pPr>
              <a:defRPr sz="1400"/>
            </a:lvl7pPr>
            <a:lvl8pPr>
              <a:defRPr sz="1400"/>
            </a:lvl8pPr>
            <a:lvl9pPr>
              <a:defRPr sz="1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4" y="1543051"/>
            <a:ext cx="2949178" cy="2858691"/>
          </a:xfrm>
        </p:spPr>
        <p:txBody>
          <a:bodyPr/>
          <a:lstStyle>
            <a:lvl1pPr marL="0" indent="0">
              <a:buNone/>
              <a:defRPr sz="1200"/>
            </a:lvl1pPr>
            <a:lvl2pPr marL="335915" indent="0">
              <a:buNone/>
              <a:defRPr sz="1000"/>
            </a:lvl2pPr>
            <a:lvl3pPr marL="672465" indent="0">
              <a:buNone/>
              <a:defRPr sz="900"/>
            </a:lvl3pPr>
            <a:lvl4pPr marL="1008380" indent="0">
              <a:buNone/>
              <a:defRPr sz="800"/>
            </a:lvl4pPr>
            <a:lvl5pPr marL="1344295" indent="0">
              <a:buNone/>
              <a:defRPr sz="800"/>
            </a:lvl5pPr>
            <a:lvl6pPr marL="1680845" indent="0">
              <a:buNone/>
              <a:defRPr sz="800"/>
            </a:lvl6pPr>
            <a:lvl7pPr marL="2016760" indent="0">
              <a:buNone/>
              <a:defRPr sz="800"/>
            </a:lvl7pPr>
            <a:lvl8pPr marL="2352675" indent="0">
              <a:buNone/>
              <a:defRPr sz="800"/>
            </a:lvl8pPr>
            <a:lvl9pPr marL="2689225" indent="0">
              <a:buNone/>
              <a:defRPr sz="8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762A0673-328F-4FB6-8972-97C9BE18F66D}" type="datetimeFigureOut">
              <a:rPr lang="zh-CN" altLang="en-US" smtClean="0"/>
              <a:t>2024-08-07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3537275-CEF5-4616-BE4A-1CDBC8BDCA2E}"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4" y="342900"/>
            <a:ext cx="2949178" cy="120015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71"/>
            <a:ext cx="4629150" cy="3655219"/>
          </a:xfrm>
        </p:spPr>
        <p:txBody>
          <a:bodyPr anchor="t"/>
          <a:lstStyle>
            <a:lvl1pPr marL="0" indent="0">
              <a:buNone/>
              <a:defRPr sz="2400"/>
            </a:lvl1pPr>
            <a:lvl2pPr marL="335915" indent="0">
              <a:buNone/>
              <a:defRPr sz="2000"/>
            </a:lvl2pPr>
            <a:lvl3pPr marL="672465" indent="0">
              <a:buNone/>
              <a:defRPr sz="1800"/>
            </a:lvl3pPr>
            <a:lvl4pPr marL="1008380" indent="0">
              <a:buNone/>
              <a:defRPr sz="1400"/>
            </a:lvl4pPr>
            <a:lvl5pPr marL="1344295" indent="0">
              <a:buNone/>
              <a:defRPr sz="1400"/>
            </a:lvl5pPr>
            <a:lvl6pPr marL="1680845" indent="0">
              <a:buNone/>
              <a:defRPr sz="1400"/>
            </a:lvl6pPr>
            <a:lvl7pPr marL="2016760" indent="0">
              <a:buNone/>
              <a:defRPr sz="1400"/>
            </a:lvl7pPr>
            <a:lvl8pPr marL="2352675" indent="0">
              <a:buNone/>
              <a:defRPr sz="1400"/>
            </a:lvl8pPr>
            <a:lvl9pPr marL="2689225" indent="0">
              <a:buNone/>
              <a:defRPr sz="1400"/>
            </a:lvl9pPr>
          </a:lstStyle>
          <a:p>
            <a:r>
              <a:rPr lang="zh-CN" altLang="en-US"/>
              <a:t>单击图标添加图片</a:t>
            </a:r>
            <a:endParaRPr lang="en-US" dirty="0"/>
          </a:p>
        </p:txBody>
      </p:sp>
      <p:sp>
        <p:nvSpPr>
          <p:cNvPr id="4" name="Text Placeholder 3"/>
          <p:cNvSpPr>
            <a:spLocks noGrp="1"/>
          </p:cNvSpPr>
          <p:nvPr>
            <p:ph type="body" sz="half" idx="2"/>
          </p:nvPr>
        </p:nvSpPr>
        <p:spPr>
          <a:xfrm>
            <a:off x="629844" y="1543051"/>
            <a:ext cx="2949178" cy="2858691"/>
          </a:xfrm>
        </p:spPr>
        <p:txBody>
          <a:bodyPr/>
          <a:lstStyle>
            <a:lvl1pPr marL="0" indent="0">
              <a:buNone/>
              <a:defRPr sz="1200"/>
            </a:lvl1pPr>
            <a:lvl2pPr marL="335915" indent="0">
              <a:buNone/>
              <a:defRPr sz="1000"/>
            </a:lvl2pPr>
            <a:lvl3pPr marL="672465" indent="0">
              <a:buNone/>
              <a:defRPr sz="900"/>
            </a:lvl3pPr>
            <a:lvl4pPr marL="1008380" indent="0">
              <a:buNone/>
              <a:defRPr sz="800"/>
            </a:lvl4pPr>
            <a:lvl5pPr marL="1344295" indent="0">
              <a:buNone/>
              <a:defRPr sz="800"/>
            </a:lvl5pPr>
            <a:lvl6pPr marL="1680845" indent="0">
              <a:buNone/>
              <a:defRPr sz="800"/>
            </a:lvl6pPr>
            <a:lvl7pPr marL="2016760" indent="0">
              <a:buNone/>
              <a:defRPr sz="800"/>
            </a:lvl7pPr>
            <a:lvl8pPr marL="2352675" indent="0">
              <a:buNone/>
              <a:defRPr sz="800"/>
            </a:lvl8pPr>
            <a:lvl9pPr marL="2689225" indent="0">
              <a:buNone/>
              <a:defRPr sz="8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762A0673-328F-4FB6-8972-97C9BE18F66D}" type="datetimeFigureOut">
              <a:rPr lang="zh-CN" altLang="en-US" smtClean="0"/>
              <a:t>2024-08-07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3537275-CEF5-4616-BE4A-1CDBC8BDCA2E}"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762A0673-328F-4FB6-8972-97C9BE18F66D}" type="datetimeFigureOut">
              <a:rPr lang="zh-CN" altLang="en-US" smtClean="0"/>
              <a:t>2024-08-07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3537275-CEF5-4616-BE4A-1CDBC8BDCA2E}"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273845"/>
            <a:ext cx="1971676" cy="4358879"/>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1" y="273845"/>
            <a:ext cx="5800726" cy="4358879"/>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762A0673-328F-4FB6-8972-97C9BE18F66D}" type="datetimeFigureOut">
              <a:rPr lang="zh-CN" altLang="en-US" smtClean="0"/>
              <a:t>2024-08-07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3537275-CEF5-4616-BE4A-1CDBC8BDCA2E}"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内页-1">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ส่วนหัวของส่วน">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Slide-01">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Main">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1" y="273846"/>
            <a:ext cx="7886700" cy="994172"/>
          </a:xfrm>
          <a:prstGeom prst="rect">
            <a:avLst/>
          </a:prstGeom>
        </p:spPr>
        <p:txBody>
          <a:bodyPr vert="horz" lIns="134452" tIns="67226" rIns="134452" bIns="67226"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1" y="1369219"/>
            <a:ext cx="7886700" cy="3263504"/>
          </a:xfrm>
          <a:prstGeom prst="rect">
            <a:avLst/>
          </a:prstGeom>
        </p:spPr>
        <p:txBody>
          <a:bodyPr vert="horz" lIns="134452" tIns="67226" rIns="134452" bIns="67226"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4767264"/>
            <a:ext cx="2057400" cy="273844"/>
          </a:xfrm>
          <a:prstGeom prst="rect">
            <a:avLst/>
          </a:prstGeom>
        </p:spPr>
        <p:txBody>
          <a:bodyPr vert="horz" lIns="134452" tIns="67226" rIns="134452" bIns="67226" rtlCol="0" anchor="ctr"/>
          <a:lstStyle>
            <a:lvl1pPr algn="l">
              <a:defRPr sz="900">
                <a:solidFill>
                  <a:schemeClr val="tx1">
                    <a:tint val="75000"/>
                  </a:schemeClr>
                </a:solidFill>
              </a:defRPr>
            </a:lvl1pPr>
          </a:lstStyle>
          <a:p>
            <a:fld id="{762A0673-328F-4FB6-8972-97C9BE18F66D}" type="datetimeFigureOut">
              <a:rPr lang="zh-CN" altLang="en-US" smtClean="0"/>
              <a:t>2024-08-07</a:t>
            </a:fld>
            <a:endParaRPr lang="zh-CN" altLang="en-US"/>
          </a:p>
        </p:txBody>
      </p:sp>
      <p:sp>
        <p:nvSpPr>
          <p:cNvPr id="5" name="Footer Placeholder 4"/>
          <p:cNvSpPr>
            <a:spLocks noGrp="1"/>
          </p:cNvSpPr>
          <p:nvPr>
            <p:ph type="ftr" sz="quarter" idx="3"/>
          </p:nvPr>
        </p:nvSpPr>
        <p:spPr>
          <a:xfrm>
            <a:off x="3028951" y="4767264"/>
            <a:ext cx="3086100" cy="273844"/>
          </a:xfrm>
          <a:prstGeom prst="rect">
            <a:avLst/>
          </a:prstGeom>
        </p:spPr>
        <p:txBody>
          <a:bodyPr vert="horz" lIns="134452" tIns="67226" rIns="134452" bIns="67226"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7264"/>
            <a:ext cx="2057400" cy="273844"/>
          </a:xfrm>
          <a:prstGeom prst="rect">
            <a:avLst/>
          </a:prstGeom>
        </p:spPr>
        <p:txBody>
          <a:bodyPr vert="horz" lIns="134452" tIns="67226" rIns="134452" bIns="67226" rtlCol="0" anchor="ctr"/>
          <a:lstStyle>
            <a:lvl1pPr algn="r">
              <a:defRPr sz="900">
                <a:solidFill>
                  <a:schemeClr val="tx1">
                    <a:tint val="75000"/>
                  </a:schemeClr>
                </a:solidFill>
              </a:defRPr>
            </a:lvl1pPr>
          </a:lstStyle>
          <a:p>
            <a:fld id="{A3537275-CEF5-4616-BE4A-1CDBC8BDCA2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672465"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168275" indent="-168275" algn="l" defTabSz="672465" rtl="0" eaLnBrk="1" latinLnBrk="0" hangingPunct="1">
        <a:lnSpc>
          <a:spcPct val="90000"/>
        </a:lnSpc>
        <a:spcBef>
          <a:spcPts val="735"/>
        </a:spcBef>
        <a:buFont typeface="Arial" panose="020B0604020202020204" pitchFamily="34" charset="0"/>
        <a:buChar char="•"/>
        <a:defRPr sz="2000" kern="1200">
          <a:solidFill>
            <a:schemeClr val="tx1"/>
          </a:solidFill>
          <a:latin typeface="+mn-lt"/>
          <a:ea typeface="+mn-ea"/>
          <a:cs typeface="+mn-cs"/>
        </a:defRPr>
      </a:lvl1pPr>
      <a:lvl2pPr marL="504190" indent="-168275" algn="l" defTabSz="672465" rtl="0" eaLnBrk="1" latinLnBrk="0" hangingPunct="1">
        <a:lnSpc>
          <a:spcPct val="90000"/>
        </a:lnSpc>
        <a:spcBef>
          <a:spcPts val="365"/>
        </a:spcBef>
        <a:buFont typeface="Arial" panose="020B0604020202020204" pitchFamily="34" charset="0"/>
        <a:buChar char="•"/>
        <a:defRPr sz="1800" kern="1200">
          <a:solidFill>
            <a:schemeClr val="tx1"/>
          </a:solidFill>
          <a:latin typeface="+mn-lt"/>
          <a:ea typeface="+mn-ea"/>
          <a:cs typeface="+mn-cs"/>
        </a:defRPr>
      </a:lvl2pPr>
      <a:lvl3pPr marL="840105" indent="-168275" algn="l" defTabSz="672465" rtl="0" eaLnBrk="1" latinLnBrk="0" hangingPunct="1">
        <a:lnSpc>
          <a:spcPct val="90000"/>
        </a:lnSpc>
        <a:spcBef>
          <a:spcPts val="365"/>
        </a:spcBef>
        <a:buFont typeface="Arial" panose="020B0604020202020204" pitchFamily="34" charset="0"/>
        <a:buChar char="•"/>
        <a:defRPr sz="1400" kern="1200">
          <a:solidFill>
            <a:schemeClr val="tx1"/>
          </a:solidFill>
          <a:latin typeface="+mn-lt"/>
          <a:ea typeface="+mn-ea"/>
          <a:cs typeface="+mn-cs"/>
        </a:defRPr>
      </a:lvl3pPr>
      <a:lvl4pPr marL="1176655" indent="-168275" algn="l" defTabSz="672465" rtl="0" eaLnBrk="1" latinLnBrk="0" hangingPunct="1">
        <a:lnSpc>
          <a:spcPct val="90000"/>
        </a:lnSpc>
        <a:spcBef>
          <a:spcPts val="365"/>
        </a:spcBef>
        <a:buFont typeface="Arial" panose="020B0604020202020204" pitchFamily="34" charset="0"/>
        <a:buChar char="•"/>
        <a:defRPr sz="1400" kern="1200">
          <a:solidFill>
            <a:schemeClr val="tx1"/>
          </a:solidFill>
          <a:latin typeface="+mn-lt"/>
          <a:ea typeface="+mn-ea"/>
          <a:cs typeface="+mn-cs"/>
        </a:defRPr>
      </a:lvl4pPr>
      <a:lvl5pPr marL="1512570" indent="-168275" algn="l" defTabSz="672465" rtl="0" eaLnBrk="1" latinLnBrk="0" hangingPunct="1">
        <a:lnSpc>
          <a:spcPct val="90000"/>
        </a:lnSpc>
        <a:spcBef>
          <a:spcPts val="365"/>
        </a:spcBef>
        <a:buFont typeface="Arial" panose="020B0604020202020204" pitchFamily="34" charset="0"/>
        <a:buChar char="•"/>
        <a:defRPr sz="1400" kern="1200">
          <a:solidFill>
            <a:schemeClr val="tx1"/>
          </a:solidFill>
          <a:latin typeface="+mn-lt"/>
          <a:ea typeface="+mn-ea"/>
          <a:cs typeface="+mn-cs"/>
        </a:defRPr>
      </a:lvl5pPr>
      <a:lvl6pPr marL="1848485" indent="-168275" algn="l" defTabSz="672465" rtl="0" eaLnBrk="1" latinLnBrk="0" hangingPunct="1">
        <a:lnSpc>
          <a:spcPct val="90000"/>
        </a:lnSpc>
        <a:spcBef>
          <a:spcPts val="365"/>
        </a:spcBef>
        <a:buFont typeface="Arial" panose="020B0604020202020204" pitchFamily="34" charset="0"/>
        <a:buChar char="•"/>
        <a:defRPr sz="1400" kern="1200">
          <a:solidFill>
            <a:schemeClr val="tx1"/>
          </a:solidFill>
          <a:latin typeface="+mn-lt"/>
          <a:ea typeface="+mn-ea"/>
          <a:cs typeface="+mn-cs"/>
        </a:defRPr>
      </a:lvl6pPr>
      <a:lvl7pPr marL="2185035" indent="-168275" algn="l" defTabSz="672465" rtl="0" eaLnBrk="1" latinLnBrk="0" hangingPunct="1">
        <a:lnSpc>
          <a:spcPct val="90000"/>
        </a:lnSpc>
        <a:spcBef>
          <a:spcPts val="365"/>
        </a:spcBef>
        <a:buFont typeface="Arial" panose="020B0604020202020204" pitchFamily="34" charset="0"/>
        <a:buChar char="•"/>
        <a:defRPr sz="1400" kern="1200">
          <a:solidFill>
            <a:schemeClr val="tx1"/>
          </a:solidFill>
          <a:latin typeface="+mn-lt"/>
          <a:ea typeface="+mn-ea"/>
          <a:cs typeface="+mn-cs"/>
        </a:defRPr>
      </a:lvl7pPr>
      <a:lvl8pPr marL="2520950" indent="-168275" algn="l" defTabSz="672465" rtl="0" eaLnBrk="1" latinLnBrk="0" hangingPunct="1">
        <a:lnSpc>
          <a:spcPct val="90000"/>
        </a:lnSpc>
        <a:spcBef>
          <a:spcPts val="365"/>
        </a:spcBef>
        <a:buFont typeface="Arial" panose="020B0604020202020204" pitchFamily="34" charset="0"/>
        <a:buChar char="•"/>
        <a:defRPr sz="1400" kern="1200">
          <a:solidFill>
            <a:schemeClr val="tx1"/>
          </a:solidFill>
          <a:latin typeface="+mn-lt"/>
          <a:ea typeface="+mn-ea"/>
          <a:cs typeface="+mn-cs"/>
        </a:defRPr>
      </a:lvl8pPr>
      <a:lvl9pPr marL="2856865" indent="-168275" algn="l" defTabSz="672465" rtl="0" eaLnBrk="1" latinLnBrk="0" hangingPunct="1">
        <a:lnSpc>
          <a:spcPct val="90000"/>
        </a:lnSpc>
        <a:spcBef>
          <a:spcPts val="365"/>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672465" rtl="0" eaLnBrk="1" latinLnBrk="0" hangingPunct="1">
        <a:defRPr sz="1400" kern="1200">
          <a:solidFill>
            <a:schemeClr val="tx1"/>
          </a:solidFill>
          <a:latin typeface="+mn-lt"/>
          <a:ea typeface="+mn-ea"/>
          <a:cs typeface="+mn-cs"/>
        </a:defRPr>
      </a:lvl1pPr>
      <a:lvl2pPr marL="335915" algn="l" defTabSz="672465" rtl="0" eaLnBrk="1" latinLnBrk="0" hangingPunct="1">
        <a:defRPr sz="1400" kern="1200">
          <a:solidFill>
            <a:schemeClr val="tx1"/>
          </a:solidFill>
          <a:latin typeface="+mn-lt"/>
          <a:ea typeface="+mn-ea"/>
          <a:cs typeface="+mn-cs"/>
        </a:defRPr>
      </a:lvl2pPr>
      <a:lvl3pPr marL="672465" algn="l" defTabSz="672465" rtl="0" eaLnBrk="1" latinLnBrk="0" hangingPunct="1">
        <a:defRPr sz="1400" kern="1200">
          <a:solidFill>
            <a:schemeClr val="tx1"/>
          </a:solidFill>
          <a:latin typeface="+mn-lt"/>
          <a:ea typeface="+mn-ea"/>
          <a:cs typeface="+mn-cs"/>
        </a:defRPr>
      </a:lvl3pPr>
      <a:lvl4pPr marL="1008380" algn="l" defTabSz="672465" rtl="0" eaLnBrk="1" latinLnBrk="0" hangingPunct="1">
        <a:defRPr sz="1400" kern="1200">
          <a:solidFill>
            <a:schemeClr val="tx1"/>
          </a:solidFill>
          <a:latin typeface="+mn-lt"/>
          <a:ea typeface="+mn-ea"/>
          <a:cs typeface="+mn-cs"/>
        </a:defRPr>
      </a:lvl4pPr>
      <a:lvl5pPr marL="1344295" algn="l" defTabSz="672465" rtl="0" eaLnBrk="1" latinLnBrk="0" hangingPunct="1">
        <a:defRPr sz="1400" kern="1200">
          <a:solidFill>
            <a:schemeClr val="tx1"/>
          </a:solidFill>
          <a:latin typeface="+mn-lt"/>
          <a:ea typeface="+mn-ea"/>
          <a:cs typeface="+mn-cs"/>
        </a:defRPr>
      </a:lvl5pPr>
      <a:lvl6pPr marL="1680845" algn="l" defTabSz="672465" rtl="0" eaLnBrk="1" latinLnBrk="0" hangingPunct="1">
        <a:defRPr sz="1400" kern="1200">
          <a:solidFill>
            <a:schemeClr val="tx1"/>
          </a:solidFill>
          <a:latin typeface="+mn-lt"/>
          <a:ea typeface="+mn-ea"/>
          <a:cs typeface="+mn-cs"/>
        </a:defRPr>
      </a:lvl6pPr>
      <a:lvl7pPr marL="2016760" algn="l" defTabSz="672465" rtl="0" eaLnBrk="1" latinLnBrk="0" hangingPunct="1">
        <a:defRPr sz="1400" kern="1200">
          <a:solidFill>
            <a:schemeClr val="tx1"/>
          </a:solidFill>
          <a:latin typeface="+mn-lt"/>
          <a:ea typeface="+mn-ea"/>
          <a:cs typeface="+mn-cs"/>
        </a:defRPr>
      </a:lvl7pPr>
      <a:lvl8pPr marL="2352675" algn="l" defTabSz="672465" rtl="0" eaLnBrk="1" latinLnBrk="0" hangingPunct="1">
        <a:defRPr sz="1400" kern="1200">
          <a:solidFill>
            <a:schemeClr val="tx1"/>
          </a:solidFill>
          <a:latin typeface="+mn-lt"/>
          <a:ea typeface="+mn-ea"/>
          <a:cs typeface="+mn-cs"/>
        </a:defRPr>
      </a:lvl8pPr>
      <a:lvl9pPr marL="2689225" algn="l" defTabSz="672465"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19"/>
          <p:cNvSpPr txBox="1"/>
          <p:nvPr/>
        </p:nvSpPr>
        <p:spPr>
          <a:xfrm>
            <a:off x="834888" y="2109253"/>
            <a:ext cx="7255566" cy="1043706"/>
          </a:xfrm>
          <a:prstGeom prst="rect">
            <a:avLst/>
          </a:prstGeom>
          <a:noFill/>
        </p:spPr>
        <p:txBody>
          <a:bodyPr wrap="square" lIns="134452" tIns="67226" rIns="134452" bIns="67226" rtlCol="0">
            <a:spAutoFit/>
            <a:scene3d>
              <a:camera prst="orthographicFront"/>
              <a:lightRig rig="threePt" dir="t"/>
            </a:scene3d>
            <a:sp3d contourW="12700"/>
          </a:bodyPr>
          <a:lstStyle/>
          <a:p>
            <a:pPr algn="ctr" defTabSz="252095">
              <a:defRPr/>
            </a:pPr>
            <a:r>
              <a:rPr lang="zh-CN" altLang="en-US" sz="5900" b="1">
                <a:solidFill>
                  <a:srgbClr val="075AA4"/>
                </a:solidFill>
                <a:latin typeface="微软雅黑" panose="020B0503020204020204" pitchFamily="34" charset="-122"/>
                <a:ea typeface="微软雅黑" panose="020B0503020204020204" pitchFamily="34" charset="-122"/>
                <a:cs typeface="+mn-ea"/>
                <a:sym typeface="Source Han Serif SC" panose="02020400000000000000" pitchFamily="18" charset="-122"/>
              </a:rPr>
              <a:t>图</a:t>
            </a:r>
            <a:endParaRPr lang="zh-CN" altLang="en-US" sz="5900" b="1" dirty="0">
              <a:solidFill>
                <a:srgbClr val="075AA4"/>
              </a:solidFill>
              <a:latin typeface="微软雅黑" panose="020B0503020204020204" pitchFamily="34" charset="-122"/>
              <a:ea typeface="微软雅黑" panose="020B0503020204020204" pitchFamily="34" charset="-122"/>
              <a:cs typeface="+mn-ea"/>
              <a:sym typeface="Source Han Serif SC" panose="02020400000000000000" pitchFamily="18" charset="-122"/>
            </a:endParaRPr>
          </a:p>
        </p:txBody>
      </p:sp>
      <p:sp>
        <p:nvSpPr>
          <p:cNvPr id="6" name="椭圆 5"/>
          <p:cNvSpPr/>
          <p:nvPr/>
        </p:nvSpPr>
        <p:spPr>
          <a:xfrm>
            <a:off x="2957345" y="1313633"/>
            <a:ext cx="3273786" cy="654217"/>
          </a:xfrm>
          <a:prstGeom prst="ellipse">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134452" tIns="67226" rIns="134452" bIns="67226" rtlCol="0" anchor="ctr"/>
          <a:lstStyle/>
          <a:p>
            <a:pPr algn="ctr" defTabSz="252095">
              <a:defRPr/>
            </a:pPr>
            <a:r>
              <a:rPr lang="zh-CN" altLang="en-US" sz="3700" dirty="0">
                <a:solidFill>
                  <a:schemeClr val="bg1"/>
                </a:solidFill>
                <a:latin typeface="Arial" panose="020B0604020202020204" pitchFamily="34" charset="0"/>
                <a:ea typeface="Source Han Serif SC" panose="02020400000000000000" pitchFamily="18" charset="-122"/>
                <a:cs typeface="Arial" panose="020B0604020202020204" pitchFamily="34" charset="0"/>
                <a:sym typeface="Source Han Serif SC" panose="02020400000000000000" pitchFamily="18" charset="-122"/>
              </a:rPr>
              <a:t>第五章</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2945037" cy="492443"/>
          </a:xfrm>
          <a:prstGeom prst="rect">
            <a:avLst/>
          </a:prstGeom>
        </p:spPr>
        <p:txBody>
          <a:bodyPr wrap="none">
            <a:spAutoFit/>
          </a:bodyPr>
          <a:lstStyle/>
          <a:p>
            <a:r>
              <a:rPr lang="en-US" altLang="zh-CN" b="1" dirty="0"/>
              <a:t>5.1.1 </a:t>
            </a:r>
            <a:r>
              <a:rPr lang="zh-CN" altLang="zh-CN" b="1" dirty="0"/>
              <a:t>图的基本概念</a:t>
            </a:r>
          </a:p>
        </p:txBody>
      </p:sp>
      <p:sp>
        <p:nvSpPr>
          <p:cNvPr id="3" name="矩形 2"/>
          <p:cNvSpPr/>
          <p:nvPr/>
        </p:nvSpPr>
        <p:spPr>
          <a:xfrm>
            <a:off x="0" y="492443"/>
            <a:ext cx="9144000" cy="2246769"/>
          </a:xfrm>
          <a:prstGeom prst="rect">
            <a:avLst/>
          </a:prstGeom>
        </p:spPr>
        <p:txBody>
          <a:bodyPr wrap="square">
            <a:spAutoFit/>
          </a:bodyPr>
          <a:lstStyle/>
          <a:p>
            <a:r>
              <a:rPr lang="en-US" altLang="zh-CN" sz="2000" dirty="0"/>
              <a:t>    </a:t>
            </a:r>
            <a:r>
              <a:rPr lang="zh-CN" altLang="zh-CN" sz="2000" dirty="0"/>
              <a:t>图是一种非线性结构，它比树形结构更复杂。在图中，数据元素之间是多对多的关系，因此图用于表达数据元素之间存在着的复杂关系，我们称这种关系为网状结构关系。</a:t>
            </a:r>
          </a:p>
          <a:p>
            <a:r>
              <a:rPr lang="en-US" altLang="zh-CN" sz="2000" dirty="0"/>
              <a:t>    </a:t>
            </a:r>
            <a:r>
              <a:rPr lang="zh-CN" altLang="zh-CN" sz="2000" dirty="0"/>
              <a:t>著名的“欧拉七桥问题”就是最早的图问题：古时在</a:t>
            </a:r>
            <a:r>
              <a:rPr lang="en-US" altLang="zh-CN" sz="2000" dirty="0" err="1"/>
              <a:t>Koenigsberg</a:t>
            </a:r>
            <a:r>
              <a:rPr lang="zh-CN" altLang="zh-CN" sz="2000" dirty="0"/>
              <a:t>（哥尼斯堡）这个地方，有一条河，将两岸和小岛分隔出</a:t>
            </a:r>
            <a:r>
              <a:rPr lang="en-US" altLang="zh-CN" sz="2000" dirty="0"/>
              <a:t>4</a:t>
            </a:r>
            <a:r>
              <a:rPr lang="zh-CN" altLang="zh-CN" sz="2000" dirty="0"/>
              <a:t>个区域（</a:t>
            </a:r>
            <a:r>
              <a:rPr lang="en-US" altLang="zh-CN" sz="2000" dirty="0"/>
              <a:t>A</a:t>
            </a:r>
            <a:r>
              <a:rPr lang="zh-CN" altLang="zh-CN" sz="2000" dirty="0"/>
              <a:t>，</a:t>
            </a:r>
            <a:r>
              <a:rPr lang="en-US" altLang="zh-CN" sz="2000" dirty="0"/>
              <a:t>B</a:t>
            </a:r>
            <a:r>
              <a:rPr lang="zh-CN" altLang="zh-CN" sz="2000" dirty="0"/>
              <a:t>，</a:t>
            </a:r>
            <a:r>
              <a:rPr lang="en-US" altLang="zh-CN" sz="2000" dirty="0"/>
              <a:t>C</a:t>
            </a:r>
            <a:r>
              <a:rPr lang="zh-CN" altLang="zh-CN" sz="2000" dirty="0"/>
              <a:t>，</a:t>
            </a:r>
            <a:r>
              <a:rPr lang="en-US" altLang="zh-CN" sz="2000" dirty="0"/>
              <a:t>D</a:t>
            </a:r>
            <a:r>
              <a:rPr lang="zh-CN" altLang="zh-CN" sz="2000" dirty="0"/>
              <a:t>），连接这</a:t>
            </a:r>
            <a:r>
              <a:rPr lang="en-US" altLang="zh-CN" sz="2000" dirty="0"/>
              <a:t>4</a:t>
            </a:r>
            <a:r>
              <a:rPr lang="zh-CN" altLang="zh-CN" sz="2000" dirty="0"/>
              <a:t>个区域的是</a:t>
            </a:r>
            <a:r>
              <a:rPr lang="en-US" altLang="zh-CN" sz="2000" dirty="0"/>
              <a:t>7</a:t>
            </a:r>
            <a:r>
              <a:rPr lang="zh-CN" altLang="zh-CN" sz="2000" dirty="0"/>
              <a:t>座桥（</a:t>
            </a:r>
            <a:r>
              <a:rPr lang="en-US" altLang="zh-CN" sz="2000" dirty="0"/>
              <a:t>1</a:t>
            </a:r>
            <a:r>
              <a:rPr lang="zh-CN" altLang="zh-CN" sz="2000" dirty="0"/>
              <a:t>，</a:t>
            </a:r>
            <a:r>
              <a:rPr lang="en-US" altLang="zh-CN" sz="2000" dirty="0"/>
              <a:t>2</a:t>
            </a:r>
            <a:r>
              <a:rPr lang="zh-CN" altLang="zh-CN" sz="2000" dirty="0"/>
              <a:t>，</a:t>
            </a:r>
            <a:r>
              <a:rPr lang="en-US" altLang="zh-CN" sz="2000" dirty="0"/>
              <a:t>3</a:t>
            </a:r>
            <a:r>
              <a:rPr lang="zh-CN" altLang="zh-CN" sz="2000" dirty="0"/>
              <a:t>，</a:t>
            </a:r>
            <a:r>
              <a:rPr lang="en-US" altLang="zh-CN" sz="2000" dirty="0"/>
              <a:t>4</a:t>
            </a:r>
            <a:r>
              <a:rPr lang="zh-CN" altLang="zh-CN" sz="2000" dirty="0"/>
              <a:t>，</a:t>
            </a:r>
            <a:r>
              <a:rPr lang="en-US" altLang="zh-CN" sz="2000" dirty="0"/>
              <a:t>5</a:t>
            </a:r>
            <a:r>
              <a:rPr lang="zh-CN" altLang="zh-CN" sz="2000" dirty="0"/>
              <a:t>，</a:t>
            </a:r>
            <a:r>
              <a:rPr lang="en-US" altLang="zh-CN" sz="2000" dirty="0"/>
              <a:t>6</a:t>
            </a:r>
            <a:r>
              <a:rPr lang="zh-CN" altLang="zh-CN" sz="2000" dirty="0"/>
              <a:t>，</a:t>
            </a:r>
            <a:r>
              <a:rPr lang="en-US" altLang="zh-CN" sz="2000" dirty="0"/>
              <a:t>7</a:t>
            </a:r>
            <a:r>
              <a:rPr lang="zh-CN" altLang="zh-CN" sz="2000" dirty="0"/>
              <a:t>），如图</a:t>
            </a:r>
            <a:r>
              <a:rPr lang="en-US" altLang="zh-CN" sz="2000" dirty="0"/>
              <a:t>5.1</a:t>
            </a:r>
            <a:r>
              <a:rPr lang="zh-CN" altLang="zh-CN" sz="2000" dirty="0"/>
              <a:t>所示。而七桥问题是“是否可以从某一个区域出发，经过每座桥一次，而回到原先出发的区域？”</a:t>
            </a:r>
          </a:p>
        </p:txBody>
      </p:sp>
      <p:pic>
        <p:nvPicPr>
          <p:cNvPr id="4" name="图片 3"/>
          <p:cNvPicPr/>
          <p:nvPr/>
        </p:nvPicPr>
        <p:blipFill>
          <a:blip r:embed="rId3">
            <a:extLst>
              <a:ext uri="{28A0092B-C50C-407E-A947-70E740481C1C}">
                <a14:useLocalDpi xmlns:a14="http://schemas.microsoft.com/office/drawing/2010/main" val="0"/>
              </a:ext>
            </a:extLst>
          </a:blip>
          <a:srcRect/>
          <a:stretch>
            <a:fillRect/>
          </a:stretch>
        </p:blipFill>
        <p:spPr>
          <a:xfrm>
            <a:off x="2255984" y="2892932"/>
            <a:ext cx="4319211" cy="208913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59971"/>
            <a:ext cx="9111006" cy="1692771"/>
          </a:xfrm>
          <a:prstGeom prst="rect">
            <a:avLst/>
          </a:prstGeom>
        </p:spPr>
        <p:txBody>
          <a:bodyPr wrap="square">
            <a:spAutoFit/>
          </a:bodyPr>
          <a:lstStyle/>
          <a:p>
            <a:r>
              <a:rPr lang="zh-CN" altLang="zh-CN" b="1" dirty="0"/>
              <a:t>无向图形：</a:t>
            </a:r>
            <a:r>
              <a:rPr lang="zh-CN" altLang="zh-CN" dirty="0"/>
              <a:t>在图形中任一顶点上的边都是没有方向性的。例如，图</a:t>
            </a:r>
            <a:r>
              <a:rPr lang="en-US" altLang="zh-CN" dirty="0"/>
              <a:t>5.2</a:t>
            </a:r>
            <a:r>
              <a:rPr lang="zh-CN" altLang="zh-CN" dirty="0"/>
              <a:t>就是一个无向图形。因为任意两个顶点间的边都没有方向性，如顶点</a:t>
            </a:r>
            <a:r>
              <a:rPr lang="en-US" altLang="zh-CN" dirty="0"/>
              <a:t>1</a:t>
            </a:r>
            <a:r>
              <a:rPr lang="zh-CN" altLang="zh-CN" dirty="0"/>
              <a:t>和顶点</a:t>
            </a:r>
            <a:r>
              <a:rPr lang="en-US" altLang="zh-CN" dirty="0"/>
              <a:t>2</a:t>
            </a:r>
            <a:r>
              <a:rPr lang="zh-CN" altLang="zh-CN" dirty="0"/>
              <a:t>之间的边表示可以从顶点</a:t>
            </a:r>
            <a:r>
              <a:rPr lang="en-US" altLang="zh-CN" dirty="0"/>
              <a:t>1</a:t>
            </a:r>
            <a:r>
              <a:rPr lang="zh-CN" altLang="zh-CN" dirty="0"/>
              <a:t>到顶点</a:t>
            </a:r>
            <a:r>
              <a:rPr lang="en-US" altLang="zh-CN" dirty="0"/>
              <a:t>2</a:t>
            </a:r>
            <a:r>
              <a:rPr lang="zh-CN" altLang="zh-CN" dirty="0"/>
              <a:t>，也可以从顶点</a:t>
            </a:r>
            <a:r>
              <a:rPr lang="en-US" altLang="zh-CN" dirty="0"/>
              <a:t>2</a:t>
            </a:r>
            <a:r>
              <a:rPr lang="zh-CN" altLang="zh-CN" dirty="0"/>
              <a:t>到顶点</a:t>
            </a:r>
            <a:r>
              <a:rPr lang="en-US" altLang="zh-CN" dirty="0"/>
              <a:t>1</a:t>
            </a:r>
            <a:r>
              <a:rPr lang="zh-CN" altLang="zh-CN" dirty="0"/>
              <a:t>。</a:t>
            </a:r>
            <a:endParaRPr lang="zh-CN" altLang="en-US" dirty="0"/>
          </a:p>
        </p:txBody>
      </p:sp>
      <p:pic>
        <p:nvPicPr>
          <p:cNvPr id="3" name="图片 2"/>
          <p:cNvPicPr/>
          <p:nvPr/>
        </p:nvPicPr>
        <p:blipFill>
          <a:blip r:embed="rId3">
            <a:extLst>
              <a:ext uri="{28A0092B-C50C-407E-A947-70E740481C1C}">
                <a14:useLocalDpi xmlns:a14="http://schemas.microsoft.com/office/drawing/2010/main" val="0"/>
              </a:ext>
            </a:extLst>
          </a:blip>
          <a:srcRect/>
          <a:stretch>
            <a:fillRect/>
          </a:stretch>
        </p:blipFill>
        <p:spPr>
          <a:xfrm>
            <a:off x="2579926" y="1922936"/>
            <a:ext cx="3585203" cy="20646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9144000" cy="1692771"/>
          </a:xfrm>
          <a:prstGeom prst="rect">
            <a:avLst/>
          </a:prstGeom>
        </p:spPr>
        <p:txBody>
          <a:bodyPr wrap="square">
            <a:spAutoFit/>
          </a:bodyPr>
          <a:lstStyle/>
          <a:p>
            <a:r>
              <a:rPr lang="zh-CN" altLang="zh-CN" b="1" dirty="0"/>
              <a:t>有向图形：</a:t>
            </a:r>
            <a:r>
              <a:rPr lang="zh-CN" altLang="zh-CN" dirty="0"/>
              <a:t>在图形中任一顶点上的边都是有方向性的。例如图</a:t>
            </a:r>
            <a:r>
              <a:rPr lang="en-US" altLang="zh-CN" dirty="0"/>
              <a:t>5.3</a:t>
            </a:r>
            <a:r>
              <a:rPr lang="zh-CN" altLang="zh-CN" dirty="0"/>
              <a:t>就是一个有向图形，因为任意两个顶点间的边都是有方向的，如顶点</a:t>
            </a:r>
            <a:r>
              <a:rPr lang="en-US" altLang="zh-CN" dirty="0"/>
              <a:t>1</a:t>
            </a:r>
            <a:r>
              <a:rPr lang="zh-CN" altLang="zh-CN" dirty="0"/>
              <a:t>和顶点</a:t>
            </a:r>
            <a:r>
              <a:rPr lang="en-US" altLang="zh-CN" dirty="0"/>
              <a:t>2</a:t>
            </a:r>
            <a:r>
              <a:rPr lang="zh-CN" altLang="zh-CN" dirty="0"/>
              <a:t>之间的边表示可从顶点</a:t>
            </a:r>
            <a:r>
              <a:rPr lang="en-US" altLang="zh-CN" dirty="0"/>
              <a:t>1</a:t>
            </a:r>
            <a:r>
              <a:rPr lang="zh-CN" altLang="zh-CN" dirty="0"/>
              <a:t>到顶点</a:t>
            </a:r>
            <a:r>
              <a:rPr lang="en-US" altLang="zh-CN" dirty="0"/>
              <a:t>2</a:t>
            </a:r>
            <a:r>
              <a:rPr lang="zh-CN" altLang="zh-CN" dirty="0"/>
              <a:t>，但是不可以从顶点</a:t>
            </a:r>
            <a:r>
              <a:rPr lang="en-US" altLang="zh-CN" dirty="0"/>
              <a:t>2</a:t>
            </a:r>
            <a:r>
              <a:rPr lang="zh-CN" altLang="zh-CN" dirty="0"/>
              <a:t>到顶点</a:t>
            </a:r>
            <a:r>
              <a:rPr lang="en-US" altLang="zh-CN" dirty="0"/>
              <a:t>1</a:t>
            </a:r>
            <a:r>
              <a:rPr lang="zh-CN" altLang="zh-CN" dirty="0"/>
              <a:t>。</a:t>
            </a:r>
          </a:p>
        </p:txBody>
      </p:sp>
      <p:pic>
        <p:nvPicPr>
          <p:cNvPr id="3" name="图片 2"/>
          <p:cNvPicPr/>
          <p:nvPr/>
        </p:nvPicPr>
        <p:blipFill>
          <a:blip r:embed="rId3">
            <a:extLst>
              <a:ext uri="{28A0092B-C50C-407E-A947-70E740481C1C}">
                <a14:useLocalDpi xmlns:a14="http://schemas.microsoft.com/office/drawing/2010/main" val="0"/>
              </a:ext>
            </a:extLst>
          </a:blip>
          <a:srcRect/>
          <a:stretch>
            <a:fillRect/>
          </a:stretch>
        </p:blipFill>
        <p:spPr>
          <a:xfrm>
            <a:off x="2404207" y="2054913"/>
            <a:ext cx="3383851" cy="194205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1848" y="32854"/>
            <a:ext cx="9092152" cy="830997"/>
          </a:xfrm>
          <a:prstGeom prst="rect">
            <a:avLst/>
          </a:prstGeom>
        </p:spPr>
        <p:txBody>
          <a:bodyPr wrap="square">
            <a:spAutoFit/>
          </a:bodyPr>
          <a:lstStyle/>
          <a:p>
            <a:r>
              <a:rPr lang="zh-CN" altLang="zh-CN" sz="2400" dirty="0"/>
              <a:t>在有向图形和无向图形之中，我们还必须加上一些限制。</a:t>
            </a:r>
          </a:p>
          <a:p>
            <a:r>
              <a:rPr lang="zh-CN" altLang="zh-CN" sz="2400" dirty="0"/>
              <a:t>（</a:t>
            </a:r>
            <a:r>
              <a:rPr lang="en-US" altLang="zh-CN" sz="2400" dirty="0"/>
              <a:t>1</a:t>
            </a:r>
            <a:r>
              <a:rPr lang="zh-CN" altLang="zh-CN" sz="2400" dirty="0"/>
              <a:t>）图形中不允许自身循环，如图中的顶点</a:t>
            </a:r>
            <a:r>
              <a:rPr lang="en-US" altLang="zh-CN" sz="2400" dirty="0"/>
              <a:t>3</a:t>
            </a:r>
            <a:r>
              <a:rPr lang="zh-CN" altLang="zh-CN" sz="2400" dirty="0"/>
              <a:t>。</a:t>
            </a:r>
          </a:p>
        </p:txBody>
      </p:sp>
      <p:pic>
        <p:nvPicPr>
          <p:cNvPr id="3" name="图片 2"/>
          <p:cNvPicPr/>
          <p:nvPr/>
        </p:nvPicPr>
        <p:blipFill>
          <a:blip r:embed="rId3">
            <a:extLst>
              <a:ext uri="{28A0092B-C50C-407E-A947-70E740481C1C}">
                <a14:useLocalDpi xmlns:a14="http://schemas.microsoft.com/office/drawing/2010/main" val="0"/>
              </a:ext>
            </a:extLst>
          </a:blip>
          <a:srcRect/>
          <a:stretch>
            <a:fillRect/>
          </a:stretch>
        </p:blipFill>
        <p:spPr>
          <a:xfrm>
            <a:off x="3273699" y="960352"/>
            <a:ext cx="2424803" cy="1613166"/>
          </a:xfrm>
          <a:prstGeom prst="rect">
            <a:avLst/>
          </a:prstGeom>
          <a:noFill/>
          <a:ln>
            <a:noFill/>
          </a:ln>
        </p:spPr>
      </p:pic>
      <p:sp>
        <p:nvSpPr>
          <p:cNvPr id="4" name="矩形 3"/>
          <p:cNvSpPr/>
          <p:nvPr/>
        </p:nvSpPr>
        <p:spPr>
          <a:xfrm>
            <a:off x="117836" y="2578497"/>
            <a:ext cx="8941324" cy="830997"/>
          </a:xfrm>
          <a:prstGeom prst="rect">
            <a:avLst/>
          </a:prstGeom>
        </p:spPr>
        <p:txBody>
          <a:bodyPr wrap="square">
            <a:spAutoFit/>
          </a:bodyPr>
          <a:lstStyle/>
          <a:p>
            <a:r>
              <a:rPr lang="zh-CN" altLang="zh-CN" sz="2400" dirty="0"/>
              <a:t>（</a:t>
            </a:r>
            <a:r>
              <a:rPr lang="en-US" altLang="zh-CN" sz="2400" dirty="0"/>
              <a:t>2</a:t>
            </a:r>
            <a:r>
              <a:rPr lang="zh-CN" altLang="zh-CN" sz="2400" dirty="0"/>
              <a:t>）图形中两顶点的边，不可以重复。边重复的图形，我们称为多边形图，如图中顶点</a:t>
            </a:r>
            <a:r>
              <a:rPr lang="en-US" altLang="zh-CN" sz="2400" dirty="0"/>
              <a:t>2</a:t>
            </a:r>
            <a:r>
              <a:rPr lang="zh-CN" altLang="zh-CN" sz="2400" dirty="0"/>
              <a:t>到顶点</a:t>
            </a:r>
            <a:r>
              <a:rPr lang="en-US" altLang="zh-CN" sz="2400" dirty="0"/>
              <a:t>3</a:t>
            </a:r>
            <a:r>
              <a:rPr lang="zh-CN" altLang="zh-CN" sz="2400" dirty="0"/>
              <a:t>，有</a:t>
            </a:r>
            <a:r>
              <a:rPr lang="en-US" altLang="zh-CN" sz="2400" dirty="0"/>
              <a:t>3</a:t>
            </a:r>
            <a:r>
              <a:rPr lang="zh-CN" altLang="zh-CN" sz="2400" dirty="0"/>
              <a:t>条重复的边。</a:t>
            </a:r>
          </a:p>
        </p:txBody>
      </p:sp>
      <p:pic>
        <p:nvPicPr>
          <p:cNvPr id="5" name="图片 4"/>
          <p:cNvPicPr/>
          <p:nvPr/>
        </p:nvPicPr>
        <p:blipFill>
          <a:blip r:embed="rId4">
            <a:extLst>
              <a:ext uri="{28A0092B-C50C-407E-A947-70E740481C1C}">
                <a14:useLocalDpi xmlns:a14="http://schemas.microsoft.com/office/drawing/2010/main" val="0"/>
              </a:ext>
            </a:extLst>
          </a:blip>
          <a:srcRect/>
          <a:stretch>
            <a:fillRect/>
          </a:stretch>
        </p:blipFill>
        <p:spPr>
          <a:xfrm>
            <a:off x="3438010" y="3409494"/>
            <a:ext cx="2298200" cy="163856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9144000" cy="1938992"/>
          </a:xfrm>
          <a:prstGeom prst="rect">
            <a:avLst/>
          </a:prstGeom>
        </p:spPr>
        <p:txBody>
          <a:bodyPr wrap="square">
            <a:spAutoFit/>
          </a:bodyPr>
          <a:lstStyle/>
          <a:p>
            <a:r>
              <a:rPr lang="zh-CN" altLang="zh-CN" sz="2400" b="1" dirty="0"/>
              <a:t>完全图形：</a:t>
            </a:r>
            <a:r>
              <a:rPr lang="zh-CN" altLang="zh-CN" sz="2400" dirty="0"/>
              <a:t>在无向图形中任意两顶点上都存在一个边，例如</a:t>
            </a:r>
            <a:r>
              <a:rPr lang="zh-CN" altLang="en-US" sz="2400" dirty="0"/>
              <a:t>下</a:t>
            </a:r>
            <a:r>
              <a:rPr lang="zh-CN" altLang="zh-CN" sz="2400" dirty="0"/>
              <a:t>图就是一个完全图形，因为任意两个顶点间都存在一个边。一个含</a:t>
            </a:r>
            <a:r>
              <a:rPr lang="en-US" altLang="zh-CN" sz="2400" i="1" dirty="0"/>
              <a:t>n</a:t>
            </a:r>
            <a:r>
              <a:rPr lang="zh-CN" altLang="zh-CN" sz="2400" dirty="0"/>
              <a:t>个顶点的完全无向图含有</a:t>
            </a:r>
            <a:r>
              <a:rPr lang="en-US" altLang="zh-CN" sz="2400" i="1" dirty="0"/>
              <a:t>n</a:t>
            </a:r>
            <a:r>
              <a:rPr lang="zh-CN" altLang="zh-CN" sz="2400" dirty="0"/>
              <a:t>×</a:t>
            </a:r>
            <a:r>
              <a:rPr lang="en-US" altLang="zh-CN" sz="2400" dirty="0"/>
              <a:t>(</a:t>
            </a:r>
            <a:r>
              <a:rPr lang="en-US" altLang="zh-CN" sz="2400" i="1" dirty="0"/>
              <a:t>n</a:t>
            </a:r>
            <a:r>
              <a:rPr lang="zh-CN" altLang="zh-CN" sz="2400" dirty="0"/>
              <a:t>－</a:t>
            </a:r>
            <a:r>
              <a:rPr lang="en-US" altLang="zh-CN" sz="2400" dirty="0"/>
              <a:t>1)/2</a:t>
            </a:r>
            <a:r>
              <a:rPr lang="zh-CN" altLang="zh-CN" sz="2400" dirty="0"/>
              <a:t>条边，因为每个顶点可与其他</a:t>
            </a:r>
            <a:r>
              <a:rPr lang="en-US" altLang="zh-CN" sz="2400" i="1" dirty="0"/>
              <a:t>n</a:t>
            </a:r>
            <a:r>
              <a:rPr lang="zh-CN" altLang="zh-CN" sz="2400" dirty="0"/>
              <a:t>－</a:t>
            </a:r>
            <a:r>
              <a:rPr lang="en-US" altLang="zh-CN" sz="2400" dirty="0"/>
              <a:t>1</a:t>
            </a:r>
            <a:r>
              <a:rPr lang="zh-CN" altLang="zh-CN" sz="2400" dirty="0"/>
              <a:t>个顶点相连，共有</a:t>
            </a:r>
            <a:r>
              <a:rPr lang="en-US" altLang="zh-CN" sz="2400" i="1" dirty="0"/>
              <a:t>n</a:t>
            </a:r>
            <a:r>
              <a:rPr lang="zh-CN" altLang="zh-CN" sz="2400" dirty="0"/>
              <a:t>×</a:t>
            </a:r>
            <a:r>
              <a:rPr lang="en-US" altLang="zh-CN" sz="2400" dirty="0"/>
              <a:t>(</a:t>
            </a:r>
            <a:r>
              <a:rPr lang="en-US" altLang="zh-CN" sz="2400" i="1" dirty="0"/>
              <a:t>n</a:t>
            </a:r>
            <a:r>
              <a:rPr lang="zh-CN" altLang="zh-CN" sz="2400" dirty="0"/>
              <a:t>－</a:t>
            </a:r>
            <a:r>
              <a:rPr lang="en-US" altLang="zh-CN" sz="2400" dirty="0"/>
              <a:t>1)</a:t>
            </a:r>
            <a:r>
              <a:rPr lang="zh-CN" altLang="zh-CN" sz="2400" dirty="0"/>
              <a:t>条边，但是每条线均被计算了</a:t>
            </a:r>
            <a:r>
              <a:rPr lang="en-US" altLang="zh-CN" sz="2400" dirty="0"/>
              <a:t>2</a:t>
            </a:r>
            <a:r>
              <a:rPr lang="zh-CN" altLang="zh-CN" sz="2400" dirty="0"/>
              <a:t>次，一个含</a:t>
            </a:r>
            <a:r>
              <a:rPr lang="en-US" altLang="zh-CN" sz="2400" i="1" dirty="0"/>
              <a:t>n</a:t>
            </a:r>
            <a:r>
              <a:rPr lang="zh-CN" altLang="zh-CN" sz="2400" dirty="0"/>
              <a:t>个顶点的完全有向图含有</a:t>
            </a:r>
            <a:r>
              <a:rPr lang="en-US" altLang="zh-CN" sz="2400" i="1" dirty="0"/>
              <a:t>n</a:t>
            </a:r>
            <a:r>
              <a:rPr lang="zh-CN" altLang="zh-CN" sz="2400" dirty="0"/>
              <a:t>×</a:t>
            </a:r>
            <a:r>
              <a:rPr lang="en-US" altLang="zh-CN" sz="2400" dirty="0"/>
              <a:t>(</a:t>
            </a:r>
            <a:r>
              <a:rPr lang="en-US" altLang="zh-CN" sz="2400" i="1" dirty="0"/>
              <a:t>n</a:t>
            </a:r>
            <a:r>
              <a:rPr lang="zh-CN" altLang="zh-CN" sz="2400" dirty="0"/>
              <a:t>－</a:t>
            </a:r>
            <a:r>
              <a:rPr lang="en-US" altLang="zh-CN" sz="2400" dirty="0"/>
              <a:t>1)</a:t>
            </a:r>
            <a:r>
              <a:rPr lang="zh-CN" altLang="zh-CN" sz="2400" dirty="0"/>
              <a:t>条边。</a:t>
            </a:r>
          </a:p>
        </p:txBody>
      </p:sp>
      <p:pic>
        <p:nvPicPr>
          <p:cNvPr id="3" name="图片 2"/>
          <p:cNvPicPr/>
          <p:nvPr/>
        </p:nvPicPr>
        <p:blipFill>
          <a:blip r:embed="rId3">
            <a:extLst>
              <a:ext uri="{28A0092B-C50C-407E-A947-70E740481C1C}">
                <a14:useLocalDpi xmlns:a14="http://schemas.microsoft.com/office/drawing/2010/main" val="0"/>
              </a:ext>
            </a:extLst>
          </a:blip>
          <a:srcRect/>
          <a:stretch>
            <a:fillRect/>
          </a:stretch>
        </p:blipFill>
        <p:spPr>
          <a:xfrm>
            <a:off x="2528079" y="2120900"/>
            <a:ext cx="3599344" cy="202218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9191134" cy="892552"/>
          </a:xfrm>
          <a:prstGeom prst="rect">
            <a:avLst/>
          </a:prstGeom>
        </p:spPr>
        <p:txBody>
          <a:bodyPr wrap="square">
            <a:spAutoFit/>
          </a:bodyPr>
          <a:lstStyle/>
          <a:p>
            <a:r>
              <a:rPr lang="zh-CN" altLang="zh-CN" b="1" dirty="0"/>
              <a:t>子图形：</a:t>
            </a:r>
            <a:r>
              <a:rPr lang="zh-CN" altLang="zh-CN" dirty="0"/>
              <a:t>由图形</a:t>
            </a:r>
            <a:r>
              <a:rPr lang="en-US" altLang="zh-CN" dirty="0"/>
              <a:t>G</a:t>
            </a:r>
            <a:r>
              <a:rPr lang="zh-CN" altLang="zh-CN" dirty="0"/>
              <a:t>中取出的部分集合，如</a:t>
            </a:r>
            <a:r>
              <a:rPr lang="zh-CN" altLang="en-US" dirty="0"/>
              <a:t>左</a:t>
            </a:r>
            <a:r>
              <a:rPr lang="zh-CN" altLang="zh-CN" dirty="0"/>
              <a:t>图为图形</a:t>
            </a:r>
            <a:r>
              <a:rPr lang="en-US" altLang="zh-CN" dirty="0"/>
              <a:t>G</a:t>
            </a:r>
            <a:r>
              <a:rPr lang="zh-CN" altLang="zh-CN" dirty="0"/>
              <a:t>，则</a:t>
            </a:r>
            <a:r>
              <a:rPr lang="zh-CN" altLang="en-US" dirty="0"/>
              <a:t>右</a:t>
            </a:r>
            <a:r>
              <a:rPr lang="zh-CN" altLang="zh-CN" dirty="0"/>
              <a:t>图中的所有图皆为其子图形。</a:t>
            </a:r>
          </a:p>
        </p:txBody>
      </p:sp>
      <p:pic>
        <p:nvPicPr>
          <p:cNvPr id="3" name="图片 2"/>
          <p:cNvPicPr/>
          <p:nvPr/>
        </p:nvPicPr>
        <p:blipFill>
          <a:blip r:embed="rId3">
            <a:extLst>
              <a:ext uri="{28A0092B-C50C-407E-A947-70E740481C1C}">
                <a14:useLocalDpi xmlns:a14="http://schemas.microsoft.com/office/drawing/2010/main" val="0"/>
              </a:ext>
            </a:extLst>
          </a:blip>
          <a:srcRect/>
          <a:stretch>
            <a:fillRect/>
          </a:stretch>
        </p:blipFill>
        <p:spPr>
          <a:xfrm>
            <a:off x="309556" y="1503078"/>
            <a:ext cx="2702308" cy="2140382"/>
          </a:xfrm>
          <a:prstGeom prst="rect">
            <a:avLst/>
          </a:prstGeom>
          <a:noFill/>
          <a:ln>
            <a:noFill/>
          </a:ln>
        </p:spPr>
      </p:pic>
      <p:pic>
        <p:nvPicPr>
          <p:cNvPr id="4" name="图片 3"/>
          <p:cNvPicPr/>
          <p:nvPr/>
        </p:nvPicPr>
        <p:blipFill>
          <a:blip r:embed="rId4">
            <a:extLst>
              <a:ext uri="{28A0092B-C50C-407E-A947-70E740481C1C}">
                <a14:useLocalDpi xmlns:a14="http://schemas.microsoft.com/office/drawing/2010/main" val="0"/>
              </a:ext>
            </a:extLst>
          </a:blip>
          <a:srcRect/>
          <a:stretch>
            <a:fillRect/>
          </a:stretch>
        </p:blipFill>
        <p:spPr>
          <a:xfrm>
            <a:off x="4417756" y="1503077"/>
            <a:ext cx="4613122" cy="107019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9144000" cy="1200329"/>
          </a:xfrm>
          <a:prstGeom prst="rect">
            <a:avLst/>
          </a:prstGeom>
        </p:spPr>
        <p:txBody>
          <a:bodyPr wrap="square">
            <a:spAutoFit/>
          </a:bodyPr>
          <a:lstStyle/>
          <a:p>
            <a:r>
              <a:rPr lang="zh-CN" altLang="zh-CN" sz="2400" b="1" dirty="0"/>
              <a:t>路径：</a:t>
            </a:r>
            <a:r>
              <a:rPr lang="zh-CN" altLang="zh-CN" sz="2400" dirty="0"/>
              <a:t>在图形中从顶点</a:t>
            </a:r>
            <a:r>
              <a:rPr lang="en-US" altLang="zh-CN" sz="2400" dirty="0"/>
              <a:t>A</a:t>
            </a:r>
            <a:r>
              <a:rPr lang="zh-CN" altLang="zh-CN" sz="2400" dirty="0"/>
              <a:t>到达顶点</a:t>
            </a:r>
            <a:r>
              <a:rPr lang="en-US" altLang="zh-CN" sz="2400" dirty="0"/>
              <a:t>B</a:t>
            </a:r>
            <a:r>
              <a:rPr lang="zh-CN" altLang="zh-CN" sz="2400" dirty="0"/>
              <a:t>所经过的所有的边。例如图</a:t>
            </a:r>
            <a:r>
              <a:rPr lang="zh-CN" altLang="en-US" sz="2400" dirty="0"/>
              <a:t>中</a:t>
            </a:r>
            <a:r>
              <a:rPr lang="zh-CN" altLang="zh-CN" sz="2400" dirty="0"/>
              <a:t>从顶点</a:t>
            </a:r>
            <a:r>
              <a:rPr lang="en-US" altLang="zh-CN" sz="2400" dirty="0"/>
              <a:t>V</a:t>
            </a:r>
            <a:r>
              <a:rPr lang="en-US" altLang="zh-CN" sz="2400" baseline="-25000" dirty="0"/>
              <a:t>1</a:t>
            </a:r>
            <a:r>
              <a:rPr lang="zh-CN" altLang="zh-CN" sz="2400" dirty="0"/>
              <a:t>到顶点</a:t>
            </a:r>
            <a:r>
              <a:rPr lang="en-US" altLang="zh-CN" sz="2400" dirty="0"/>
              <a:t>V</a:t>
            </a:r>
            <a:r>
              <a:rPr lang="en-US" altLang="zh-CN" sz="2400" baseline="-25000" dirty="0"/>
              <a:t>5</a:t>
            </a:r>
            <a:r>
              <a:rPr lang="zh-CN" altLang="zh-CN" sz="2400" dirty="0"/>
              <a:t>的路径为</a:t>
            </a:r>
            <a:r>
              <a:rPr lang="en-US" altLang="zh-CN" sz="2400" dirty="0"/>
              <a:t>&lt;V</a:t>
            </a:r>
            <a:r>
              <a:rPr lang="en-US" altLang="zh-CN" sz="2400" baseline="-25000" dirty="0"/>
              <a:t>1</a:t>
            </a:r>
            <a:r>
              <a:rPr lang="zh-CN" altLang="zh-CN" sz="2400" dirty="0"/>
              <a:t>，</a:t>
            </a:r>
            <a:r>
              <a:rPr lang="en-US" altLang="zh-CN" sz="2400" dirty="0"/>
              <a:t>V</a:t>
            </a:r>
            <a:r>
              <a:rPr lang="en-US" altLang="zh-CN" sz="2400" baseline="-25000" dirty="0"/>
              <a:t>2</a:t>
            </a:r>
            <a:r>
              <a:rPr lang="en-US" altLang="zh-CN" sz="2400" dirty="0"/>
              <a:t>&gt;</a:t>
            </a:r>
            <a:r>
              <a:rPr lang="zh-CN" altLang="zh-CN" sz="2400" dirty="0"/>
              <a:t>，</a:t>
            </a:r>
            <a:r>
              <a:rPr lang="en-US" altLang="zh-CN" sz="2400" dirty="0"/>
              <a:t>&lt;V</a:t>
            </a:r>
            <a:r>
              <a:rPr lang="en-US" altLang="zh-CN" sz="2400" baseline="-25000" dirty="0"/>
              <a:t>2</a:t>
            </a:r>
            <a:r>
              <a:rPr lang="zh-CN" altLang="zh-CN" sz="2400" dirty="0"/>
              <a:t>，</a:t>
            </a:r>
            <a:r>
              <a:rPr lang="en-US" altLang="zh-CN" sz="2400" dirty="0"/>
              <a:t>V</a:t>
            </a:r>
            <a:r>
              <a:rPr lang="en-US" altLang="zh-CN" sz="2400" baseline="-25000" dirty="0"/>
              <a:t>4</a:t>
            </a:r>
            <a:r>
              <a:rPr lang="en-US" altLang="zh-CN" sz="2400" dirty="0"/>
              <a:t>&gt;</a:t>
            </a:r>
            <a:r>
              <a:rPr lang="zh-CN" altLang="zh-CN" sz="2400" dirty="0"/>
              <a:t>，</a:t>
            </a:r>
            <a:r>
              <a:rPr lang="en-US" altLang="zh-CN" sz="2400" dirty="0"/>
              <a:t>&lt;V</a:t>
            </a:r>
            <a:r>
              <a:rPr lang="en-US" altLang="zh-CN" sz="2400" baseline="-25000" dirty="0"/>
              <a:t>4</a:t>
            </a:r>
            <a:r>
              <a:rPr lang="zh-CN" altLang="zh-CN" sz="2400" dirty="0"/>
              <a:t>，</a:t>
            </a:r>
            <a:r>
              <a:rPr lang="en-US" altLang="zh-CN" sz="2400" dirty="0"/>
              <a:t>V</a:t>
            </a:r>
            <a:r>
              <a:rPr lang="en-US" altLang="zh-CN" sz="2400" baseline="-25000" dirty="0"/>
              <a:t>5</a:t>
            </a:r>
            <a:r>
              <a:rPr lang="en-US" altLang="zh-CN" sz="2400" dirty="0"/>
              <a:t>&gt;</a:t>
            </a:r>
            <a:r>
              <a:rPr lang="zh-CN" altLang="zh-CN" sz="2400" dirty="0"/>
              <a:t>，而路径长度为经过的边数，在这个例子中，路径的长度为</a:t>
            </a:r>
            <a:r>
              <a:rPr lang="en-US" altLang="zh-CN" sz="2400" dirty="0"/>
              <a:t>3</a:t>
            </a:r>
            <a:r>
              <a:rPr lang="zh-CN" altLang="zh-CN" sz="2400" dirty="0"/>
              <a:t>。</a:t>
            </a:r>
            <a:endParaRPr lang="zh-CN" altLang="en-US" sz="2400" dirty="0"/>
          </a:p>
        </p:txBody>
      </p:sp>
      <p:pic>
        <p:nvPicPr>
          <p:cNvPr id="3" name="图片 2"/>
          <p:cNvPicPr/>
          <p:nvPr/>
        </p:nvPicPr>
        <p:blipFill>
          <a:blip r:embed="rId3">
            <a:extLst>
              <a:ext uri="{28A0092B-C50C-407E-A947-70E740481C1C}">
                <a14:useLocalDpi xmlns:a14="http://schemas.microsoft.com/office/drawing/2010/main" val="0"/>
              </a:ext>
            </a:extLst>
          </a:blip>
          <a:srcRect/>
          <a:stretch>
            <a:fillRect/>
          </a:stretch>
        </p:blipFill>
        <p:spPr>
          <a:xfrm>
            <a:off x="3158521" y="1635341"/>
            <a:ext cx="3355399" cy="21683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9144000" cy="2554545"/>
          </a:xfrm>
          <a:prstGeom prst="rect">
            <a:avLst/>
          </a:prstGeom>
        </p:spPr>
        <p:txBody>
          <a:bodyPr wrap="square">
            <a:spAutoFit/>
          </a:bodyPr>
          <a:lstStyle/>
          <a:p>
            <a:r>
              <a:rPr lang="zh-CN" altLang="zh-CN" sz="2000" b="1" dirty="0"/>
              <a:t>简单路径：</a:t>
            </a:r>
            <a:r>
              <a:rPr lang="zh-CN" altLang="zh-CN" sz="2000" dirty="0"/>
              <a:t>在图形中，除了起点和终点可以重复（不重复亦可）外，其余的顶点皆不相同的路径，如图</a:t>
            </a:r>
            <a:r>
              <a:rPr lang="en-US" altLang="zh-CN" sz="2000" dirty="0"/>
              <a:t>5.9</a:t>
            </a:r>
            <a:r>
              <a:rPr lang="zh-CN" altLang="zh-CN" sz="2000" dirty="0"/>
              <a:t>中的</a:t>
            </a:r>
            <a:r>
              <a:rPr lang="en-US" altLang="zh-CN" sz="2000" dirty="0"/>
              <a:t>&lt;V</a:t>
            </a:r>
            <a:r>
              <a:rPr lang="en-US" altLang="zh-CN" sz="2000" baseline="-25000" dirty="0"/>
              <a:t>1</a:t>
            </a:r>
            <a:r>
              <a:rPr lang="zh-CN" altLang="zh-CN" sz="2000" dirty="0"/>
              <a:t>，</a:t>
            </a:r>
            <a:r>
              <a:rPr lang="en-US" altLang="zh-CN" sz="2000" dirty="0"/>
              <a:t>V</a:t>
            </a:r>
            <a:r>
              <a:rPr lang="en-US" altLang="zh-CN" sz="2000" baseline="-25000" dirty="0"/>
              <a:t>2</a:t>
            </a:r>
            <a:r>
              <a:rPr lang="en-US" altLang="zh-CN" sz="2000" dirty="0"/>
              <a:t>&gt;</a:t>
            </a:r>
            <a:r>
              <a:rPr lang="zh-CN" altLang="zh-CN" sz="2000" dirty="0"/>
              <a:t>，</a:t>
            </a:r>
            <a:r>
              <a:rPr lang="en-US" altLang="zh-CN" sz="2000" dirty="0"/>
              <a:t>&lt;V</a:t>
            </a:r>
            <a:r>
              <a:rPr lang="en-US" altLang="zh-CN" sz="2000" baseline="-25000" dirty="0"/>
              <a:t>2</a:t>
            </a:r>
            <a:r>
              <a:rPr lang="zh-CN" altLang="zh-CN" sz="2000" dirty="0"/>
              <a:t>，</a:t>
            </a:r>
            <a:r>
              <a:rPr lang="en-US" altLang="zh-CN" sz="2000" dirty="0"/>
              <a:t>V</a:t>
            </a:r>
            <a:r>
              <a:rPr lang="zh-CN" altLang="zh-CN" sz="2000" baseline="-25000" dirty="0"/>
              <a:t>４</a:t>
            </a:r>
            <a:r>
              <a:rPr lang="en-US" altLang="zh-CN" sz="2000" dirty="0"/>
              <a:t>&gt;</a:t>
            </a:r>
            <a:r>
              <a:rPr lang="zh-CN" altLang="zh-CN" sz="2000" dirty="0"/>
              <a:t>，</a:t>
            </a:r>
            <a:r>
              <a:rPr lang="en-US" altLang="zh-CN" sz="2000" dirty="0"/>
              <a:t>&lt;V</a:t>
            </a:r>
            <a:r>
              <a:rPr lang="zh-CN" altLang="zh-CN" sz="2000" baseline="-25000" dirty="0"/>
              <a:t>４</a:t>
            </a:r>
            <a:r>
              <a:rPr lang="zh-CN" altLang="zh-CN" sz="2000" dirty="0"/>
              <a:t>，</a:t>
            </a:r>
            <a:r>
              <a:rPr lang="en-US" altLang="zh-CN" sz="2000" dirty="0"/>
              <a:t>V</a:t>
            </a:r>
            <a:r>
              <a:rPr lang="en-US" altLang="zh-CN" sz="2000" baseline="-25000" dirty="0"/>
              <a:t>5</a:t>
            </a:r>
            <a:r>
              <a:rPr lang="en-US" altLang="zh-CN" sz="2000" dirty="0"/>
              <a:t>&gt;</a:t>
            </a:r>
            <a:r>
              <a:rPr lang="zh-CN" altLang="zh-CN" sz="2000" dirty="0"/>
              <a:t>为简单路径。</a:t>
            </a:r>
          </a:p>
          <a:p>
            <a:r>
              <a:rPr lang="en-US" altLang="zh-CN" sz="2000" dirty="0"/>
              <a:t> </a:t>
            </a:r>
            <a:endParaRPr lang="zh-CN" altLang="zh-CN" sz="2000" dirty="0"/>
          </a:p>
          <a:p>
            <a:r>
              <a:rPr lang="zh-CN" altLang="zh-CN" sz="2000" b="1" dirty="0"/>
              <a:t>权值：</a:t>
            </a:r>
            <a:r>
              <a:rPr lang="zh-CN" altLang="zh-CN" sz="2000" dirty="0"/>
              <a:t>可以形象地理解为经过某条边所需要付出的“代价”。</a:t>
            </a:r>
          </a:p>
          <a:p>
            <a:r>
              <a:rPr lang="en-US" altLang="zh-CN" sz="2000" dirty="0"/>
              <a:t> </a:t>
            </a:r>
            <a:endParaRPr lang="zh-CN" altLang="zh-CN" sz="2000" dirty="0"/>
          </a:p>
          <a:p>
            <a:r>
              <a:rPr lang="zh-CN" altLang="zh-CN" sz="2000" b="1" dirty="0"/>
              <a:t>回路：</a:t>
            </a:r>
            <a:r>
              <a:rPr lang="zh-CN" altLang="zh-CN" sz="2000" dirty="0"/>
              <a:t>在图形中，起点和终点相同的简单路径，如图</a:t>
            </a:r>
            <a:r>
              <a:rPr lang="en-US" altLang="zh-CN" sz="2000" dirty="0"/>
              <a:t>5.10</a:t>
            </a:r>
            <a:r>
              <a:rPr lang="zh-CN" altLang="zh-CN" sz="2000" dirty="0"/>
              <a:t>中，</a:t>
            </a:r>
            <a:r>
              <a:rPr lang="en-US" altLang="zh-CN" sz="2000" dirty="0"/>
              <a:t>&lt;V</a:t>
            </a:r>
            <a:r>
              <a:rPr lang="en-US" altLang="zh-CN" sz="2000" baseline="-25000" dirty="0"/>
              <a:t>1</a:t>
            </a:r>
            <a:r>
              <a:rPr lang="zh-CN" altLang="zh-CN" sz="2000" dirty="0"/>
              <a:t>，</a:t>
            </a:r>
            <a:r>
              <a:rPr lang="en-US" altLang="zh-CN" sz="2000" dirty="0"/>
              <a:t>V</a:t>
            </a:r>
            <a:r>
              <a:rPr lang="en-US" altLang="zh-CN" sz="2000" baseline="-25000" dirty="0"/>
              <a:t>2</a:t>
            </a:r>
            <a:r>
              <a:rPr lang="en-US" altLang="zh-CN" sz="2000" dirty="0"/>
              <a:t>&gt;</a:t>
            </a:r>
            <a:r>
              <a:rPr lang="zh-CN" altLang="zh-CN" sz="2000" dirty="0"/>
              <a:t>，</a:t>
            </a:r>
            <a:r>
              <a:rPr lang="en-US" altLang="zh-CN" sz="2000" dirty="0"/>
              <a:t>&lt;V</a:t>
            </a:r>
            <a:r>
              <a:rPr lang="en-US" altLang="zh-CN" sz="2000" baseline="-25000" dirty="0"/>
              <a:t>2</a:t>
            </a:r>
            <a:r>
              <a:rPr lang="zh-CN" altLang="zh-CN" sz="2000" dirty="0"/>
              <a:t>，</a:t>
            </a:r>
            <a:r>
              <a:rPr lang="en-US" altLang="zh-CN" sz="2000" dirty="0"/>
              <a:t>V</a:t>
            </a:r>
            <a:r>
              <a:rPr lang="en-US" altLang="zh-CN" sz="2000" baseline="-25000" dirty="0"/>
              <a:t>4</a:t>
            </a:r>
            <a:r>
              <a:rPr lang="en-US" altLang="zh-CN" sz="2000" dirty="0"/>
              <a:t>&gt;</a:t>
            </a:r>
            <a:r>
              <a:rPr lang="zh-CN" altLang="zh-CN" sz="2000" dirty="0"/>
              <a:t>，</a:t>
            </a:r>
            <a:r>
              <a:rPr lang="en-US" altLang="zh-CN" sz="2000" dirty="0"/>
              <a:t>&lt;V</a:t>
            </a:r>
            <a:r>
              <a:rPr lang="en-US" altLang="zh-CN" sz="2000" baseline="-25000" dirty="0"/>
              <a:t>4</a:t>
            </a:r>
            <a:r>
              <a:rPr lang="zh-CN" altLang="zh-CN" sz="2000" dirty="0"/>
              <a:t>，</a:t>
            </a:r>
            <a:r>
              <a:rPr lang="en-US" altLang="zh-CN" sz="2000" dirty="0"/>
              <a:t>V</a:t>
            </a:r>
            <a:r>
              <a:rPr lang="en-US" altLang="zh-CN" sz="2000" baseline="-25000" dirty="0"/>
              <a:t>1</a:t>
            </a:r>
            <a:r>
              <a:rPr lang="en-US" altLang="zh-CN" sz="2000" dirty="0"/>
              <a:t>&gt;</a:t>
            </a:r>
            <a:r>
              <a:rPr lang="zh-CN" altLang="zh-CN" sz="2000" dirty="0"/>
              <a:t>就是一条回路。除第一个和最后一个顶点外，其余各顶点均不重复出现的回路称为简单回路。</a:t>
            </a:r>
          </a:p>
        </p:txBody>
      </p:sp>
      <p:pic>
        <p:nvPicPr>
          <p:cNvPr id="3" name="图片 2"/>
          <p:cNvPicPr/>
          <p:nvPr/>
        </p:nvPicPr>
        <p:blipFill>
          <a:blip r:embed="rId3">
            <a:extLst>
              <a:ext uri="{28A0092B-C50C-407E-A947-70E740481C1C}">
                <a14:useLocalDpi xmlns:a14="http://schemas.microsoft.com/office/drawing/2010/main" val="0"/>
              </a:ext>
            </a:extLst>
          </a:blip>
          <a:srcRect/>
          <a:stretch>
            <a:fillRect/>
          </a:stretch>
        </p:blipFill>
        <p:spPr>
          <a:xfrm>
            <a:off x="3147515" y="2630799"/>
            <a:ext cx="2739524" cy="193648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60542"/>
            <a:ext cx="9012024" cy="3046988"/>
          </a:xfrm>
          <a:prstGeom prst="rect">
            <a:avLst/>
          </a:prstGeom>
        </p:spPr>
        <p:txBody>
          <a:bodyPr wrap="square">
            <a:spAutoFit/>
          </a:bodyPr>
          <a:lstStyle/>
          <a:p>
            <a:r>
              <a:rPr lang="zh-CN" altLang="zh-CN" sz="2400" b="1" dirty="0"/>
              <a:t>连通顶点：</a:t>
            </a:r>
            <a:r>
              <a:rPr lang="zh-CN" altLang="zh-CN" sz="2400" dirty="0"/>
              <a:t>在无向图形中，顶点</a:t>
            </a:r>
            <a:r>
              <a:rPr lang="en-US" altLang="zh-CN" sz="2400" dirty="0"/>
              <a:t>A</a:t>
            </a:r>
            <a:r>
              <a:rPr lang="zh-CN" altLang="zh-CN" sz="2400" dirty="0"/>
              <a:t>到顶点</a:t>
            </a:r>
            <a:r>
              <a:rPr lang="en-US" altLang="zh-CN" sz="2400" dirty="0"/>
              <a:t>B</a:t>
            </a:r>
            <a:r>
              <a:rPr lang="zh-CN" altLang="zh-CN" sz="2400" dirty="0"/>
              <a:t>间存在一条路径，则称顶点</a:t>
            </a:r>
            <a:r>
              <a:rPr lang="en-US" altLang="zh-CN" sz="2400" dirty="0"/>
              <a:t>A</a:t>
            </a:r>
            <a:r>
              <a:rPr lang="zh-CN" altLang="zh-CN" sz="2400" dirty="0"/>
              <a:t>和顶点</a:t>
            </a:r>
            <a:r>
              <a:rPr lang="en-US" altLang="zh-CN" sz="2400" dirty="0"/>
              <a:t>B</a:t>
            </a:r>
            <a:r>
              <a:rPr lang="zh-CN" altLang="zh-CN" sz="2400" dirty="0"/>
              <a:t>为连通顶点。</a:t>
            </a:r>
          </a:p>
          <a:p>
            <a:r>
              <a:rPr lang="en-US" altLang="zh-CN" sz="2400" dirty="0"/>
              <a:t> </a:t>
            </a:r>
            <a:endParaRPr lang="zh-CN" altLang="zh-CN" sz="2400" dirty="0"/>
          </a:p>
          <a:p>
            <a:r>
              <a:rPr lang="zh-CN" altLang="zh-CN" sz="2400" b="1" dirty="0"/>
              <a:t>连通图形：</a:t>
            </a:r>
            <a:r>
              <a:rPr lang="zh-CN" altLang="zh-CN" sz="2400" dirty="0"/>
              <a:t>如果在无向图形中，任意两个顶点皆连通，则称为连通图形。即任意两个顶点皆存在一条路径可到达。</a:t>
            </a:r>
          </a:p>
          <a:p>
            <a:r>
              <a:rPr lang="en-US" altLang="zh-CN" sz="2400" dirty="0"/>
              <a:t> </a:t>
            </a:r>
            <a:endParaRPr lang="zh-CN" altLang="zh-CN" sz="2400" dirty="0"/>
          </a:p>
          <a:p>
            <a:r>
              <a:rPr lang="zh-CN" altLang="zh-CN" sz="2400" b="1" dirty="0"/>
              <a:t>连通单元：</a:t>
            </a:r>
            <a:r>
              <a:rPr lang="zh-CN" altLang="zh-CN" sz="2400" dirty="0"/>
              <a:t>所谓连通单元是将无向图形分为多个分离的子图形之后，原图形的连通顶点仍在同一个子图中。</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3541"/>
            <a:ext cx="9144000" cy="2862322"/>
          </a:xfrm>
          <a:prstGeom prst="rect">
            <a:avLst/>
          </a:prstGeom>
        </p:spPr>
        <p:txBody>
          <a:bodyPr wrap="square">
            <a:spAutoFit/>
          </a:bodyPr>
          <a:lstStyle/>
          <a:p>
            <a:r>
              <a:rPr lang="zh-CN" altLang="zh-CN" sz="2000" b="1" dirty="0"/>
              <a:t>强连通顶点：</a:t>
            </a:r>
            <a:r>
              <a:rPr lang="zh-CN" altLang="zh-CN" sz="2000" dirty="0"/>
              <a:t>在有向图形中，顶点</a:t>
            </a:r>
            <a:r>
              <a:rPr lang="en-US" altLang="zh-CN" sz="2000" dirty="0"/>
              <a:t>A</a:t>
            </a:r>
            <a:r>
              <a:rPr lang="zh-CN" altLang="zh-CN" sz="2000" dirty="0"/>
              <a:t>到顶点</a:t>
            </a:r>
            <a:r>
              <a:rPr lang="en-US" altLang="zh-CN" sz="2000" dirty="0"/>
              <a:t>B</a:t>
            </a:r>
            <a:r>
              <a:rPr lang="zh-CN" altLang="zh-CN" sz="2000" dirty="0"/>
              <a:t>间存在一条路径，而顶点</a:t>
            </a:r>
            <a:r>
              <a:rPr lang="en-US" altLang="zh-CN" sz="2000" dirty="0"/>
              <a:t>B</a:t>
            </a:r>
            <a:r>
              <a:rPr lang="zh-CN" altLang="zh-CN" sz="2000" dirty="0"/>
              <a:t>到顶点</a:t>
            </a:r>
            <a:r>
              <a:rPr lang="en-US" altLang="zh-CN" sz="2000" dirty="0"/>
              <a:t>A</a:t>
            </a:r>
            <a:r>
              <a:rPr lang="zh-CN" altLang="zh-CN" sz="2000" dirty="0"/>
              <a:t>也存在一条路径，则称顶点</a:t>
            </a:r>
            <a:r>
              <a:rPr lang="en-US" altLang="zh-CN" sz="2000" dirty="0"/>
              <a:t>A</a:t>
            </a:r>
            <a:r>
              <a:rPr lang="zh-CN" altLang="zh-CN" sz="2000" dirty="0"/>
              <a:t>和顶点</a:t>
            </a:r>
            <a:r>
              <a:rPr lang="en-US" altLang="zh-CN" sz="2000" dirty="0"/>
              <a:t>B</a:t>
            </a:r>
            <a:r>
              <a:rPr lang="zh-CN" altLang="zh-CN" sz="2000" dirty="0"/>
              <a:t>为强连通顶点。</a:t>
            </a:r>
          </a:p>
          <a:p>
            <a:r>
              <a:rPr lang="en-US" altLang="zh-CN" sz="2000" dirty="0"/>
              <a:t> </a:t>
            </a:r>
            <a:endParaRPr lang="zh-CN" altLang="zh-CN" sz="2000" dirty="0"/>
          </a:p>
          <a:p>
            <a:r>
              <a:rPr lang="zh-CN" altLang="zh-CN" sz="2000" b="1" dirty="0"/>
              <a:t>强连通图形：</a:t>
            </a:r>
            <a:r>
              <a:rPr lang="zh-CN" altLang="zh-CN" sz="2000" dirty="0"/>
              <a:t>如果在有向图形中，任意两个顶点间皆存在一条路径可到对方，则称为强连通图形。</a:t>
            </a:r>
          </a:p>
          <a:p>
            <a:r>
              <a:rPr lang="en-US" altLang="zh-CN" sz="2000" dirty="0"/>
              <a:t> </a:t>
            </a:r>
            <a:endParaRPr lang="zh-CN" altLang="zh-CN" sz="2000" dirty="0"/>
          </a:p>
          <a:p>
            <a:r>
              <a:rPr lang="zh-CN" altLang="zh-CN" sz="2000" b="1" dirty="0"/>
              <a:t>强连通分量：</a:t>
            </a:r>
            <a:r>
              <a:rPr lang="zh-CN" altLang="zh-CN" sz="2000" dirty="0"/>
              <a:t>在有向图中任意两点都连通的最大子图。图中，</a:t>
            </a:r>
            <a:r>
              <a:rPr lang="en-US" altLang="zh-CN" sz="2000" dirty="0"/>
              <a:t>1</a:t>
            </a:r>
            <a:r>
              <a:rPr lang="zh-CN" altLang="zh-CN" sz="2000" dirty="0"/>
              <a:t>—</a:t>
            </a:r>
            <a:r>
              <a:rPr lang="en-US" altLang="zh-CN" sz="2000" dirty="0"/>
              <a:t>2</a:t>
            </a:r>
            <a:r>
              <a:rPr lang="zh-CN" altLang="zh-CN" sz="2000" dirty="0"/>
              <a:t>—</a:t>
            </a:r>
            <a:r>
              <a:rPr lang="en-US" altLang="zh-CN" sz="2000" dirty="0"/>
              <a:t>5</a:t>
            </a:r>
            <a:r>
              <a:rPr lang="zh-CN" altLang="zh-CN" sz="2000" dirty="0"/>
              <a:t>构成一个强连通分量。此外，单个点也算一个强连通分量，所以图</a:t>
            </a:r>
            <a:r>
              <a:rPr lang="en-US" altLang="zh-CN" sz="2000" dirty="0"/>
              <a:t>5.11</a:t>
            </a:r>
            <a:r>
              <a:rPr lang="zh-CN" altLang="zh-CN" sz="2000" dirty="0"/>
              <a:t>中还有</a:t>
            </a:r>
            <a:r>
              <a:rPr lang="en-US" altLang="zh-CN" sz="2000" dirty="0"/>
              <a:t>4</a:t>
            </a:r>
            <a:r>
              <a:rPr lang="zh-CN" altLang="zh-CN" sz="2000" dirty="0"/>
              <a:t>和</a:t>
            </a:r>
            <a:r>
              <a:rPr lang="en-US" altLang="zh-CN" sz="2000" dirty="0"/>
              <a:t>3</a:t>
            </a:r>
            <a:r>
              <a:rPr lang="zh-CN" altLang="zh-CN" sz="2000" dirty="0"/>
              <a:t>两个强连通分量。</a:t>
            </a:r>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3172256" y="2749982"/>
            <a:ext cx="2474399" cy="164762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2419" y="39555"/>
            <a:ext cx="9016739" cy="1323439"/>
          </a:xfrm>
          <a:prstGeom prst="rect">
            <a:avLst/>
          </a:prstGeom>
        </p:spPr>
        <p:txBody>
          <a:bodyPr wrap="square">
            <a:spAutoFit/>
          </a:bodyPr>
          <a:lstStyle/>
          <a:p>
            <a:r>
              <a:rPr lang="zh-CN" altLang="zh-CN" sz="2000" b="1" dirty="0"/>
              <a:t>度：</a:t>
            </a:r>
            <a:r>
              <a:rPr lang="zh-CN" altLang="zh-CN" sz="2000" dirty="0"/>
              <a:t>有向图形中，因为边皆是有方向性的，我们还定义内分支度和外分支度。内分支度是指由其他顶点前往此顶点的边数，而外分支度是指由此顶点前往其他顶点的边数。如图，顶点</a:t>
            </a:r>
            <a:r>
              <a:rPr lang="en-US" altLang="zh-CN" sz="2000" dirty="0"/>
              <a:t>1</a:t>
            </a:r>
            <a:r>
              <a:rPr lang="zh-CN" altLang="zh-CN" sz="2000" dirty="0"/>
              <a:t>的内分支度为</a:t>
            </a:r>
            <a:r>
              <a:rPr lang="en-US" altLang="zh-CN" sz="2000" dirty="0"/>
              <a:t>2</a:t>
            </a:r>
            <a:r>
              <a:rPr lang="zh-CN" altLang="zh-CN" sz="2000" dirty="0"/>
              <a:t>，外分支度为</a:t>
            </a:r>
            <a:r>
              <a:rPr lang="en-US" altLang="zh-CN" sz="2000" dirty="0"/>
              <a:t>1</a:t>
            </a:r>
            <a:r>
              <a:rPr lang="zh-CN" altLang="zh-CN" sz="2000" dirty="0"/>
              <a:t>。在有向图形中，各顶点的内分支度或外分支度总和，即为此图形的边数。</a:t>
            </a:r>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3065410" y="1937471"/>
            <a:ext cx="3368384" cy="203121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249"/>
            <a:ext cx="3278462" cy="492443"/>
          </a:xfrm>
          <a:prstGeom prst="rect">
            <a:avLst/>
          </a:prstGeom>
        </p:spPr>
        <p:txBody>
          <a:bodyPr wrap="none">
            <a:spAutoFit/>
          </a:bodyPr>
          <a:lstStyle/>
          <a:p>
            <a:r>
              <a:rPr lang="en-US" altLang="zh-CN" b="1" dirty="0"/>
              <a:t>5.1.2 </a:t>
            </a:r>
            <a:r>
              <a:rPr lang="zh-CN" altLang="zh-CN" b="1" dirty="0"/>
              <a:t>邻接数组表示法</a:t>
            </a:r>
          </a:p>
        </p:txBody>
      </p:sp>
      <p:sp>
        <p:nvSpPr>
          <p:cNvPr id="3" name="矩形 2"/>
          <p:cNvSpPr/>
          <p:nvPr/>
        </p:nvSpPr>
        <p:spPr>
          <a:xfrm>
            <a:off x="89554" y="543361"/>
            <a:ext cx="8974317" cy="1569660"/>
          </a:xfrm>
          <a:prstGeom prst="rect">
            <a:avLst/>
          </a:prstGeom>
        </p:spPr>
        <p:txBody>
          <a:bodyPr wrap="square">
            <a:spAutoFit/>
          </a:bodyPr>
          <a:lstStyle/>
          <a:p>
            <a:r>
              <a:rPr lang="zh-CN" altLang="zh-CN" sz="2400" dirty="0"/>
              <a:t>邻接数组表示法是以一个</a:t>
            </a:r>
            <a:r>
              <a:rPr lang="en-US" altLang="zh-CN" sz="2400" i="1" dirty="0"/>
              <a:t>n</a:t>
            </a:r>
            <a:r>
              <a:rPr lang="zh-CN" altLang="zh-CN" sz="2400" dirty="0"/>
              <a:t>×</a:t>
            </a:r>
            <a:r>
              <a:rPr lang="en-US" altLang="zh-CN" sz="2400" i="1" dirty="0"/>
              <a:t>n</a:t>
            </a:r>
            <a:r>
              <a:rPr lang="zh-CN" altLang="zh-CN" sz="2400" dirty="0"/>
              <a:t>的数组来表示一个具有</a:t>
            </a:r>
            <a:r>
              <a:rPr lang="en-US" altLang="zh-CN" sz="2400" i="1" dirty="0"/>
              <a:t>n</a:t>
            </a:r>
            <a:r>
              <a:rPr lang="zh-CN" altLang="zh-CN" sz="2400" dirty="0"/>
              <a:t>个顶点的图形。我们以数组的索引值来表示顶点，以数组的内容值来表示顶点间的边是否存在（以</a:t>
            </a:r>
            <a:r>
              <a:rPr lang="en-US" altLang="zh-CN" sz="2400" dirty="0"/>
              <a:t>1</a:t>
            </a:r>
            <a:r>
              <a:rPr lang="zh-CN" altLang="zh-CN" sz="2400" dirty="0"/>
              <a:t>表示存在边，以</a:t>
            </a:r>
            <a:r>
              <a:rPr lang="en-US" altLang="zh-CN" sz="2400" dirty="0"/>
              <a:t>0</a:t>
            </a:r>
            <a:r>
              <a:rPr lang="zh-CN" altLang="zh-CN" sz="2400" dirty="0"/>
              <a:t>表示不存在边）。如图所示的无向图形，其邻接数组</a:t>
            </a:r>
            <a:r>
              <a:rPr lang="zh-CN" altLang="en-US" sz="2400" dirty="0"/>
              <a:t>如右</a:t>
            </a:r>
            <a:r>
              <a:rPr lang="zh-CN" altLang="zh-CN" sz="2400" dirty="0"/>
              <a:t>表。</a:t>
            </a:r>
          </a:p>
        </p:txBody>
      </p:sp>
      <p:pic>
        <p:nvPicPr>
          <p:cNvPr id="4" name="图片 3"/>
          <p:cNvPicPr/>
          <p:nvPr/>
        </p:nvPicPr>
        <p:blipFill>
          <a:blip r:embed="rId2">
            <a:extLst>
              <a:ext uri="{28A0092B-C50C-407E-A947-70E740481C1C}">
                <a14:useLocalDpi xmlns:a14="http://schemas.microsoft.com/office/drawing/2010/main" val="0"/>
              </a:ext>
            </a:extLst>
          </a:blip>
          <a:srcRect/>
          <a:stretch>
            <a:fillRect/>
          </a:stretch>
        </p:blipFill>
        <p:spPr>
          <a:xfrm>
            <a:off x="646957" y="2420384"/>
            <a:ext cx="3062490" cy="1694416"/>
          </a:xfrm>
          <a:prstGeom prst="rect">
            <a:avLst/>
          </a:prstGeom>
          <a:noFill/>
          <a:ln>
            <a:noFill/>
          </a:ln>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4026" y="2292612"/>
            <a:ext cx="4020482" cy="19499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50829" y="324981"/>
            <a:ext cx="8865909" cy="1938020"/>
          </a:xfrm>
          <a:prstGeom prst="rect">
            <a:avLst/>
          </a:prstGeom>
        </p:spPr>
        <p:txBody>
          <a:bodyPr wrap="square">
            <a:spAutoFit/>
          </a:bodyPr>
          <a:lstStyle/>
          <a:p>
            <a:r>
              <a:rPr lang="en-US" altLang="zh-CN" sz="2400" dirty="0"/>
              <a:t>      </a:t>
            </a:r>
            <a:r>
              <a:rPr lang="zh-CN" altLang="zh-CN" sz="2400" dirty="0"/>
              <a:t>采用邻接矩阵表示图，直观方便，很容易查找图中任两个顶点</a:t>
            </a:r>
            <a:r>
              <a:rPr lang="en-US" altLang="zh-CN" sz="2400" i="1" dirty="0" err="1"/>
              <a:t>i</a:t>
            </a:r>
            <a:r>
              <a:rPr lang="zh-CN" altLang="zh-CN" sz="2400" dirty="0"/>
              <a:t>和</a:t>
            </a:r>
            <a:r>
              <a:rPr lang="en-US" altLang="zh-CN" sz="2400" i="1" dirty="0"/>
              <a:t>j</a:t>
            </a:r>
            <a:r>
              <a:rPr lang="zh-CN" altLang="zh-CN" sz="2400" dirty="0"/>
              <a:t>之间有无边或边上的权值，因为可以根据</a:t>
            </a:r>
            <a:r>
              <a:rPr lang="en-US" altLang="zh-CN" sz="2400" i="1" dirty="0" err="1"/>
              <a:t>i</a:t>
            </a:r>
            <a:r>
              <a:rPr lang="zh-CN" altLang="zh-CN" sz="2400" dirty="0"/>
              <a:t>，</a:t>
            </a:r>
            <a:r>
              <a:rPr lang="en-US" altLang="zh-CN" sz="2400" i="1" dirty="0"/>
              <a:t>j</a:t>
            </a:r>
            <a:r>
              <a:rPr lang="zh-CN" altLang="zh-CN" sz="2400" dirty="0"/>
              <a:t>的值直接查找，所以时间复杂度为</a:t>
            </a:r>
            <a:r>
              <a:rPr lang="en-US" altLang="zh-CN" sz="2400" i="1" dirty="0"/>
              <a:t>O</a:t>
            </a:r>
            <a:r>
              <a:rPr lang="en-US" altLang="zh-CN" sz="2400" dirty="0"/>
              <a:t>(1)</a:t>
            </a:r>
            <a:r>
              <a:rPr lang="zh-CN" altLang="zh-CN" sz="2400" dirty="0"/>
              <a:t>。也很容易计算一个顶点的度和邻接点，其时间复杂度为</a:t>
            </a:r>
            <a:r>
              <a:rPr lang="en-US" altLang="zh-CN" sz="2400" i="1" dirty="0"/>
              <a:t>O</a:t>
            </a:r>
            <a:r>
              <a:rPr lang="en-US" altLang="zh-CN" sz="2400" dirty="0"/>
              <a:t>(</a:t>
            </a:r>
            <a:r>
              <a:rPr lang="en-US" altLang="zh-CN" sz="2400" i="1" dirty="0"/>
              <a:t>n</a:t>
            </a:r>
            <a:r>
              <a:rPr lang="en-US" altLang="zh-CN" sz="2400" dirty="0"/>
              <a:t>)</a:t>
            </a:r>
            <a:r>
              <a:rPr lang="zh-CN" altLang="zh-CN" sz="2400" dirty="0"/>
              <a:t>。但是空间复杂度为</a:t>
            </a:r>
            <a:r>
              <a:rPr lang="en-US" altLang="zh-CN" sz="2400" i="1" dirty="0"/>
              <a:t>O</a:t>
            </a:r>
            <a:r>
              <a:rPr lang="en-US" altLang="zh-CN" sz="2400" dirty="0"/>
              <a:t>(</a:t>
            </a:r>
            <a:r>
              <a:rPr lang="en-US" altLang="zh-CN" sz="2400" i="1" dirty="0"/>
              <a:t>n</a:t>
            </a:r>
            <a:r>
              <a:rPr lang="zh-CN" altLang="zh-CN" sz="2400" dirty="0"/>
              <a:t>×</a:t>
            </a:r>
            <a:r>
              <a:rPr lang="en-US" altLang="zh-CN" sz="2400" i="1" dirty="0"/>
              <a:t>n)</a:t>
            </a:r>
            <a:r>
              <a:rPr lang="zh-CN" altLang="zh-CN" sz="2400" dirty="0"/>
              <a:t>，如果用来表示稀疏图，会造成巨大的空间浪费。</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535"/>
            <a:ext cx="2945037" cy="492443"/>
          </a:xfrm>
          <a:prstGeom prst="rect">
            <a:avLst/>
          </a:prstGeom>
        </p:spPr>
        <p:txBody>
          <a:bodyPr wrap="none">
            <a:spAutoFit/>
          </a:bodyPr>
          <a:lstStyle/>
          <a:p>
            <a:r>
              <a:rPr lang="en-US" altLang="zh-CN" b="1" dirty="0"/>
              <a:t>5.1.3 </a:t>
            </a:r>
            <a:r>
              <a:rPr lang="zh-CN" altLang="zh-CN" b="1" dirty="0"/>
              <a:t>加权边的图形</a:t>
            </a:r>
          </a:p>
        </p:txBody>
      </p:sp>
      <p:sp>
        <p:nvSpPr>
          <p:cNvPr id="3" name="矩形 2"/>
          <p:cNvSpPr/>
          <p:nvPr/>
        </p:nvSpPr>
        <p:spPr>
          <a:xfrm>
            <a:off x="0" y="511286"/>
            <a:ext cx="9153427" cy="1200329"/>
          </a:xfrm>
          <a:prstGeom prst="rect">
            <a:avLst/>
          </a:prstGeom>
        </p:spPr>
        <p:txBody>
          <a:bodyPr wrap="square">
            <a:spAutoFit/>
          </a:bodyPr>
          <a:lstStyle/>
          <a:p>
            <a:r>
              <a:rPr lang="zh-CN" altLang="zh-CN" sz="2400" dirty="0"/>
              <a:t>在七桥问题中，每个桥都是有长度的，为了表示这些信息，我们在图形的边上加上一些数字来表示，这样的图，我们称为“加权边的图形”。例如图</a:t>
            </a:r>
            <a:endParaRPr lang="zh-CN" altLang="en-US" sz="2400" dirty="0"/>
          </a:p>
        </p:txBody>
      </p:sp>
      <p:pic>
        <p:nvPicPr>
          <p:cNvPr id="4" name="图片 3"/>
          <p:cNvPicPr/>
          <p:nvPr/>
        </p:nvPicPr>
        <p:blipFill>
          <a:blip r:embed="rId2">
            <a:extLst>
              <a:ext uri="{28A0092B-C50C-407E-A947-70E740481C1C}">
                <a14:useLocalDpi xmlns:a14="http://schemas.microsoft.com/office/drawing/2010/main" val="0"/>
              </a:ext>
            </a:extLst>
          </a:blip>
          <a:srcRect/>
          <a:stretch>
            <a:fillRect/>
          </a:stretch>
        </p:blipFill>
        <p:spPr>
          <a:xfrm>
            <a:off x="805115" y="2096769"/>
            <a:ext cx="2729936" cy="1697519"/>
          </a:xfrm>
          <a:prstGeom prst="rect">
            <a:avLst/>
          </a:prstGeom>
          <a:noFill/>
          <a:ln>
            <a:noFill/>
          </a:ln>
        </p:spPr>
      </p:pic>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0079" y="1865673"/>
            <a:ext cx="4262591" cy="18390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249"/>
            <a:ext cx="2945037" cy="492443"/>
          </a:xfrm>
          <a:prstGeom prst="rect">
            <a:avLst/>
          </a:prstGeom>
        </p:spPr>
        <p:txBody>
          <a:bodyPr wrap="none">
            <a:spAutoFit/>
          </a:bodyPr>
          <a:lstStyle/>
          <a:p>
            <a:r>
              <a:rPr lang="en-US" altLang="zh-CN" b="1" dirty="0"/>
              <a:t>5.2.1 </a:t>
            </a:r>
            <a:r>
              <a:rPr lang="zh-CN" altLang="zh-CN" b="1" dirty="0"/>
              <a:t>前向星表示法</a:t>
            </a:r>
          </a:p>
        </p:txBody>
      </p:sp>
      <p:sp>
        <p:nvSpPr>
          <p:cNvPr id="3" name="矩形 2"/>
          <p:cNvSpPr/>
          <p:nvPr/>
        </p:nvSpPr>
        <p:spPr>
          <a:xfrm>
            <a:off x="328930" y="682625"/>
            <a:ext cx="8404225" cy="4154170"/>
          </a:xfrm>
          <a:prstGeom prst="rect">
            <a:avLst/>
          </a:prstGeom>
        </p:spPr>
        <p:txBody>
          <a:bodyPr wrap="square">
            <a:spAutoFit/>
          </a:bodyPr>
          <a:lstStyle/>
          <a:p>
            <a:r>
              <a:rPr lang="en-US" altLang="zh-CN" sz="2400" dirty="0"/>
              <a:t>    </a:t>
            </a:r>
            <a:r>
              <a:rPr lang="zh-CN" altLang="zh-CN" sz="2400" dirty="0"/>
              <a:t>在做图的题目时，经常会遇到图很大，边很少的情况，如果用矩阵存图，空间复杂度就会过大，这时可以用前向星（通常是链式前向星）方式存储数据。</a:t>
            </a:r>
          </a:p>
          <a:p>
            <a:r>
              <a:rPr lang="en-US" altLang="zh-CN" sz="2400" dirty="0"/>
              <a:t>    </a:t>
            </a:r>
            <a:r>
              <a:rPr lang="zh-CN" altLang="zh-CN" sz="2400" dirty="0"/>
              <a:t>例如有一个图顶点有</a:t>
            </a:r>
            <a:r>
              <a:rPr lang="en-US" altLang="zh-CN" sz="2400" dirty="0"/>
              <a:t>100 000</a:t>
            </a:r>
            <a:r>
              <a:rPr lang="zh-CN" altLang="zh-CN" sz="2400" dirty="0"/>
              <a:t>个，普通的矩阵存图空间即是</a:t>
            </a:r>
            <a:r>
              <a:rPr lang="en-US" altLang="zh-CN" sz="2400" dirty="0"/>
              <a:t>100 000</a:t>
            </a:r>
            <a:r>
              <a:rPr lang="zh-CN" altLang="zh-CN" sz="2400" dirty="0"/>
              <a:t>×</a:t>
            </a:r>
            <a:r>
              <a:rPr lang="en-US" altLang="zh-CN" sz="2400" dirty="0"/>
              <a:t>100 000</a:t>
            </a:r>
            <a:r>
              <a:rPr lang="zh-CN" altLang="zh-CN" sz="2400" dirty="0"/>
              <a:t>。而链式前向星是保存边，比如说第</a:t>
            </a:r>
            <a:r>
              <a:rPr lang="en-US" altLang="zh-CN" sz="2400" dirty="0" err="1"/>
              <a:t>i</a:t>
            </a:r>
            <a:r>
              <a:rPr lang="zh-CN" altLang="zh-CN" sz="2400" dirty="0"/>
              <a:t>条边</a:t>
            </a:r>
            <a:r>
              <a:rPr lang="en-US" altLang="zh-CN" sz="2400" dirty="0"/>
              <a:t>(u</a:t>
            </a:r>
            <a:r>
              <a:rPr lang="zh-CN" altLang="zh-CN" sz="2400" dirty="0"/>
              <a:t>，</a:t>
            </a:r>
            <a:r>
              <a:rPr lang="en-US" altLang="zh-CN" sz="2400" dirty="0"/>
              <a:t>v)</a:t>
            </a:r>
            <a:r>
              <a:rPr lang="zh-CN" altLang="zh-CN" sz="2400" dirty="0"/>
              <a:t>＝</a:t>
            </a:r>
            <a:r>
              <a:rPr lang="en-US" altLang="zh-CN" sz="2400" dirty="0"/>
              <a:t>w</a:t>
            </a:r>
            <a:r>
              <a:rPr lang="zh-CN" altLang="zh-CN" sz="2400" dirty="0"/>
              <a:t>，就分别把起点、终点、权值存在</a:t>
            </a:r>
            <a:r>
              <a:rPr lang="en-US" altLang="zh-CN" sz="2400" dirty="0"/>
              <a:t>u[</a:t>
            </a:r>
            <a:r>
              <a:rPr lang="en-US" altLang="zh-CN" sz="2400" dirty="0" err="1"/>
              <a:t>i</a:t>
            </a:r>
            <a:r>
              <a:rPr lang="en-US" altLang="zh-CN" sz="2400" dirty="0"/>
              <a:t>]</a:t>
            </a:r>
            <a:r>
              <a:rPr lang="zh-CN" altLang="zh-CN" sz="2400" dirty="0"/>
              <a:t>、</a:t>
            </a:r>
            <a:r>
              <a:rPr lang="en-US" altLang="zh-CN" sz="2400" dirty="0"/>
              <a:t>v[</a:t>
            </a:r>
            <a:r>
              <a:rPr lang="en-US" altLang="zh-CN" sz="2400" dirty="0" err="1"/>
              <a:t>i</a:t>
            </a:r>
            <a:r>
              <a:rPr lang="en-US" altLang="zh-CN" sz="2400" dirty="0"/>
              <a:t>]</a:t>
            </a:r>
            <a:r>
              <a:rPr lang="zh-CN" altLang="zh-CN" sz="2400" dirty="0"/>
              <a:t>和</a:t>
            </a:r>
            <a:r>
              <a:rPr lang="en-US" altLang="zh-CN" sz="2400" dirty="0"/>
              <a:t>w[</a:t>
            </a:r>
            <a:r>
              <a:rPr lang="en-US" altLang="zh-CN" sz="2400" dirty="0" err="1"/>
              <a:t>i</a:t>
            </a:r>
            <a:r>
              <a:rPr lang="en-US" altLang="zh-CN" sz="2400" dirty="0"/>
              <a:t>]</a:t>
            </a:r>
            <a:r>
              <a:rPr lang="zh-CN" altLang="zh-CN" sz="2400" dirty="0"/>
              <a:t>三个数组中（下标相同）。</a:t>
            </a:r>
          </a:p>
          <a:p>
            <a:r>
              <a:rPr lang="en-US" altLang="zh-CN" sz="2400" dirty="0"/>
              <a:t>    </a:t>
            </a:r>
            <a:r>
              <a:rPr lang="zh-CN" altLang="zh-CN" sz="2400" dirty="0"/>
              <a:t>链式前向星是一种星形表示法，比链表节省时间和空间，只要不增加或者删除边，就能很快找到从一个点出发的所有边。除了不能直接用起点终点定位以外，链式前向星几乎是完美的。</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3694" y="0"/>
            <a:ext cx="9007311" cy="830997"/>
          </a:xfrm>
          <a:prstGeom prst="rect">
            <a:avLst/>
          </a:prstGeom>
        </p:spPr>
        <p:txBody>
          <a:bodyPr wrap="square">
            <a:spAutoFit/>
          </a:bodyPr>
          <a:lstStyle/>
          <a:p>
            <a:r>
              <a:rPr lang="zh-CN" altLang="zh-CN" sz="2400" dirty="0"/>
              <a:t>设</a:t>
            </a:r>
            <a:r>
              <a:rPr lang="en-US" altLang="zh-CN" sz="2400" dirty="0"/>
              <a:t>Head[</a:t>
            </a:r>
            <a:r>
              <a:rPr lang="en-US" altLang="zh-CN" sz="2400" dirty="0" err="1"/>
              <a:t>i</a:t>
            </a:r>
            <a:r>
              <a:rPr lang="en-US" altLang="zh-CN" sz="2400" dirty="0"/>
              <a:t>]</a:t>
            </a:r>
            <a:r>
              <a:rPr lang="zh-CN" altLang="zh-CN" sz="2400" dirty="0"/>
              <a:t>记录以</a:t>
            </a:r>
            <a:r>
              <a:rPr lang="en-US" altLang="zh-CN" sz="2400" dirty="0" err="1"/>
              <a:t>i</a:t>
            </a:r>
            <a:r>
              <a:rPr lang="zh-CN" altLang="zh-CN" sz="2400" dirty="0"/>
              <a:t>为起点的边集在数组中的第一个存储位置，保存的结构大致如图</a:t>
            </a:r>
            <a:endParaRPr lang="zh-CN" altLang="en-US" sz="2400" dirty="0"/>
          </a:p>
        </p:txBody>
      </p:sp>
      <p:grpSp>
        <p:nvGrpSpPr>
          <p:cNvPr id="3" name="组合 2"/>
          <p:cNvGrpSpPr/>
          <p:nvPr/>
        </p:nvGrpSpPr>
        <p:grpSpPr>
          <a:xfrm>
            <a:off x="1274314" y="1255340"/>
            <a:ext cx="6799744" cy="3093644"/>
            <a:chOff x="-1108" y="-652"/>
            <a:chExt cx="7810" cy="3002"/>
          </a:xfrm>
        </p:grpSpPr>
        <p:sp>
          <p:nvSpPr>
            <p:cNvPr id="4" name="AutoShape 1208"/>
            <p:cNvSpPr>
              <a:spLocks noChangeAspect="1" noChangeArrowheads="1" noTextEdit="1"/>
            </p:cNvSpPr>
            <p:nvPr/>
          </p:nvSpPr>
          <p:spPr bwMode="auto">
            <a:xfrm>
              <a:off x="-1108" y="-652"/>
              <a:ext cx="7200" cy="2496"/>
            </a:xfrm>
            <a:prstGeom prst="rect">
              <a:avLst/>
            </a:prstGeom>
            <a:noFill/>
            <a:ln>
              <a:noFill/>
            </a:ln>
          </p:spPr>
          <p:txBody>
            <a:bodyPr rot="0" vert="horz" wrap="square" lIns="91440" tIns="45720" rIns="91440" bIns="45720" anchor="t" anchorCtr="0" upright="1">
              <a:noAutofit/>
            </a:bodyPr>
            <a:lstStyle/>
            <a:p>
              <a:endParaRPr lang="zh-CN" altLang="en-US"/>
            </a:p>
          </p:txBody>
        </p:sp>
        <p:sp>
          <p:nvSpPr>
            <p:cNvPr id="5" name="Rectangle 1209"/>
            <p:cNvSpPr>
              <a:spLocks noChangeArrowheads="1"/>
            </p:cNvSpPr>
            <p:nvPr/>
          </p:nvSpPr>
          <p:spPr bwMode="auto">
            <a:xfrm>
              <a:off x="204" y="156"/>
              <a:ext cx="878" cy="312"/>
            </a:xfrm>
            <a:prstGeom prst="rect">
              <a:avLst/>
            </a:prstGeom>
            <a:solidFill>
              <a:schemeClr val="bg1">
                <a:lumMod val="85000"/>
                <a:alpha val="0"/>
              </a:schemeClr>
            </a:solidFill>
            <a:ln w="9525">
              <a:solidFill>
                <a:srgbClr val="000000"/>
              </a:solidFill>
              <a:miter lim="800000"/>
            </a:ln>
            <a:effectLst/>
          </p:spPr>
          <p:txBody>
            <a:bodyPr rot="0" vert="horz" wrap="square" lIns="0" tIns="0" rIns="0" bIns="0" anchor="t" anchorCtr="0" upright="1">
              <a:noAutofit/>
            </a:bodyPr>
            <a:lstStyle/>
            <a:p>
              <a:pPr indent="66675" algn="just">
                <a:spcAft>
                  <a:spcPts val="0"/>
                </a:spcAft>
              </a:pPr>
              <a:r>
                <a:rPr lang="en-US" sz="1050" kern="100" dirty="0">
                  <a:solidFill>
                    <a:srgbClr val="000000"/>
                  </a:solidFill>
                  <a:effectLst/>
                  <a:latin typeface="Times New Roman" panose="02020603050405020304"/>
                  <a:ea typeface="宋体" panose="02010600030101010101" pitchFamily="2" charset="-122"/>
                  <a:cs typeface="宋体" panose="02010600030101010101" pitchFamily="2" charset="-122"/>
                </a:rPr>
                <a:t>Head[1]</a:t>
              </a:r>
              <a:endParaRPr lang="zh-CN" sz="1050" kern="100" dirty="0">
                <a:solidFill>
                  <a:srgbClr val="000000"/>
                </a:solidFill>
                <a:effectLst/>
                <a:latin typeface="Times New Roman" panose="02020603050405020304"/>
                <a:ea typeface="宋体" panose="02010600030101010101" pitchFamily="2" charset="-122"/>
                <a:cs typeface="宋体" panose="02010600030101010101" pitchFamily="2" charset="-122"/>
              </a:endParaRPr>
            </a:p>
          </p:txBody>
        </p:sp>
        <p:sp>
          <p:nvSpPr>
            <p:cNvPr id="6" name="Rectangle 1210"/>
            <p:cNvSpPr>
              <a:spLocks noChangeArrowheads="1"/>
            </p:cNvSpPr>
            <p:nvPr/>
          </p:nvSpPr>
          <p:spPr bwMode="auto">
            <a:xfrm>
              <a:off x="204" y="621"/>
              <a:ext cx="878" cy="312"/>
            </a:xfrm>
            <a:prstGeom prst="rect">
              <a:avLst/>
            </a:prstGeom>
            <a:solidFill>
              <a:srgbClr val="FFFFFF">
                <a:alpha val="0"/>
              </a:srgbClr>
            </a:solidFill>
            <a:ln w="9525">
              <a:solidFill>
                <a:srgbClr val="000000"/>
              </a:solidFill>
              <a:miter lim="800000"/>
            </a:ln>
            <a:effectLst/>
          </p:spPr>
          <p:txBody>
            <a:bodyPr rot="0" vert="horz" wrap="square" lIns="0" tIns="0" rIns="0" bIns="0" anchor="t" anchorCtr="0" upright="1">
              <a:noAutofit/>
            </a:bodyPr>
            <a:lstStyle/>
            <a:p>
              <a:pPr indent="66675" algn="just">
                <a:spcAft>
                  <a:spcPts val="0"/>
                </a:spcAft>
              </a:pPr>
              <a:r>
                <a:rPr lang="en-US" sz="1050" kern="100">
                  <a:solidFill>
                    <a:srgbClr val="000000"/>
                  </a:solidFill>
                  <a:effectLst/>
                  <a:latin typeface="Times New Roman" panose="02020603050405020304"/>
                  <a:ea typeface="宋体" panose="02010600030101010101" pitchFamily="2" charset="-122"/>
                  <a:cs typeface="宋体" panose="02010600030101010101" pitchFamily="2" charset="-122"/>
                </a:rPr>
                <a:t>Head[2]</a:t>
              </a:r>
              <a:endParaRPr lang="zh-CN" sz="1050" kern="100">
                <a:solidFill>
                  <a:srgbClr val="000000"/>
                </a:solidFill>
                <a:effectLst/>
                <a:latin typeface="Times New Roman" panose="02020603050405020304"/>
                <a:ea typeface="宋体" panose="02010600030101010101" pitchFamily="2" charset="-122"/>
                <a:cs typeface="宋体" panose="02010600030101010101" pitchFamily="2" charset="-122"/>
              </a:endParaRPr>
            </a:p>
          </p:txBody>
        </p:sp>
        <p:sp>
          <p:nvSpPr>
            <p:cNvPr id="7" name="Rectangle 1211"/>
            <p:cNvSpPr>
              <a:spLocks noChangeArrowheads="1"/>
            </p:cNvSpPr>
            <p:nvPr/>
          </p:nvSpPr>
          <p:spPr bwMode="auto">
            <a:xfrm>
              <a:off x="204" y="1092"/>
              <a:ext cx="878" cy="312"/>
            </a:xfrm>
            <a:prstGeom prst="rect">
              <a:avLst/>
            </a:prstGeom>
            <a:solidFill>
              <a:srgbClr val="FFFFFF">
                <a:alpha val="0"/>
              </a:srgbClr>
            </a:solidFill>
            <a:ln w="9525">
              <a:solidFill>
                <a:srgbClr val="000000"/>
              </a:solidFill>
              <a:miter lim="800000"/>
            </a:ln>
            <a:effectLst/>
          </p:spPr>
          <p:txBody>
            <a:bodyPr rot="0" vert="horz" wrap="square" lIns="0" tIns="0" rIns="0" bIns="0" anchor="t" anchorCtr="0" upright="1">
              <a:noAutofit/>
            </a:bodyPr>
            <a:lstStyle/>
            <a:p>
              <a:pPr indent="66675" algn="just">
                <a:spcAft>
                  <a:spcPts val="0"/>
                </a:spcAft>
              </a:pPr>
              <a:r>
                <a:rPr lang="en-US" sz="1050" kern="100">
                  <a:solidFill>
                    <a:srgbClr val="000000"/>
                  </a:solidFill>
                  <a:effectLst/>
                  <a:latin typeface="Times New Roman" panose="02020603050405020304"/>
                  <a:ea typeface="宋体" panose="02010600030101010101" pitchFamily="2" charset="-122"/>
                  <a:cs typeface="宋体" panose="02010600030101010101" pitchFamily="2" charset="-122"/>
                </a:rPr>
                <a:t>Head[3]</a:t>
              </a:r>
              <a:endParaRPr lang="zh-CN" sz="1050" kern="100">
                <a:solidFill>
                  <a:srgbClr val="000000"/>
                </a:solidFill>
                <a:effectLst/>
                <a:latin typeface="Times New Roman" panose="02020603050405020304"/>
                <a:ea typeface="宋体" panose="02010600030101010101" pitchFamily="2" charset="-122"/>
                <a:cs typeface="宋体" panose="02010600030101010101" pitchFamily="2" charset="-122"/>
              </a:endParaRPr>
            </a:p>
          </p:txBody>
        </p:sp>
        <p:sp>
          <p:nvSpPr>
            <p:cNvPr id="8" name="Rectangle 1212"/>
            <p:cNvSpPr>
              <a:spLocks noChangeArrowheads="1"/>
            </p:cNvSpPr>
            <p:nvPr/>
          </p:nvSpPr>
          <p:spPr bwMode="auto">
            <a:xfrm>
              <a:off x="204" y="1560"/>
              <a:ext cx="878" cy="312"/>
            </a:xfrm>
            <a:prstGeom prst="rect">
              <a:avLst/>
            </a:prstGeom>
            <a:solidFill>
              <a:srgbClr val="FFFFFF">
                <a:alpha val="0"/>
              </a:srgbClr>
            </a:solidFill>
            <a:ln w="9525">
              <a:solidFill>
                <a:srgbClr val="000000"/>
              </a:solidFill>
              <a:miter lim="800000"/>
            </a:ln>
            <a:effectLst/>
          </p:spPr>
          <p:txBody>
            <a:bodyPr rot="0" vert="horz" wrap="square" lIns="0" tIns="0" rIns="0" bIns="0" anchor="t" anchorCtr="0" upright="1">
              <a:noAutofit/>
            </a:bodyPr>
            <a:lstStyle/>
            <a:p>
              <a:pPr indent="66675" algn="just">
                <a:spcAft>
                  <a:spcPts val="0"/>
                </a:spcAft>
              </a:pPr>
              <a:r>
                <a:rPr lang="en-US" sz="1050" kern="100">
                  <a:solidFill>
                    <a:srgbClr val="000000"/>
                  </a:solidFill>
                  <a:effectLst/>
                  <a:latin typeface="Times New Roman" panose="02020603050405020304"/>
                  <a:ea typeface="宋体" panose="02010600030101010101" pitchFamily="2" charset="-122"/>
                  <a:cs typeface="宋体" panose="02010600030101010101" pitchFamily="2" charset="-122"/>
                </a:rPr>
                <a:t>Head[4]</a:t>
              </a:r>
              <a:endParaRPr lang="zh-CN" sz="1050" kern="100">
                <a:solidFill>
                  <a:srgbClr val="000000"/>
                </a:solidFill>
                <a:effectLst/>
                <a:latin typeface="Times New Roman" panose="02020603050405020304"/>
                <a:ea typeface="宋体" panose="02010600030101010101" pitchFamily="2" charset="-122"/>
                <a:cs typeface="宋体" panose="02010600030101010101" pitchFamily="2" charset="-122"/>
              </a:endParaRPr>
            </a:p>
          </p:txBody>
        </p:sp>
        <p:sp>
          <p:nvSpPr>
            <p:cNvPr id="9" name="Rectangle 1213"/>
            <p:cNvSpPr>
              <a:spLocks noChangeArrowheads="1"/>
            </p:cNvSpPr>
            <p:nvPr/>
          </p:nvSpPr>
          <p:spPr bwMode="auto">
            <a:xfrm>
              <a:off x="209" y="2038"/>
              <a:ext cx="878" cy="312"/>
            </a:xfrm>
            <a:prstGeom prst="rect">
              <a:avLst/>
            </a:prstGeom>
            <a:solidFill>
              <a:srgbClr val="FFFFFF">
                <a:alpha val="0"/>
              </a:srgbClr>
            </a:solidFill>
            <a:ln w="9525">
              <a:solidFill>
                <a:srgbClr val="000000"/>
              </a:solidFill>
              <a:miter lim="800000"/>
            </a:ln>
            <a:effectLst/>
          </p:spPr>
          <p:txBody>
            <a:bodyPr rot="0" vert="horz" wrap="square" lIns="0" tIns="0" rIns="0" bIns="0" anchor="t" anchorCtr="0" upright="1">
              <a:noAutofit/>
            </a:bodyPr>
            <a:lstStyle/>
            <a:p>
              <a:pPr indent="66675" algn="just">
                <a:spcAft>
                  <a:spcPts val="0"/>
                </a:spcAft>
              </a:pPr>
              <a:r>
                <a:rPr lang="en-US" sz="1050" kern="100">
                  <a:solidFill>
                    <a:srgbClr val="000000"/>
                  </a:solidFill>
                  <a:effectLst/>
                  <a:latin typeface="Times New Roman" panose="02020603050405020304"/>
                  <a:ea typeface="宋体" panose="02010600030101010101" pitchFamily="2" charset="-122"/>
                  <a:cs typeface="宋体" panose="02010600030101010101" pitchFamily="2" charset="-122"/>
                </a:rPr>
                <a:t>Head[5]</a:t>
              </a:r>
              <a:endParaRPr lang="zh-CN" sz="1050" kern="100">
                <a:solidFill>
                  <a:srgbClr val="000000"/>
                </a:solidFill>
                <a:effectLst/>
                <a:latin typeface="Times New Roman" panose="02020603050405020304"/>
                <a:ea typeface="宋体" panose="02010600030101010101" pitchFamily="2" charset="-122"/>
                <a:cs typeface="宋体" panose="02010600030101010101" pitchFamily="2" charset="-122"/>
              </a:endParaRPr>
            </a:p>
          </p:txBody>
        </p:sp>
        <p:sp>
          <p:nvSpPr>
            <p:cNvPr id="10" name="Rectangle 1214"/>
            <p:cNvSpPr>
              <a:spLocks noChangeArrowheads="1"/>
            </p:cNvSpPr>
            <p:nvPr/>
          </p:nvSpPr>
          <p:spPr bwMode="auto">
            <a:xfrm>
              <a:off x="1609" y="156"/>
              <a:ext cx="878" cy="312"/>
            </a:xfrm>
            <a:prstGeom prst="rect">
              <a:avLst/>
            </a:prstGeom>
            <a:solidFill>
              <a:srgbClr val="FFFFFF">
                <a:alpha val="0"/>
              </a:srgbClr>
            </a:solidFill>
            <a:ln w="9525">
              <a:solidFill>
                <a:srgbClr val="000000"/>
              </a:solidFill>
              <a:miter lim="800000"/>
            </a:ln>
            <a:effectLst/>
          </p:spPr>
          <p:txBody>
            <a:bodyPr rot="0" vert="horz" wrap="square" lIns="0" tIns="0" rIns="0" bIns="0" anchor="t" anchorCtr="0" upright="1">
              <a:noAutofit/>
            </a:bodyPr>
            <a:lstStyle/>
            <a:p>
              <a:pPr indent="66675" algn="just">
                <a:spcAft>
                  <a:spcPts val="0"/>
                </a:spcAft>
              </a:pPr>
              <a:r>
                <a:rPr lang="zh-CN" sz="1050" kern="100">
                  <a:solidFill>
                    <a:srgbClr val="000000"/>
                  </a:solidFill>
                  <a:effectLst/>
                  <a:latin typeface="Times New Roman" panose="02020603050405020304"/>
                  <a:ea typeface="宋体" panose="02010600030101010101" pitchFamily="2" charset="-122"/>
                  <a:cs typeface="宋体" panose="02010600030101010101" pitchFamily="2" charset="-122"/>
                </a:rPr>
                <a:t>顶点</a:t>
              </a:r>
              <a:r>
                <a:rPr lang="en-US" sz="1050" kern="100">
                  <a:solidFill>
                    <a:srgbClr val="000000"/>
                  </a:solidFill>
                  <a:effectLst/>
                  <a:latin typeface="Times New Roman" panose="02020603050405020304"/>
                  <a:ea typeface="宋体" panose="02010600030101010101" pitchFamily="2" charset="-122"/>
                  <a:cs typeface="宋体" panose="02010600030101010101" pitchFamily="2" charset="-122"/>
                </a:rPr>
                <a:t>5</a:t>
              </a:r>
              <a:endParaRPr lang="zh-CN" sz="1050" kern="100">
                <a:solidFill>
                  <a:srgbClr val="000000"/>
                </a:solidFill>
                <a:effectLst/>
                <a:latin typeface="Times New Roman" panose="02020603050405020304"/>
                <a:ea typeface="宋体" panose="02010600030101010101" pitchFamily="2" charset="-122"/>
                <a:cs typeface="宋体" panose="02010600030101010101" pitchFamily="2" charset="-122"/>
              </a:endParaRPr>
            </a:p>
          </p:txBody>
        </p:sp>
        <p:sp>
          <p:nvSpPr>
            <p:cNvPr id="11" name="Rectangle 1215"/>
            <p:cNvSpPr>
              <a:spLocks noChangeArrowheads="1"/>
            </p:cNvSpPr>
            <p:nvPr/>
          </p:nvSpPr>
          <p:spPr bwMode="auto">
            <a:xfrm>
              <a:off x="1614" y="624"/>
              <a:ext cx="878" cy="312"/>
            </a:xfrm>
            <a:prstGeom prst="rect">
              <a:avLst/>
            </a:prstGeom>
            <a:solidFill>
              <a:srgbClr val="FFFFFF">
                <a:alpha val="0"/>
              </a:srgbClr>
            </a:solidFill>
            <a:ln w="9525">
              <a:solidFill>
                <a:srgbClr val="000000"/>
              </a:solidFill>
              <a:miter lim="800000"/>
            </a:ln>
            <a:effectLst/>
          </p:spPr>
          <p:txBody>
            <a:bodyPr rot="0" vert="horz" wrap="square" lIns="0" tIns="0" rIns="0" bIns="0" anchor="t" anchorCtr="0" upright="1">
              <a:noAutofit/>
            </a:bodyPr>
            <a:lstStyle/>
            <a:p>
              <a:pPr indent="66675" algn="just">
                <a:spcAft>
                  <a:spcPts val="0"/>
                </a:spcAft>
              </a:pPr>
              <a:r>
                <a:rPr lang="zh-CN" sz="1050" kern="100">
                  <a:solidFill>
                    <a:srgbClr val="000000"/>
                  </a:solidFill>
                  <a:effectLst/>
                  <a:latin typeface="Times New Roman" panose="02020603050405020304"/>
                  <a:ea typeface="宋体" panose="02010600030101010101" pitchFamily="2" charset="-122"/>
                  <a:cs typeface="宋体" panose="02010600030101010101" pitchFamily="2" charset="-122"/>
                </a:rPr>
                <a:t>顶点</a:t>
              </a:r>
              <a:r>
                <a:rPr lang="en-US" sz="1050" kern="100">
                  <a:solidFill>
                    <a:srgbClr val="000000"/>
                  </a:solidFill>
                  <a:effectLst/>
                  <a:latin typeface="Times New Roman" panose="02020603050405020304"/>
                  <a:ea typeface="宋体" panose="02010600030101010101" pitchFamily="2" charset="-122"/>
                  <a:cs typeface="宋体" panose="02010600030101010101" pitchFamily="2" charset="-122"/>
                </a:rPr>
                <a:t>3</a:t>
              </a:r>
              <a:endParaRPr lang="zh-CN" sz="1050" kern="100">
                <a:solidFill>
                  <a:srgbClr val="000000"/>
                </a:solidFill>
                <a:effectLst/>
                <a:latin typeface="Times New Roman" panose="02020603050405020304"/>
                <a:ea typeface="宋体" panose="02010600030101010101" pitchFamily="2" charset="-122"/>
                <a:cs typeface="宋体" panose="02010600030101010101" pitchFamily="2" charset="-122"/>
              </a:endParaRPr>
            </a:p>
          </p:txBody>
        </p:sp>
        <p:sp>
          <p:nvSpPr>
            <p:cNvPr id="12" name="Rectangle 1216"/>
            <p:cNvSpPr>
              <a:spLocks noChangeArrowheads="1"/>
            </p:cNvSpPr>
            <p:nvPr/>
          </p:nvSpPr>
          <p:spPr bwMode="auto">
            <a:xfrm>
              <a:off x="1614" y="1092"/>
              <a:ext cx="879" cy="312"/>
            </a:xfrm>
            <a:prstGeom prst="rect">
              <a:avLst/>
            </a:prstGeom>
            <a:solidFill>
              <a:srgbClr val="FFFFFF">
                <a:alpha val="0"/>
              </a:srgbClr>
            </a:solidFill>
            <a:ln w="9525">
              <a:solidFill>
                <a:srgbClr val="000000"/>
              </a:solidFill>
              <a:miter lim="800000"/>
            </a:ln>
            <a:effectLst/>
          </p:spPr>
          <p:txBody>
            <a:bodyPr rot="0" vert="horz" wrap="square" lIns="0" tIns="0" rIns="0" bIns="0" anchor="t" anchorCtr="0" upright="1">
              <a:noAutofit/>
            </a:bodyPr>
            <a:lstStyle/>
            <a:p>
              <a:pPr indent="66675" algn="just">
                <a:spcAft>
                  <a:spcPts val="0"/>
                </a:spcAft>
              </a:pPr>
              <a:r>
                <a:rPr lang="zh-CN" sz="1050" kern="100">
                  <a:solidFill>
                    <a:srgbClr val="000000"/>
                  </a:solidFill>
                  <a:effectLst/>
                  <a:latin typeface="Times New Roman" panose="02020603050405020304"/>
                  <a:ea typeface="宋体" panose="02010600030101010101" pitchFamily="2" charset="-122"/>
                  <a:cs typeface="宋体" panose="02010600030101010101" pitchFamily="2" charset="-122"/>
                </a:rPr>
                <a:t>顶点</a:t>
              </a:r>
              <a:r>
                <a:rPr lang="en-US" sz="1050" kern="100">
                  <a:solidFill>
                    <a:srgbClr val="000000"/>
                  </a:solidFill>
                  <a:effectLst/>
                  <a:latin typeface="Times New Roman" panose="02020603050405020304"/>
                  <a:ea typeface="宋体" panose="02010600030101010101" pitchFamily="2" charset="-122"/>
                  <a:cs typeface="宋体" panose="02010600030101010101" pitchFamily="2" charset="-122"/>
                </a:rPr>
                <a:t>4</a:t>
              </a:r>
              <a:endParaRPr lang="zh-CN" sz="1050" kern="100">
                <a:solidFill>
                  <a:srgbClr val="000000"/>
                </a:solidFill>
                <a:effectLst/>
                <a:latin typeface="Times New Roman" panose="02020603050405020304"/>
                <a:ea typeface="宋体" panose="02010600030101010101" pitchFamily="2" charset="-122"/>
                <a:cs typeface="宋体" panose="02010600030101010101" pitchFamily="2" charset="-122"/>
              </a:endParaRPr>
            </a:p>
          </p:txBody>
        </p:sp>
        <p:sp>
          <p:nvSpPr>
            <p:cNvPr id="13" name="Rectangle 1217"/>
            <p:cNvSpPr>
              <a:spLocks noChangeArrowheads="1"/>
            </p:cNvSpPr>
            <p:nvPr/>
          </p:nvSpPr>
          <p:spPr bwMode="auto">
            <a:xfrm>
              <a:off x="4419" y="156"/>
              <a:ext cx="878" cy="312"/>
            </a:xfrm>
            <a:prstGeom prst="rect">
              <a:avLst/>
            </a:prstGeom>
            <a:solidFill>
              <a:srgbClr val="FFFFFF">
                <a:alpha val="0"/>
              </a:srgbClr>
            </a:solidFill>
            <a:ln w="9525">
              <a:solidFill>
                <a:srgbClr val="000000"/>
              </a:solidFill>
              <a:miter lim="800000"/>
            </a:ln>
            <a:effectLst/>
          </p:spPr>
          <p:txBody>
            <a:bodyPr rot="0" vert="horz" wrap="square" lIns="0" tIns="0" rIns="0" bIns="0" anchor="t" anchorCtr="0" upright="1">
              <a:noAutofit/>
            </a:bodyPr>
            <a:lstStyle/>
            <a:p>
              <a:pPr indent="66675" algn="just">
                <a:spcAft>
                  <a:spcPts val="0"/>
                </a:spcAft>
              </a:pPr>
              <a:r>
                <a:rPr lang="zh-CN" sz="1050" kern="100">
                  <a:solidFill>
                    <a:srgbClr val="000000"/>
                  </a:solidFill>
                  <a:effectLst/>
                  <a:latin typeface="Times New Roman" panose="02020603050405020304"/>
                  <a:ea typeface="宋体" panose="02010600030101010101" pitchFamily="2" charset="-122"/>
                  <a:cs typeface="宋体" panose="02010600030101010101" pitchFamily="2" charset="-122"/>
                </a:rPr>
                <a:t>顶点</a:t>
              </a:r>
              <a:r>
                <a:rPr lang="en-US" sz="1050" kern="100">
                  <a:solidFill>
                    <a:srgbClr val="000000"/>
                  </a:solidFill>
                  <a:effectLst/>
                  <a:latin typeface="Times New Roman" panose="02020603050405020304"/>
                  <a:ea typeface="宋体" panose="02010600030101010101" pitchFamily="2" charset="-122"/>
                  <a:cs typeface="宋体" panose="02010600030101010101" pitchFamily="2" charset="-122"/>
                </a:rPr>
                <a:t>3</a:t>
              </a:r>
              <a:endParaRPr lang="zh-CN" sz="1050" kern="100">
                <a:solidFill>
                  <a:srgbClr val="000000"/>
                </a:solidFill>
                <a:effectLst/>
                <a:latin typeface="Times New Roman" panose="02020603050405020304"/>
                <a:ea typeface="宋体" panose="02010600030101010101" pitchFamily="2" charset="-122"/>
                <a:cs typeface="宋体" panose="02010600030101010101" pitchFamily="2" charset="-122"/>
              </a:endParaRPr>
            </a:p>
          </p:txBody>
        </p:sp>
        <p:sp>
          <p:nvSpPr>
            <p:cNvPr id="14" name="Rectangle 1218"/>
            <p:cNvSpPr>
              <a:spLocks noChangeArrowheads="1"/>
            </p:cNvSpPr>
            <p:nvPr/>
          </p:nvSpPr>
          <p:spPr bwMode="auto">
            <a:xfrm>
              <a:off x="1615" y="1560"/>
              <a:ext cx="878" cy="312"/>
            </a:xfrm>
            <a:prstGeom prst="rect">
              <a:avLst/>
            </a:prstGeom>
            <a:solidFill>
              <a:srgbClr val="FFFFFF">
                <a:alpha val="0"/>
              </a:srgbClr>
            </a:solidFill>
            <a:ln w="9525">
              <a:solidFill>
                <a:srgbClr val="000000"/>
              </a:solidFill>
              <a:miter lim="800000"/>
            </a:ln>
            <a:effectLst/>
          </p:spPr>
          <p:txBody>
            <a:bodyPr rot="0" vert="horz" wrap="square" lIns="0" tIns="0" rIns="0" bIns="0" anchor="t" anchorCtr="0" upright="1">
              <a:noAutofit/>
            </a:bodyPr>
            <a:lstStyle/>
            <a:p>
              <a:pPr indent="66675" algn="just">
                <a:spcAft>
                  <a:spcPts val="0"/>
                </a:spcAft>
              </a:pPr>
              <a:r>
                <a:rPr lang="zh-CN" sz="1050" kern="100">
                  <a:solidFill>
                    <a:srgbClr val="000000"/>
                  </a:solidFill>
                  <a:effectLst/>
                  <a:latin typeface="Times New Roman" panose="02020603050405020304"/>
                  <a:ea typeface="宋体" panose="02010600030101010101" pitchFamily="2" charset="-122"/>
                  <a:cs typeface="宋体" panose="02010600030101010101" pitchFamily="2" charset="-122"/>
                </a:rPr>
                <a:t>顶点</a:t>
              </a:r>
              <a:r>
                <a:rPr lang="en-US" sz="1050" kern="100">
                  <a:solidFill>
                    <a:srgbClr val="000000"/>
                  </a:solidFill>
                  <a:effectLst/>
                  <a:latin typeface="Times New Roman" panose="02020603050405020304"/>
                  <a:ea typeface="宋体" panose="02010600030101010101" pitchFamily="2" charset="-122"/>
                  <a:cs typeface="宋体" panose="02010600030101010101" pitchFamily="2" charset="-122"/>
                </a:rPr>
                <a:t>5</a:t>
              </a:r>
              <a:endParaRPr lang="zh-CN" sz="1050" kern="100">
                <a:solidFill>
                  <a:srgbClr val="000000"/>
                </a:solidFill>
                <a:effectLst/>
                <a:latin typeface="Times New Roman" panose="02020603050405020304"/>
                <a:ea typeface="宋体" panose="02010600030101010101" pitchFamily="2" charset="-122"/>
                <a:cs typeface="宋体" panose="02010600030101010101" pitchFamily="2" charset="-122"/>
              </a:endParaRPr>
            </a:p>
          </p:txBody>
        </p:sp>
        <p:sp>
          <p:nvSpPr>
            <p:cNvPr id="15" name="Rectangle 1219"/>
            <p:cNvSpPr>
              <a:spLocks noChangeArrowheads="1"/>
            </p:cNvSpPr>
            <p:nvPr/>
          </p:nvSpPr>
          <p:spPr bwMode="auto">
            <a:xfrm>
              <a:off x="3014" y="172"/>
              <a:ext cx="878" cy="312"/>
            </a:xfrm>
            <a:prstGeom prst="rect">
              <a:avLst/>
            </a:prstGeom>
            <a:solidFill>
              <a:srgbClr val="FFFFFF">
                <a:alpha val="0"/>
              </a:srgbClr>
            </a:solidFill>
            <a:ln w="9525">
              <a:solidFill>
                <a:srgbClr val="000000"/>
              </a:solidFill>
              <a:miter lim="800000"/>
            </a:ln>
            <a:effectLst/>
          </p:spPr>
          <p:txBody>
            <a:bodyPr rot="0" vert="horz" wrap="square" lIns="0" tIns="0" rIns="0" bIns="0" anchor="t" anchorCtr="0" upright="1">
              <a:noAutofit/>
            </a:bodyPr>
            <a:lstStyle/>
            <a:p>
              <a:pPr indent="66675" algn="just">
                <a:spcAft>
                  <a:spcPts val="0"/>
                </a:spcAft>
              </a:pPr>
              <a:r>
                <a:rPr lang="zh-CN" sz="1050" kern="100">
                  <a:solidFill>
                    <a:srgbClr val="000000"/>
                  </a:solidFill>
                  <a:effectLst/>
                  <a:latin typeface="Times New Roman" panose="02020603050405020304"/>
                  <a:ea typeface="宋体" panose="02010600030101010101" pitchFamily="2" charset="-122"/>
                  <a:cs typeface="宋体" panose="02010600030101010101" pitchFamily="2" charset="-122"/>
                </a:rPr>
                <a:t>顶点</a:t>
              </a:r>
              <a:r>
                <a:rPr lang="en-US" sz="1050" kern="100">
                  <a:solidFill>
                    <a:srgbClr val="000000"/>
                  </a:solidFill>
                  <a:effectLst/>
                  <a:latin typeface="Times New Roman" panose="02020603050405020304"/>
                  <a:ea typeface="宋体" panose="02010600030101010101" pitchFamily="2" charset="-122"/>
                  <a:cs typeface="宋体" panose="02010600030101010101" pitchFamily="2" charset="-122"/>
                </a:rPr>
                <a:t>2</a:t>
              </a:r>
              <a:endParaRPr lang="zh-CN" sz="1050" kern="100">
                <a:solidFill>
                  <a:srgbClr val="000000"/>
                </a:solidFill>
                <a:effectLst/>
                <a:latin typeface="Times New Roman" panose="02020603050405020304"/>
                <a:ea typeface="宋体" panose="02010600030101010101" pitchFamily="2" charset="-122"/>
                <a:cs typeface="宋体" panose="02010600030101010101" pitchFamily="2" charset="-122"/>
              </a:endParaRPr>
            </a:p>
          </p:txBody>
        </p:sp>
        <p:sp>
          <p:nvSpPr>
            <p:cNvPr id="16" name="Rectangle 1220"/>
            <p:cNvSpPr>
              <a:spLocks noChangeArrowheads="1"/>
            </p:cNvSpPr>
            <p:nvPr/>
          </p:nvSpPr>
          <p:spPr bwMode="auto">
            <a:xfrm>
              <a:off x="3039" y="1560"/>
              <a:ext cx="878" cy="312"/>
            </a:xfrm>
            <a:prstGeom prst="rect">
              <a:avLst/>
            </a:prstGeom>
            <a:solidFill>
              <a:srgbClr val="FFFFFF">
                <a:alpha val="0"/>
              </a:srgbClr>
            </a:solidFill>
            <a:ln w="9525">
              <a:solidFill>
                <a:srgbClr val="000000"/>
              </a:solidFill>
              <a:miter lim="800000"/>
            </a:ln>
            <a:effectLst/>
          </p:spPr>
          <p:txBody>
            <a:bodyPr rot="0" vert="horz" wrap="square" lIns="0" tIns="0" rIns="0" bIns="0" anchor="t" anchorCtr="0" upright="1">
              <a:noAutofit/>
            </a:bodyPr>
            <a:lstStyle/>
            <a:p>
              <a:pPr indent="66675" algn="just">
                <a:spcAft>
                  <a:spcPts val="0"/>
                </a:spcAft>
              </a:pPr>
              <a:r>
                <a:rPr lang="zh-CN" sz="1050" kern="100">
                  <a:solidFill>
                    <a:srgbClr val="000000"/>
                  </a:solidFill>
                  <a:effectLst/>
                  <a:latin typeface="Times New Roman" panose="02020603050405020304"/>
                  <a:ea typeface="宋体" panose="02010600030101010101" pitchFamily="2" charset="-122"/>
                  <a:cs typeface="宋体" panose="02010600030101010101" pitchFamily="2" charset="-122"/>
                </a:rPr>
                <a:t>顶点</a:t>
              </a:r>
              <a:r>
                <a:rPr lang="en-US" sz="1050" kern="100">
                  <a:solidFill>
                    <a:srgbClr val="000000"/>
                  </a:solidFill>
                  <a:effectLst/>
                  <a:latin typeface="Times New Roman" panose="02020603050405020304"/>
                  <a:ea typeface="宋体" panose="02010600030101010101" pitchFamily="2" charset="-122"/>
                  <a:cs typeface="宋体" panose="02010600030101010101" pitchFamily="2" charset="-122"/>
                </a:rPr>
                <a:t>1</a:t>
              </a:r>
              <a:endParaRPr lang="zh-CN" sz="1050" kern="100">
                <a:solidFill>
                  <a:srgbClr val="000000"/>
                </a:solidFill>
                <a:effectLst/>
                <a:latin typeface="Times New Roman" panose="02020603050405020304"/>
                <a:ea typeface="宋体" panose="02010600030101010101" pitchFamily="2" charset="-122"/>
                <a:cs typeface="宋体" panose="02010600030101010101" pitchFamily="2" charset="-122"/>
              </a:endParaRPr>
            </a:p>
          </p:txBody>
        </p:sp>
        <p:cxnSp>
          <p:nvCxnSpPr>
            <p:cNvPr id="17" name="Line 1221"/>
            <p:cNvCxnSpPr/>
            <p:nvPr/>
          </p:nvCxnSpPr>
          <p:spPr bwMode="auto">
            <a:xfrm>
              <a:off x="1082" y="312"/>
              <a:ext cx="527" cy="0"/>
            </a:xfrm>
            <a:prstGeom prst="line">
              <a:avLst/>
            </a:prstGeom>
            <a:noFill/>
            <a:ln w="9525">
              <a:solidFill>
                <a:srgbClr val="000000"/>
              </a:solidFill>
              <a:round/>
              <a:tailEnd type="triangle" w="med" len="med"/>
            </a:ln>
            <a:effectLst/>
          </p:spPr>
        </p:cxnSp>
        <p:cxnSp>
          <p:nvCxnSpPr>
            <p:cNvPr id="18" name="Line 1222"/>
            <p:cNvCxnSpPr/>
            <p:nvPr/>
          </p:nvCxnSpPr>
          <p:spPr bwMode="auto">
            <a:xfrm>
              <a:off x="1082" y="780"/>
              <a:ext cx="527" cy="0"/>
            </a:xfrm>
            <a:prstGeom prst="line">
              <a:avLst/>
            </a:prstGeom>
            <a:noFill/>
            <a:ln w="9525">
              <a:solidFill>
                <a:srgbClr val="000000"/>
              </a:solidFill>
              <a:round/>
              <a:tailEnd type="triangle" w="med" len="med"/>
            </a:ln>
            <a:effectLst/>
          </p:spPr>
        </p:cxnSp>
        <p:cxnSp>
          <p:nvCxnSpPr>
            <p:cNvPr id="19" name="Line 1223"/>
            <p:cNvCxnSpPr/>
            <p:nvPr/>
          </p:nvCxnSpPr>
          <p:spPr bwMode="auto">
            <a:xfrm>
              <a:off x="1087" y="1248"/>
              <a:ext cx="527" cy="0"/>
            </a:xfrm>
            <a:prstGeom prst="line">
              <a:avLst/>
            </a:prstGeom>
            <a:noFill/>
            <a:ln w="9525">
              <a:solidFill>
                <a:srgbClr val="000000"/>
              </a:solidFill>
              <a:round/>
              <a:tailEnd type="triangle" w="med" len="med"/>
            </a:ln>
            <a:effectLst/>
          </p:spPr>
        </p:cxnSp>
        <p:cxnSp>
          <p:nvCxnSpPr>
            <p:cNvPr id="20" name="Line 1224"/>
            <p:cNvCxnSpPr/>
            <p:nvPr/>
          </p:nvCxnSpPr>
          <p:spPr bwMode="auto">
            <a:xfrm>
              <a:off x="1087" y="1691"/>
              <a:ext cx="527" cy="0"/>
            </a:xfrm>
            <a:prstGeom prst="line">
              <a:avLst/>
            </a:prstGeom>
            <a:noFill/>
            <a:ln w="9525">
              <a:solidFill>
                <a:srgbClr val="000000"/>
              </a:solidFill>
              <a:round/>
              <a:tailEnd type="triangle" w="med" len="med"/>
            </a:ln>
            <a:effectLst/>
          </p:spPr>
        </p:cxnSp>
        <p:cxnSp>
          <p:nvCxnSpPr>
            <p:cNvPr id="21" name="Line 1225"/>
            <p:cNvCxnSpPr/>
            <p:nvPr/>
          </p:nvCxnSpPr>
          <p:spPr bwMode="auto">
            <a:xfrm>
              <a:off x="1088" y="2184"/>
              <a:ext cx="527" cy="0"/>
            </a:xfrm>
            <a:prstGeom prst="line">
              <a:avLst/>
            </a:prstGeom>
            <a:noFill/>
            <a:ln w="9525">
              <a:solidFill>
                <a:srgbClr val="000000"/>
              </a:solidFill>
              <a:round/>
              <a:tailEnd type="triangle" w="med" len="med"/>
            </a:ln>
            <a:effectLst/>
          </p:spPr>
        </p:cxnSp>
        <p:cxnSp>
          <p:nvCxnSpPr>
            <p:cNvPr id="22" name="Line 1226"/>
            <p:cNvCxnSpPr/>
            <p:nvPr/>
          </p:nvCxnSpPr>
          <p:spPr bwMode="auto">
            <a:xfrm>
              <a:off x="2493" y="1248"/>
              <a:ext cx="527" cy="0"/>
            </a:xfrm>
            <a:prstGeom prst="line">
              <a:avLst/>
            </a:prstGeom>
            <a:noFill/>
            <a:ln w="9525">
              <a:solidFill>
                <a:srgbClr val="000000"/>
              </a:solidFill>
              <a:round/>
              <a:tailEnd type="triangle" w="med" len="med"/>
            </a:ln>
            <a:effectLst/>
          </p:spPr>
        </p:cxnSp>
        <p:cxnSp>
          <p:nvCxnSpPr>
            <p:cNvPr id="23" name="Line 1227"/>
            <p:cNvCxnSpPr/>
            <p:nvPr/>
          </p:nvCxnSpPr>
          <p:spPr bwMode="auto">
            <a:xfrm>
              <a:off x="2493" y="1717"/>
              <a:ext cx="527" cy="0"/>
            </a:xfrm>
            <a:prstGeom prst="line">
              <a:avLst/>
            </a:prstGeom>
            <a:noFill/>
            <a:ln w="9525">
              <a:solidFill>
                <a:srgbClr val="000000"/>
              </a:solidFill>
              <a:round/>
              <a:tailEnd type="triangle" w="med" len="med"/>
            </a:ln>
            <a:effectLst/>
          </p:spPr>
        </p:cxnSp>
        <p:cxnSp>
          <p:nvCxnSpPr>
            <p:cNvPr id="24" name="Line 1228"/>
            <p:cNvCxnSpPr/>
            <p:nvPr/>
          </p:nvCxnSpPr>
          <p:spPr bwMode="auto">
            <a:xfrm>
              <a:off x="2487" y="315"/>
              <a:ext cx="527" cy="1"/>
            </a:xfrm>
            <a:prstGeom prst="line">
              <a:avLst/>
            </a:prstGeom>
            <a:noFill/>
            <a:ln w="9525">
              <a:solidFill>
                <a:srgbClr val="000000"/>
              </a:solidFill>
              <a:round/>
              <a:tailEnd type="triangle" w="med" len="med"/>
            </a:ln>
            <a:effectLst/>
          </p:spPr>
        </p:cxnSp>
        <p:sp>
          <p:nvSpPr>
            <p:cNvPr id="25" name="Rectangle 1229"/>
            <p:cNvSpPr>
              <a:spLocks noChangeArrowheads="1"/>
            </p:cNvSpPr>
            <p:nvPr/>
          </p:nvSpPr>
          <p:spPr bwMode="auto">
            <a:xfrm>
              <a:off x="5824" y="156"/>
              <a:ext cx="878" cy="312"/>
            </a:xfrm>
            <a:prstGeom prst="rect">
              <a:avLst/>
            </a:prstGeom>
            <a:solidFill>
              <a:srgbClr val="FFFFFF">
                <a:alpha val="0"/>
              </a:srgbClr>
            </a:solidFill>
            <a:ln>
              <a:noFill/>
            </a:ln>
            <a:effectLst/>
          </p:spPr>
          <p:txBody>
            <a:bodyPr rot="0" vert="horz" wrap="square" lIns="0" tIns="0" rIns="0" bIns="0" anchor="t" anchorCtr="0" upright="1">
              <a:noAutofit/>
            </a:bodyPr>
            <a:lstStyle/>
            <a:p>
              <a:pPr indent="66675" algn="just">
                <a:spcAft>
                  <a:spcPts val="0"/>
                </a:spcAft>
              </a:pPr>
              <a:r>
                <a:rPr lang="en-US" sz="1050" kern="100">
                  <a:solidFill>
                    <a:srgbClr val="000000"/>
                  </a:solidFill>
                  <a:effectLst/>
                  <a:latin typeface="Times New Roman" panose="02020603050405020304"/>
                  <a:ea typeface="宋体" panose="02010600030101010101" pitchFamily="2" charset="-122"/>
                  <a:cs typeface="宋体" panose="02010600030101010101" pitchFamily="2" charset="-122"/>
                </a:rPr>
                <a:t>NULL</a:t>
              </a:r>
              <a:endParaRPr lang="zh-CN" sz="1050" kern="100">
                <a:solidFill>
                  <a:srgbClr val="000000"/>
                </a:solidFill>
                <a:effectLst/>
                <a:latin typeface="Times New Roman" panose="02020603050405020304"/>
                <a:ea typeface="宋体" panose="02010600030101010101" pitchFamily="2" charset="-122"/>
                <a:cs typeface="宋体" panose="02010600030101010101" pitchFamily="2" charset="-122"/>
              </a:endParaRPr>
            </a:p>
          </p:txBody>
        </p:sp>
        <p:cxnSp>
          <p:nvCxnSpPr>
            <p:cNvPr id="26" name="Line 1230"/>
            <p:cNvCxnSpPr/>
            <p:nvPr/>
          </p:nvCxnSpPr>
          <p:spPr bwMode="auto">
            <a:xfrm>
              <a:off x="2492" y="780"/>
              <a:ext cx="527" cy="1"/>
            </a:xfrm>
            <a:prstGeom prst="line">
              <a:avLst/>
            </a:prstGeom>
            <a:noFill/>
            <a:ln w="9525">
              <a:solidFill>
                <a:srgbClr val="000000"/>
              </a:solidFill>
              <a:round/>
              <a:tailEnd type="triangle" w="med" len="med"/>
            </a:ln>
            <a:effectLst/>
          </p:spPr>
        </p:cxnSp>
        <p:cxnSp>
          <p:nvCxnSpPr>
            <p:cNvPr id="27" name="Line 1231"/>
            <p:cNvCxnSpPr/>
            <p:nvPr/>
          </p:nvCxnSpPr>
          <p:spPr bwMode="auto">
            <a:xfrm>
              <a:off x="5297" y="314"/>
              <a:ext cx="527" cy="1"/>
            </a:xfrm>
            <a:prstGeom prst="line">
              <a:avLst/>
            </a:prstGeom>
            <a:noFill/>
            <a:ln w="9525">
              <a:solidFill>
                <a:srgbClr val="000000"/>
              </a:solidFill>
              <a:round/>
              <a:tailEnd type="triangle" w="med" len="med"/>
            </a:ln>
            <a:effectLst/>
          </p:spPr>
        </p:cxnSp>
        <p:cxnSp>
          <p:nvCxnSpPr>
            <p:cNvPr id="28" name="Line 1232"/>
            <p:cNvCxnSpPr/>
            <p:nvPr/>
          </p:nvCxnSpPr>
          <p:spPr bwMode="auto">
            <a:xfrm>
              <a:off x="3917" y="1717"/>
              <a:ext cx="527" cy="1"/>
            </a:xfrm>
            <a:prstGeom prst="line">
              <a:avLst/>
            </a:prstGeom>
            <a:noFill/>
            <a:ln w="9525">
              <a:solidFill>
                <a:srgbClr val="000000"/>
              </a:solidFill>
              <a:round/>
              <a:tailEnd type="triangle" w="med" len="med"/>
            </a:ln>
            <a:effectLst/>
          </p:spPr>
        </p:cxnSp>
        <p:cxnSp>
          <p:nvCxnSpPr>
            <p:cNvPr id="29" name="Line 1233"/>
            <p:cNvCxnSpPr/>
            <p:nvPr/>
          </p:nvCxnSpPr>
          <p:spPr bwMode="auto">
            <a:xfrm>
              <a:off x="3892" y="316"/>
              <a:ext cx="527" cy="1"/>
            </a:xfrm>
            <a:prstGeom prst="line">
              <a:avLst/>
            </a:prstGeom>
            <a:noFill/>
            <a:ln w="9525">
              <a:solidFill>
                <a:srgbClr val="000000"/>
              </a:solidFill>
              <a:round/>
              <a:tailEnd type="triangle" w="med" len="med"/>
            </a:ln>
            <a:effectLst/>
          </p:spPr>
        </p:cxnSp>
        <p:sp>
          <p:nvSpPr>
            <p:cNvPr id="30" name="Rectangle 1234"/>
            <p:cNvSpPr>
              <a:spLocks noChangeArrowheads="1"/>
            </p:cNvSpPr>
            <p:nvPr/>
          </p:nvSpPr>
          <p:spPr bwMode="auto">
            <a:xfrm>
              <a:off x="3162" y="596"/>
              <a:ext cx="878" cy="312"/>
            </a:xfrm>
            <a:prstGeom prst="rect">
              <a:avLst/>
            </a:prstGeom>
            <a:solidFill>
              <a:srgbClr val="FFFFFF">
                <a:alpha val="0"/>
              </a:srgbClr>
            </a:solidFill>
            <a:ln>
              <a:noFill/>
            </a:ln>
            <a:effectLst/>
          </p:spPr>
          <p:txBody>
            <a:bodyPr rot="0" vert="horz" wrap="square" lIns="0" tIns="0" rIns="0" bIns="0" anchor="t" anchorCtr="0" upright="1">
              <a:noAutofit/>
            </a:bodyPr>
            <a:lstStyle/>
            <a:p>
              <a:pPr indent="66675" algn="just">
                <a:spcAft>
                  <a:spcPts val="0"/>
                </a:spcAft>
              </a:pPr>
              <a:r>
                <a:rPr lang="en-US" sz="1050" kern="100">
                  <a:solidFill>
                    <a:srgbClr val="000000"/>
                  </a:solidFill>
                  <a:effectLst/>
                  <a:latin typeface="Times New Roman" panose="02020603050405020304"/>
                  <a:ea typeface="宋体" panose="02010600030101010101" pitchFamily="2" charset="-122"/>
                  <a:cs typeface="宋体" panose="02010600030101010101" pitchFamily="2" charset="-122"/>
                </a:rPr>
                <a:t>NULL</a:t>
              </a:r>
              <a:endParaRPr lang="zh-CN" sz="1050" kern="100">
                <a:solidFill>
                  <a:srgbClr val="000000"/>
                </a:solidFill>
                <a:effectLst/>
                <a:latin typeface="Times New Roman" panose="02020603050405020304"/>
                <a:ea typeface="宋体" panose="02010600030101010101" pitchFamily="2" charset="-122"/>
                <a:cs typeface="宋体" panose="02010600030101010101" pitchFamily="2" charset="-122"/>
              </a:endParaRPr>
            </a:p>
          </p:txBody>
        </p:sp>
        <p:sp>
          <p:nvSpPr>
            <p:cNvPr id="31" name="Rectangle 1235"/>
            <p:cNvSpPr>
              <a:spLocks noChangeArrowheads="1"/>
            </p:cNvSpPr>
            <p:nvPr/>
          </p:nvSpPr>
          <p:spPr bwMode="auto">
            <a:xfrm>
              <a:off x="3162" y="1094"/>
              <a:ext cx="878" cy="312"/>
            </a:xfrm>
            <a:prstGeom prst="rect">
              <a:avLst/>
            </a:prstGeom>
            <a:solidFill>
              <a:srgbClr val="FFFFFF">
                <a:alpha val="0"/>
              </a:srgbClr>
            </a:solidFill>
            <a:ln>
              <a:noFill/>
            </a:ln>
            <a:effectLst/>
          </p:spPr>
          <p:txBody>
            <a:bodyPr rot="0" vert="horz" wrap="square" lIns="0" tIns="0" rIns="0" bIns="0" anchor="t" anchorCtr="0" upright="1">
              <a:noAutofit/>
            </a:bodyPr>
            <a:lstStyle/>
            <a:p>
              <a:pPr indent="66675" algn="just">
                <a:spcAft>
                  <a:spcPts val="0"/>
                </a:spcAft>
              </a:pPr>
              <a:r>
                <a:rPr lang="en-US" sz="1050" kern="100" dirty="0">
                  <a:solidFill>
                    <a:srgbClr val="000000"/>
                  </a:solidFill>
                  <a:effectLst/>
                  <a:latin typeface="Times New Roman" panose="02020603050405020304"/>
                  <a:ea typeface="宋体" panose="02010600030101010101" pitchFamily="2" charset="-122"/>
                  <a:cs typeface="宋体" panose="02010600030101010101" pitchFamily="2" charset="-122"/>
                </a:rPr>
                <a:t>NULL</a:t>
              </a:r>
              <a:endParaRPr lang="zh-CN" sz="1050" kern="100" dirty="0">
                <a:solidFill>
                  <a:srgbClr val="000000"/>
                </a:solidFill>
                <a:effectLst/>
                <a:latin typeface="Times New Roman" panose="02020603050405020304"/>
                <a:ea typeface="宋体" panose="02010600030101010101" pitchFamily="2" charset="-122"/>
                <a:cs typeface="宋体" panose="02010600030101010101" pitchFamily="2" charset="-122"/>
              </a:endParaRPr>
            </a:p>
          </p:txBody>
        </p:sp>
        <p:sp>
          <p:nvSpPr>
            <p:cNvPr id="32" name="Rectangle 1236"/>
            <p:cNvSpPr>
              <a:spLocks noChangeArrowheads="1"/>
            </p:cNvSpPr>
            <p:nvPr/>
          </p:nvSpPr>
          <p:spPr bwMode="auto">
            <a:xfrm>
              <a:off x="4444" y="1560"/>
              <a:ext cx="878" cy="312"/>
            </a:xfrm>
            <a:prstGeom prst="rect">
              <a:avLst/>
            </a:prstGeom>
            <a:solidFill>
              <a:srgbClr val="FFFFFF">
                <a:alpha val="0"/>
              </a:srgbClr>
            </a:solidFill>
            <a:ln>
              <a:noFill/>
            </a:ln>
            <a:effectLst/>
          </p:spPr>
          <p:txBody>
            <a:bodyPr rot="0" vert="horz" wrap="square" lIns="0" tIns="0" rIns="0" bIns="0" anchor="t" anchorCtr="0" upright="1">
              <a:noAutofit/>
            </a:bodyPr>
            <a:lstStyle/>
            <a:p>
              <a:pPr indent="66675" algn="just">
                <a:spcAft>
                  <a:spcPts val="0"/>
                </a:spcAft>
              </a:pPr>
              <a:r>
                <a:rPr lang="en-US" sz="1050" kern="100">
                  <a:solidFill>
                    <a:srgbClr val="000000"/>
                  </a:solidFill>
                  <a:effectLst/>
                  <a:latin typeface="Times New Roman" panose="02020603050405020304"/>
                  <a:ea typeface="宋体" panose="02010600030101010101" pitchFamily="2" charset="-122"/>
                  <a:cs typeface="宋体" panose="02010600030101010101" pitchFamily="2" charset="-122"/>
                </a:rPr>
                <a:t>NULL</a:t>
              </a:r>
              <a:endParaRPr lang="zh-CN" sz="1050" kern="100">
                <a:solidFill>
                  <a:srgbClr val="000000"/>
                </a:solidFill>
                <a:effectLst/>
                <a:latin typeface="Times New Roman" panose="02020603050405020304"/>
                <a:ea typeface="宋体" panose="02010600030101010101" pitchFamily="2" charset="-122"/>
                <a:cs typeface="宋体" panose="02010600030101010101" pitchFamily="2" charset="-122"/>
              </a:endParaRPr>
            </a:p>
          </p:txBody>
        </p:sp>
        <p:sp>
          <p:nvSpPr>
            <p:cNvPr id="33" name="Rectangle 1237"/>
            <p:cNvSpPr>
              <a:spLocks noChangeArrowheads="1"/>
            </p:cNvSpPr>
            <p:nvPr/>
          </p:nvSpPr>
          <p:spPr bwMode="auto">
            <a:xfrm>
              <a:off x="1631" y="2009"/>
              <a:ext cx="878" cy="312"/>
            </a:xfrm>
            <a:prstGeom prst="rect">
              <a:avLst/>
            </a:prstGeom>
            <a:solidFill>
              <a:srgbClr val="FFFFFF">
                <a:alpha val="0"/>
              </a:srgbClr>
            </a:solidFill>
            <a:ln>
              <a:noFill/>
            </a:ln>
            <a:effectLst/>
          </p:spPr>
          <p:txBody>
            <a:bodyPr rot="0" vert="horz" wrap="square" lIns="0" tIns="0" rIns="0" bIns="0" anchor="t" anchorCtr="0" upright="1">
              <a:noAutofit/>
            </a:bodyPr>
            <a:lstStyle/>
            <a:p>
              <a:pPr indent="66675" algn="just">
                <a:spcAft>
                  <a:spcPts val="0"/>
                </a:spcAft>
              </a:pPr>
              <a:r>
                <a:rPr lang="en-US" sz="1050" kern="100">
                  <a:solidFill>
                    <a:srgbClr val="000000"/>
                  </a:solidFill>
                  <a:effectLst/>
                  <a:latin typeface="Times New Roman" panose="02020603050405020304"/>
                  <a:ea typeface="宋体" panose="02010600030101010101" pitchFamily="2" charset="-122"/>
                  <a:cs typeface="宋体" panose="02010600030101010101" pitchFamily="2" charset="-122"/>
                </a:rPr>
                <a:t>NULL</a:t>
              </a:r>
              <a:endParaRPr lang="zh-CN" sz="1050" kern="100">
                <a:solidFill>
                  <a:srgbClr val="000000"/>
                </a:solidFill>
                <a:effectLst/>
                <a:latin typeface="Times New Roman" panose="02020603050405020304"/>
                <a:ea typeface="宋体" panose="02010600030101010101" pitchFamily="2" charset="-122"/>
                <a:cs typeface="宋体" panose="02010600030101010101" pitchFamily="2" charset="-122"/>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55542" y="54198"/>
            <a:ext cx="8880050" cy="830997"/>
          </a:xfrm>
          <a:prstGeom prst="rect">
            <a:avLst/>
          </a:prstGeom>
        </p:spPr>
        <p:txBody>
          <a:bodyPr wrap="square">
            <a:spAutoFit/>
          </a:bodyPr>
          <a:lstStyle/>
          <a:p>
            <a:r>
              <a:rPr lang="zh-CN" altLang="zh-CN" sz="2400" dirty="0"/>
              <a:t>链式前向星通过结构体存储边的起始点、终边、权值和下一条边的链接：</a:t>
            </a:r>
          </a:p>
        </p:txBody>
      </p:sp>
      <p:sp>
        <p:nvSpPr>
          <p:cNvPr id="3" name="矩形 2"/>
          <p:cNvSpPr/>
          <p:nvPr/>
        </p:nvSpPr>
        <p:spPr>
          <a:xfrm>
            <a:off x="367646" y="1048975"/>
            <a:ext cx="8606672" cy="2308324"/>
          </a:xfrm>
          <a:prstGeom prst="rect">
            <a:avLst/>
          </a:prstGeom>
        </p:spPr>
        <p:txBody>
          <a:bodyPr wrap="square">
            <a:spAutoFit/>
          </a:bodyPr>
          <a:lstStyle/>
          <a:p>
            <a:r>
              <a:rPr lang="en-US" altLang="zh-CN" sz="2000" kern="0" dirty="0" err="1">
                <a:solidFill>
                  <a:srgbClr val="8000FF"/>
                </a:solidFill>
                <a:latin typeface="YaHei Consolas Hybrid"/>
                <a:ea typeface="宋体" panose="02010600030101010101" pitchFamily="2" charset="-122"/>
                <a:cs typeface="Courier New" panose="02070309020205020404"/>
              </a:rPr>
              <a:t>struct</a:t>
            </a:r>
            <a:r>
              <a:rPr lang="en-US" altLang="zh-CN" sz="2000" kern="0" dirty="0">
                <a:solidFill>
                  <a:srgbClr val="000000"/>
                </a:solidFill>
                <a:latin typeface="YaHei Consolas Hybrid"/>
                <a:ea typeface="宋体" panose="02010600030101010101" pitchFamily="2" charset="-122"/>
                <a:cs typeface="Courier New" panose="02070309020205020404"/>
              </a:rPr>
              <a:t> Edge</a:t>
            </a:r>
            <a:endParaRPr lang="zh-CN" altLang="zh-CN" sz="2400" kern="100" dirty="0">
              <a:latin typeface="Times New Roman" panose="02020603050405020304"/>
              <a:ea typeface="宋体" panose="02010600030101010101" pitchFamily="2" charset="-122"/>
            </a:endParaRPr>
          </a:p>
          <a:p>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err="1">
                <a:solidFill>
                  <a:srgbClr val="8000FF"/>
                </a:solidFill>
                <a:latin typeface="YaHei Consolas Hybrid"/>
                <a:ea typeface="宋体" panose="02010600030101010101" pitchFamily="2" charset="-122"/>
                <a:cs typeface="Courier New" panose="02070309020205020404"/>
              </a:rPr>
              <a:t>int</a:t>
            </a:r>
            <a:r>
              <a:rPr lang="en-US" altLang="zh-CN" sz="2000" kern="0" dirty="0">
                <a:solidFill>
                  <a:srgbClr val="000000"/>
                </a:solidFill>
                <a:latin typeface="YaHei Consolas Hybrid"/>
                <a:ea typeface="宋体" panose="02010600030101010101" pitchFamily="2" charset="-122"/>
                <a:cs typeface="Courier New" panose="02070309020205020404"/>
              </a:rPr>
              <a:t> u</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a:solidFill>
                  <a:srgbClr val="008000"/>
                </a:solidFill>
                <a:latin typeface="YaHei Consolas Hybrid"/>
                <a:ea typeface="宋体" panose="02010600030101010101" pitchFamily="2" charset="-122"/>
                <a:cs typeface="Courier New" panose="02070309020205020404"/>
              </a:rPr>
              <a:t>//</a:t>
            </a:r>
            <a:r>
              <a:rPr lang="zh-CN" altLang="zh-CN" sz="2000" kern="0" dirty="0">
                <a:solidFill>
                  <a:srgbClr val="008000"/>
                </a:solidFill>
                <a:latin typeface="Times New Roman" panose="02020603050405020304"/>
                <a:ea typeface="YaHei Consolas Hybrid"/>
                <a:cs typeface="Courier New" panose="02070309020205020404"/>
              </a:rPr>
              <a:t>边的起点</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err="1">
                <a:solidFill>
                  <a:srgbClr val="8000FF"/>
                </a:solidFill>
                <a:latin typeface="YaHei Consolas Hybrid"/>
                <a:ea typeface="宋体" panose="02010600030101010101" pitchFamily="2" charset="-122"/>
                <a:cs typeface="Courier New" panose="02070309020205020404"/>
              </a:rPr>
              <a:t>int</a:t>
            </a:r>
            <a:r>
              <a:rPr lang="en-US" altLang="zh-CN" sz="2000" kern="0" dirty="0">
                <a:solidFill>
                  <a:srgbClr val="000000"/>
                </a:solidFill>
                <a:latin typeface="YaHei Consolas Hybrid"/>
                <a:ea typeface="宋体" panose="02010600030101010101" pitchFamily="2" charset="-122"/>
                <a:cs typeface="Courier New" panose="02070309020205020404"/>
              </a:rPr>
              <a:t> v</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a:solidFill>
                  <a:srgbClr val="008000"/>
                </a:solidFill>
                <a:latin typeface="YaHei Consolas Hybrid"/>
                <a:ea typeface="宋体" panose="02010600030101010101" pitchFamily="2" charset="-122"/>
                <a:cs typeface="Courier New" panose="02070309020205020404"/>
              </a:rPr>
              <a:t>//</a:t>
            </a:r>
            <a:r>
              <a:rPr lang="zh-CN" altLang="zh-CN" sz="2000" kern="0" dirty="0">
                <a:solidFill>
                  <a:srgbClr val="008000"/>
                </a:solidFill>
                <a:latin typeface="Times New Roman" panose="02020603050405020304"/>
                <a:ea typeface="YaHei Consolas Hybrid"/>
                <a:cs typeface="Courier New" panose="02070309020205020404"/>
              </a:rPr>
              <a:t>边的终点</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err="1">
                <a:solidFill>
                  <a:srgbClr val="8000FF"/>
                </a:solidFill>
                <a:latin typeface="YaHei Consolas Hybrid"/>
                <a:ea typeface="宋体" panose="02010600030101010101" pitchFamily="2" charset="-122"/>
                <a:cs typeface="Courier New" panose="02070309020205020404"/>
              </a:rPr>
              <a:t>int</a:t>
            </a:r>
            <a:r>
              <a:rPr lang="en-US" altLang="zh-CN" sz="2000" kern="0" dirty="0">
                <a:solidFill>
                  <a:srgbClr val="000000"/>
                </a:solidFill>
                <a:latin typeface="YaHei Consolas Hybrid"/>
                <a:ea typeface="宋体" panose="02010600030101010101" pitchFamily="2" charset="-122"/>
                <a:cs typeface="Courier New" panose="02070309020205020404"/>
              </a:rPr>
              <a:t> w</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a:solidFill>
                  <a:srgbClr val="008000"/>
                </a:solidFill>
                <a:latin typeface="YaHei Consolas Hybrid"/>
                <a:ea typeface="宋体" panose="02010600030101010101" pitchFamily="2" charset="-122"/>
                <a:cs typeface="Courier New" panose="02070309020205020404"/>
              </a:rPr>
              <a:t>//</a:t>
            </a:r>
            <a:r>
              <a:rPr lang="zh-CN" altLang="zh-CN" sz="2000" kern="0" dirty="0">
                <a:solidFill>
                  <a:srgbClr val="008000"/>
                </a:solidFill>
                <a:latin typeface="Times New Roman" panose="02020603050405020304"/>
                <a:ea typeface="YaHei Consolas Hybrid"/>
                <a:cs typeface="Courier New" panose="02070309020205020404"/>
              </a:rPr>
              <a:t>边的权值</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err="1">
                <a:solidFill>
                  <a:srgbClr val="8000FF"/>
                </a:solidFill>
                <a:latin typeface="YaHei Consolas Hybrid"/>
                <a:ea typeface="宋体" panose="02010600030101010101" pitchFamily="2" charset="-122"/>
                <a:cs typeface="Courier New" panose="02070309020205020404"/>
              </a:rPr>
              <a:t>int</a:t>
            </a:r>
            <a:r>
              <a:rPr lang="en-US" altLang="zh-CN" sz="2000" kern="0" dirty="0">
                <a:solidFill>
                  <a:srgbClr val="000000"/>
                </a:solidFill>
                <a:latin typeface="YaHei Consolas Hybrid"/>
                <a:ea typeface="宋体" panose="02010600030101010101" pitchFamily="2" charset="-122"/>
                <a:cs typeface="Courier New" panose="02070309020205020404"/>
              </a:rPr>
              <a:t> next</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a:solidFill>
                  <a:srgbClr val="008000"/>
                </a:solidFill>
                <a:latin typeface="YaHei Consolas Hybrid"/>
                <a:ea typeface="宋体" panose="02010600030101010101" pitchFamily="2" charset="-122"/>
                <a:cs typeface="Courier New" panose="02070309020205020404"/>
              </a:rPr>
              <a:t>//</a:t>
            </a:r>
            <a:r>
              <a:rPr lang="zh-CN" altLang="zh-CN" sz="2000" kern="0" dirty="0">
                <a:solidFill>
                  <a:srgbClr val="008000"/>
                </a:solidFill>
                <a:latin typeface="Times New Roman" panose="02020603050405020304"/>
                <a:ea typeface="YaHei Consolas Hybrid"/>
                <a:cs typeface="Courier New" panose="02070309020205020404"/>
              </a:rPr>
              <a:t>指向下一条边的存储位置</a:t>
            </a:r>
            <a:endParaRPr lang="zh-CN" altLang="zh-CN" sz="2400" kern="100" dirty="0">
              <a:latin typeface="Times New Roman" panose="02020603050405020304"/>
              <a:ea typeface="宋体" panose="02010600030101010101" pitchFamily="2" charset="-122"/>
            </a:endParaRPr>
          </a:p>
          <a:p>
            <a:r>
              <a:rPr lang="en-US" altLang="zh-CN" sz="2000" b="1" dirty="0">
                <a:solidFill>
                  <a:srgbClr val="000080"/>
                </a:solidFill>
                <a:latin typeface="YaHei Consolas Hybrid"/>
                <a:cs typeface="Courier New" panose="02070309020205020404"/>
              </a:rPr>
              <a:t>}</a:t>
            </a:r>
            <a:r>
              <a:rPr lang="en-US" altLang="zh-CN" sz="2000" dirty="0">
                <a:solidFill>
                  <a:srgbClr val="000000"/>
                </a:solidFill>
                <a:latin typeface="YaHei Consolas Hybrid"/>
                <a:cs typeface="Courier New" panose="02070309020205020404"/>
              </a:rPr>
              <a:t> edge</a:t>
            </a:r>
            <a:r>
              <a:rPr lang="en-US" altLang="zh-CN" sz="2000" b="1" dirty="0">
                <a:solidFill>
                  <a:srgbClr val="000080"/>
                </a:solidFill>
                <a:latin typeface="YaHei Consolas Hybrid"/>
                <a:cs typeface="Courier New" panose="02070309020205020404"/>
              </a:rPr>
              <a:t>[</a:t>
            </a:r>
            <a:r>
              <a:rPr lang="en-US" altLang="zh-CN" sz="2000" dirty="0">
                <a:solidFill>
                  <a:srgbClr val="FF8000"/>
                </a:solidFill>
                <a:latin typeface="YaHei Consolas Hybrid"/>
                <a:cs typeface="Courier New" panose="02070309020205020404"/>
              </a:rPr>
              <a:t>10000</a:t>
            </a:r>
            <a:r>
              <a:rPr lang="en-US" altLang="zh-CN" sz="2000" b="1" dirty="0">
                <a:solidFill>
                  <a:srgbClr val="000080"/>
                </a:solidFill>
                <a:latin typeface="YaHei Consolas Hybrid"/>
                <a:cs typeface="Courier New" panose="02070309020205020404"/>
              </a:rPr>
              <a:t>];</a:t>
            </a:r>
            <a:endParaRPr lang="zh-CN" altLang="en-US" sz="2000" dirty="0"/>
          </a:p>
        </p:txBody>
      </p:sp>
      <p:sp>
        <p:nvSpPr>
          <p:cNvPr id="4" name="矩形 3"/>
          <p:cNvSpPr/>
          <p:nvPr/>
        </p:nvSpPr>
        <p:spPr>
          <a:xfrm>
            <a:off x="273377" y="3438951"/>
            <a:ext cx="8832915" cy="1292662"/>
          </a:xfrm>
          <a:prstGeom prst="rect">
            <a:avLst/>
          </a:prstGeom>
        </p:spPr>
        <p:txBody>
          <a:bodyPr wrap="square">
            <a:spAutoFit/>
          </a:bodyPr>
          <a:lstStyle/>
          <a:p>
            <a:r>
              <a:rPr lang="zh-CN" altLang="zh-CN" dirty="0"/>
              <a:t>其中</a:t>
            </a:r>
            <a:r>
              <a:rPr lang="en-US" altLang="zh-CN" dirty="0"/>
              <a:t>edge[</a:t>
            </a:r>
            <a:r>
              <a:rPr lang="en-US" altLang="zh-CN" dirty="0" err="1"/>
              <a:t>i</a:t>
            </a:r>
            <a:r>
              <a:rPr lang="en-US" altLang="zh-CN" dirty="0"/>
              <a:t>].u</a:t>
            </a:r>
            <a:r>
              <a:rPr lang="zh-CN" altLang="zh-CN" dirty="0"/>
              <a:t>表示第</a:t>
            </a:r>
            <a:r>
              <a:rPr lang="en-US" altLang="zh-CN" dirty="0" err="1"/>
              <a:t>i</a:t>
            </a:r>
            <a:r>
              <a:rPr lang="zh-CN" altLang="zh-CN" dirty="0"/>
              <a:t>条边的起点，</a:t>
            </a:r>
            <a:r>
              <a:rPr lang="en-US" altLang="zh-CN" dirty="0"/>
              <a:t>edge[</a:t>
            </a:r>
            <a:r>
              <a:rPr lang="en-US" altLang="zh-CN" dirty="0" err="1"/>
              <a:t>i</a:t>
            </a:r>
            <a:r>
              <a:rPr lang="en-US" altLang="zh-CN" dirty="0"/>
              <a:t>].v</a:t>
            </a:r>
            <a:r>
              <a:rPr lang="zh-CN" altLang="zh-CN" dirty="0"/>
              <a:t>表示第</a:t>
            </a:r>
            <a:r>
              <a:rPr lang="en-US" altLang="zh-CN" dirty="0" err="1"/>
              <a:t>i</a:t>
            </a:r>
            <a:r>
              <a:rPr lang="zh-CN" altLang="zh-CN" dirty="0"/>
              <a:t>条边的终点，</a:t>
            </a:r>
            <a:r>
              <a:rPr lang="en-US" altLang="zh-CN" dirty="0"/>
              <a:t>edge[</a:t>
            </a:r>
            <a:r>
              <a:rPr lang="en-US" altLang="zh-CN" dirty="0" err="1"/>
              <a:t>i</a:t>
            </a:r>
            <a:r>
              <a:rPr lang="en-US" altLang="zh-CN" dirty="0"/>
              <a:t>].w</a:t>
            </a:r>
            <a:r>
              <a:rPr lang="zh-CN" altLang="zh-CN" dirty="0"/>
              <a:t>为第</a:t>
            </a:r>
            <a:r>
              <a:rPr lang="en-US" altLang="zh-CN" dirty="0" err="1"/>
              <a:t>i</a:t>
            </a:r>
            <a:r>
              <a:rPr lang="zh-CN" altLang="zh-CN" dirty="0"/>
              <a:t>条边的权值，</a:t>
            </a:r>
            <a:r>
              <a:rPr lang="en-US" altLang="zh-CN" dirty="0"/>
              <a:t>edge[</a:t>
            </a:r>
            <a:r>
              <a:rPr lang="en-US" altLang="zh-CN" dirty="0" err="1"/>
              <a:t>i</a:t>
            </a:r>
            <a:r>
              <a:rPr lang="en-US" altLang="zh-CN" dirty="0"/>
              <a:t>].next</a:t>
            </a:r>
            <a:r>
              <a:rPr lang="zh-CN" altLang="zh-CN" dirty="0"/>
              <a:t>表示与第</a:t>
            </a:r>
            <a:r>
              <a:rPr lang="en-US" altLang="zh-CN" dirty="0" err="1"/>
              <a:t>i</a:t>
            </a:r>
            <a:r>
              <a:rPr lang="zh-CN" altLang="zh-CN" dirty="0"/>
              <a:t>条边同起点的下一条边的存储位置。</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1740" y="6535"/>
            <a:ext cx="3852337" cy="492443"/>
          </a:xfrm>
          <a:prstGeom prst="rect">
            <a:avLst/>
          </a:prstGeom>
        </p:spPr>
        <p:txBody>
          <a:bodyPr wrap="none">
            <a:spAutoFit/>
          </a:bodyPr>
          <a:lstStyle/>
          <a:p>
            <a:r>
              <a:rPr lang="zh-CN" altLang="zh-CN" dirty="0"/>
              <a:t>添加边的核心代码如下。</a:t>
            </a:r>
          </a:p>
        </p:txBody>
      </p:sp>
      <p:sp>
        <p:nvSpPr>
          <p:cNvPr id="4" name="矩形 3"/>
          <p:cNvSpPr/>
          <p:nvPr/>
        </p:nvSpPr>
        <p:spPr>
          <a:xfrm>
            <a:off x="81740" y="511254"/>
            <a:ext cx="8917757" cy="2554545"/>
          </a:xfrm>
          <a:prstGeom prst="rect">
            <a:avLst/>
          </a:prstGeom>
        </p:spPr>
        <p:txBody>
          <a:bodyPr wrap="square">
            <a:spAutoFit/>
          </a:bodyPr>
          <a:lstStyle/>
          <a:p>
            <a:r>
              <a:rPr lang="en-US" altLang="zh-CN" sz="2000" kern="0" dirty="0" err="1">
                <a:solidFill>
                  <a:srgbClr val="8000FF"/>
                </a:solidFill>
                <a:latin typeface="YaHei Consolas Hybrid"/>
                <a:ea typeface="宋体" panose="02010600030101010101" pitchFamily="2" charset="-122"/>
                <a:cs typeface="Courier New" panose="02070309020205020404"/>
              </a:rPr>
              <a:t>int</a:t>
            </a:r>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err="1">
                <a:solidFill>
                  <a:srgbClr val="000000"/>
                </a:solidFill>
                <a:latin typeface="YaHei Consolas Hybrid"/>
                <a:ea typeface="宋体" panose="02010600030101010101" pitchFamily="2" charset="-122"/>
                <a:cs typeface="Courier New" panose="02070309020205020404"/>
              </a:rPr>
              <a:t>cnt</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FF8000"/>
                </a:solidFill>
                <a:latin typeface="YaHei Consolas Hybrid"/>
                <a:ea typeface="宋体" panose="02010600030101010101" pitchFamily="2" charset="-122"/>
                <a:cs typeface="Courier New" panose="02070309020205020404"/>
              </a:rPr>
              <a:t>0</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8000"/>
                </a:solidFill>
                <a:latin typeface="YaHei Consolas Hybrid"/>
                <a:ea typeface="宋体" panose="02010600030101010101" pitchFamily="2" charset="-122"/>
                <a:cs typeface="Courier New" panose="02070309020205020404"/>
              </a:rPr>
              <a:t>                       //</a:t>
            </a:r>
            <a:r>
              <a:rPr lang="en-US" altLang="zh-CN" sz="2000" kern="0" dirty="0" err="1">
                <a:solidFill>
                  <a:srgbClr val="008000"/>
                </a:solidFill>
                <a:latin typeface="YaHei Consolas Hybrid"/>
                <a:ea typeface="宋体" panose="02010600030101010101" pitchFamily="2" charset="-122"/>
                <a:cs typeface="Courier New" panose="02070309020205020404"/>
              </a:rPr>
              <a:t>cnt</a:t>
            </a:r>
            <a:r>
              <a:rPr lang="zh-CN" altLang="zh-CN" sz="2000" kern="0" dirty="0">
                <a:solidFill>
                  <a:srgbClr val="008000"/>
                </a:solidFill>
                <a:latin typeface="Times New Roman" panose="02020603050405020304"/>
                <a:ea typeface="YaHei Consolas Hybrid"/>
                <a:cs typeface="Courier New" panose="02070309020205020404"/>
              </a:rPr>
              <a:t>表示边的编号</a:t>
            </a:r>
            <a:endParaRPr lang="zh-CN" altLang="zh-CN" sz="2400" kern="100" dirty="0">
              <a:latin typeface="Times New Roman" panose="02020603050405020304"/>
              <a:ea typeface="宋体" panose="02010600030101010101" pitchFamily="2" charset="-122"/>
            </a:endParaRPr>
          </a:p>
          <a:p>
            <a:r>
              <a:rPr lang="en-US" altLang="zh-CN" sz="2000" kern="0" dirty="0" err="1">
                <a:solidFill>
                  <a:srgbClr val="000000"/>
                </a:solidFill>
                <a:latin typeface="YaHei Consolas Hybrid"/>
                <a:ea typeface="宋体" panose="02010600030101010101" pitchFamily="2" charset="-122"/>
                <a:cs typeface="Courier New" panose="02070309020205020404"/>
              </a:rPr>
              <a:t>memset</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Head</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FF8000"/>
                </a:solidFill>
                <a:latin typeface="YaHei Consolas Hybrid"/>
                <a:ea typeface="宋体" panose="02010600030101010101" pitchFamily="2" charset="-122"/>
                <a:cs typeface="Courier New" panose="02070309020205020404"/>
              </a:rPr>
              <a:t>1</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b="1" kern="0" dirty="0">
                <a:solidFill>
                  <a:srgbClr val="0000FF"/>
                </a:solidFill>
                <a:latin typeface="YaHei Consolas Hybrid"/>
                <a:ea typeface="宋体" panose="02010600030101010101" pitchFamily="2" charset="-122"/>
                <a:cs typeface="Courier New" panose="02070309020205020404"/>
              </a:rPr>
              <a:t>sizeof</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Head</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8000"/>
                </a:solidFill>
                <a:latin typeface="YaHei Consolas Hybrid"/>
                <a:ea typeface="宋体" panose="02010600030101010101" pitchFamily="2" charset="-122"/>
                <a:cs typeface="Courier New" panose="02070309020205020404"/>
              </a:rPr>
              <a:t>    //Head[</a:t>
            </a:r>
            <a:r>
              <a:rPr lang="en-US" altLang="zh-CN" sz="2000" kern="0" dirty="0" err="1">
                <a:solidFill>
                  <a:srgbClr val="008000"/>
                </a:solidFill>
                <a:latin typeface="YaHei Consolas Hybrid"/>
                <a:ea typeface="宋体" panose="02010600030101010101" pitchFamily="2" charset="-122"/>
                <a:cs typeface="Courier New" panose="02070309020205020404"/>
              </a:rPr>
              <a:t>i</a:t>
            </a:r>
            <a:r>
              <a:rPr lang="en-US" altLang="zh-CN" sz="2000" kern="0" dirty="0">
                <a:solidFill>
                  <a:srgbClr val="008000"/>
                </a:solidFill>
                <a:latin typeface="YaHei Consolas Hybrid"/>
                <a:ea typeface="宋体" panose="02010600030101010101" pitchFamily="2" charset="-122"/>
                <a:cs typeface="Courier New" panose="02070309020205020404"/>
              </a:rPr>
              <a:t>]</a:t>
            </a:r>
            <a:r>
              <a:rPr lang="zh-CN" altLang="zh-CN" sz="2000" kern="0" dirty="0">
                <a:solidFill>
                  <a:srgbClr val="008000"/>
                </a:solidFill>
                <a:latin typeface="Times New Roman" panose="02020603050405020304"/>
                <a:ea typeface="YaHei Consolas Hybrid"/>
                <a:cs typeface="Courier New" panose="02070309020205020404"/>
              </a:rPr>
              <a:t>代表起点是</a:t>
            </a:r>
            <a:r>
              <a:rPr lang="en-US" altLang="zh-CN" sz="2000" kern="0" dirty="0" err="1">
                <a:solidFill>
                  <a:srgbClr val="008000"/>
                </a:solidFill>
                <a:latin typeface="Times New Roman" panose="02020603050405020304"/>
                <a:ea typeface="YaHei Consolas Hybrid"/>
                <a:cs typeface="Courier New" panose="02070309020205020404"/>
              </a:rPr>
              <a:t>i</a:t>
            </a:r>
            <a:r>
              <a:rPr lang="zh-CN" altLang="zh-CN" sz="2000" kern="0" dirty="0">
                <a:solidFill>
                  <a:srgbClr val="008000"/>
                </a:solidFill>
                <a:latin typeface="Times New Roman" panose="02020603050405020304"/>
                <a:ea typeface="YaHei Consolas Hybrid"/>
                <a:cs typeface="Courier New" panose="02070309020205020404"/>
              </a:rPr>
              <a:t>的边的编号</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a:t>
            </a:r>
            <a:endParaRPr lang="zh-CN" altLang="zh-CN" sz="2400" kern="100" dirty="0">
              <a:latin typeface="Times New Roman" panose="02020603050405020304"/>
              <a:ea typeface="宋体" panose="02010600030101010101" pitchFamily="2" charset="-122"/>
            </a:endParaRPr>
          </a:p>
          <a:p>
            <a:r>
              <a:rPr lang="en-US" altLang="zh-CN" sz="2000" kern="0" dirty="0">
                <a:solidFill>
                  <a:srgbClr val="8000FF"/>
                </a:solidFill>
                <a:latin typeface="YaHei Consolas Hybrid"/>
                <a:ea typeface="宋体" panose="02010600030101010101" pitchFamily="2" charset="-122"/>
                <a:cs typeface="Courier New" panose="02070309020205020404"/>
              </a:rPr>
              <a:t>void</a:t>
            </a:r>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err="1">
                <a:solidFill>
                  <a:srgbClr val="000000"/>
                </a:solidFill>
                <a:latin typeface="YaHei Consolas Hybrid"/>
                <a:ea typeface="宋体" panose="02010600030101010101" pitchFamily="2" charset="-122"/>
                <a:cs typeface="Courier New" panose="02070309020205020404"/>
              </a:rPr>
              <a:t>AddEdge</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8000FF"/>
                </a:solidFill>
                <a:latin typeface="YaHei Consolas Hybrid"/>
                <a:ea typeface="宋体" panose="02010600030101010101" pitchFamily="2" charset="-122"/>
                <a:cs typeface="Courier New" panose="02070309020205020404"/>
              </a:rPr>
              <a:t>int</a:t>
            </a:r>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err="1">
                <a:solidFill>
                  <a:srgbClr val="000000"/>
                </a:solidFill>
                <a:latin typeface="YaHei Consolas Hybrid"/>
                <a:ea typeface="宋体" panose="02010600030101010101" pitchFamily="2" charset="-122"/>
                <a:cs typeface="Courier New" panose="02070309020205020404"/>
              </a:rPr>
              <a:t>u</a:t>
            </a:r>
            <a:r>
              <a:rPr lang="en-US" altLang="zh-CN" sz="2000" b="1" kern="0" dirty="0" err="1">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8000FF"/>
                </a:solidFill>
                <a:latin typeface="YaHei Consolas Hybrid"/>
                <a:ea typeface="宋体" panose="02010600030101010101" pitchFamily="2" charset="-122"/>
                <a:cs typeface="Courier New" panose="02070309020205020404"/>
              </a:rPr>
              <a:t>int</a:t>
            </a:r>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err="1">
                <a:solidFill>
                  <a:srgbClr val="000000"/>
                </a:solidFill>
                <a:latin typeface="YaHei Consolas Hybrid"/>
                <a:ea typeface="宋体" panose="02010600030101010101" pitchFamily="2" charset="-122"/>
                <a:cs typeface="Courier New" panose="02070309020205020404"/>
              </a:rPr>
              <a:t>v</a:t>
            </a:r>
            <a:r>
              <a:rPr lang="en-US" altLang="zh-CN" sz="2000" b="1" kern="0" dirty="0" err="1">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8000FF"/>
                </a:solidFill>
                <a:latin typeface="YaHei Consolas Hybrid"/>
                <a:ea typeface="宋体" panose="02010600030101010101" pitchFamily="2" charset="-122"/>
                <a:cs typeface="Courier New" panose="02070309020205020404"/>
              </a:rPr>
              <a:t>int</a:t>
            </a:r>
            <a:r>
              <a:rPr lang="en-US" altLang="zh-CN" sz="2000" kern="0" dirty="0">
                <a:solidFill>
                  <a:srgbClr val="000000"/>
                </a:solidFill>
                <a:latin typeface="YaHei Consolas Hybrid"/>
                <a:ea typeface="宋体" panose="02010600030101010101" pitchFamily="2" charset="-122"/>
                <a:cs typeface="Courier New" panose="02070309020205020404"/>
              </a:rPr>
              <a:t> w</a:t>
            </a:r>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latin typeface="Times New Roman" panose="02020603050405020304"/>
              <a:ea typeface="宋体" panose="02010600030101010101" pitchFamily="2" charset="-122"/>
            </a:endParaRPr>
          </a:p>
          <a:p>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edge</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000000"/>
                </a:solidFill>
                <a:latin typeface="YaHei Consolas Hybrid"/>
                <a:ea typeface="宋体" panose="02010600030101010101" pitchFamily="2" charset="-122"/>
                <a:cs typeface="Courier New" panose="02070309020205020404"/>
              </a:rPr>
              <a:t>cnt</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Edge </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000000"/>
                </a:solidFill>
                <a:latin typeface="YaHei Consolas Hybrid"/>
                <a:ea typeface="宋体" panose="02010600030101010101" pitchFamily="2" charset="-122"/>
                <a:cs typeface="Courier New" panose="02070309020205020404"/>
              </a:rPr>
              <a:t>u</a:t>
            </a:r>
            <a:r>
              <a:rPr lang="en-US" altLang="zh-CN" sz="2000" b="1" kern="0" dirty="0" err="1">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000000"/>
                </a:solidFill>
                <a:latin typeface="YaHei Consolas Hybrid"/>
                <a:ea typeface="宋体" panose="02010600030101010101" pitchFamily="2" charset="-122"/>
                <a:cs typeface="Courier New" panose="02070309020205020404"/>
              </a:rPr>
              <a:t>v</a:t>
            </a:r>
            <a:r>
              <a:rPr lang="en-US" altLang="zh-CN" sz="2000" b="1" kern="0" dirty="0" err="1">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000000"/>
                </a:solidFill>
                <a:latin typeface="YaHei Consolas Hybrid"/>
                <a:ea typeface="宋体" panose="02010600030101010101" pitchFamily="2" charset="-122"/>
                <a:cs typeface="Courier New" panose="02070309020205020404"/>
              </a:rPr>
              <a:t>w</a:t>
            </a:r>
            <a:r>
              <a:rPr lang="en-US" altLang="zh-CN" sz="2000" b="1" kern="0" dirty="0" err="1">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000000"/>
                </a:solidFill>
                <a:latin typeface="YaHei Consolas Hybrid"/>
                <a:ea typeface="宋体" panose="02010600030101010101" pitchFamily="2" charset="-122"/>
                <a:cs typeface="Courier New" panose="02070309020205020404"/>
              </a:rPr>
              <a:t>Head</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u</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8000"/>
                </a:solidFill>
                <a:latin typeface="YaHei Consolas Hybrid"/>
                <a:ea typeface="宋体" panose="02010600030101010101" pitchFamily="2" charset="-122"/>
                <a:cs typeface="Courier New" panose="02070309020205020404"/>
              </a:rPr>
              <a:t>//</a:t>
            </a:r>
            <a:r>
              <a:rPr lang="zh-CN" altLang="zh-CN" sz="2000" kern="0" dirty="0">
                <a:solidFill>
                  <a:srgbClr val="008000"/>
                </a:solidFill>
                <a:latin typeface="Times New Roman" panose="02020603050405020304"/>
                <a:ea typeface="YaHei Consolas Hybrid"/>
                <a:cs typeface="Courier New" panose="02070309020205020404"/>
              </a:rPr>
              <a:t>此处</a:t>
            </a:r>
            <a:r>
              <a:rPr lang="en-US" altLang="zh-CN" sz="2000" kern="0" dirty="0" err="1">
                <a:solidFill>
                  <a:srgbClr val="008000"/>
                </a:solidFill>
                <a:latin typeface="Times New Roman" panose="02020603050405020304"/>
                <a:ea typeface="YaHei Consolas Hybrid"/>
                <a:cs typeface="Courier New" panose="02070309020205020404"/>
              </a:rPr>
              <a:t>cnt</a:t>
            </a:r>
            <a:r>
              <a:rPr lang="zh-CN" altLang="zh-CN" sz="2000" kern="0" dirty="0">
                <a:solidFill>
                  <a:srgbClr val="008000"/>
                </a:solidFill>
                <a:latin typeface="Times New Roman" panose="02020603050405020304"/>
                <a:ea typeface="YaHei Consolas Hybrid"/>
                <a:cs typeface="Courier New" panose="02070309020205020404"/>
              </a:rPr>
              <a:t>编号是从</a:t>
            </a:r>
            <a:r>
              <a:rPr lang="en-US" altLang="zh-CN" sz="2000" kern="0" dirty="0">
                <a:solidFill>
                  <a:srgbClr val="008000"/>
                </a:solidFill>
                <a:latin typeface="Times New Roman" panose="02020603050405020304"/>
                <a:ea typeface="YaHei Consolas Hybrid"/>
                <a:cs typeface="Courier New" panose="02070309020205020404"/>
              </a:rPr>
              <a:t>0</a:t>
            </a:r>
            <a:r>
              <a:rPr lang="zh-CN" altLang="zh-CN" sz="2000" kern="0" dirty="0">
                <a:solidFill>
                  <a:srgbClr val="008000"/>
                </a:solidFill>
                <a:latin typeface="Times New Roman" panose="02020603050405020304"/>
                <a:ea typeface="YaHei Consolas Hybrid"/>
                <a:cs typeface="Courier New" panose="02070309020205020404"/>
              </a:rPr>
              <a:t>开始计数</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Head</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u</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000000"/>
                </a:solidFill>
                <a:latin typeface="YaHei Consolas Hybrid"/>
                <a:ea typeface="宋体" panose="02010600030101010101" pitchFamily="2" charset="-122"/>
                <a:cs typeface="Courier New" panose="02070309020205020404"/>
              </a:rPr>
              <a:t>cnt</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a:solidFill>
                  <a:srgbClr val="008000"/>
                </a:solidFill>
                <a:latin typeface="YaHei Consolas Hybrid"/>
                <a:ea typeface="宋体" panose="02010600030101010101" pitchFamily="2" charset="-122"/>
                <a:cs typeface="Courier New" panose="02070309020205020404"/>
              </a:rPr>
              <a:t>//</a:t>
            </a:r>
            <a:r>
              <a:rPr lang="zh-CN" altLang="zh-CN" sz="2000" kern="0" dirty="0">
                <a:solidFill>
                  <a:srgbClr val="008000"/>
                </a:solidFill>
                <a:latin typeface="Times New Roman" panose="02020603050405020304"/>
                <a:ea typeface="YaHei Consolas Hybrid"/>
                <a:cs typeface="Courier New" panose="02070309020205020404"/>
              </a:rPr>
              <a:t>这条边设为新的</a:t>
            </a:r>
            <a:r>
              <a:rPr lang="en-US" altLang="zh-CN" sz="2000" kern="0" dirty="0">
                <a:solidFill>
                  <a:srgbClr val="008000"/>
                </a:solidFill>
                <a:latin typeface="Times New Roman" panose="02020603050405020304"/>
                <a:ea typeface="YaHei Consolas Hybrid"/>
                <a:cs typeface="Courier New" panose="02070309020205020404"/>
              </a:rPr>
              <a:t>Head[u]</a:t>
            </a:r>
            <a:r>
              <a:rPr lang="zh-CN" altLang="zh-CN" sz="2000" kern="0" dirty="0">
                <a:solidFill>
                  <a:srgbClr val="008000"/>
                </a:solidFill>
                <a:latin typeface="Times New Roman" panose="02020603050405020304"/>
                <a:ea typeface="YaHei Consolas Hybrid"/>
                <a:cs typeface="Courier New" panose="02070309020205020404"/>
              </a:rPr>
              <a:t>的编号</a:t>
            </a:r>
            <a:endParaRPr lang="zh-CN" altLang="zh-CN" sz="2400" kern="100" dirty="0">
              <a:latin typeface="Times New Roman" panose="02020603050405020304"/>
              <a:ea typeface="宋体" panose="02010600030101010101" pitchFamily="2" charset="-122"/>
            </a:endParaRPr>
          </a:p>
          <a:p>
            <a:r>
              <a:rPr lang="en-US" altLang="zh-CN" sz="2000" b="1" dirty="0">
                <a:solidFill>
                  <a:srgbClr val="000080"/>
                </a:solidFill>
                <a:latin typeface="YaHei Consolas Hybrid"/>
                <a:cs typeface="Courier New" panose="02070309020205020404"/>
              </a:rPr>
              <a:t>}</a:t>
            </a:r>
            <a:endParaRPr lang="zh-CN" alt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8784"/>
            <a:ext cx="4278735" cy="492443"/>
          </a:xfrm>
          <a:prstGeom prst="rect">
            <a:avLst/>
          </a:prstGeom>
        </p:spPr>
        <p:txBody>
          <a:bodyPr wrap="none">
            <a:spAutoFit/>
          </a:bodyPr>
          <a:lstStyle/>
          <a:p>
            <a:r>
              <a:rPr lang="en-US" altLang="zh-CN" b="1" dirty="0"/>
              <a:t>5.2.1 </a:t>
            </a:r>
            <a:r>
              <a:rPr lang="zh-CN" altLang="zh-CN" b="1" dirty="0"/>
              <a:t>前向星的深度优先搜索</a:t>
            </a:r>
          </a:p>
        </p:txBody>
      </p:sp>
      <p:sp>
        <p:nvSpPr>
          <p:cNvPr id="3" name="矩形 2"/>
          <p:cNvSpPr/>
          <p:nvPr/>
        </p:nvSpPr>
        <p:spPr>
          <a:xfrm>
            <a:off x="183823" y="771257"/>
            <a:ext cx="8889475" cy="3693319"/>
          </a:xfrm>
          <a:prstGeom prst="rect">
            <a:avLst/>
          </a:prstGeom>
        </p:spPr>
        <p:txBody>
          <a:bodyPr wrap="square">
            <a:spAutoFit/>
          </a:bodyPr>
          <a:lstStyle/>
          <a:p>
            <a:r>
              <a:rPr lang="zh-CN" altLang="zh-CN" dirty="0"/>
              <a:t>想象一只老鼠，在一座不见天日的迷宫内，老鼠在入口处进去，要从出口出来。那老鼠会怎么走？当然是这样的：老鼠如果遇到直路，就一直往前走，如果遇到分叉路口，就任意选择其中的一个继续往下走，如果遇到死胡同，就退回到最近的一个分叉路口，选择另一条道路再走下去，如果遇到了出口，老鼠的旅途就算结束了。深度优先搜索法的基本原则就是这样：按照某种条件往前试探搜索，如果前进中遭到失败（正如老鼠遇到死胡同），则退回头另选通路继续搜索（用堆栈实现），直到找到条件的目标为止。</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9497"/>
            <a:ext cx="9026165" cy="4462760"/>
          </a:xfrm>
          <a:prstGeom prst="rect">
            <a:avLst/>
          </a:prstGeom>
        </p:spPr>
        <p:txBody>
          <a:bodyPr wrap="square">
            <a:spAutoFit/>
          </a:bodyPr>
          <a:lstStyle/>
          <a:p>
            <a:r>
              <a:rPr lang="en-US" altLang="zh-CN" sz="2000" kern="0" dirty="0">
                <a:solidFill>
                  <a:srgbClr val="8000FF"/>
                </a:solidFill>
                <a:latin typeface="YaHei Consolas Hybrid"/>
                <a:ea typeface="宋体" panose="02010600030101010101" pitchFamily="2" charset="-122"/>
                <a:cs typeface="Courier New" panose="02070309020205020404"/>
              </a:rPr>
              <a:t>void</a:t>
            </a:r>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err="1">
                <a:solidFill>
                  <a:srgbClr val="000000"/>
                </a:solidFill>
                <a:latin typeface="YaHei Consolas Hybrid"/>
                <a:ea typeface="宋体" panose="02010600030101010101" pitchFamily="2" charset="-122"/>
                <a:cs typeface="Courier New" panose="02070309020205020404"/>
              </a:rPr>
              <a:t>AddEdge</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8000FF"/>
                </a:solidFill>
                <a:latin typeface="YaHei Consolas Hybrid"/>
                <a:ea typeface="宋体" panose="02010600030101010101" pitchFamily="2" charset="-122"/>
                <a:cs typeface="Courier New" panose="02070309020205020404"/>
              </a:rPr>
              <a:t>int</a:t>
            </a:r>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err="1">
                <a:solidFill>
                  <a:srgbClr val="000000"/>
                </a:solidFill>
                <a:latin typeface="YaHei Consolas Hybrid"/>
                <a:ea typeface="宋体" panose="02010600030101010101" pitchFamily="2" charset="-122"/>
                <a:cs typeface="Courier New" panose="02070309020205020404"/>
              </a:rPr>
              <a:t>u</a:t>
            </a:r>
            <a:r>
              <a:rPr lang="en-US" altLang="zh-CN" sz="2000" b="1" kern="0" dirty="0" err="1">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8000FF"/>
                </a:solidFill>
                <a:latin typeface="YaHei Consolas Hybrid"/>
                <a:ea typeface="宋体" panose="02010600030101010101" pitchFamily="2" charset="-122"/>
                <a:cs typeface="Courier New" panose="02070309020205020404"/>
              </a:rPr>
              <a:t>int</a:t>
            </a:r>
            <a:r>
              <a:rPr lang="en-US" altLang="zh-CN" sz="2000" kern="0" dirty="0">
                <a:solidFill>
                  <a:srgbClr val="000000"/>
                </a:solidFill>
                <a:latin typeface="YaHei Consolas Hybrid"/>
                <a:ea typeface="宋体" panose="02010600030101010101" pitchFamily="2" charset="-122"/>
                <a:cs typeface="Courier New" panose="02070309020205020404"/>
              </a:rPr>
              <a:t> v</a:t>
            </a:r>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latin typeface="Times New Roman" panose="02020603050405020304"/>
              <a:ea typeface="宋体" panose="02010600030101010101" pitchFamily="2" charset="-122"/>
            </a:endParaRPr>
          </a:p>
          <a:p>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edge</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000000"/>
                </a:solidFill>
                <a:latin typeface="YaHei Consolas Hybrid"/>
                <a:ea typeface="宋体" panose="02010600030101010101" pitchFamily="2" charset="-122"/>
                <a:cs typeface="Courier New" panose="02070309020205020404"/>
              </a:rPr>
              <a:t>Cnt</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Edge </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000000"/>
                </a:solidFill>
                <a:latin typeface="YaHei Consolas Hybrid"/>
                <a:ea typeface="宋体" panose="02010600030101010101" pitchFamily="2" charset="-122"/>
                <a:cs typeface="Courier New" panose="02070309020205020404"/>
              </a:rPr>
              <a:t>v</a:t>
            </a:r>
            <a:r>
              <a:rPr lang="en-US" altLang="zh-CN" sz="2000" b="1" kern="0" dirty="0" err="1">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000000"/>
                </a:solidFill>
                <a:latin typeface="YaHei Consolas Hybrid"/>
                <a:ea typeface="宋体" panose="02010600030101010101" pitchFamily="2" charset="-122"/>
                <a:cs typeface="Courier New" panose="02070309020205020404"/>
              </a:rPr>
              <a:t>Head</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u</a:t>
            </a:r>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Head</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u</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000000"/>
                </a:solidFill>
                <a:latin typeface="YaHei Consolas Hybrid"/>
                <a:ea typeface="宋体" panose="02010600030101010101" pitchFamily="2" charset="-122"/>
                <a:cs typeface="Courier New" panose="02070309020205020404"/>
              </a:rPr>
              <a:t>Cnt</a:t>
            </a:r>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latin typeface="Times New Roman" panose="02020603050405020304"/>
              <a:ea typeface="宋体" panose="02010600030101010101" pitchFamily="2" charset="-122"/>
            </a:endParaRPr>
          </a:p>
          <a:p>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a:t>
            </a:r>
            <a:endParaRPr lang="zh-CN" altLang="zh-CN" sz="2400" kern="100" dirty="0">
              <a:latin typeface="Times New Roman" panose="02020603050405020304"/>
              <a:ea typeface="宋体" panose="02010600030101010101" pitchFamily="2" charset="-122"/>
            </a:endParaRPr>
          </a:p>
          <a:p>
            <a:r>
              <a:rPr lang="en-US" altLang="zh-CN" sz="2000" kern="0" dirty="0">
                <a:solidFill>
                  <a:srgbClr val="8000FF"/>
                </a:solidFill>
                <a:latin typeface="YaHei Consolas Hybrid"/>
                <a:ea typeface="宋体" panose="02010600030101010101" pitchFamily="2" charset="-122"/>
                <a:cs typeface="Courier New" panose="02070309020205020404"/>
              </a:rPr>
              <a:t>void</a:t>
            </a:r>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err="1">
                <a:solidFill>
                  <a:srgbClr val="000000"/>
                </a:solidFill>
                <a:latin typeface="YaHei Consolas Hybrid"/>
                <a:ea typeface="宋体" panose="02010600030101010101" pitchFamily="2" charset="-122"/>
                <a:cs typeface="Courier New" panose="02070309020205020404"/>
              </a:rPr>
              <a:t>Dfs</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8000FF"/>
                </a:solidFill>
                <a:latin typeface="YaHei Consolas Hybrid"/>
                <a:ea typeface="宋体" panose="02010600030101010101" pitchFamily="2" charset="-122"/>
                <a:cs typeface="Courier New" panose="02070309020205020404"/>
              </a:rPr>
              <a:t>int</a:t>
            </a:r>
            <a:r>
              <a:rPr lang="en-US" altLang="zh-CN" sz="2000" kern="0" dirty="0">
                <a:solidFill>
                  <a:srgbClr val="000000"/>
                </a:solidFill>
                <a:latin typeface="YaHei Consolas Hybrid"/>
                <a:ea typeface="宋体" panose="02010600030101010101" pitchFamily="2" charset="-122"/>
                <a:cs typeface="Courier New" panose="02070309020205020404"/>
              </a:rPr>
              <a:t> x</a:t>
            </a:r>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latin typeface="Times New Roman" panose="02020603050405020304"/>
              <a:ea typeface="宋体" panose="02010600030101010101" pitchFamily="2" charset="-122"/>
            </a:endParaRPr>
          </a:p>
          <a:p>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vis</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x</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FF8000"/>
                </a:solidFill>
                <a:latin typeface="YaHei Consolas Hybrid"/>
                <a:ea typeface="宋体" panose="02010600030101010101" pitchFamily="2" charset="-122"/>
                <a:cs typeface="Courier New" panose="02070309020205020404"/>
              </a:rPr>
              <a:t>1</a:t>
            </a:r>
            <a:r>
              <a:rPr lang="en-US" altLang="zh-CN" sz="2000" b="1" kern="0" dirty="0">
                <a:solidFill>
                  <a:srgbClr val="000080"/>
                </a:solidFill>
                <a:latin typeface="YaHei Consolas Hybrid"/>
                <a:ea typeface="宋体" panose="02010600030101010101" pitchFamily="2" charset="-122"/>
                <a:cs typeface="Courier New" panose="02070309020205020404"/>
              </a:rPr>
              <a:t>;  </a:t>
            </a:r>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a:solidFill>
                  <a:srgbClr val="008000"/>
                </a:solidFill>
                <a:latin typeface="YaHei Consolas Hybrid"/>
                <a:ea typeface="宋体" panose="02010600030101010101" pitchFamily="2" charset="-122"/>
                <a:cs typeface="Courier New" panose="02070309020205020404"/>
              </a:rPr>
              <a:t>//</a:t>
            </a:r>
            <a:r>
              <a:rPr lang="zh-CN" altLang="zh-CN" sz="2000" kern="0" dirty="0">
                <a:solidFill>
                  <a:srgbClr val="008000"/>
                </a:solidFill>
                <a:latin typeface="Times New Roman" panose="02020603050405020304"/>
                <a:ea typeface="YaHei Consolas Hybrid"/>
                <a:cs typeface="Courier New" panose="02070309020205020404"/>
              </a:rPr>
              <a:t>标记</a:t>
            </a:r>
            <a:r>
              <a:rPr lang="en-US" altLang="zh-CN" sz="2000" kern="0" dirty="0">
                <a:solidFill>
                  <a:srgbClr val="008000"/>
                </a:solidFill>
                <a:latin typeface="Times New Roman" panose="02020603050405020304"/>
                <a:ea typeface="YaHei Consolas Hybrid"/>
                <a:cs typeface="Courier New" panose="02070309020205020404"/>
              </a:rPr>
              <a:t>x</a:t>
            </a:r>
            <a:r>
              <a:rPr lang="zh-CN" altLang="zh-CN" sz="2000" kern="0" dirty="0">
                <a:solidFill>
                  <a:srgbClr val="008000"/>
                </a:solidFill>
                <a:latin typeface="Times New Roman" panose="02020603050405020304"/>
                <a:ea typeface="YaHei Consolas Hybrid"/>
                <a:cs typeface="Courier New" panose="02070309020205020404"/>
              </a:rPr>
              <a:t>顶点被访问 </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err="1">
                <a:solidFill>
                  <a:srgbClr val="000000"/>
                </a:solidFill>
                <a:latin typeface="YaHei Consolas Hybrid"/>
                <a:ea typeface="宋体" panose="02010600030101010101" pitchFamily="2" charset="-122"/>
                <a:cs typeface="Courier New" panose="02070309020205020404"/>
              </a:rPr>
              <a:t>cout</a:t>
            </a:r>
            <a:r>
              <a:rPr lang="en-US" altLang="zh-CN" sz="2000" b="1" kern="0" dirty="0">
                <a:solidFill>
                  <a:srgbClr val="000080"/>
                </a:solidFill>
                <a:latin typeface="YaHei Consolas Hybrid"/>
                <a:ea typeface="宋体" panose="02010600030101010101" pitchFamily="2" charset="-122"/>
                <a:cs typeface="Courier New" panose="02070309020205020404"/>
              </a:rPr>
              <a:t>&lt;&lt;</a:t>
            </a:r>
            <a:r>
              <a:rPr lang="en-US" altLang="zh-CN" sz="2000" kern="0" dirty="0">
                <a:solidFill>
                  <a:srgbClr val="000000"/>
                </a:solidFill>
                <a:latin typeface="YaHei Consolas Hybrid"/>
                <a:ea typeface="宋体" panose="02010600030101010101" pitchFamily="2" charset="-122"/>
                <a:cs typeface="Courier New" panose="02070309020205020404"/>
              </a:rPr>
              <a:t>x</a:t>
            </a:r>
            <a:r>
              <a:rPr lang="en-US" altLang="zh-CN" sz="2000" b="1" kern="0" dirty="0">
                <a:solidFill>
                  <a:srgbClr val="000080"/>
                </a:solidFill>
                <a:latin typeface="YaHei Consolas Hybrid"/>
                <a:ea typeface="宋体" panose="02010600030101010101" pitchFamily="2" charset="-122"/>
                <a:cs typeface="Courier New" panose="02070309020205020404"/>
              </a:rPr>
              <a:t>&lt;&lt;</a:t>
            </a:r>
            <a:r>
              <a:rPr lang="en-US" altLang="zh-CN" sz="2000" kern="0" dirty="0">
                <a:solidFill>
                  <a:srgbClr val="808080"/>
                </a:solidFill>
                <a:latin typeface="YaHei Consolas Hybrid"/>
                <a:ea typeface="宋体" panose="02010600030101010101" pitchFamily="2" charset="-122"/>
                <a:cs typeface="Courier New" panose="02070309020205020404"/>
              </a:rPr>
              <a:t>"  "</a:t>
            </a:r>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b="1" kern="0" dirty="0">
                <a:solidFill>
                  <a:srgbClr val="0000FF"/>
                </a:solidFill>
                <a:latin typeface="YaHei Consolas Hybrid"/>
                <a:ea typeface="宋体" panose="02010600030101010101" pitchFamily="2" charset="-122"/>
                <a:cs typeface="Courier New" panose="02070309020205020404"/>
              </a:rPr>
              <a:t>for</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8000FF"/>
                </a:solidFill>
                <a:latin typeface="YaHei Consolas Hybrid"/>
                <a:ea typeface="宋体" panose="02010600030101010101" pitchFamily="2" charset="-122"/>
                <a:cs typeface="Courier New" panose="02070309020205020404"/>
              </a:rPr>
              <a:t>int</a:t>
            </a:r>
            <a:r>
              <a:rPr lang="en-US" altLang="zh-CN" sz="2000" kern="0" dirty="0">
                <a:solidFill>
                  <a:srgbClr val="000000"/>
                </a:solidFill>
                <a:latin typeface="YaHei Consolas Hybrid"/>
                <a:ea typeface="宋体" panose="02010600030101010101" pitchFamily="2" charset="-122"/>
                <a:cs typeface="Courier New" panose="02070309020205020404"/>
              </a:rPr>
              <a:t> k</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Head</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x</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 k</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FF8000"/>
                </a:solidFill>
                <a:latin typeface="YaHei Consolas Hybrid"/>
                <a:ea typeface="宋体" panose="02010600030101010101" pitchFamily="2" charset="-122"/>
                <a:cs typeface="Courier New" panose="02070309020205020404"/>
              </a:rPr>
              <a:t>1</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 k</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edge</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k</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next</a:t>
            </a:r>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b="1" kern="0" dirty="0">
                <a:solidFill>
                  <a:srgbClr val="0000FF"/>
                </a:solidFill>
                <a:latin typeface="YaHei Consolas Hybrid"/>
                <a:ea typeface="宋体" panose="02010600030101010101" pitchFamily="2" charset="-122"/>
                <a:cs typeface="Courier New" panose="02070309020205020404"/>
              </a:rPr>
              <a:t>if</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vis</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edge</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k</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to</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a:solidFill>
                  <a:srgbClr val="008000"/>
                </a:solidFill>
                <a:latin typeface="YaHei Consolas Hybrid"/>
                <a:ea typeface="宋体" panose="02010600030101010101" pitchFamily="2" charset="-122"/>
                <a:cs typeface="Courier New" panose="02070309020205020404"/>
              </a:rPr>
              <a:t>//</a:t>
            </a:r>
            <a:r>
              <a:rPr lang="zh-CN" altLang="zh-CN" sz="2000" kern="0" dirty="0">
                <a:solidFill>
                  <a:srgbClr val="008000"/>
                </a:solidFill>
                <a:latin typeface="Times New Roman" panose="02020603050405020304"/>
                <a:ea typeface="YaHei Consolas Hybrid"/>
                <a:cs typeface="Courier New" panose="02070309020205020404"/>
              </a:rPr>
              <a:t>如果没有被访问过 </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err="1">
                <a:solidFill>
                  <a:srgbClr val="000000"/>
                </a:solidFill>
                <a:latin typeface="YaHei Consolas Hybrid"/>
                <a:ea typeface="宋体" panose="02010600030101010101" pitchFamily="2" charset="-122"/>
                <a:cs typeface="Courier New" panose="02070309020205020404"/>
              </a:rPr>
              <a:t>Dfs</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edge</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k</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to</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a:solidFill>
                  <a:srgbClr val="008000"/>
                </a:solidFill>
                <a:latin typeface="YaHei Consolas Hybrid"/>
                <a:ea typeface="宋体" panose="02010600030101010101" pitchFamily="2" charset="-122"/>
                <a:cs typeface="Courier New" panose="02070309020205020404"/>
              </a:rPr>
              <a:t>//</a:t>
            </a:r>
            <a:r>
              <a:rPr lang="zh-CN" altLang="zh-CN" sz="2000" kern="0" dirty="0">
                <a:solidFill>
                  <a:srgbClr val="008000"/>
                </a:solidFill>
                <a:latin typeface="Times New Roman" panose="02020603050405020304"/>
                <a:ea typeface="YaHei Consolas Hybrid"/>
                <a:cs typeface="Courier New" panose="02070309020205020404"/>
              </a:rPr>
              <a:t>继续深度搜索 </a:t>
            </a:r>
            <a:endParaRPr lang="zh-CN" altLang="zh-CN" sz="2400" kern="100" dirty="0">
              <a:latin typeface="Times New Roman" panose="02020603050405020304"/>
              <a:ea typeface="宋体" panose="02010600030101010101" pitchFamily="2" charset="-122"/>
            </a:endParaRPr>
          </a:p>
          <a:p>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effectLst/>
              <a:latin typeface="Times New Roman" panose="02020603050405020304"/>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535"/>
            <a:ext cx="4278735" cy="492443"/>
          </a:xfrm>
          <a:prstGeom prst="rect">
            <a:avLst/>
          </a:prstGeom>
        </p:spPr>
        <p:txBody>
          <a:bodyPr wrap="none">
            <a:spAutoFit/>
          </a:bodyPr>
          <a:lstStyle/>
          <a:p>
            <a:r>
              <a:rPr lang="en-US" altLang="zh-CN" b="1" dirty="0"/>
              <a:t>5.2.2 </a:t>
            </a:r>
            <a:r>
              <a:rPr lang="zh-CN" altLang="zh-CN" b="1" dirty="0"/>
              <a:t>前向星的广度优先搜索</a:t>
            </a:r>
          </a:p>
        </p:txBody>
      </p:sp>
      <p:sp>
        <p:nvSpPr>
          <p:cNvPr id="3" name="矩形 2"/>
          <p:cNvSpPr/>
          <p:nvPr/>
        </p:nvSpPr>
        <p:spPr>
          <a:xfrm>
            <a:off x="0" y="599921"/>
            <a:ext cx="9144000" cy="1692771"/>
          </a:xfrm>
          <a:prstGeom prst="rect">
            <a:avLst/>
          </a:prstGeom>
        </p:spPr>
        <p:txBody>
          <a:bodyPr wrap="square">
            <a:spAutoFit/>
          </a:bodyPr>
          <a:lstStyle/>
          <a:p>
            <a:r>
              <a:rPr lang="zh-CN" altLang="en-US" dirty="0"/>
              <a:t>广度优先搜索法（</a:t>
            </a:r>
            <a:r>
              <a:rPr lang="en-US" altLang="zh-CN" dirty="0"/>
              <a:t>BFS</a:t>
            </a:r>
            <a:r>
              <a:rPr lang="zh-CN" altLang="en-US" dirty="0"/>
              <a:t>）是指在图形中，从某一顶点</a:t>
            </a:r>
            <a:r>
              <a:rPr lang="en-US" altLang="zh-CN" dirty="0"/>
              <a:t>V</a:t>
            </a:r>
            <a:r>
              <a:rPr lang="zh-CN" altLang="en-US" dirty="0"/>
              <a:t>开始，辐射状地优先遍历其周围的邻接顶点，</a:t>
            </a:r>
            <a:r>
              <a:rPr lang="en-US" altLang="zh-CN" dirty="0"/>
              <a:t>BFS</a:t>
            </a:r>
            <a:r>
              <a:rPr lang="zh-CN" altLang="en-US" dirty="0"/>
              <a:t>通常使用队列来存储邻接顶点，每查找一个邻接顶点便把其所有的邻接顶点存入队列中，直到队列空了才结束广度优先搜索。</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9035592" cy="5170646"/>
          </a:xfrm>
          <a:prstGeom prst="rect">
            <a:avLst/>
          </a:prstGeom>
        </p:spPr>
        <p:txBody>
          <a:bodyPr wrap="square">
            <a:spAutoFit/>
          </a:bodyPr>
          <a:lstStyle/>
          <a:p>
            <a:r>
              <a:rPr lang="en-US" altLang="zh-CN" sz="1800" kern="0" dirty="0">
                <a:solidFill>
                  <a:srgbClr val="8000FF"/>
                </a:solidFill>
                <a:latin typeface="YaHei Consolas Hybrid"/>
                <a:ea typeface="宋体" panose="02010600030101010101" pitchFamily="2" charset="-122"/>
                <a:cs typeface="Courier New" panose="02070309020205020404"/>
              </a:rPr>
              <a:t>void</a:t>
            </a:r>
            <a:r>
              <a:rPr lang="en-US" altLang="zh-CN" sz="1800" kern="0" dirty="0">
                <a:solidFill>
                  <a:srgbClr val="000000"/>
                </a:solidFill>
                <a:latin typeface="YaHei Consolas Hybrid"/>
                <a:ea typeface="宋体" panose="02010600030101010101" pitchFamily="2" charset="-122"/>
                <a:cs typeface="Courier New" panose="02070309020205020404"/>
              </a:rPr>
              <a:t> BFS</a:t>
            </a:r>
            <a:r>
              <a:rPr lang="en-US" altLang="zh-CN" sz="1800" b="1" kern="0" dirty="0">
                <a:solidFill>
                  <a:srgbClr val="000080"/>
                </a:solidFill>
                <a:latin typeface="YaHei Consolas Hybrid"/>
                <a:ea typeface="宋体" panose="02010600030101010101" pitchFamily="2" charset="-122"/>
                <a:cs typeface="Courier New" panose="02070309020205020404"/>
              </a:rPr>
              <a:t>(){</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queue</a:t>
            </a:r>
            <a:r>
              <a:rPr lang="en-US" altLang="zh-CN" sz="1800" b="1" kern="0" dirty="0">
                <a:solidFill>
                  <a:srgbClr val="000080"/>
                </a:solidFill>
                <a:latin typeface="YaHei Consolas Hybrid"/>
                <a:ea typeface="宋体" panose="02010600030101010101" pitchFamily="2" charset="-122"/>
                <a:cs typeface="Courier New" panose="02070309020205020404"/>
              </a:rPr>
              <a:t>&lt;</a:t>
            </a:r>
            <a:r>
              <a:rPr lang="en-US" altLang="zh-CN" sz="1800" kern="0" dirty="0" err="1">
                <a:solidFill>
                  <a:srgbClr val="8000FF"/>
                </a:solidFill>
                <a:latin typeface="YaHei Consolas Hybrid"/>
                <a:ea typeface="宋体" panose="02010600030101010101" pitchFamily="2" charset="-122"/>
                <a:cs typeface="Courier New" panose="02070309020205020404"/>
              </a:rPr>
              <a:t>int</a:t>
            </a:r>
            <a:r>
              <a:rPr lang="en-US" altLang="zh-CN" sz="1800" b="1" kern="0" dirty="0">
                <a:solidFill>
                  <a:srgbClr val="000080"/>
                </a:solidFill>
                <a:latin typeface="YaHei Consolas Hybrid"/>
                <a:ea typeface="宋体" panose="02010600030101010101" pitchFamily="2" charset="-122"/>
                <a:cs typeface="Courier New" panose="02070309020205020404"/>
              </a:rPr>
              <a:t>&gt;</a:t>
            </a:r>
            <a:r>
              <a:rPr lang="en-US" altLang="zh-CN" sz="1800" kern="0" dirty="0">
                <a:solidFill>
                  <a:srgbClr val="000000"/>
                </a:solidFill>
                <a:latin typeface="YaHei Consolas Hybrid"/>
                <a:ea typeface="宋体" panose="02010600030101010101" pitchFamily="2" charset="-122"/>
                <a:cs typeface="Courier New" panose="02070309020205020404"/>
              </a:rPr>
              <a:t> Queue</a:t>
            </a:r>
            <a:r>
              <a:rPr lang="en-US" altLang="zh-CN" sz="1800" b="1" kern="0" dirty="0">
                <a:solidFill>
                  <a:srgbClr val="000080"/>
                </a:solidFill>
                <a:latin typeface="YaHei Consolas Hybrid"/>
                <a:ea typeface="宋体" panose="02010600030101010101" pitchFamily="2" charset="-122"/>
                <a:cs typeface="Courier New" panose="02070309020205020404"/>
              </a:rPr>
              <a:t>;</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b="1" kern="0" dirty="0">
                <a:solidFill>
                  <a:srgbClr val="0000FF"/>
                </a:solidFill>
                <a:latin typeface="YaHei Consolas Hybrid"/>
                <a:ea typeface="宋体" panose="02010600030101010101" pitchFamily="2" charset="-122"/>
                <a:cs typeface="Courier New" panose="02070309020205020404"/>
              </a:rPr>
              <a:t>for</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err="1">
                <a:solidFill>
                  <a:srgbClr val="8000FF"/>
                </a:solidFill>
                <a:latin typeface="YaHei Consolas Hybrid"/>
                <a:ea typeface="宋体" panose="02010600030101010101" pitchFamily="2" charset="-122"/>
                <a:cs typeface="Courier New" panose="02070309020205020404"/>
              </a:rPr>
              <a:t>int</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err="1">
                <a:solidFill>
                  <a:srgbClr val="000000"/>
                </a:solidFill>
                <a:latin typeface="YaHei Consolas Hybrid"/>
                <a:ea typeface="宋体" panose="02010600030101010101" pitchFamily="2" charset="-122"/>
                <a:cs typeface="Courier New" panose="02070309020205020404"/>
              </a:rPr>
              <a:t>i</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FF8000"/>
                </a:solidFill>
                <a:latin typeface="YaHei Consolas Hybrid"/>
                <a:ea typeface="宋体" panose="02010600030101010101" pitchFamily="2" charset="-122"/>
                <a:cs typeface="Courier New" panose="02070309020205020404"/>
              </a:rPr>
              <a:t>1</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err="1">
                <a:solidFill>
                  <a:srgbClr val="000000"/>
                </a:solidFill>
                <a:latin typeface="YaHei Consolas Hybrid"/>
                <a:ea typeface="宋体" panose="02010600030101010101" pitchFamily="2" charset="-122"/>
                <a:cs typeface="Courier New" panose="02070309020205020404"/>
              </a:rPr>
              <a:t>i</a:t>
            </a:r>
            <a:r>
              <a:rPr lang="en-US" altLang="zh-CN" sz="1800" b="1" kern="0" dirty="0">
                <a:solidFill>
                  <a:srgbClr val="000080"/>
                </a:solidFill>
                <a:latin typeface="YaHei Consolas Hybrid"/>
                <a:ea typeface="宋体" panose="02010600030101010101" pitchFamily="2" charset="-122"/>
                <a:cs typeface="Courier New" panose="02070309020205020404"/>
              </a:rPr>
              <a:t>&lt;=</a:t>
            </a:r>
            <a:r>
              <a:rPr lang="en-US" altLang="zh-CN" sz="1800" kern="0" dirty="0">
                <a:solidFill>
                  <a:srgbClr val="000000"/>
                </a:solidFill>
                <a:latin typeface="YaHei Consolas Hybrid"/>
                <a:ea typeface="宋体" panose="02010600030101010101" pitchFamily="2" charset="-122"/>
                <a:cs typeface="Courier New" panose="02070309020205020404"/>
              </a:rPr>
              <a:t>N</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err="1">
                <a:solidFill>
                  <a:srgbClr val="000000"/>
                </a:solidFill>
                <a:latin typeface="YaHei Consolas Hybrid"/>
                <a:ea typeface="宋体" panose="02010600030101010101" pitchFamily="2" charset="-122"/>
                <a:cs typeface="Courier New" panose="02070309020205020404"/>
              </a:rPr>
              <a:t>i</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a:solidFill>
                  <a:srgbClr val="008000"/>
                </a:solidFill>
                <a:latin typeface="YaHei Consolas Hybrid"/>
                <a:ea typeface="宋体" panose="02010600030101010101" pitchFamily="2" charset="-122"/>
                <a:cs typeface="Courier New" panose="02070309020205020404"/>
              </a:rPr>
              <a:t>//</a:t>
            </a:r>
            <a:r>
              <a:rPr lang="zh-CN" altLang="zh-CN" sz="1800" kern="0" dirty="0">
                <a:solidFill>
                  <a:srgbClr val="008000"/>
                </a:solidFill>
                <a:latin typeface="Times New Roman" panose="02020603050405020304"/>
                <a:ea typeface="YaHei Consolas Hybrid"/>
                <a:cs typeface="Courier New" panose="02070309020205020404"/>
              </a:rPr>
              <a:t>从顶点</a:t>
            </a:r>
            <a:r>
              <a:rPr lang="en-US" altLang="zh-CN" sz="1800" kern="0" dirty="0">
                <a:solidFill>
                  <a:srgbClr val="008000"/>
                </a:solidFill>
                <a:latin typeface="Times New Roman" panose="02020603050405020304"/>
                <a:ea typeface="YaHei Consolas Hybrid"/>
                <a:cs typeface="Courier New" panose="02070309020205020404"/>
              </a:rPr>
              <a:t>1</a:t>
            </a:r>
            <a:r>
              <a:rPr lang="zh-CN" altLang="zh-CN" sz="1800" kern="0" dirty="0">
                <a:solidFill>
                  <a:srgbClr val="008000"/>
                </a:solidFill>
                <a:latin typeface="Times New Roman" panose="02020603050405020304"/>
                <a:ea typeface="YaHei Consolas Hybrid"/>
                <a:cs typeface="Courier New" panose="02070309020205020404"/>
              </a:rPr>
              <a:t>开始</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b="1" kern="0" dirty="0">
                <a:solidFill>
                  <a:srgbClr val="0000FF"/>
                </a:solidFill>
                <a:latin typeface="YaHei Consolas Hybrid"/>
                <a:ea typeface="宋体" panose="02010600030101010101" pitchFamily="2" charset="-122"/>
                <a:cs typeface="Courier New" panose="02070309020205020404"/>
              </a:rPr>
              <a:t>if</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vis</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err="1">
                <a:solidFill>
                  <a:srgbClr val="000000"/>
                </a:solidFill>
                <a:latin typeface="YaHei Consolas Hybrid"/>
                <a:ea typeface="宋体" panose="02010600030101010101" pitchFamily="2" charset="-122"/>
                <a:cs typeface="Courier New" panose="02070309020205020404"/>
              </a:rPr>
              <a:t>i</a:t>
            </a:r>
            <a:r>
              <a:rPr lang="en-US" altLang="zh-CN" sz="1800" b="1" kern="0" dirty="0">
                <a:solidFill>
                  <a:srgbClr val="000080"/>
                </a:solidFill>
                <a:latin typeface="YaHei Consolas Hybrid"/>
                <a:ea typeface="宋体" panose="02010600030101010101" pitchFamily="2" charset="-122"/>
                <a:cs typeface="Courier New" panose="02070309020205020404"/>
              </a:rPr>
              <a:t>]){</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vis</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err="1">
                <a:solidFill>
                  <a:srgbClr val="000000"/>
                </a:solidFill>
                <a:latin typeface="YaHei Consolas Hybrid"/>
                <a:ea typeface="宋体" panose="02010600030101010101" pitchFamily="2" charset="-122"/>
                <a:cs typeface="Courier New" panose="02070309020205020404"/>
              </a:rPr>
              <a:t>i</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FF8000"/>
                </a:solidFill>
                <a:latin typeface="YaHei Consolas Hybrid"/>
                <a:ea typeface="宋体" panose="02010600030101010101" pitchFamily="2" charset="-122"/>
                <a:cs typeface="Courier New" panose="02070309020205020404"/>
              </a:rPr>
              <a:t>1</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a:solidFill>
                  <a:srgbClr val="008000"/>
                </a:solidFill>
                <a:latin typeface="YaHei Consolas Hybrid"/>
                <a:ea typeface="宋体" panose="02010600030101010101" pitchFamily="2" charset="-122"/>
                <a:cs typeface="Courier New" panose="02070309020205020404"/>
              </a:rPr>
              <a:t>//</a:t>
            </a:r>
            <a:r>
              <a:rPr lang="zh-CN" altLang="zh-CN" sz="1800" kern="0" dirty="0">
                <a:solidFill>
                  <a:srgbClr val="008000"/>
                </a:solidFill>
                <a:latin typeface="Times New Roman" panose="02020603050405020304"/>
                <a:ea typeface="YaHei Consolas Hybrid"/>
                <a:cs typeface="Courier New" panose="02070309020205020404"/>
              </a:rPr>
              <a:t>标记该点已访问</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err="1">
                <a:solidFill>
                  <a:srgbClr val="000000"/>
                </a:solidFill>
                <a:latin typeface="YaHei Consolas Hybrid"/>
                <a:ea typeface="宋体" panose="02010600030101010101" pitchFamily="2" charset="-122"/>
                <a:cs typeface="Courier New" panose="02070309020205020404"/>
              </a:rPr>
              <a:t>Queue</a:t>
            </a:r>
            <a:r>
              <a:rPr lang="en-US" altLang="zh-CN" sz="1800" b="1" kern="0" dirty="0" err="1">
                <a:solidFill>
                  <a:srgbClr val="000080"/>
                </a:solidFill>
                <a:latin typeface="YaHei Consolas Hybrid"/>
                <a:ea typeface="宋体" panose="02010600030101010101" pitchFamily="2" charset="-122"/>
                <a:cs typeface="Courier New" panose="02070309020205020404"/>
              </a:rPr>
              <a:t>.</a:t>
            </a:r>
            <a:r>
              <a:rPr lang="en-US" altLang="zh-CN" sz="1800" kern="0" dirty="0" err="1">
                <a:solidFill>
                  <a:srgbClr val="000000"/>
                </a:solidFill>
                <a:latin typeface="YaHei Consolas Hybrid"/>
                <a:ea typeface="宋体" panose="02010600030101010101" pitchFamily="2" charset="-122"/>
                <a:cs typeface="Courier New" panose="02070309020205020404"/>
              </a:rPr>
              <a:t>push</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err="1">
                <a:solidFill>
                  <a:srgbClr val="000000"/>
                </a:solidFill>
                <a:latin typeface="YaHei Consolas Hybrid"/>
                <a:ea typeface="宋体" panose="02010600030101010101" pitchFamily="2" charset="-122"/>
                <a:cs typeface="Courier New" panose="02070309020205020404"/>
              </a:rPr>
              <a:t>i</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b="1" kern="0" dirty="0">
                <a:solidFill>
                  <a:srgbClr val="000080"/>
                </a:solidFill>
                <a:latin typeface="YaHei Consolas Hybrid"/>
                <a:ea typeface="宋体" panose="02010600030101010101" pitchFamily="2" charset="-122"/>
                <a:cs typeface="Courier New" panose="02070309020205020404"/>
              </a:rPr>
              <a:t>);</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b="1" kern="0" dirty="0">
                <a:solidFill>
                  <a:srgbClr val="0000FF"/>
                </a:solidFill>
                <a:latin typeface="YaHei Consolas Hybrid"/>
                <a:ea typeface="宋体" panose="02010600030101010101" pitchFamily="2" charset="-122"/>
                <a:cs typeface="Courier New" panose="02070309020205020404"/>
              </a:rPr>
              <a:t>while</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err="1">
                <a:solidFill>
                  <a:srgbClr val="000000"/>
                </a:solidFill>
                <a:latin typeface="YaHei Consolas Hybrid"/>
                <a:ea typeface="宋体" panose="02010600030101010101" pitchFamily="2" charset="-122"/>
                <a:cs typeface="Courier New" panose="02070309020205020404"/>
              </a:rPr>
              <a:t>Queue</a:t>
            </a:r>
            <a:r>
              <a:rPr lang="en-US" altLang="zh-CN" sz="1800" b="1" kern="0" dirty="0" err="1">
                <a:solidFill>
                  <a:srgbClr val="000080"/>
                </a:solidFill>
                <a:latin typeface="YaHei Consolas Hybrid"/>
                <a:ea typeface="宋体" panose="02010600030101010101" pitchFamily="2" charset="-122"/>
                <a:cs typeface="Courier New" panose="02070309020205020404"/>
              </a:rPr>
              <a:t>.</a:t>
            </a:r>
            <a:r>
              <a:rPr lang="en-US" altLang="zh-CN" sz="1800" kern="0" dirty="0" err="1">
                <a:solidFill>
                  <a:srgbClr val="000000"/>
                </a:solidFill>
                <a:latin typeface="YaHei Consolas Hybrid"/>
                <a:ea typeface="宋体" panose="02010600030101010101" pitchFamily="2" charset="-122"/>
                <a:cs typeface="Courier New" panose="02070309020205020404"/>
              </a:rPr>
              <a:t>empty</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b="1" kern="0" dirty="0">
                <a:solidFill>
                  <a:srgbClr val="000080"/>
                </a:solidFill>
                <a:latin typeface="YaHei Consolas Hybrid"/>
                <a:ea typeface="宋体" panose="02010600030101010101" pitchFamily="2" charset="-122"/>
                <a:cs typeface="Courier New" panose="02070309020205020404"/>
              </a:rPr>
              <a:t>{ </a:t>
            </a:r>
            <a:r>
              <a:rPr lang="en-US" altLang="zh-CN" sz="1800" kern="0" dirty="0">
                <a:solidFill>
                  <a:srgbClr val="008000"/>
                </a:solidFill>
                <a:latin typeface="YaHei Consolas Hybrid"/>
                <a:ea typeface="宋体" panose="02010600030101010101" pitchFamily="2" charset="-122"/>
                <a:cs typeface="Courier New" panose="02070309020205020404"/>
              </a:rPr>
              <a:t>//</a:t>
            </a:r>
            <a:r>
              <a:rPr lang="zh-CN" altLang="zh-CN" sz="1800" kern="0" dirty="0">
                <a:solidFill>
                  <a:srgbClr val="008000"/>
                </a:solidFill>
                <a:latin typeface="Times New Roman" panose="02020603050405020304"/>
                <a:ea typeface="YaHei Consolas Hybrid"/>
                <a:cs typeface="Courier New" panose="02070309020205020404"/>
              </a:rPr>
              <a:t>当队列不为空</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err="1">
                <a:solidFill>
                  <a:srgbClr val="8000FF"/>
                </a:solidFill>
                <a:latin typeface="YaHei Consolas Hybrid"/>
                <a:ea typeface="宋体" panose="02010600030101010101" pitchFamily="2" charset="-122"/>
                <a:cs typeface="Courier New" panose="02070309020205020404"/>
              </a:rPr>
              <a:t>int</a:t>
            </a:r>
            <a:r>
              <a:rPr lang="en-US" altLang="zh-CN" sz="1800" kern="0" dirty="0">
                <a:solidFill>
                  <a:srgbClr val="000000"/>
                </a:solidFill>
                <a:latin typeface="YaHei Consolas Hybrid"/>
                <a:ea typeface="宋体" panose="02010600030101010101" pitchFamily="2" charset="-122"/>
                <a:cs typeface="Courier New" panose="02070309020205020404"/>
              </a:rPr>
              <a:t> k</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err="1">
                <a:solidFill>
                  <a:srgbClr val="000000"/>
                </a:solidFill>
                <a:latin typeface="YaHei Consolas Hybrid"/>
                <a:ea typeface="宋体" panose="02010600030101010101" pitchFamily="2" charset="-122"/>
                <a:cs typeface="Courier New" panose="02070309020205020404"/>
              </a:rPr>
              <a:t>Queue</a:t>
            </a:r>
            <a:r>
              <a:rPr lang="en-US" altLang="zh-CN" sz="1800" b="1" kern="0" dirty="0" err="1">
                <a:solidFill>
                  <a:srgbClr val="000080"/>
                </a:solidFill>
                <a:latin typeface="YaHei Consolas Hybrid"/>
                <a:ea typeface="宋体" panose="02010600030101010101" pitchFamily="2" charset="-122"/>
                <a:cs typeface="Courier New" panose="02070309020205020404"/>
              </a:rPr>
              <a:t>.</a:t>
            </a:r>
            <a:r>
              <a:rPr lang="en-US" altLang="zh-CN" sz="1800" kern="0" dirty="0" err="1">
                <a:solidFill>
                  <a:srgbClr val="000000"/>
                </a:solidFill>
                <a:latin typeface="YaHei Consolas Hybrid"/>
                <a:ea typeface="宋体" panose="02010600030101010101" pitchFamily="2" charset="-122"/>
                <a:cs typeface="Courier New" panose="02070309020205020404"/>
              </a:rPr>
              <a:t>front</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a:solidFill>
                  <a:srgbClr val="008000"/>
                </a:solidFill>
                <a:latin typeface="YaHei Consolas Hybrid"/>
                <a:ea typeface="宋体" panose="02010600030101010101" pitchFamily="2" charset="-122"/>
                <a:cs typeface="Courier New" panose="02070309020205020404"/>
              </a:rPr>
              <a:t>//</a:t>
            </a:r>
            <a:r>
              <a:rPr lang="zh-CN" altLang="zh-CN" sz="1800" kern="0" dirty="0">
                <a:solidFill>
                  <a:srgbClr val="008000"/>
                </a:solidFill>
                <a:latin typeface="Times New Roman" panose="02020603050405020304"/>
                <a:ea typeface="YaHei Consolas Hybrid"/>
                <a:cs typeface="Courier New" panose="02070309020205020404"/>
              </a:rPr>
              <a:t>获取队首元素</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err="1">
                <a:solidFill>
                  <a:srgbClr val="000000"/>
                </a:solidFill>
                <a:latin typeface="YaHei Consolas Hybrid"/>
                <a:ea typeface="宋体" panose="02010600030101010101" pitchFamily="2" charset="-122"/>
                <a:cs typeface="Courier New" panose="02070309020205020404"/>
              </a:rPr>
              <a:t>cout</a:t>
            </a:r>
            <a:r>
              <a:rPr lang="en-US" altLang="zh-CN" sz="1800" b="1" kern="0" dirty="0">
                <a:solidFill>
                  <a:srgbClr val="000080"/>
                </a:solidFill>
                <a:latin typeface="YaHei Consolas Hybrid"/>
                <a:ea typeface="宋体" panose="02010600030101010101" pitchFamily="2" charset="-122"/>
                <a:cs typeface="Courier New" panose="02070309020205020404"/>
              </a:rPr>
              <a:t>&lt;&lt;</a:t>
            </a:r>
            <a:r>
              <a:rPr lang="en-US" altLang="zh-CN" sz="1800" kern="0" dirty="0">
                <a:solidFill>
                  <a:srgbClr val="000000"/>
                </a:solidFill>
                <a:latin typeface="YaHei Consolas Hybrid"/>
                <a:ea typeface="宋体" panose="02010600030101010101" pitchFamily="2" charset="-122"/>
                <a:cs typeface="Courier New" panose="02070309020205020404"/>
              </a:rPr>
              <a:t>k</a:t>
            </a:r>
            <a:r>
              <a:rPr lang="en-US" altLang="zh-CN" sz="1800" b="1" kern="0" dirty="0">
                <a:solidFill>
                  <a:srgbClr val="000080"/>
                </a:solidFill>
                <a:latin typeface="YaHei Consolas Hybrid"/>
                <a:ea typeface="宋体" panose="02010600030101010101" pitchFamily="2" charset="-122"/>
                <a:cs typeface="Courier New" panose="02070309020205020404"/>
              </a:rPr>
              <a:t>&lt;&lt;</a:t>
            </a:r>
            <a:r>
              <a:rPr lang="en-US" altLang="zh-CN" sz="1800" kern="0" dirty="0">
                <a:solidFill>
                  <a:srgbClr val="808080"/>
                </a:solidFill>
                <a:latin typeface="YaHei Consolas Hybrid"/>
                <a:ea typeface="宋体" panose="02010600030101010101" pitchFamily="2" charset="-122"/>
                <a:cs typeface="Courier New" panose="02070309020205020404"/>
              </a:rPr>
              <a:t>" "</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a:solidFill>
                  <a:srgbClr val="008000"/>
                </a:solidFill>
                <a:latin typeface="YaHei Consolas Hybrid"/>
                <a:ea typeface="宋体" panose="02010600030101010101" pitchFamily="2" charset="-122"/>
                <a:cs typeface="Courier New" panose="02070309020205020404"/>
              </a:rPr>
              <a:t>//</a:t>
            </a:r>
            <a:r>
              <a:rPr lang="zh-CN" altLang="zh-CN" sz="1800" kern="0" dirty="0">
                <a:solidFill>
                  <a:srgbClr val="008000"/>
                </a:solidFill>
                <a:latin typeface="Times New Roman" panose="02020603050405020304"/>
                <a:ea typeface="YaHei Consolas Hybrid"/>
                <a:cs typeface="Courier New" panose="02070309020205020404"/>
              </a:rPr>
              <a:t>输出队首元素</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err="1">
                <a:solidFill>
                  <a:srgbClr val="000000"/>
                </a:solidFill>
                <a:latin typeface="YaHei Consolas Hybrid"/>
                <a:ea typeface="宋体" panose="02010600030101010101" pitchFamily="2" charset="-122"/>
                <a:cs typeface="Courier New" panose="02070309020205020404"/>
              </a:rPr>
              <a:t>Queue</a:t>
            </a:r>
            <a:r>
              <a:rPr lang="en-US" altLang="zh-CN" sz="1800" b="1" kern="0" dirty="0" err="1">
                <a:solidFill>
                  <a:srgbClr val="000080"/>
                </a:solidFill>
                <a:latin typeface="YaHei Consolas Hybrid"/>
                <a:ea typeface="宋体" panose="02010600030101010101" pitchFamily="2" charset="-122"/>
                <a:cs typeface="Courier New" panose="02070309020205020404"/>
              </a:rPr>
              <a:t>.</a:t>
            </a:r>
            <a:r>
              <a:rPr lang="en-US" altLang="zh-CN" sz="1800" kern="0" dirty="0" err="1">
                <a:solidFill>
                  <a:srgbClr val="000000"/>
                </a:solidFill>
                <a:latin typeface="YaHei Consolas Hybrid"/>
                <a:ea typeface="宋体" panose="02010600030101010101" pitchFamily="2" charset="-122"/>
                <a:cs typeface="Courier New" panose="02070309020205020404"/>
              </a:rPr>
              <a:t>pop</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a:solidFill>
                  <a:srgbClr val="008000"/>
                </a:solidFill>
                <a:latin typeface="YaHei Consolas Hybrid"/>
                <a:ea typeface="宋体" panose="02010600030101010101" pitchFamily="2" charset="-122"/>
                <a:cs typeface="Courier New" panose="02070309020205020404"/>
              </a:rPr>
              <a:t>//</a:t>
            </a:r>
            <a:r>
              <a:rPr lang="zh-CN" altLang="zh-CN" sz="1800" kern="0" dirty="0">
                <a:solidFill>
                  <a:srgbClr val="008000"/>
                </a:solidFill>
                <a:latin typeface="Times New Roman" panose="02020603050405020304"/>
                <a:ea typeface="YaHei Consolas Hybrid"/>
                <a:cs typeface="Courier New" panose="02070309020205020404"/>
              </a:rPr>
              <a:t>队首元素出队</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b="1" kern="0" dirty="0">
                <a:solidFill>
                  <a:srgbClr val="0000FF"/>
                </a:solidFill>
                <a:latin typeface="YaHei Consolas Hybrid"/>
                <a:ea typeface="宋体" panose="02010600030101010101" pitchFamily="2" charset="-122"/>
                <a:cs typeface="Courier New" panose="02070309020205020404"/>
              </a:rPr>
              <a:t>for</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err="1">
                <a:solidFill>
                  <a:srgbClr val="8000FF"/>
                </a:solidFill>
                <a:latin typeface="YaHei Consolas Hybrid"/>
                <a:ea typeface="宋体" panose="02010600030101010101" pitchFamily="2" charset="-122"/>
                <a:cs typeface="Courier New" panose="02070309020205020404"/>
              </a:rPr>
              <a:t>int</a:t>
            </a:r>
            <a:r>
              <a:rPr lang="en-US" altLang="zh-CN" sz="1800" kern="0" dirty="0">
                <a:solidFill>
                  <a:srgbClr val="000000"/>
                </a:solidFill>
                <a:latin typeface="YaHei Consolas Hybrid"/>
                <a:ea typeface="宋体" panose="02010600030101010101" pitchFamily="2" charset="-122"/>
                <a:cs typeface="Courier New" panose="02070309020205020404"/>
              </a:rPr>
              <a:t> j</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Head</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k</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 j</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FF8000"/>
                </a:solidFill>
                <a:latin typeface="YaHei Consolas Hybrid"/>
                <a:ea typeface="宋体" panose="02010600030101010101" pitchFamily="2" charset="-122"/>
                <a:cs typeface="Courier New" panose="02070309020205020404"/>
              </a:rPr>
              <a:t>1</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 j</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edge</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j</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next</a:t>
            </a:r>
            <a:r>
              <a:rPr lang="en-US" altLang="zh-CN" sz="1800" b="1" kern="0" dirty="0">
                <a:solidFill>
                  <a:srgbClr val="000080"/>
                </a:solidFill>
                <a:latin typeface="YaHei Consolas Hybrid"/>
                <a:ea typeface="宋体" panose="02010600030101010101" pitchFamily="2" charset="-122"/>
                <a:cs typeface="Courier New" panose="02070309020205020404"/>
              </a:rPr>
              <a:t>)</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b="1" kern="0" dirty="0">
                <a:solidFill>
                  <a:srgbClr val="0000FF"/>
                </a:solidFill>
                <a:latin typeface="YaHei Consolas Hybrid"/>
                <a:ea typeface="宋体" panose="02010600030101010101" pitchFamily="2" charset="-122"/>
                <a:cs typeface="Courier New" panose="02070309020205020404"/>
              </a:rPr>
              <a:t>if</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vis</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edge</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j</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to</a:t>
            </a:r>
            <a:r>
              <a:rPr lang="en-US" altLang="zh-CN" sz="1800" b="1" kern="0" dirty="0">
                <a:solidFill>
                  <a:srgbClr val="000080"/>
                </a:solidFill>
                <a:latin typeface="YaHei Consolas Hybrid"/>
                <a:ea typeface="宋体" panose="02010600030101010101" pitchFamily="2" charset="-122"/>
                <a:cs typeface="Courier New" panose="02070309020205020404"/>
              </a:rPr>
              <a:t>]){</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vis</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edge</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j</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to</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a:solidFill>
                  <a:srgbClr val="FF8000"/>
                </a:solidFill>
                <a:latin typeface="YaHei Consolas Hybrid"/>
                <a:ea typeface="宋体" panose="02010600030101010101" pitchFamily="2" charset="-122"/>
                <a:cs typeface="Courier New" panose="02070309020205020404"/>
              </a:rPr>
              <a:t>1</a:t>
            </a:r>
            <a:r>
              <a:rPr lang="en-US" altLang="zh-CN" sz="1800" b="1" kern="0" dirty="0">
                <a:solidFill>
                  <a:srgbClr val="000080"/>
                </a:solidFill>
                <a:latin typeface="YaHei Consolas Hybrid"/>
                <a:ea typeface="宋体" panose="02010600030101010101" pitchFamily="2" charset="-122"/>
                <a:cs typeface="Courier New" panose="02070309020205020404"/>
              </a:rPr>
              <a:t>;</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err="1">
                <a:solidFill>
                  <a:srgbClr val="000000"/>
                </a:solidFill>
                <a:latin typeface="YaHei Consolas Hybrid"/>
                <a:ea typeface="宋体" panose="02010600030101010101" pitchFamily="2" charset="-122"/>
                <a:cs typeface="Courier New" panose="02070309020205020404"/>
              </a:rPr>
              <a:t>Queue</a:t>
            </a:r>
            <a:r>
              <a:rPr lang="en-US" altLang="zh-CN" sz="1800" b="1" kern="0" dirty="0" err="1">
                <a:solidFill>
                  <a:srgbClr val="000080"/>
                </a:solidFill>
                <a:latin typeface="YaHei Consolas Hybrid"/>
                <a:ea typeface="宋体" panose="02010600030101010101" pitchFamily="2" charset="-122"/>
                <a:cs typeface="Courier New" panose="02070309020205020404"/>
              </a:rPr>
              <a:t>.</a:t>
            </a:r>
            <a:r>
              <a:rPr lang="en-US" altLang="zh-CN" sz="1800" kern="0" dirty="0" err="1">
                <a:solidFill>
                  <a:srgbClr val="000000"/>
                </a:solidFill>
                <a:latin typeface="YaHei Consolas Hybrid"/>
                <a:ea typeface="宋体" panose="02010600030101010101" pitchFamily="2" charset="-122"/>
                <a:cs typeface="Courier New" panose="02070309020205020404"/>
              </a:rPr>
              <a:t>push</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edge</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j</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to</a:t>
            </a:r>
            <a:r>
              <a:rPr lang="en-US" altLang="zh-CN" sz="1800" b="1" kern="0" dirty="0">
                <a:solidFill>
                  <a:srgbClr val="000080"/>
                </a:solidFill>
                <a:latin typeface="YaHei Consolas Hybrid"/>
                <a:ea typeface="宋体" panose="02010600030101010101" pitchFamily="2" charset="-122"/>
                <a:cs typeface="Courier New" panose="02070309020205020404"/>
              </a:rPr>
              <a:t>);</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b="1" kern="0" dirty="0">
                <a:solidFill>
                  <a:srgbClr val="000080"/>
                </a:solidFill>
                <a:latin typeface="YaHei Consolas Hybrid"/>
                <a:ea typeface="宋体" panose="02010600030101010101" pitchFamily="2" charset="-122"/>
                <a:cs typeface="Courier New" panose="02070309020205020404"/>
              </a:rPr>
              <a:t>}</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b="1" kern="0" dirty="0">
                <a:solidFill>
                  <a:srgbClr val="000080"/>
                </a:solidFill>
                <a:latin typeface="YaHei Consolas Hybrid"/>
                <a:ea typeface="宋体" panose="02010600030101010101" pitchFamily="2" charset="-122"/>
                <a:cs typeface="Courier New" panose="02070309020205020404"/>
              </a:rPr>
              <a:t>}</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b="1" kern="0" dirty="0">
                <a:solidFill>
                  <a:srgbClr val="000080"/>
                </a:solidFill>
                <a:latin typeface="YaHei Consolas Hybrid"/>
                <a:ea typeface="宋体" panose="02010600030101010101" pitchFamily="2" charset="-122"/>
                <a:cs typeface="Courier New" panose="02070309020205020404"/>
              </a:rPr>
              <a:t>}</a:t>
            </a:r>
            <a:endParaRPr lang="zh-CN" altLang="zh-CN" sz="2000" kern="100" dirty="0">
              <a:latin typeface="Times New Roman" panose="02020603050405020304"/>
              <a:ea typeface="宋体" panose="02010600030101010101" pitchFamily="2" charset="-122"/>
            </a:endParaRPr>
          </a:p>
          <a:p>
            <a:r>
              <a:rPr lang="en-US" altLang="zh-CN" sz="1800" b="1" kern="0" dirty="0">
                <a:solidFill>
                  <a:srgbClr val="000080"/>
                </a:solidFill>
                <a:latin typeface="YaHei Consolas Hybrid"/>
                <a:ea typeface="宋体" panose="02010600030101010101" pitchFamily="2" charset="-122"/>
                <a:cs typeface="Courier New" panose="02070309020205020404"/>
              </a:rPr>
              <a:t>}</a:t>
            </a:r>
            <a:endParaRPr lang="zh-CN" altLang="zh-CN" sz="2000" kern="100" dirty="0">
              <a:effectLst/>
              <a:latin typeface="Times New Roman" panose="02020603050405020304"/>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2353529" cy="492443"/>
          </a:xfrm>
          <a:prstGeom prst="rect">
            <a:avLst/>
          </a:prstGeom>
        </p:spPr>
        <p:txBody>
          <a:bodyPr wrap="none">
            <a:spAutoFit/>
          </a:bodyPr>
          <a:lstStyle/>
          <a:p>
            <a:r>
              <a:rPr lang="en-US" altLang="zh-CN" b="1" dirty="0"/>
              <a:t>5.3 </a:t>
            </a:r>
            <a:r>
              <a:rPr lang="zh-CN" altLang="zh-CN" b="1" dirty="0"/>
              <a:t>生成树问题</a:t>
            </a:r>
          </a:p>
        </p:txBody>
      </p:sp>
      <p:sp>
        <p:nvSpPr>
          <p:cNvPr id="3" name="矩形 2"/>
          <p:cNvSpPr/>
          <p:nvPr/>
        </p:nvSpPr>
        <p:spPr>
          <a:xfrm>
            <a:off x="-1" y="444379"/>
            <a:ext cx="9101579" cy="1631216"/>
          </a:xfrm>
          <a:prstGeom prst="rect">
            <a:avLst/>
          </a:prstGeom>
        </p:spPr>
        <p:txBody>
          <a:bodyPr wrap="square">
            <a:spAutoFit/>
          </a:bodyPr>
          <a:lstStyle/>
          <a:p>
            <a:r>
              <a:rPr lang="zh-CN" altLang="zh-CN" sz="2400" dirty="0"/>
              <a:t>一个图形，如果有</a:t>
            </a:r>
            <a:r>
              <a:rPr lang="en-US" altLang="zh-CN" sz="2400" i="1" dirty="0"/>
              <a:t>N</a:t>
            </a:r>
            <a:r>
              <a:rPr lang="zh-CN" altLang="zh-CN" sz="2400" dirty="0"/>
              <a:t>个顶点，则至少要有</a:t>
            </a:r>
            <a:r>
              <a:rPr lang="en-US" altLang="zh-CN" sz="2400" i="1" dirty="0"/>
              <a:t>N</a:t>
            </a:r>
            <a:r>
              <a:rPr lang="zh-CN" altLang="zh-CN" sz="2400" dirty="0"/>
              <a:t>－</a:t>
            </a:r>
            <a:r>
              <a:rPr lang="en-US" altLang="zh-CN" sz="2400" dirty="0"/>
              <a:t>1</a:t>
            </a:r>
            <a:r>
              <a:rPr lang="zh-CN" altLang="zh-CN" sz="2400" dirty="0"/>
              <a:t>条边才能将</a:t>
            </a:r>
            <a:r>
              <a:rPr lang="en-US" altLang="zh-CN" sz="2400" i="1" dirty="0"/>
              <a:t>N</a:t>
            </a:r>
            <a:r>
              <a:rPr lang="zh-CN" altLang="zh-CN" sz="2400" dirty="0"/>
              <a:t>个顶点相连起来，形成连通图形。这种用</a:t>
            </a:r>
            <a:r>
              <a:rPr lang="en-US" altLang="zh-CN" sz="2400" i="1" dirty="0"/>
              <a:t>N</a:t>
            </a:r>
            <a:r>
              <a:rPr lang="zh-CN" altLang="zh-CN" sz="2400" dirty="0"/>
              <a:t>－</a:t>
            </a:r>
            <a:r>
              <a:rPr lang="en-US" altLang="zh-CN" sz="2400" dirty="0"/>
              <a:t>1</a:t>
            </a:r>
            <a:r>
              <a:rPr lang="zh-CN" altLang="zh-CN" sz="2400" dirty="0"/>
              <a:t>个边连通的图形称为生成树。</a:t>
            </a:r>
          </a:p>
          <a:p>
            <a:r>
              <a:rPr lang="zh-CN" altLang="zh-CN" sz="2400" dirty="0"/>
              <a:t>例如图所示的无向图形，我们可以用深度优先搜索法或广度优先搜索法生成树。</a:t>
            </a:r>
          </a:p>
        </p:txBody>
      </p:sp>
      <p:pic>
        <p:nvPicPr>
          <p:cNvPr id="4" name="图片 3"/>
          <p:cNvPicPr/>
          <p:nvPr/>
        </p:nvPicPr>
        <p:blipFill>
          <a:blip r:embed="rId2">
            <a:extLst>
              <a:ext uri="{28A0092B-C50C-407E-A947-70E740481C1C}">
                <a14:useLocalDpi xmlns:a14="http://schemas.microsoft.com/office/drawing/2010/main" val="0"/>
              </a:ext>
            </a:extLst>
          </a:blip>
          <a:srcRect/>
          <a:stretch>
            <a:fillRect/>
          </a:stretch>
        </p:blipFill>
        <p:spPr>
          <a:xfrm>
            <a:off x="309457" y="2223284"/>
            <a:ext cx="3795916" cy="2226167"/>
          </a:xfrm>
          <a:prstGeom prst="rect">
            <a:avLst/>
          </a:prstGeom>
          <a:noFill/>
          <a:ln>
            <a:noFill/>
          </a:ln>
        </p:spPr>
      </p:pic>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a:xfrm>
            <a:off x="5143705" y="2364360"/>
            <a:ext cx="3312137" cy="221235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9144000" cy="1569660"/>
          </a:xfrm>
          <a:prstGeom prst="rect">
            <a:avLst/>
          </a:prstGeom>
        </p:spPr>
        <p:txBody>
          <a:bodyPr wrap="square">
            <a:spAutoFit/>
          </a:bodyPr>
          <a:lstStyle/>
          <a:p>
            <a:r>
              <a:rPr lang="zh-CN" altLang="zh-CN" sz="2400" dirty="0"/>
              <a:t>最小生成树（</a:t>
            </a:r>
            <a:r>
              <a:rPr lang="en-US" altLang="zh-CN" sz="2400" dirty="0"/>
              <a:t>Minimum Spanning Tree</a:t>
            </a:r>
            <a:r>
              <a:rPr lang="zh-CN" altLang="zh-CN" sz="2400" dirty="0"/>
              <a:t>，</a:t>
            </a:r>
            <a:r>
              <a:rPr lang="en-US" altLang="zh-CN" sz="2400" dirty="0"/>
              <a:t>MST</a:t>
            </a:r>
            <a:r>
              <a:rPr lang="zh-CN" altLang="zh-CN" sz="2400" dirty="0"/>
              <a:t>）：在一个有加权边的图形生成的所有生成树中，加权值总和最小的生成树，称为最小生成树。例如：有</a:t>
            </a:r>
            <a:r>
              <a:rPr lang="en-US" altLang="zh-CN" sz="2400" dirty="0"/>
              <a:t>5</a:t>
            </a:r>
            <a:r>
              <a:rPr lang="zh-CN" altLang="zh-CN" sz="2400" dirty="0"/>
              <a:t>栋大楼，如图所示，需要用网络来连接各栋大楼，已知每栋楼之间的距离，问：怎样连线距离最短？</a:t>
            </a:r>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2566034" y="1785017"/>
            <a:ext cx="3891327" cy="260315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2624821" cy="492443"/>
          </a:xfrm>
          <a:prstGeom prst="rect">
            <a:avLst/>
          </a:prstGeom>
        </p:spPr>
        <p:txBody>
          <a:bodyPr wrap="none">
            <a:spAutoFit/>
          </a:bodyPr>
          <a:lstStyle/>
          <a:p>
            <a:r>
              <a:rPr lang="en-US" altLang="zh-CN" b="1" dirty="0"/>
              <a:t>5.3.1 </a:t>
            </a:r>
            <a:r>
              <a:rPr lang="en-US" altLang="zh-CN" b="1" dirty="0" err="1"/>
              <a:t>Kruskal</a:t>
            </a:r>
            <a:r>
              <a:rPr lang="zh-CN" altLang="zh-CN" b="1" dirty="0"/>
              <a:t>算法</a:t>
            </a:r>
          </a:p>
        </p:txBody>
      </p:sp>
      <p:sp>
        <p:nvSpPr>
          <p:cNvPr id="3" name="矩形 2"/>
          <p:cNvSpPr/>
          <p:nvPr/>
        </p:nvSpPr>
        <p:spPr>
          <a:xfrm>
            <a:off x="89554" y="517329"/>
            <a:ext cx="9054445" cy="1569660"/>
          </a:xfrm>
          <a:prstGeom prst="rect">
            <a:avLst/>
          </a:prstGeom>
        </p:spPr>
        <p:txBody>
          <a:bodyPr wrap="square">
            <a:spAutoFit/>
          </a:bodyPr>
          <a:lstStyle/>
          <a:p>
            <a:r>
              <a:rPr lang="en-US" altLang="zh-CN" sz="2400" dirty="0" err="1"/>
              <a:t>Kruskal</a:t>
            </a:r>
            <a:r>
              <a:rPr lang="zh-CN" altLang="zh-CN" sz="2400" dirty="0"/>
              <a:t>算法是根据边的加权值以递增的方式，依次找出加权值最低的边来建最小生成树，并且每次添加的边不能造成生成树有回路，直到找到</a:t>
            </a:r>
            <a:r>
              <a:rPr lang="en-US" altLang="zh-CN" sz="2400" i="1" dirty="0"/>
              <a:t>N</a:t>
            </a:r>
            <a:r>
              <a:rPr lang="zh-CN" altLang="zh-CN" sz="2400" dirty="0"/>
              <a:t>－</a:t>
            </a:r>
            <a:r>
              <a:rPr lang="en-US" altLang="zh-CN" sz="2400" dirty="0"/>
              <a:t>1</a:t>
            </a:r>
            <a:r>
              <a:rPr lang="zh-CN" altLang="zh-CN" sz="2400" dirty="0"/>
              <a:t>个边为止。当边集比较少且无负权边时，可考虑用此法。现以图为例来说明。</a:t>
            </a:r>
          </a:p>
        </p:txBody>
      </p:sp>
      <p:pic>
        <p:nvPicPr>
          <p:cNvPr id="4" name="图片 3"/>
          <p:cNvPicPr/>
          <p:nvPr/>
        </p:nvPicPr>
        <p:blipFill>
          <a:blip r:embed="rId2">
            <a:extLst>
              <a:ext uri="{28A0092B-C50C-407E-A947-70E740481C1C}">
                <a14:useLocalDpi xmlns:a14="http://schemas.microsoft.com/office/drawing/2010/main" val="0"/>
              </a:ext>
            </a:extLst>
          </a:blip>
          <a:srcRect/>
          <a:stretch>
            <a:fillRect/>
          </a:stretch>
        </p:blipFill>
        <p:spPr>
          <a:xfrm>
            <a:off x="2567013" y="2183140"/>
            <a:ext cx="3843214" cy="243599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0956" y="126992"/>
            <a:ext cx="8696227" cy="492443"/>
          </a:xfrm>
          <a:prstGeom prst="rect">
            <a:avLst/>
          </a:prstGeom>
        </p:spPr>
        <p:txBody>
          <a:bodyPr wrap="square">
            <a:spAutoFit/>
          </a:bodyPr>
          <a:lstStyle/>
          <a:p>
            <a:r>
              <a:rPr lang="zh-CN" altLang="zh-CN" dirty="0"/>
              <a:t>首先将图形中所有的边递增排序（快排）</a:t>
            </a:r>
            <a:endParaRPr lang="zh-CN" altLang="en-US" dirty="0"/>
          </a:p>
        </p:txBody>
      </p:sp>
      <p:graphicFrame>
        <p:nvGraphicFramePr>
          <p:cNvPr id="3" name="表格 2"/>
          <p:cNvGraphicFramePr>
            <a:graphicFrameLocks noGrp="1"/>
          </p:cNvGraphicFramePr>
          <p:nvPr/>
        </p:nvGraphicFramePr>
        <p:xfrm>
          <a:off x="979179" y="1292247"/>
          <a:ext cx="6772910" cy="487680"/>
        </p:xfrm>
        <a:graphic>
          <a:graphicData uri="http://schemas.openxmlformats.org/drawingml/2006/table">
            <a:tbl>
              <a:tblPr firstRow="1" firstCol="1" bandRow="1">
                <a:tableStyleId>{5C22544A-7EE6-4342-B048-85BDC9FD1C3A}</a:tableStyleId>
              </a:tblPr>
              <a:tblGrid>
                <a:gridCol w="797560">
                  <a:extLst>
                    <a:ext uri="{9D8B030D-6E8A-4147-A177-3AD203B41FA5}">
                      <a16:colId xmlns:a16="http://schemas.microsoft.com/office/drawing/2014/main" val="20000"/>
                    </a:ext>
                  </a:extLst>
                </a:gridCol>
                <a:gridCol w="597535">
                  <a:extLst>
                    <a:ext uri="{9D8B030D-6E8A-4147-A177-3AD203B41FA5}">
                      <a16:colId xmlns:a16="http://schemas.microsoft.com/office/drawing/2014/main" val="20001"/>
                    </a:ext>
                  </a:extLst>
                </a:gridCol>
                <a:gridCol w="597535">
                  <a:extLst>
                    <a:ext uri="{9D8B030D-6E8A-4147-A177-3AD203B41FA5}">
                      <a16:colId xmlns:a16="http://schemas.microsoft.com/office/drawing/2014/main" val="20002"/>
                    </a:ext>
                  </a:extLst>
                </a:gridCol>
                <a:gridCol w="597535">
                  <a:extLst>
                    <a:ext uri="{9D8B030D-6E8A-4147-A177-3AD203B41FA5}">
                      <a16:colId xmlns:a16="http://schemas.microsoft.com/office/drawing/2014/main" val="20003"/>
                    </a:ext>
                  </a:extLst>
                </a:gridCol>
                <a:gridCol w="597535">
                  <a:extLst>
                    <a:ext uri="{9D8B030D-6E8A-4147-A177-3AD203B41FA5}">
                      <a16:colId xmlns:a16="http://schemas.microsoft.com/office/drawing/2014/main" val="20004"/>
                    </a:ext>
                  </a:extLst>
                </a:gridCol>
                <a:gridCol w="597535">
                  <a:extLst>
                    <a:ext uri="{9D8B030D-6E8A-4147-A177-3AD203B41FA5}">
                      <a16:colId xmlns:a16="http://schemas.microsoft.com/office/drawing/2014/main" val="20005"/>
                    </a:ext>
                  </a:extLst>
                </a:gridCol>
                <a:gridCol w="597535">
                  <a:extLst>
                    <a:ext uri="{9D8B030D-6E8A-4147-A177-3AD203B41FA5}">
                      <a16:colId xmlns:a16="http://schemas.microsoft.com/office/drawing/2014/main" val="20006"/>
                    </a:ext>
                  </a:extLst>
                </a:gridCol>
                <a:gridCol w="597535">
                  <a:extLst>
                    <a:ext uri="{9D8B030D-6E8A-4147-A177-3AD203B41FA5}">
                      <a16:colId xmlns:a16="http://schemas.microsoft.com/office/drawing/2014/main" val="20007"/>
                    </a:ext>
                  </a:extLst>
                </a:gridCol>
                <a:gridCol w="597535">
                  <a:extLst>
                    <a:ext uri="{9D8B030D-6E8A-4147-A177-3AD203B41FA5}">
                      <a16:colId xmlns:a16="http://schemas.microsoft.com/office/drawing/2014/main" val="20008"/>
                    </a:ext>
                  </a:extLst>
                </a:gridCol>
                <a:gridCol w="597535">
                  <a:extLst>
                    <a:ext uri="{9D8B030D-6E8A-4147-A177-3AD203B41FA5}">
                      <a16:colId xmlns:a16="http://schemas.microsoft.com/office/drawing/2014/main" val="20009"/>
                    </a:ext>
                  </a:extLst>
                </a:gridCol>
                <a:gridCol w="597535">
                  <a:extLst>
                    <a:ext uri="{9D8B030D-6E8A-4147-A177-3AD203B41FA5}">
                      <a16:colId xmlns:a16="http://schemas.microsoft.com/office/drawing/2014/main" val="20010"/>
                    </a:ext>
                  </a:extLst>
                </a:gridCol>
              </a:tblGrid>
              <a:tr h="0">
                <a:tc>
                  <a:txBody>
                    <a:bodyPr/>
                    <a:lstStyle/>
                    <a:p>
                      <a:pPr algn="just">
                        <a:spcAft>
                          <a:spcPts val="0"/>
                        </a:spcAft>
                      </a:pPr>
                      <a:r>
                        <a:rPr lang="zh-CN" sz="1600" kern="100" dirty="0">
                          <a:effectLst/>
                        </a:rPr>
                        <a:t>邻接边</a:t>
                      </a:r>
                      <a:endParaRPr lang="zh-CN" sz="1400" kern="100" dirty="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en-US" sz="1600" kern="100">
                          <a:effectLst/>
                        </a:rPr>
                        <a:t>4</a:t>
                      </a:r>
                      <a:r>
                        <a:rPr lang="zh-CN" sz="1600" kern="100">
                          <a:effectLst/>
                        </a:rPr>
                        <a:t>，</a:t>
                      </a:r>
                      <a:r>
                        <a:rPr lang="en-US" sz="1600" kern="100">
                          <a:effectLst/>
                        </a:rPr>
                        <a:t>5</a:t>
                      </a:r>
                      <a:endParaRPr lang="zh-CN" sz="1400" kern="10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en-US" sz="1600" kern="100">
                          <a:effectLst/>
                        </a:rPr>
                        <a:t>1</a:t>
                      </a:r>
                      <a:r>
                        <a:rPr lang="zh-CN" sz="1600" kern="100">
                          <a:effectLst/>
                        </a:rPr>
                        <a:t>，</a:t>
                      </a:r>
                      <a:r>
                        <a:rPr lang="en-US" sz="1600" kern="100">
                          <a:effectLst/>
                        </a:rPr>
                        <a:t>3</a:t>
                      </a:r>
                      <a:endParaRPr lang="zh-CN" sz="1400" kern="10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en-US" sz="1600" kern="100">
                          <a:effectLst/>
                        </a:rPr>
                        <a:t>1</a:t>
                      </a:r>
                      <a:r>
                        <a:rPr lang="zh-CN" sz="1600" kern="100">
                          <a:effectLst/>
                        </a:rPr>
                        <a:t>，</a:t>
                      </a:r>
                      <a:r>
                        <a:rPr lang="en-US" sz="1600" kern="100">
                          <a:effectLst/>
                        </a:rPr>
                        <a:t>5</a:t>
                      </a:r>
                      <a:endParaRPr lang="zh-CN" sz="1400" kern="10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en-US" sz="1600" kern="100">
                          <a:effectLst/>
                        </a:rPr>
                        <a:t>2</a:t>
                      </a:r>
                      <a:r>
                        <a:rPr lang="zh-CN" sz="1600" kern="100">
                          <a:effectLst/>
                        </a:rPr>
                        <a:t>，</a:t>
                      </a:r>
                      <a:r>
                        <a:rPr lang="en-US" sz="1600" kern="100">
                          <a:effectLst/>
                        </a:rPr>
                        <a:t>3</a:t>
                      </a:r>
                      <a:endParaRPr lang="zh-CN" sz="1400" kern="10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en-US" sz="1600" kern="100">
                          <a:effectLst/>
                        </a:rPr>
                        <a:t>1</a:t>
                      </a:r>
                      <a:r>
                        <a:rPr lang="zh-CN" sz="1600" kern="100">
                          <a:effectLst/>
                        </a:rPr>
                        <a:t>，</a:t>
                      </a:r>
                      <a:r>
                        <a:rPr lang="en-US" sz="1600" kern="100">
                          <a:effectLst/>
                        </a:rPr>
                        <a:t>4</a:t>
                      </a:r>
                      <a:endParaRPr lang="zh-CN" sz="1400" kern="10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en-US" sz="1600" kern="100">
                          <a:effectLst/>
                        </a:rPr>
                        <a:t>2</a:t>
                      </a:r>
                      <a:r>
                        <a:rPr lang="zh-CN" sz="1600" kern="100">
                          <a:effectLst/>
                        </a:rPr>
                        <a:t>，</a:t>
                      </a:r>
                      <a:r>
                        <a:rPr lang="en-US" sz="1600" kern="100">
                          <a:effectLst/>
                        </a:rPr>
                        <a:t>5</a:t>
                      </a:r>
                      <a:endParaRPr lang="zh-CN" sz="1400" kern="10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en-US" sz="1600" kern="100">
                          <a:effectLst/>
                        </a:rPr>
                        <a:t>3</a:t>
                      </a:r>
                      <a:r>
                        <a:rPr lang="zh-CN" sz="1600" kern="100">
                          <a:effectLst/>
                        </a:rPr>
                        <a:t>，</a:t>
                      </a:r>
                      <a:r>
                        <a:rPr lang="en-US" sz="1600" kern="100">
                          <a:effectLst/>
                        </a:rPr>
                        <a:t>5</a:t>
                      </a:r>
                      <a:endParaRPr lang="zh-CN" sz="1400" kern="10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en-US" sz="1600" kern="100">
                          <a:effectLst/>
                        </a:rPr>
                        <a:t>3</a:t>
                      </a:r>
                      <a:r>
                        <a:rPr lang="zh-CN" sz="1600" kern="100">
                          <a:effectLst/>
                        </a:rPr>
                        <a:t>，</a:t>
                      </a:r>
                      <a:r>
                        <a:rPr lang="en-US" sz="1600" kern="100">
                          <a:effectLst/>
                        </a:rPr>
                        <a:t>4</a:t>
                      </a:r>
                      <a:endParaRPr lang="zh-CN" sz="1400" kern="10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en-US" sz="1600" kern="100">
                          <a:effectLst/>
                        </a:rPr>
                        <a:t>2</a:t>
                      </a:r>
                      <a:r>
                        <a:rPr lang="zh-CN" sz="1600" kern="100">
                          <a:effectLst/>
                        </a:rPr>
                        <a:t>，</a:t>
                      </a:r>
                      <a:r>
                        <a:rPr lang="en-US" sz="1600" kern="100">
                          <a:effectLst/>
                        </a:rPr>
                        <a:t>4</a:t>
                      </a:r>
                      <a:endParaRPr lang="zh-CN" sz="1400" kern="10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just">
                        <a:spcAft>
                          <a:spcPts val="0"/>
                        </a:spcAft>
                      </a:pPr>
                      <a:r>
                        <a:rPr lang="en-US" sz="1600" kern="100">
                          <a:effectLst/>
                        </a:rPr>
                        <a:t>1</a:t>
                      </a:r>
                      <a:r>
                        <a:rPr lang="zh-CN" sz="1600" kern="100">
                          <a:effectLst/>
                        </a:rPr>
                        <a:t>，</a:t>
                      </a:r>
                      <a:r>
                        <a:rPr lang="en-US" sz="1600" kern="100">
                          <a:effectLst/>
                        </a:rPr>
                        <a:t>2</a:t>
                      </a:r>
                      <a:endParaRPr lang="zh-CN" sz="1400" kern="100">
                        <a:effectLst/>
                        <a:latin typeface="Times New Roman" panose="02020603050405020304"/>
                        <a:ea typeface="宋体" panose="02010600030101010101" pitchFamily="2" charset="-122"/>
                        <a:cs typeface="Times New Roman" panose="02020603050405020304"/>
                      </a:endParaRPr>
                    </a:p>
                  </a:txBody>
                  <a:tcPr marL="68580" marR="68580" marT="0" marB="0"/>
                </a:tc>
                <a:extLst>
                  <a:ext uri="{0D108BD9-81ED-4DB2-BD59-A6C34878D82A}">
                    <a16:rowId xmlns:a16="http://schemas.microsoft.com/office/drawing/2014/main" val="10000"/>
                  </a:ext>
                </a:extLst>
              </a:tr>
              <a:tr h="0">
                <a:tc>
                  <a:txBody>
                    <a:bodyPr/>
                    <a:lstStyle/>
                    <a:p>
                      <a:pPr algn="just">
                        <a:spcAft>
                          <a:spcPts val="0"/>
                        </a:spcAft>
                      </a:pPr>
                      <a:r>
                        <a:rPr lang="zh-CN" sz="1600" kern="100" dirty="0">
                          <a:effectLst/>
                        </a:rPr>
                        <a:t>加权值</a:t>
                      </a:r>
                      <a:endParaRPr lang="zh-CN" sz="1400" kern="100" dirty="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ctr">
                        <a:spcAft>
                          <a:spcPts val="0"/>
                        </a:spcAft>
                      </a:pPr>
                      <a:r>
                        <a:rPr lang="en-US" sz="1600" kern="100" dirty="0">
                          <a:effectLst/>
                        </a:rPr>
                        <a:t>2</a:t>
                      </a:r>
                      <a:endParaRPr lang="zh-CN" sz="1400" kern="100" dirty="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ctr">
                        <a:spcAft>
                          <a:spcPts val="0"/>
                        </a:spcAft>
                      </a:pPr>
                      <a:r>
                        <a:rPr lang="en-US" sz="1600" kern="100" dirty="0">
                          <a:effectLst/>
                        </a:rPr>
                        <a:t>3</a:t>
                      </a:r>
                      <a:endParaRPr lang="zh-CN" sz="1400" kern="100" dirty="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ctr">
                        <a:spcAft>
                          <a:spcPts val="0"/>
                        </a:spcAft>
                      </a:pPr>
                      <a:r>
                        <a:rPr lang="en-US" sz="1600" kern="100" dirty="0">
                          <a:effectLst/>
                        </a:rPr>
                        <a:t>4</a:t>
                      </a:r>
                      <a:endParaRPr lang="zh-CN" sz="1400" kern="100" dirty="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ctr">
                        <a:spcAft>
                          <a:spcPts val="0"/>
                        </a:spcAft>
                      </a:pPr>
                      <a:r>
                        <a:rPr lang="en-US" sz="1600" kern="100" dirty="0">
                          <a:effectLst/>
                        </a:rPr>
                        <a:t>5</a:t>
                      </a:r>
                      <a:endParaRPr lang="zh-CN" sz="1400" kern="100" dirty="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ctr">
                        <a:spcAft>
                          <a:spcPts val="0"/>
                        </a:spcAft>
                      </a:pPr>
                      <a:r>
                        <a:rPr lang="en-US" sz="1600" kern="100" dirty="0">
                          <a:effectLst/>
                        </a:rPr>
                        <a:t>6</a:t>
                      </a:r>
                      <a:endParaRPr lang="zh-CN" sz="1400" kern="100" dirty="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ctr">
                        <a:spcAft>
                          <a:spcPts val="0"/>
                        </a:spcAft>
                      </a:pPr>
                      <a:r>
                        <a:rPr lang="en-US" sz="1600" kern="100" dirty="0">
                          <a:effectLst/>
                        </a:rPr>
                        <a:t>7</a:t>
                      </a:r>
                      <a:endParaRPr lang="zh-CN" sz="1400" kern="100" dirty="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ctr">
                        <a:spcAft>
                          <a:spcPts val="0"/>
                        </a:spcAft>
                      </a:pPr>
                      <a:r>
                        <a:rPr lang="en-US" sz="1600" kern="100" dirty="0">
                          <a:effectLst/>
                        </a:rPr>
                        <a:t>9</a:t>
                      </a:r>
                      <a:endParaRPr lang="zh-CN" sz="1400" kern="100" dirty="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ctr">
                        <a:spcAft>
                          <a:spcPts val="0"/>
                        </a:spcAft>
                      </a:pPr>
                      <a:r>
                        <a:rPr lang="en-US" sz="1600" kern="100" dirty="0">
                          <a:effectLst/>
                        </a:rPr>
                        <a:t>10</a:t>
                      </a:r>
                      <a:endParaRPr lang="zh-CN" sz="1400" kern="100" dirty="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ctr">
                        <a:spcAft>
                          <a:spcPts val="0"/>
                        </a:spcAft>
                      </a:pPr>
                      <a:r>
                        <a:rPr lang="en-US" sz="1600" kern="100" dirty="0">
                          <a:effectLst/>
                        </a:rPr>
                        <a:t>11</a:t>
                      </a:r>
                      <a:endParaRPr lang="zh-CN" sz="1400" kern="100" dirty="0">
                        <a:effectLst/>
                        <a:latin typeface="Times New Roman" panose="02020603050405020304"/>
                        <a:ea typeface="宋体" panose="02010600030101010101" pitchFamily="2" charset="-122"/>
                        <a:cs typeface="Times New Roman" panose="02020603050405020304"/>
                      </a:endParaRPr>
                    </a:p>
                  </a:txBody>
                  <a:tcPr marL="68580" marR="68580" marT="0" marB="0"/>
                </a:tc>
                <a:tc>
                  <a:txBody>
                    <a:bodyPr/>
                    <a:lstStyle/>
                    <a:p>
                      <a:pPr algn="ctr">
                        <a:spcAft>
                          <a:spcPts val="0"/>
                        </a:spcAft>
                      </a:pPr>
                      <a:r>
                        <a:rPr lang="en-US" sz="1600" kern="100" dirty="0">
                          <a:effectLst/>
                        </a:rPr>
                        <a:t>14</a:t>
                      </a:r>
                      <a:endParaRPr lang="zh-CN" sz="1400" kern="100" dirty="0">
                        <a:effectLst/>
                        <a:latin typeface="Times New Roman" panose="02020603050405020304"/>
                        <a:ea typeface="宋体" panose="02010600030101010101" pitchFamily="2" charset="-122"/>
                        <a:cs typeface="Times New Roman" panose="02020603050405020304"/>
                      </a:endParaRPr>
                    </a:p>
                  </a:txBody>
                  <a:tcPr marL="68580" marR="68580" marT="0" marB="0"/>
                </a:tc>
                <a:extLst>
                  <a:ext uri="{0D108BD9-81ED-4DB2-BD59-A6C34878D82A}">
                    <a16:rowId xmlns:a16="http://schemas.microsoft.com/office/drawing/2014/main" val="10001"/>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12102" y="89285"/>
            <a:ext cx="8790495" cy="492443"/>
          </a:xfrm>
          <a:prstGeom prst="rect">
            <a:avLst/>
          </a:prstGeom>
        </p:spPr>
        <p:txBody>
          <a:bodyPr wrap="square">
            <a:spAutoFit/>
          </a:bodyPr>
          <a:lstStyle/>
          <a:p>
            <a:r>
              <a:rPr lang="zh-CN" altLang="zh-CN" dirty="0"/>
              <a:t>第一步，将（</a:t>
            </a:r>
            <a:r>
              <a:rPr lang="en-US" altLang="zh-CN" dirty="0"/>
              <a:t>4</a:t>
            </a:r>
            <a:r>
              <a:rPr lang="zh-CN" altLang="zh-CN" dirty="0"/>
              <a:t>，</a:t>
            </a:r>
            <a:r>
              <a:rPr lang="en-US" altLang="zh-CN" dirty="0"/>
              <a:t>5</a:t>
            </a:r>
            <a:r>
              <a:rPr lang="zh-CN" altLang="zh-CN" dirty="0"/>
              <a:t>）的边加到生成树中</a:t>
            </a:r>
            <a:endParaRPr lang="zh-CN" altLang="en-US"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2474536" y="1197308"/>
            <a:ext cx="3563332" cy="2399017"/>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18583"/>
            <a:ext cx="8884763" cy="492443"/>
          </a:xfrm>
          <a:prstGeom prst="rect">
            <a:avLst/>
          </a:prstGeom>
        </p:spPr>
        <p:txBody>
          <a:bodyPr wrap="square">
            <a:spAutoFit/>
          </a:bodyPr>
          <a:lstStyle/>
          <a:p>
            <a:r>
              <a:rPr lang="zh-CN" altLang="zh-CN" dirty="0"/>
              <a:t>第二步，将（</a:t>
            </a:r>
            <a:r>
              <a:rPr lang="en-US" altLang="zh-CN" dirty="0"/>
              <a:t>1</a:t>
            </a:r>
            <a:r>
              <a:rPr lang="zh-CN" altLang="zh-CN" dirty="0"/>
              <a:t>，</a:t>
            </a:r>
            <a:r>
              <a:rPr lang="en-US" altLang="zh-CN" dirty="0"/>
              <a:t>3</a:t>
            </a:r>
            <a:r>
              <a:rPr lang="zh-CN" altLang="zh-CN" dirty="0"/>
              <a:t>）加入生成树中</a:t>
            </a:r>
            <a:endParaRPr lang="zh-CN" altLang="en-US"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2487943" y="1115226"/>
            <a:ext cx="3102152" cy="227371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2420" y="0"/>
            <a:ext cx="8125905" cy="492443"/>
          </a:xfrm>
          <a:prstGeom prst="rect">
            <a:avLst/>
          </a:prstGeom>
        </p:spPr>
        <p:txBody>
          <a:bodyPr wrap="square">
            <a:spAutoFit/>
          </a:bodyPr>
          <a:lstStyle/>
          <a:p>
            <a:r>
              <a:rPr lang="zh-CN" altLang="zh-CN" dirty="0"/>
              <a:t>第三步，将（</a:t>
            </a:r>
            <a:r>
              <a:rPr lang="en-US" altLang="zh-CN" dirty="0"/>
              <a:t>1</a:t>
            </a:r>
            <a:r>
              <a:rPr lang="zh-CN" altLang="zh-CN" dirty="0"/>
              <a:t>，</a:t>
            </a:r>
            <a:r>
              <a:rPr lang="en-US" altLang="zh-CN" dirty="0"/>
              <a:t>5</a:t>
            </a:r>
            <a:r>
              <a:rPr lang="zh-CN" altLang="zh-CN" dirty="0"/>
              <a:t>）加入生成树中</a:t>
            </a:r>
            <a:endParaRPr lang="zh-CN" altLang="en-US"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2775382" y="1046964"/>
            <a:ext cx="3243632" cy="2455093"/>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7065390" cy="492443"/>
          </a:xfrm>
          <a:prstGeom prst="rect">
            <a:avLst/>
          </a:prstGeom>
        </p:spPr>
        <p:txBody>
          <a:bodyPr wrap="square">
            <a:spAutoFit/>
          </a:bodyPr>
          <a:lstStyle/>
          <a:p>
            <a:r>
              <a:rPr lang="zh-CN" altLang="zh-CN" dirty="0"/>
              <a:t>第四步，将（</a:t>
            </a:r>
            <a:r>
              <a:rPr lang="en-US" altLang="zh-CN" dirty="0"/>
              <a:t>2</a:t>
            </a:r>
            <a:r>
              <a:rPr lang="zh-CN" altLang="zh-CN" dirty="0"/>
              <a:t>，</a:t>
            </a:r>
            <a:r>
              <a:rPr lang="en-US" altLang="zh-CN" dirty="0"/>
              <a:t>3</a:t>
            </a:r>
            <a:r>
              <a:rPr lang="zh-CN" altLang="zh-CN" dirty="0"/>
              <a:t>）加入生成树中</a:t>
            </a:r>
            <a:endParaRPr lang="zh-CN" altLang="en-US"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2377504" y="1122381"/>
            <a:ext cx="3834759" cy="256349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274" y="0"/>
            <a:ext cx="9082726" cy="2092881"/>
          </a:xfrm>
          <a:prstGeom prst="rect">
            <a:avLst/>
          </a:prstGeom>
        </p:spPr>
        <p:txBody>
          <a:bodyPr wrap="square">
            <a:spAutoFit/>
          </a:bodyPr>
          <a:lstStyle/>
          <a:p>
            <a:r>
              <a:rPr lang="zh-CN" altLang="zh-CN" dirty="0"/>
              <a:t>由于共有</a:t>
            </a:r>
            <a:r>
              <a:rPr lang="en-US" altLang="zh-CN" dirty="0"/>
              <a:t>5</a:t>
            </a:r>
            <a:r>
              <a:rPr lang="zh-CN" altLang="zh-CN" dirty="0"/>
              <a:t>个顶点，现在生成树已达</a:t>
            </a:r>
            <a:r>
              <a:rPr lang="en-US" altLang="zh-CN" dirty="0"/>
              <a:t>4</a:t>
            </a:r>
            <a:r>
              <a:rPr lang="zh-CN" altLang="zh-CN" dirty="0"/>
              <a:t>个边，生成树建立完成，加权值总和为</a:t>
            </a:r>
            <a:r>
              <a:rPr lang="en-US" altLang="zh-CN" dirty="0"/>
              <a:t>14</a:t>
            </a:r>
            <a:r>
              <a:rPr lang="zh-CN" altLang="zh-CN" dirty="0"/>
              <a:t>。</a:t>
            </a:r>
          </a:p>
          <a:p>
            <a:r>
              <a:rPr lang="zh-CN" altLang="zh-CN" dirty="0"/>
              <a:t>其实这个例子举的并不是十分恰当，容易造成只要排序后加</a:t>
            </a:r>
            <a:r>
              <a:rPr lang="en-US" altLang="zh-CN" i="1" dirty="0"/>
              <a:t>n</a:t>
            </a:r>
            <a:r>
              <a:rPr lang="zh-CN" altLang="zh-CN" dirty="0"/>
              <a:t>－</a:t>
            </a:r>
            <a:r>
              <a:rPr lang="en-US" altLang="zh-CN" dirty="0"/>
              <a:t>1</a:t>
            </a:r>
            <a:r>
              <a:rPr lang="zh-CN" altLang="zh-CN" dirty="0"/>
              <a:t>条边就可以的错觉。然而在很多条件下情况并非如此，比如说图所示的这个例子。</a:t>
            </a:r>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2593104" y="2310401"/>
            <a:ext cx="3619160" cy="2209752"/>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367"/>
            <a:ext cx="9082726" cy="2092881"/>
          </a:xfrm>
          <a:prstGeom prst="rect">
            <a:avLst/>
          </a:prstGeom>
        </p:spPr>
        <p:txBody>
          <a:bodyPr wrap="square">
            <a:spAutoFit/>
          </a:bodyPr>
          <a:lstStyle/>
          <a:p>
            <a:r>
              <a:rPr lang="zh-CN" altLang="zh-CN" dirty="0"/>
              <a:t>需要并查集算法（参见本书第八章）来判断两个顶点是否属于同一棵树从而判断是否应该将这条边加入。</a:t>
            </a:r>
          </a:p>
          <a:p>
            <a:r>
              <a:rPr lang="zh-CN" altLang="zh-CN" dirty="0"/>
              <a:t>即每加一条边时，你需要考虑：</a:t>
            </a:r>
          </a:p>
          <a:p>
            <a:r>
              <a:rPr lang="zh-CN" altLang="zh-CN" dirty="0"/>
              <a:t>（</a:t>
            </a:r>
            <a:r>
              <a:rPr lang="en-US" altLang="zh-CN" dirty="0"/>
              <a:t>1</a:t>
            </a:r>
            <a:r>
              <a:rPr lang="zh-CN" altLang="zh-CN" dirty="0"/>
              <a:t>）它是不是剩下边中最小的一条；</a:t>
            </a:r>
          </a:p>
          <a:p>
            <a:r>
              <a:rPr lang="zh-CN" altLang="zh-CN" dirty="0"/>
              <a:t>（</a:t>
            </a:r>
            <a:r>
              <a:rPr lang="en-US" altLang="zh-CN" dirty="0"/>
              <a:t>2</a:t>
            </a:r>
            <a:r>
              <a:rPr lang="zh-CN" altLang="zh-CN" dirty="0"/>
              <a:t>）加入它会不会造成图的回路。</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p:nvPr/>
        </p:nvPicPr>
        <p:blipFill>
          <a:blip r:embed="rId2">
            <a:extLst>
              <a:ext uri="{28A0092B-C50C-407E-A947-70E740481C1C}">
                <a14:useLocalDpi xmlns:a14="http://schemas.microsoft.com/office/drawing/2010/main" val="0"/>
              </a:ext>
            </a:extLst>
          </a:blip>
          <a:srcRect/>
          <a:stretch>
            <a:fillRect/>
          </a:stretch>
        </p:blipFill>
        <p:spPr>
          <a:xfrm>
            <a:off x="3056236" y="2976795"/>
            <a:ext cx="2934498" cy="2123106"/>
          </a:xfrm>
          <a:prstGeom prst="rect">
            <a:avLst/>
          </a:prstGeom>
          <a:noFill/>
          <a:ln>
            <a:noFill/>
          </a:ln>
        </p:spPr>
      </p:pic>
      <p:sp>
        <p:nvSpPr>
          <p:cNvPr id="3" name="矩形 2"/>
          <p:cNvSpPr/>
          <p:nvPr/>
        </p:nvSpPr>
        <p:spPr>
          <a:xfrm>
            <a:off x="27875" y="-3265"/>
            <a:ext cx="9063872" cy="2862322"/>
          </a:xfrm>
          <a:prstGeom prst="rect">
            <a:avLst/>
          </a:prstGeom>
        </p:spPr>
        <p:txBody>
          <a:bodyPr wrap="square">
            <a:spAutoFit/>
          </a:bodyPr>
          <a:lstStyle/>
          <a:p>
            <a:r>
              <a:rPr lang="zh-CN" altLang="zh-CN" sz="2000" dirty="0"/>
              <a:t>先让每个结点的父结点</a:t>
            </a:r>
            <a:r>
              <a:rPr lang="en-US" altLang="zh-CN" sz="2000" dirty="0"/>
              <a:t>dad[ ]</a:t>
            </a:r>
            <a:r>
              <a:rPr lang="zh-CN" altLang="zh-CN" sz="2000" dirty="0"/>
              <a:t>＝自身编号；</a:t>
            </a:r>
          </a:p>
          <a:p>
            <a:r>
              <a:rPr lang="zh-CN" altLang="zh-CN" sz="2000" dirty="0"/>
              <a:t>第一次加入（</a:t>
            </a:r>
            <a:r>
              <a:rPr lang="en-US" altLang="zh-CN" sz="2000" dirty="0"/>
              <a:t>A</a:t>
            </a:r>
            <a:r>
              <a:rPr lang="zh-CN" altLang="zh-CN" sz="2000" dirty="0"/>
              <a:t>，</a:t>
            </a:r>
            <a:r>
              <a:rPr lang="en-US" altLang="zh-CN" sz="2000" dirty="0"/>
              <a:t>C</a:t>
            </a:r>
            <a:r>
              <a:rPr lang="zh-CN" altLang="zh-CN" sz="2000" dirty="0"/>
              <a:t>）边，</a:t>
            </a:r>
            <a:r>
              <a:rPr lang="en-US" altLang="zh-CN" sz="2000" dirty="0"/>
              <a:t>C</a:t>
            </a:r>
            <a:r>
              <a:rPr lang="zh-CN" altLang="zh-CN" sz="2000" dirty="0"/>
              <a:t>的父结点设为</a:t>
            </a:r>
            <a:r>
              <a:rPr lang="en-US" altLang="zh-CN" sz="2000" dirty="0"/>
              <a:t>A</a:t>
            </a:r>
            <a:r>
              <a:rPr lang="zh-CN" altLang="zh-CN" sz="2000" dirty="0"/>
              <a:t>；</a:t>
            </a:r>
          </a:p>
          <a:p>
            <a:r>
              <a:rPr lang="zh-CN" altLang="zh-CN" sz="2000" dirty="0"/>
              <a:t>第二次要加入（</a:t>
            </a:r>
            <a:r>
              <a:rPr lang="en-US" altLang="zh-CN" sz="2000" dirty="0"/>
              <a:t>C</a:t>
            </a:r>
            <a:r>
              <a:rPr lang="zh-CN" altLang="zh-CN" sz="2000" dirty="0"/>
              <a:t>，</a:t>
            </a:r>
            <a:r>
              <a:rPr lang="en-US" altLang="zh-CN" sz="2000" dirty="0"/>
              <a:t>D</a:t>
            </a:r>
            <a:r>
              <a:rPr lang="zh-CN" altLang="zh-CN" sz="2000" dirty="0"/>
              <a:t>）边，</a:t>
            </a:r>
            <a:r>
              <a:rPr lang="en-US" altLang="zh-CN" sz="2000" dirty="0"/>
              <a:t>D</a:t>
            </a:r>
            <a:r>
              <a:rPr lang="zh-CN" altLang="zh-CN" sz="2000" dirty="0"/>
              <a:t>的父结点设置为</a:t>
            </a:r>
            <a:r>
              <a:rPr lang="en-US" altLang="zh-CN" sz="2000" dirty="0"/>
              <a:t>C</a:t>
            </a:r>
            <a:r>
              <a:rPr lang="zh-CN" altLang="zh-CN" sz="2000" dirty="0"/>
              <a:t>，而</a:t>
            </a:r>
            <a:r>
              <a:rPr lang="en-US" altLang="zh-CN" sz="2000" dirty="0"/>
              <a:t>C</a:t>
            </a:r>
            <a:r>
              <a:rPr lang="zh-CN" altLang="zh-CN" sz="2000" dirty="0"/>
              <a:t>的父结点是</a:t>
            </a:r>
            <a:r>
              <a:rPr lang="en-US" altLang="zh-CN" sz="2000" dirty="0"/>
              <a:t>A</a:t>
            </a:r>
            <a:r>
              <a:rPr lang="zh-CN" altLang="zh-CN" sz="2000" dirty="0"/>
              <a:t>，则</a:t>
            </a:r>
            <a:r>
              <a:rPr lang="en-US" altLang="zh-CN" sz="2000" dirty="0"/>
              <a:t> D</a:t>
            </a:r>
            <a:r>
              <a:rPr lang="zh-CN" altLang="zh-CN" sz="2000" dirty="0"/>
              <a:t>的父结点也为</a:t>
            </a:r>
            <a:r>
              <a:rPr lang="en-US" altLang="zh-CN" sz="2000" dirty="0"/>
              <a:t>A</a:t>
            </a:r>
            <a:r>
              <a:rPr lang="zh-CN" altLang="zh-CN" sz="2000" dirty="0"/>
              <a:t>；</a:t>
            </a:r>
          </a:p>
          <a:p>
            <a:r>
              <a:rPr lang="zh-CN" altLang="zh-CN" sz="2000" dirty="0"/>
              <a:t>第三次加入（</a:t>
            </a:r>
            <a:r>
              <a:rPr lang="en-US" altLang="zh-CN" sz="2000" dirty="0"/>
              <a:t>C</a:t>
            </a:r>
            <a:r>
              <a:rPr lang="zh-CN" altLang="zh-CN" sz="2000" dirty="0"/>
              <a:t>，</a:t>
            </a:r>
            <a:r>
              <a:rPr lang="en-US" altLang="zh-CN" sz="2000" dirty="0"/>
              <a:t>E</a:t>
            </a:r>
            <a:r>
              <a:rPr lang="zh-CN" altLang="zh-CN" sz="2000" dirty="0"/>
              <a:t>）边，同理，</a:t>
            </a:r>
            <a:r>
              <a:rPr lang="en-US" altLang="zh-CN" sz="2000" dirty="0"/>
              <a:t>E</a:t>
            </a:r>
            <a:r>
              <a:rPr lang="zh-CN" altLang="zh-CN" sz="2000" dirty="0"/>
              <a:t>的父结点为</a:t>
            </a:r>
            <a:r>
              <a:rPr lang="en-US" altLang="zh-CN" sz="2000" dirty="0"/>
              <a:t>A</a:t>
            </a:r>
            <a:r>
              <a:rPr lang="zh-CN" altLang="zh-CN" sz="2000" dirty="0"/>
              <a:t>；</a:t>
            </a:r>
          </a:p>
          <a:p>
            <a:r>
              <a:rPr lang="zh-CN" altLang="zh-CN" sz="2000" dirty="0"/>
              <a:t>第四次要加入（</a:t>
            </a:r>
            <a:r>
              <a:rPr lang="en-US" altLang="zh-CN" sz="2000" dirty="0"/>
              <a:t>D</a:t>
            </a:r>
            <a:r>
              <a:rPr lang="zh-CN" altLang="zh-CN" sz="2000" dirty="0"/>
              <a:t>，</a:t>
            </a:r>
            <a:r>
              <a:rPr lang="en-US" altLang="zh-CN" sz="2000" dirty="0"/>
              <a:t>E</a:t>
            </a:r>
            <a:r>
              <a:rPr lang="zh-CN" altLang="zh-CN" sz="2000" dirty="0"/>
              <a:t>）边，因为</a:t>
            </a:r>
            <a:r>
              <a:rPr lang="en-US" altLang="zh-CN" sz="2000" dirty="0"/>
              <a:t>D</a:t>
            </a:r>
            <a:r>
              <a:rPr lang="zh-CN" altLang="zh-CN" sz="2000" dirty="0"/>
              <a:t>，</a:t>
            </a:r>
            <a:r>
              <a:rPr lang="en-US" altLang="zh-CN" sz="2000" dirty="0"/>
              <a:t>E</a:t>
            </a:r>
            <a:r>
              <a:rPr lang="zh-CN" altLang="zh-CN" sz="2000" dirty="0"/>
              <a:t>的父结点都为</a:t>
            </a:r>
            <a:r>
              <a:rPr lang="en-US" altLang="zh-CN" sz="2000" dirty="0"/>
              <a:t>A</a:t>
            </a:r>
            <a:r>
              <a:rPr lang="zh-CN" altLang="zh-CN" sz="2000" dirty="0"/>
              <a:t>，表示</a:t>
            </a:r>
            <a:r>
              <a:rPr lang="en-US" altLang="zh-CN" sz="2000" dirty="0"/>
              <a:t>E</a:t>
            </a:r>
            <a:r>
              <a:rPr lang="zh-CN" altLang="zh-CN" sz="2000" dirty="0"/>
              <a:t>，</a:t>
            </a:r>
            <a:r>
              <a:rPr lang="en-US" altLang="zh-CN" sz="2000" dirty="0"/>
              <a:t>D</a:t>
            </a:r>
            <a:r>
              <a:rPr lang="zh-CN" altLang="zh-CN" sz="2000" dirty="0"/>
              <a:t>在一个分支中，会形成回路，拒绝加入；</a:t>
            </a:r>
          </a:p>
          <a:p>
            <a:r>
              <a:rPr lang="zh-CN" altLang="zh-CN" sz="2000" dirty="0"/>
              <a:t>第五次要加入（</a:t>
            </a:r>
            <a:r>
              <a:rPr lang="en-US" altLang="zh-CN" sz="2000" dirty="0"/>
              <a:t>A</a:t>
            </a:r>
            <a:r>
              <a:rPr lang="zh-CN" altLang="zh-CN" sz="2000" dirty="0"/>
              <a:t>，</a:t>
            </a:r>
            <a:r>
              <a:rPr lang="en-US" altLang="zh-CN" sz="2000" dirty="0"/>
              <a:t>E</a:t>
            </a:r>
            <a:r>
              <a:rPr lang="zh-CN" altLang="zh-CN" sz="2000" dirty="0"/>
              <a:t>）边，因为</a:t>
            </a:r>
            <a:r>
              <a:rPr lang="en-US" altLang="zh-CN" sz="2000" dirty="0"/>
              <a:t>A</a:t>
            </a:r>
            <a:r>
              <a:rPr lang="zh-CN" altLang="zh-CN" sz="2000" dirty="0"/>
              <a:t>，</a:t>
            </a:r>
            <a:r>
              <a:rPr lang="en-US" altLang="zh-CN" sz="2000" dirty="0"/>
              <a:t>E</a:t>
            </a:r>
            <a:r>
              <a:rPr lang="zh-CN" altLang="zh-CN" sz="2000" dirty="0"/>
              <a:t>的父结点都为</a:t>
            </a:r>
            <a:r>
              <a:rPr lang="en-US" altLang="zh-CN" sz="2000" dirty="0"/>
              <a:t>A</a:t>
            </a:r>
            <a:r>
              <a:rPr lang="zh-CN" altLang="zh-CN" sz="2000" dirty="0"/>
              <a:t>，拒绝加入；</a:t>
            </a:r>
          </a:p>
          <a:p>
            <a:r>
              <a:rPr lang="zh-CN" altLang="zh-CN" sz="2000" dirty="0"/>
              <a:t>第六次加入（</a:t>
            </a:r>
            <a:r>
              <a:rPr lang="en-US" altLang="zh-CN" sz="2000" dirty="0"/>
              <a:t>B</a:t>
            </a:r>
            <a:r>
              <a:rPr lang="zh-CN" altLang="zh-CN" sz="2000" dirty="0"/>
              <a:t>，</a:t>
            </a:r>
            <a:r>
              <a:rPr lang="en-US" altLang="zh-CN" sz="2000" dirty="0"/>
              <a:t>D</a:t>
            </a:r>
            <a:r>
              <a:rPr lang="zh-CN" altLang="zh-CN" sz="2000" dirty="0"/>
              <a:t>）边，</a:t>
            </a:r>
            <a:r>
              <a:rPr lang="en-US" altLang="zh-CN" sz="2000" dirty="0"/>
              <a:t>D</a:t>
            </a:r>
            <a:r>
              <a:rPr lang="zh-CN" altLang="zh-CN" sz="2000" dirty="0"/>
              <a:t>的父结点为</a:t>
            </a:r>
            <a:r>
              <a:rPr lang="en-US" altLang="zh-CN" sz="2000" dirty="0"/>
              <a:t>A</a:t>
            </a:r>
            <a:r>
              <a:rPr lang="zh-CN" altLang="zh-CN" sz="2000" dirty="0"/>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0"/>
            <a:ext cx="9144000" cy="5016758"/>
          </a:xfrm>
          <a:prstGeom prst="rect">
            <a:avLst/>
          </a:prstGeom>
        </p:spPr>
        <p:txBody>
          <a:bodyPr wrap="square">
            <a:spAutoFit/>
          </a:bodyPr>
          <a:lstStyle/>
          <a:p>
            <a:r>
              <a:rPr lang="en-US" altLang="zh-CN" sz="1600" kern="0" dirty="0" err="1">
                <a:solidFill>
                  <a:srgbClr val="8000FF"/>
                </a:solidFill>
                <a:latin typeface="YaHei Consolas Hybrid"/>
                <a:ea typeface="宋体" panose="02010600030101010101" pitchFamily="2" charset="-122"/>
                <a:cs typeface="Courier New" panose="02070309020205020404"/>
              </a:rPr>
              <a:t>int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Getfather</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8000FF"/>
                </a:solidFill>
                <a:latin typeface="YaHei Consolas Hybrid"/>
                <a:ea typeface="宋体" panose="02010600030101010101" pitchFamily="2" charset="-122"/>
                <a:cs typeface="Courier New" panose="02070309020205020404"/>
              </a:rPr>
              <a:t>int</a:t>
            </a:r>
            <a:r>
              <a:rPr lang="en-US" altLang="zh-CN" sz="1600" kern="0" dirty="0">
                <a:solidFill>
                  <a:srgbClr val="000000"/>
                </a:solidFill>
                <a:latin typeface="YaHei Consolas Hybrid"/>
                <a:ea typeface="宋体" panose="02010600030101010101" pitchFamily="2" charset="-122"/>
                <a:cs typeface="Courier New" panose="02070309020205020404"/>
              </a:rPr>
              <a:t> x</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a:solidFill>
                  <a:srgbClr val="008000"/>
                </a:solidFill>
                <a:latin typeface="YaHei Consolas Hybrid"/>
                <a:ea typeface="宋体" panose="02010600030101010101" pitchFamily="2" charset="-122"/>
                <a:cs typeface="Courier New" panose="02070309020205020404"/>
              </a:rPr>
              <a:t>//</a:t>
            </a:r>
            <a:r>
              <a:rPr lang="zh-CN" altLang="zh-CN" sz="1600" kern="0" dirty="0">
                <a:solidFill>
                  <a:srgbClr val="008000"/>
                </a:solidFill>
                <a:latin typeface="Times New Roman" panose="02020603050405020304"/>
                <a:ea typeface="YaHei Consolas Hybrid"/>
                <a:cs typeface="Courier New" panose="02070309020205020404"/>
              </a:rPr>
              <a:t>查找点</a:t>
            </a:r>
            <a:r>
              <a:rPr lang="en-US" altLang="zh-CN" sz="1600" kern="0" dirty="0">
                <a:solidFill>
                  <a:srgbClr val="008000"/>
                </a:solidFill>
                <a:latin typeface="Times New Roman" panose="02020603050405020304"/>
                <a:ea typeface="YaHei Consolas Hybrid"/>
                <a:cs typeface="Courier New" panose="02070309020205020404"/>
              </a:rPr>
              <a:t>x</a:t>
            </a:r>
            <a:r>
              <a:rPr lang="zh-CN" altLang="zh-CN" sz="1600" kern="0" dirty="0">
                <a:solidFill>
                  <a:srgbClr val="008000"/>
                </a:solidFill>
                <a:latin typeface="Times New Roman" panose="02020603050405020304"/>
                <a:ea typeface="YaHei Consolas Hybrid"/>
                <a:cs typeface="Courier New" panose="02070309020205020404"/>
              </a:rPr>
              <a:t>属于的集合</a:t>
            </a:r>
            <a:endParaRPr lang="zh-CN" altLang="zh-CN" sz="1800" kern="100" dirty="0">
              <a:latin typeface="Times New Roman" panose="02020603050405020304"/>
              <a:ea typeface="宋体" panose="02010600030101010101" pitchFamily="2" charset="-122"/>
            </a:endParaRPr>
          </a:p>
          <a:p>
            <a:pPr indent="139700"/>
            <a:r>
              <a:rPr lang="en-US" altLang="zh-CN" sz="1600" kern="0" dirty="0">
                <a:solidFill>
                  <a:srgbClr val="008000"/>
                </a:solidFill>
                <a:latin typeface="YaHei Consolas Hybrid"/>
                <a:ea typeface="宋体" panose="02010600030101010101" pitchFamily="2" charset="-122"/>
                <a:cs typeface="Courier New" panose="02070309020205020404"/>
              </a:rPr>
              <a:t>//</a:t>
            </a:r>
            <a:r>
              <a:rPr lang="zh-CN" altLang="zh-CN" sz="1600" kern="0" dirty="0">
                <a:solidFill>
                  <a:srgbClr val="008000"/>
                </a:solidFill>
                <a:latin typeface="Times New Roman" panose="02020603050405020304"/>
                <a:ea typeface="YaHei Consolas Hybrid"/>
                <a:cs typeface="Courier New" panose="02070309020205020404"/>
              </a:rPr>
              <a:t>如</a:t>
            </a:r>
            <a:r>
              <a:rPr lang="en-US" altLang="zh-CN" sz="1600" kern="0" dirty="0">
                <a:solidFill>
                  <a:srgbClr val="008000"/>
                </a:solidFill>
                <a:latin typeface="Times New Roman" panose="02020603050405020304"/>
                <a:ea typeface="YaHei Consolas Hybrid"/>
                <a:cs typeface="Courier New" panose="02070309020205020404"/>
              </a:rPr>
              <a:t>dad[x]=x</a:t>
            </a:r>
            <a:r>
              <a:rPr lang="zh-CN" altLang="zh-CN" sz="1600" kern="0" dirty="0">
                <a:solidFill>
                  <a:srgbClr val="008000"/>
                </a:solidFill>
                <a:latin typeface="Times New Roman" panose="02020603050405020304"/>
                <a:ea typeface="YaHei Consolas Hybrid"/>
                <a:cs typeface="Courier New" panose="02070309020205020404"/>
              </a:rPr>
              <a:t>，则</a:t>
            </a:r>
            <a:r>
              <a:rPr lang="en-US" altLang="zh-CN" sz="1600" kern="0" dirty="0">
                <a:solidFill>
                  <a:srgbClr val="008000"/>
                </a:solidFill>
                <a:latin typeface="Times New Roman" panose="02020603050405020304"/>
                <a:ea typeface="YaHei Consolas Hybrid"/>
                <a:cs typeface="Courier New" panose="02070309020205020404"/>
              </a:rPr>
              <a:t>x</a:t>
            </a:r>
            <a:r>
              <a:rPr lang="zh-CN" altLang="zh-CN" sz="1600" kern="0" dirty="0">
                <a:solidFill>
                  <a:srgbClr val="008000"/>
                </a:solidFill>
                <a:latin typeface="Times New Roman" panose="02020603050405020304"/>
                <a:ea typeface="YaHei Consolas Hybrid"/>
                <a:cs typeface="Courier New" panose="02070309020205020404"/>
              </a:rPr>
              <a:t>本身即树根，返回</a:t>
            </a:r>
            <a:r>
              <a:rPr lang="en-US" altLang="zh-CN" sz="1600" kern="0" dirty="0">
                <a:solidFill>
                  <a:srgbClr val="008000"/>
                </a:solidFill>
                <a:latin typeface="Times New Roman" panose="02020603050405020304"/>
                <a:ea typeface="YaHei Consolas Hybrid"/>
                <a:cs typeface="Courier New" panose="02070309020205020404"/>
              </a:rPr>
              <a:t>x,</a:t>
            </a:r>
            <a:r>
              <a:rPr lang="zh-CN" altLang="zh-CN" sz="1600" kern="0" dirty="0">
                <a:solidFill>
                  <a:srgbClr val="008000"/>
                </a:solidFill>
                <a:latin typeface="Times New Roman" panose="02020603050405020304"/>
                <a:ea typeface="YaHei Consolas Hybrid"/>
                <a:cs typeface="Courier New" panose="02070309020205020404"/>
              </a:rPr>
              <a:t>否则返回</a:t>
            </a:r>
            <a:r>
              <a:rPr lang="en-US" altLang="zh-CN" sz="1600" kern="0" dirty="0">
                <a:solidFill>
                  <a:srgbClr val="008000"/>
                </a:solidFill>
                <a:latin typeface="Times New Roman" panose="02020603050405020304"/>
                <a:ea typeface="YaHei Consolas Hybrid"/>
                <a:cs typeface="Courier New" panose="02070309020205020404"/>
              </a:rPr>
              <a:t>x</a:t>
            </a:r>
            <a:r>
              <a:rPr lang="zh-CN" altLang="zh-CN" sz="1600" kern="0" dirty="0">
                <a:solidFill>
                  <a:srgbClr val="008000"/>
                </a:solidFill>
                <a:latin typeface="Times New Roman" panose="02020603050405020304"/>
                <a:ea typeface="YaHei Consolas Hybrid"/>
                <a:cs typeface="Courier New" panose="02070309020205020404"/>
              </a:rPr>
              <a:t>的父亲</a:t>
            </a:r>
            <a:r>
              <a:rPr lang="en-US" altLang="zh-CN" sz="1600" kern="0" dirty="0">
                <a:solidFill>
                  <a:srgbClr val="008000"/>
                </a:solidFill>
                <a:latin typeface="Times New Roman" panose="02020603050405020304"/>
                <a:ea typeface="YaHei Consolas Hybrid"/>
                <a:cs typeface="Courier New" panose="02070309020205020404"/>
              </a:rPr>
              <a:t>dad[x]</a:t>
            </a:r>
            <a:r>
              <a:rPr lang="zh-CN" altLang="zh-CN" sz="1600" kern="0" dirty="0">
                <a:solidFill>
                  <a:srgbClr val="008000"/>
                </a:solidFill>
                <a:latin typeface="Times New Roman" panose="02020603050405020304"/>
                <a:ea typeface="YaHei Consolas Hybrid"/>
                <a:cs typeface="Courier New" panose="02070309020205020404"/>
              </a:rPr>
              <a:t>所在树的根结点</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FF"/>
                </a:solidFill>
                <a:latin typeface="YaHei Consolas Hybrid"/>
                <a:ea typeface="宋体" panose="02010600030101010101" pitchFamily="2" charset="-122"/>
                <a:cs typeface="Courier New" panose="02070309020205020404"/>
              </a:rPr>
              <a:t>return</a:t>
            </a:r>
            <a:r>
              <a:rPr lang="en-US" altLang="zh-CN" sz="1600" kern="0" dirty="0">
                <a:solidFill>
                  <a:srgbClr val="000000"/>
                </a:solidFill>
                <a:latin typeface="YaHei Consolas Hybrid"/>
                <a:ea typeface="宋体" panose="02010600030101010101" pitchFamily="2" charset="-122"/>
                <a:cs typeface="Courier New" panose="02070309020205020404"/>
              </a:rPr>
              <a:t> dad</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x</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000000"/>
                </a:solidFill>
                <a:latin typeface="YaHei Consolas Hybrid"/>
                <a:ea typeface="宋体" panose="02010600030101010101" pitchFamily="2" charset="-122"/>
                <a:cs typeface="Courier New" panose="02070309020205020404"/>
              </a:rPr>
              <a:t>x</a:t>
            </a:r>
            <a:r>
              <a:rPr lang="en-US" altLang="zh-CN" sz="1600" b="1" kern="0" dirty="0" err="1">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000000"/>
                </a:solidFill>
                <a:latin typeface="YaHei Consolas Hybrid"/>
                <a:ea typeface="宋体" panose="02010600030101010101" pitchFamily="2" charset="-122"/>
                <a:cs typeface="Courier New" panose="02070309020205020404"/>
              </a:rPr>
              <a:t>x</a:t>
            </a:r>
            <a:r>
              <a:rPr lang="en-US" altLang="zh-CN" sz="1600" b="1" kern="0" dirty="0" err="1">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000000"/>
                </a:solidFill>
                <a:latin typeface="YaHei Consolas Hybrid"/>
                <a:ea typeface="宋体" panose="02010600030101010101" pitchFamily="2" charset="-122"/>
                <a:cs typeface="Courier New" panose="02070309020205020404"/>
              </a:rPr>
              <a:t>dad</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x</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000000"/>
                </a:solidFill>
                <a:latin typeface="YaHei Consolas Hybrid"/>
                <a:ea typeface="宋体" panose="02010600030101010101" pitchFamily="2" charset="-122"/>
                <a:cs typeface="Courier New" panose="02070309020205020404"/>
              </a:rPr>
              <a:t>Getfather</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dad</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x</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endParaRPr lang="zh-CN" altLang="zh-CN" sz="1800" kern="100" dirty="0">
              <a:latin typeface="Times New Roman" panose="02020603050405020304"/>
              <a:ea typeface="宋体" panose="02010600030101010101" pitchFamily="2" charset="-122"/>
            </a:endParaRPr>
          </a:p>
          <a:p>
            <a:r>
              <a:rPr lang="en-US" altLang="zh-CN" sz="1600" kern="0" dirty="0">
                <a:solidFill>
                  <a:srgbClr val="8000FF"/>
                </a:solidFill>
                <a:latin typeface="YaHei Consolas Hybrid"/>
                <a:ea typeface="宋体" panose="02010600030101010101" pitchFamily="2" charset="-122"/>
                <a:cs typeface="Courier New" panose="02070309020205020404"/>
              </a:rPr>
              <a:t>void</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Kruskal</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a:solidFill>
                  <a:srgbClr val="008000"/>
                </a:solidFill>
                <a:latin typeface="YaHei Consolas Hybrid"/>
                <a:ea typeface="宋体" panose="02010600030101010101" pitchFamily="2" charset="-122"/>
                <a:cs typeface="Courier New" panose="02070309020205020404"/>
              </a:rPr>
              <a:t>//</a:t>
            </a:r>
            <a:r>
              <a:rPr lang="en-US" altLang="zh-CN" sz="1600" kern="0" dirty="0" err="1">
                <a:solidFill>
                  <a:srgbClr val="008000"/>
                </a:solidFill>
                <a:latin typeface="YaHei Consolas Hybrid"/>
                <a:ea typeface="宋体" panose="02010600030101010101" pitchFamily="2" charset="-122"/>
                <a:cs typeface="Courier New" panose="02070309020205020404"/>
              </a:rPr>
              <a:t>Kruskal</a:t>
            </a:r>
            <a:r>
              <a:rPr lang="zh-CN" altLang="zh-CN" sz="1600" kern="0" dirty="0">
                <a:solidFill>
                  <a:srgbClr val="008000"/>
                </a:solidFill>
                <a:latin typeface="Times New Roman" panose="02020603050405020304"/>
                <a:ea typeface="YaHei Consolas Hybrid"/>
                <a:cs typeface="Courier New" panose="02070309020205020404"/>
              </a:rPr>
              <a:t>算法</a:t>
            </a:r>
            <a:endParaRPr lang="zh-CN" altLang="zh-CN" sz="1800" kern="100" dirty="0">
              <a:latin typeface="Times New Roman" panose="02020603050405020304"/>
              <a:ea typeface="宋体" panose="02010600030101010101" pitchFamily="2" charset="-122"/>
            </a:endParaRPr>
          </a:p>
          <a:p>
            <a:r>
              <a:rPr lang="en-US" altLang="zh-CN" sz="1600" b="1" kern="0" dirty="0">
                <a:solidFill>
                  <a:srgbClr val="0000FF"/>
                </a:solidFill>
                <a:latin typeface="YaHei Consolas Hybrid"/>
                <a:ea typeface="宋体" panose="02010600030101010101" pitchFamily="2" charset="-122"/>
                <a:cs typeface="Courier New" panose="02070309020205020404"/>
              </a:rPr>
              <a:t>  for</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8000FF"/>
                </a:solidFill>
                <a:latin typeface="YaHei Consolas Hybrid"/>
                <a:ea typeface="宋体" panose="02010600030101010101" pitchFamily="2" charset="-122"/>
                <a:cs typeface="Courier New" panose="02070309020205020404"/>
              </a:rPr>
              <a:t>int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FF8000"/>
                </a:solidFill>
                <a:latin typeface="YaHei Consolas Hybrid"/>
                <a:ea typeface="宋体" panose="02010600030101010101" pitchFamily="2" charset="-122"/>
                <a:cs typeface="Courier New" panose="02070309020205020404"/>
              </a:rPr>
              <a:t>1</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&lt;=</a:t>
            </a:r>
            <a:r>
              <a:rPr lang="en-US" altLang="zh-CN" sz="1600" kern="0" dirty="0">
                <a:solidFill>
                  <a:srgbClr val="000000"/>
                </a:solidFill>
                <a:latin typeface="YaHei Consolas Hybrid"/>
                <a:ea typeface="宋体" panose="02010600030101010101" pitchFamily="2" charset="-122"/>
                <a:cs typeface="Courier New" panose="02070309020205020404"/>
              </a:rPr>
              <a:t>n</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dad</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a:solidFill>
                  <a:srgbClr val="008000"/>
                </a:solidFill>
                <a:latin typeface="YaHei Consolas Hybrid"/>
                <a:ea typeface="宋体" panose="02010600030101010101" pitchFamily="2" charset="-122"/>
                <a:cs typeface="Courier New" panose="02070309020205020404"/>
              </a:rPr>
              <a:t>//</a:t>
            </a:r>
            <a:r>
              <a:rPr lang="zh-CN" altLang="zh-CN" sz="1600" kern="0" dirty="0">
                <a:solidFill>
                  <a:srgbClr val="008000"/>
                </a:solidFill>
                <a:latin typeface="Times New Roman" panose="02020603050405020304"/>
                <a:ea typeface="YaHei Consolas Hybrid"/>
                <a:cs typeface="Courier New" panose="02070309020205020404"/>
              </a:rPr>
              <a:t>初始化点的集合</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8000FF"/>
                </a:solidFill>
                <a:latin typeface="YaHei Consolas Hybrid"/>
                <a:ea typeface="宋体" panose="02010600030101010101" pitchFamily="2" charset="-122"/>
                <a:cs typeface="Courier New" panose="02070309020205020404"/>
              </a:rPr>
              <a:t>int</a:t>
            </a:r>
            <a:r>
              <a:rPr lang="en-US" altLang="zh-CN" sz="1600" kern="0" dirty="0">
                <a:solidFill>
                  <a:srgbClr val="000000"/>
                </a:solidFill>
                <a:latin typeface="YaHei Consolas Hybrid"/>
                <a:ea typeface="宋体" panose="02010600030101010101" pitchFamily="2" charset="-122"/>
                <a:cs typeface="Courier New" panose="02070309020205020404"/>
              </a:rPr>
              <a:t> count</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FF8000"/>
                </a:solidFill>
                <a:latin typeface="YaHei Consolas Hybrid"/>
                <a:ea typeface="宋体" panose="02010600030101010101" pitchFamily="2" charset="-122"/>
                <a:cs typeface="Courier New" panose="02070309020205020404"/>
              </a:rPr>
              <a:t>1</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ans</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FF8000"/>
                </a:solidFill>
                <a:latin typeface="YaHei Consolas Hybrid"/>
                <a:ea typeface="宋体" panose="02010600030101010101" pitchFamily="2" charset="-122"/>
                <a:cs typeface="Courier New" panose="02070309020205020404"/>
              </a:rPr>
              <a:t>0</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a:solidFill>
                  <a:srgbClr val="008000"/>
                </a:solidFill>
                <a:latin typeface="YaHei Consolas Hybrid"/>
                <a:ea typeface="宋体" panose="02010600030101010101" pitchFamily="2" charset="-122"/>
                <a:cs typeface="Courier New" panose="02070309020205020404"/>
              </a:rPr>
              <a:t>//count</a:t>
            </a:r>
            <a:r>
              <a:rPr lang="zh-CN" altLang="zh-CN" sz="1600" kern="0" dirty="0">
                <a:solidFill>
                  <a:srgbClr val="008000"/>
                </a:solidFill>
                <a:latin typeface="Times New Roman" panose="02020603050405020304"/>
                <a:ea typeface="YaHei Consolas Hybrid"/>
                <a:cs typeface="Courier New" panose="02070309020205020404"/>
              </a:rPr>
              <a:t>为加入的顶点数</a:t>
            </a:r>
            <a:r>
              <a:rPr lang="en-US" altLang="zh-CN" sz="1600" kern="0" dirty="0">
                <a:solidFill>
                  <a:srgbClr val="008000"/>
                </a:solidFill>
                <a:latin typeface="Times New Roman" panose="02020603050405020304"/>
                <a:ea typeface="YaHei Consolas Hybrid"/>
                <a:cs typeface="Courier New" panose="02070309020205020404"/>
              </a:rPr>
              <a:t>,</a:t>
            </a:r>
            <a:r>
              <a:rPr lang="zh-CN" altLang="zh-CN" sz="1600" kern="0" dirty="0">
                <a:solidFill>
                  <a:srgbClr val="008000"/>
                </a:solidFill>
                <a:latin typeface="Times New Roman" panose="02020603050405020304"/>
                <a:ea typeface="YaHei Consolas Hybrid"/>
                <a:cs typeface="Courier New" panose="02070309020205020404"/>
              </a:rPr>
              <a:t>设为</a:t>
            </a:r>
            <a:r>
              <a:rPr lang="en-US" altLang="zh-CN" sz="1600" kern="0" dirty="0">
                <a:solidFill>
                  <a:srgbClr val="008000"/>
                </a:solidFill>
                <a:latin typeface="Times New Roman" panose="02020603050405020304"/>
                <a:ea typeface="YaHei Consolas Hybrid"/>
                <a:cs typeface="Courier New" panose="02070309020205020404"/>
              </a:rPr>
              <a:t>1</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FF"/>
                </a:solidFill>
                <a:latin typeface="YaHei Consolas Hybrid"/>
                <a:ea typeface="宋体" panose="02010600030101010101" pitchFamily="2" charset="-122"/>
                <a:cs typeface="Courier New" panose="02070309020205020404"/>
              </a:rPr>
              <a:t>for</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8000FF"/>
                </a:solidFill>
                <a:latin typeface="YaHei Consolas Hybrid"/>
                <a:ea typeface="宋体" panose="02010600030101010101" pitchFamily="2" charset="-122"/>
                <a:cs typeface="Courier New" panose="02070309020205020404"/>
              </a:rPr>
              <a:t>int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FF8000"/>
                </a:solidFill>
                <a:latin typeface="YaHei Consolas Hybrid"/>
                <a:ea typeface="宋体" panose="02010600030101010101" pitchFamily="2" charset="-122"/>
                <a:cs typeface="Courier New" panose="02070309020205020404"/>
              </a:rPr>
              <a:t>1</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&lt;=</a:t>
            </a:r>
            <a:r>
              <a:rPr lang="en-US" altLang="zh-CN" sz="1600" kern="0" dirty="0">
                <a:solidFill>
                  <a:srgbClr val="000000"/>
                </a:solidFill>
                <a:latin typeface="YaHei Consolas Hybrid"/>
                <a:ea typeface="宋体" panose="02010600030101010101" pitchFamily="2" charset="-122"/>
                <a:cs typeface="Courier New" panose="02070309020205020404"/>
              </a:rPr>
              <a:t>e</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               </a:t>
            </a:r>
            <a:r>
              <a:rPr lang="en-US" altLang="zh-CN" sz="1600" kern="0" dirty="0">
                <a:solidFill>
                  <a:srgbClr val="008000"/>
                </a:solidFill>
                <a:latin typeface="YaHei Consolas Hybrid"/>
                <a:ea typeface="宋体" panose="02010600030101010101" pitchFamily="2" charset="-122"/>
                <a:cs typeface="Courier New" panose="02070309020205020404"/>
              </a:rPr>
              <a:t>//</a:t>
            </a:r>
            <a:r>
              <a:rPr lang="zh-CN" altLang="zh-CN" sz="1600" kern="0" dirty="0">
                <a:solidFill>
                  <a:srgbClr val="008000"/>
                </a:solidFill>
                <a:latin typeface="Times New Roman" panose="02020603050405020304"/>
                <a:ea typeface="YaHei Consolas Hybrid"/>
                <a:cs typeface="Courier New" panose="02070309020205020404"/>
              </a:rPr>
              <a:t>枚举每一条边 </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FF"/>
                </a:solidFill>
                <a:latin typeface="YaHei Consolas Hybrid"/>
                <a:ea typeface="宋体" panose="02010600030101010101" pitchFamily="2" charset="-122"/>
                <a:cs typeface="Courier New" panose="02070309020205020404"/>
              </a:rPr>
              <a:t>if</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000000"/>
                </a:solidFill>
                <a:latin typeface="YaHei Consolas Hybrid"/>
                <a:ea typeface="宋体" panose="02010600030101010101" pitchFamily="2" charset="-122"/>
                <a:cs typeface="Courier New" panose="02070309020205020404"/>
              </a:rPr>
              <a:t>Getfather</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x</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000000"/>
                </a:solidFill>
                <a:latin typeface="YaHei Consolas Hybrid"/>
                <a:ea typeface="宋体" panose="02010600030101010101" pitchFamily="2" charset="-122"/>
                <a:cs typeface="Courier New" panose="02070309020205020404"/>
              </a:rPr>
              <a:t>Getfather</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y</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 { </a:t>
            </a:r>
            <a:r>
              <a:rPr lang="en-US" altLang="zh-CN" sz="1600" kern="0" dirty="0">
                <a:solidFill>
                  <a:srgbClr val="008000"/>
                </a:solidFill>
                <a:latin typeface="YaHei Consolas Hybrid"/>
                <a:ea typeface="宋体" panose="02010600030101010101" pitchFamily="2" charset="-122"/>
                <a:cs typeface="Courier New" panose="02070309020205020404"/>
              </a:rPr>
              <a:t>//</a:t>
            </a:r>
            <a:r>
              <a:rPr lang="zh-CN" altLang="zh-CN" sz="1600" kern="0" dirty="0">
                <a:solidFill>
                  <a:srgbClr val="008000"/>
                </a:solidFill>
                <a:latin typeface="Times New Roman" panose="02020603050405020304"/>
                <a:ea typeface="YaHei Consolas Hybrid"/>
                <a:cs typeface="Courier New" panose="02070309020205020404"/>
              </a:rPr>
              <a:t>如边的两点不在同一集合，则归并</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ans</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w</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a:solidFill>
                  <a:srgbClr val="008000"/>
                </a:solidFill>
                <a:latin typeface="YaHei Consolas Hybrid"/>
                <a:ea typeface="宋体" panose="02010600030101010101" pitchFamily="2" charset="-122"/>
                <a:cs typeface="Courier New" panose="02070309020205020404"/>
              </a:rPr>
              <a:t>//</a:t>
            </a:r>
            <a:r>
              <a:rPr lang="zh-CN" altLang="zh-CN" sz="1600" kern="0" dirty="0">
                <a:solidFill>
                  <a:srgbClr val="008000"/>
                </a:solidFill>
                <a:latin typeface="Times New Roman" panose="02020603050405020304"/>
                <a:ea typeface="YaHei Consolas Hybrid"/>
                <a:cs typeface="Courier New" panose="02070309020205020404"/>
              </a:rPr>
              <a:t>加入这条边并统计其权值</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dad</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000000"/>
                </a:solidFill>
                <a:latin typeface="YaHei Consolas Hybrid"/>
                <a:ea typeface="宋体" panose="02010600030101010101" pitchFamily="2" charset="-122"/>
                <a:cs typeface="Courier New" panose="02070309020205020404"/>
              </a:rPr>
              <a:t>Getfather</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x</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y</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a:solidFill>
                  <a:srgbClr val="008000"/>
                </a:solidFill>
                <a:latin typeface="YaHei Consolas Hybrid"/>
                <a:ea typeface="宋体" panose="02010600030101010101" pitchFamily="2" charset="-122"/>
                <a:cs typeface="Courier New" panose="02070309020205020404"/>
              </a:rPr>
              <a:t>//</a:t>
            </a:r>
            <a:r>
              <a:rPr lang="zh-CN" altLang="zh-CN" sz="1600" kern="0" dirty="0">
                <a:solidFill>
                  <a:srgbClr val="008000"/>
                </a:solidFill>
                <a:latin typeface="Times New Roman" panose="02020603050405020304"/>
                <a:ea typeface="YaHei Consolas Hybrid"/>
                <a:cs typeface="Courier New" panose="02070309020205020404"/>
              </a:rPr>
              <a:t>合为同一父结点集合</a:t>
            </a:r>
            <a:r>
              <a:rPr lang="en-US" altLang="zh-CN" sz="1600" kern="0" dirty="0">
                <a:solidFill>
                  <a:srgbClr val="008000"/>
                </a:solidFill>
                <a:latin typeface="Times New Roman" panose="02020603050405020304"/>
                <a:ea typeface="YaHei Consolas Hybrid"/>
                <a:cs typeface="Courier New" panose="02070309020205020404"/>
              </a:rPr>
              <a:t>,</a:t>
            </a:r>
            <a:r>
              <a:rPr lang="zh-CN" altLang="zh-CN" sz="1600" kern="0" dirty="0">
                <a:solidFill>
                  <a:srgbClr val="008000"/>
                </a:solidFill>
                <a:latin typeface="Times New Roman" panose="02020603050405020304"/>
                <a:ea typeface="YaHei Consolas Hybrid"/>
                <a:cs typeface="Courier New" panose="02070309020205020404"/>
              </a:rPr>
              <a:t>此处是取</a:t>
            </a:r>
            <a:r>
              <a:rPr lang="en-US" altLang="zh-CN" sz="1600" kern="0" dirty="0">
                <a:solidFill>
                  <a:srgbClr val="008000"/>
                </a:solidFill>
                <a:latin typeface="Times New Roman" panose="02020603050405020304"/>
                <a:ea typeface="YaHei Consolas Hybrid"/>
                <a:cs typeface="Courier New" panose="02070309020205020404"/>
              </a:rPr>
              <a:t>y[</a:t>
            </a:r>
            <a:r>
              <a:rPr lang="en-US" altLang="zh-CN" sz="1600" kern="0" dirty="0" err="1">
                <a:solidFill>
                  <a:srgbClr val="008000"/>
                </a:solidFill>
                <a:latin typeface="Times New Roman" panose="02020603050405020304"/>
                <a:ea typeface="YaHei Consolas Hybrid"/>
                <a:cs typeface="Courier New" panose="02070309020205020404"/>
              </a:rPr>
              <a:t>i</a:t>
            </a:r>
            <a:r>
              <a:rPr lang="en-US" altLang="zh-CN" sz="1600" kern="0" dirty="0">
                <a:solidFill>
                  <a:srgbClr val="008000"/>
                </a:solidFill>
                <a:latin typeface="Times New Roman" panose="02020603050405020304"/>
                <a:ea typeface="YaHei Consolas Hybrid"/>
                <a:cs typeface="Courier New" panose="02070309020205020404"/>
              </a:rPr>
              <a:t>]</a:t>
            </a:r>
            <a:r>
              <a:rPr lang="zh-CN" altLang="zh-CN" sz="1600" kern="0" dirty="0">
                <a:solidFill>
                  <a:srgbClr val="008000"/>
                </a:solidFill>
                <a:latin typeface="Times New Roman" panose="02020603050405020304"/>
                <a:ea typeface="YaHei Consolas Hybrid"/>
                <a:cs typeface="Courier New" panose="02070309020205020404"/>
              </a:rPr>
              <a:t>的值</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count</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FF"/>
                </a:solidFill>
                <a:latin typeface="YaHei Consolas Hybrid"/>
                <a:ea typeface="宋体" panose="02010600030101010101" pitchFamily="2" charset="-122"/>
                <a:cs typeface="Courier New" panose="02070309020205020404"/>
              </a:rPr>
              <a:t>if</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count</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n</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8000"/>
                </a:solidFill>
                <a:latin typeface="YaHei Consolas Hybrid"/>
                <a:ea typeface="宋体" panose="02010600030101010101" pitchFamily="2" charset="-122"/>
                <a:cs typeface="Courier New" panose="02070309020205020404"/>
              </a:rPr>
              <a:t> </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8000"/>
                </a:solidFill>
                <a:latin typeface="YaHei Consolas Hybrid"/>
                <a:ea typeface="宋体" panose="02010600030101010101" pitchFamily="2" charset="-122"/>
                <a:cs typeface="Courier New" panose="02070309020205020404"/>
              </a:rPr>
              <a:t>                 //</a:t>
            </a:r>
            <a:r>
              <a:rPr lang="zh-CN" altLang="zh-CN" sz="1600" kern="0" dirty="0">
                <a:solidFill>
                  <a:srgbClr val="008000"/>
                </a:solidFill>
                <a:latin typeface="Times New Roman" panose="02020603050405020304"/>
                <a:ea typeface="YaHei Consolas Hybrid"/>
                <a:cs typeface="Courier New" panose="02070309020205020404"/>
              </a:rPr>
              <a:t>取了</a:t>
            </a:r>
            <a:r>
              <a:rPr lang="en-US" altLang="zh-CN" sz="1600" kern="0" dirty="0">
                <a:solidFill>
                  <a:srgbClr val="008000"/>
                </a:solidFill>
                <a:latin typeface="Times New Roman" panose="02020603050405020304"/>
                <a:ea typeface="YaHei Consolas Hybrid"/>
                <a:cs typeface="Courier New" panose="02070309020205020404"/>
              </a:rPr>
              <a:t>n-1</a:t>
            </a:r>
            <a:r>
              <a:rPr lang="zh-CN" altLang="zh-CN" sz="1600" kern="0" dirty="0">
                <a:solidFill>
                  <a:srgbClr val="008000"/>
                </a:solidFill>
                <a:latin typeface="Times New Roman" panose="02020603050405020304"/>
                <a:ea typeface="YaHei Consolas Hybrid"/>
                <a:cs typeface="Courier New" panose="02070309020205020404"/>
              </a:rPr>
              <a:t>条边，注意</a:t>
            </a:r>
            <a:r>
              <a:rPr lang="en-US" altLang="zh-CN" sz="1600" kern="0" dirty="0">
                <a:solidFill>
                  <a:srgbClr val="008000"/>
                </a:solidFill>
                <a:latin typeface="Times New Roman" panose="02020603050405020304"/>
                <a:ea typeface="YaHei Consolas Hybrid"/>
                <a:cs typeface="Courier New" panose="02070309020205020404"/>
              </a:rPr>
              <a:t>count</a:t>
            </a:r>
            <a:r>
              <a:rPr lang="zh-CN" altLang="zh-CN" sz="1600" kern="0" dirty="0">
                <a:solidFill>
                  <a:srgbClr val="008000"/>
                </a:solidFill>
                <a:latin typeface="Times New Roman" panose="02020603050405020304"/>
                <a:ea typeface="YaHei Consolas Hybrid"/>
                <a:cs typeface="Courier New" panose="02070309020205020404"/>
              </a:rPr>
              <a:t>初始为</a:t>
            </a:r>
            <a:r>
              <a:rPr lang="en-US" altLang="zh-CN" sz="1600" kern="0" dirty="0">
                <a:solidFill>
                  <a:srgbClr val="008000"/>
                </a:solidFill>
                <a:latin typeface="Times New Roman" panose="02020603050405020304"/>
                <a:ea typeface="YaHei Consolas Hybrid"/>
                <a:cs typeface="Courier New" panose="02070309020205020404"/>
              </a:rPr>
              <a:t>1</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cout</a:t>
            </a:r>
            <a:r>
              <a:rPr lang="en-US" altLang="zh-CN" sz="1600" b="1" kern="0" dirty="0">
                <a:solidFill>
                  <a:srgbClr val="000080"/>
                </a:solidFill>
                <a:latin typeface="YaHei Consolas Hybrid"/>
                <a:ea typeface="宋体" panose="02010600030101010101" pitchFamily="2" charset="-122"/>
                <a:cs typeface="Courier New" panose="02070309020205020404"/>
              </a:rPr>
              <a:t>&lt;&lt;</a:t>
            </a:r>
            <a:r>
              <a:rPr lang="en-US" altLang="zh-CN" sz="1600" kern="0" dirty="0" err="1">
                <a:solidFill>
                  <a:srgbClr val="000000"/>
                </a:solidFill>
                <a:latin typeface="YaHei Consolas Hybrid"/>
                <a:ea typeface="宋体" panose="02010600030101010101" pitchFamily="2" charset="-122"/>
                <a:cs typeface="Courier New" panose="02070309020205020404"/>
              </a:rPr>
              <a:t>ans</a:t>
            </a:r>
            <a:r>
              <a:rPr lang="en-US" altLang="zh-CN" sz="1600" b="1" kern="0" dirty="0">
                <a:solidFill>
                  <a:srgbClr val="000080"/>
                </a:solidFill>
                <a:latin typeface="YaHei Consolas Hybrid"/>
                <a:ea typeface="宋体" panose="02010600030101010101" pitchFamily="2" charset="-122"/>
                <a:cs typeface="Courier New" panose="02070309020205020404"/>
              </a:rPr>
              <a:t>&lt;&lt;</a:t>
            </a:r>
            <a:r>
              <a:rPr lang="en-US" altLang="zh-CN" sz="1600" kern="0" dirty="0">
                <a:solidFill>
                  <a:srgbClr val="808080"/>
                </a:solidFill>
                <a:latin typeface="YaHei Consolas Hybrid"/>
                <a:ea typeface="宋体" panose="02010600030101010101" pitchFamily="2" charset="-122"/>
                <a:cs typeface="Courier New" panose="02070309020205020404"/>
              </a:rPr>
              <a:t>"\n"</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FF"/>
                </a:solidFill>
                <a:latin typeface="YaHei Consolas Hybrid"/>
                <a:ea typeface="宋体" panose="02010600030101010101" pitchFamily="2" charset="-122"/>
                <a:cs typeface="Courier New" panose="02070309020205020404"/>
              </a:rPr>
              <a:t>return</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effectLst/>
              <a:latin typeface="Times New Roman" panose="02020603050405020304"/>
              <a:ea typeface="宋体" panose="0201060003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2393604" cy="492443"/>
          </a:xfrm>
          <a:prstGeom prst="rect">
            <a:avLst/>
          </a:prstGeom>
        </p:spPr>
        <p:txBody>
          <a:bodyPr wrap="none">
            <a:spAutoFit/>
          </a:bodyPr>
          <a:lstStyle/>
          <a:p>
            <a:r>
              <a:rPr lang="en-US" altLang="zh-CN" b="1" dirty="0"/>
              <a:t>5.3.2 Prims</a:t>
            </a:r>
            <a:r>
              <a:rPr lang="zh-CN" altLang="zh-CN" b="1" dirty="0"/>
              <a:t>算法</a:t>
            </a:r>
          </a:p>
        </p:txBody>
      </p:sp>
      <p:sp>
        <p:nvSpPr>
          <p:cNvPr id="3" name="矩形 2"/>
          <p:cNvSpPr/>
          <p:nvPr/>
        </p:nvSpPr>
        <p:spPr>
          <a:xfrm>
            <a:off x="0" y="819104"/>
            <a:ext cx="9144000" cy="3046988"/>
          </a:xfrm>
          <a:prstGeom prst="rect">
            <a:avLst/>
          </a:prstGeom>
        </p:spPr>
        <p:txBody>
          <a:bodyPr wrap="square">
            <a:spAutoFit/>
          </a:bodyPr>
          <a:lstStyle/>
          <a:p>
            <a:pPr indent="276225" algn="just">
              <a:spcAft>
                <a:spcPts val="0"/>
              </a:spcAft>
            </a:pPr>
            <a:r>
              <a:rPr lang="en-US" altLang="zh-CN" sz="2400" kern="100" dirty="0">
                <a:latin typeface="Times New Roman" panose="02020603050405020304"/>
                <a:ea typeface="宋体" panose="02010600030101010101" pitchFamily="2" charset="-122"/>
              </a:rPr>
              <a:t>Prims</a:t>
            </a:r>
            <a:r>
              <a:rPr lang="zh-CN" altLang="zh-CN" sz="2400" kern="100" dirty="0">
                <a:latin typeface="Times New Roman" panose="02020603050405020304"/>
                <a:ea typeface="宋体" panose="02010600030101010101" pitchFamily="2" charset="-122"/>
              </a:rPr>
              <a:t>算法是一种基于“贪心”的求最小树算法，其规则是以开始时生成树的集合为起始的顶点，然后找出与生成树集合邻接的边中，加权值最小的边来生成树。为了确定新加入的边不会造成回路，所以每一个新加入的边，只允许有一个顶点在生成树集合中。重复执行此步骤，直到找到</a:t>
            </a:r>
            <a:r>
              <a:rPr lang="en-US" altLang="zh-CN" sz="2400" i="1" kern="100" dirty="0">
                <a:latin typeface="Times New Roman" panose="02020603050405020304"/>
                <a:ea typeface="宋体" panose="02010600030101010101" pitchFamily="2" charset="-122"/>
              </a:rPr>
              <a:t>N</a:t>
            </a:r>
            <a:r>
              <a:rPr lang="zh-CN" altLang="zh-CN" sz="2400" kern="100" dirty="0">
                <a:latin typeface="Times New Roman" panose="02020603050405020304"/>
                <a:ea typeface="宋体" panose="02010600030101010101" pitchFamily="2" charset="-122"/>
              </a:rPr>
              <a:t>－</a:t>
            </a:r>
            <a:r>
              <a:rPr lang="en-US" altLang="zh-CN" sz="2400" kern="100" dirty="0">
                <a:latin typeface="Times New Roman" panose="02020603050405020304"/>
                <a:ea typeface="宋体" panose="02010600030101010101" pitchFamily="2" charset="-122"/>
              </a:rPr>
              <a:t>1</a:t>
            </a:r>
            <a:r>
              <a:rPr lang="zh-CN" altLang="zh-CN" sz="2400" kern="100" dirty="0">
                <a:latin typeface="Times New Roman" panose="02020603050405020304"/>
                <a:ea typeface="宋体" panose="02010600030101010101" pitchFamily="2" charset="-122"/>
              </a:rPr>
              <a:t>个边为止。</a:t>
            </a:r>
            <a:endParaRPr lang="zh-CN" altLang="zh-CN" sz="2000" kern="100" dirty="0">
              <a:latin typeface="Times New Roman" panose="02020603050405020304"/>
              <a:ea typeface="宋体" panose="02010600030101010101" pitchFamily="2" charset="-122"/>
            </a:endParaRPr>
          </a:p>
          <a:p>
            <a:r>
              <a:rPr lang="en-US" altLang="zh-CN" sz="2400" kern="100" dirty="0">
                <a:latin typeface="Times New Roman" panose="02020603050405020304"/>
                <a:ea typeface="宋体" panose="02010600030101010101" pitchFamily="2" charset="-122"/>
              </a:rPr>
              <a:t>Prims</a:t>
            </a:r>
            <a:r>
              <a:rPr lang="zh-CN" altLang="zh-CN" sz="2400" kern="100" dirty="0">
                <a:latin typeface="Times New Roman" panose="02020603050405020304"/>
                <a:ea typeface="宋体" panose="02010600030101010101" pitchFamily="2" charset="-122"/>
                <a:cs typeface="Times New Roman" panose="02020603050405020304"/>
              </a:rPr>
              <a:t>算法适合稠密图，其时间复杂度为</a:t>
            </a:r>
            <a:r>
              <a:rPr lang="en-US" altLang="zh-CN" sz="2400" kern="100" dirty="0">
                <a:latin typeface="Times New Roman" panose="02020603050405020304"/>
                <a:ea typeface="宋体" panose="02010600030101010101" pitchFamily="2" charset="-122"/>
              </a:rPr>
              <a:t>O(</a:t>
            </a:r>
            <a:r>
              <a:rPr lang="en-US" altLang="zh-CN" sz="2400" i="1" kern="100" dirty="0">
                <a:latin typeface="Times New Roman" panose="02020603050405020304"/>
                <a:ea typeface="宋体" panose="02010600030101010101" pitchFamily="2" charset="-122"/>
              </a:rPr>
              <a:t>n</a:t>
            </a:r>
            <a:r>
              <a:rPr lang="en-US" altLang="zh-CN" sz="2400" kern="100" baseline="30000" dirty="0">
                <a:latin typeface="Times New Roman" panose="02020603050405020304"/>
                <a:ea typeface="宋体" panose="02010600030101010101" pitchFamily="2" charset="-122"/>
              </a:rPr>
              <a:t>2</a:t>
            </a:r>
            <a:r>
              <a:rPr lang="en-US" altLang="zh-CN" sz="2400" kern="100" dirty="0">
                <a:latin typeface="Times New Roman" panose="02020603050405020304"/>
                <a:ea typeface="宋体" panose="02010600030101010101" pitchFamily="2" charset="-122"/>
              </a:rPr>
              <a:t>)</a:t>
            </a:r>
            <a:r>
              <a:rPr lang="zh-CN" altLang="zh-CN" sz="2400" kern="100" dirty="0">
                <a:latin typeface="Times New Roman" panose="02020603050405020304"/>
                <a:ea typeface="宋体" panose="02010600030101010101" pitchFamily="2" charset="-122"/>
                <a:cs typeface="Times New Roman" panose="02020603050405020304"/>
              </a:rPr>
              <a:t>，其时间复杂度与边的数目无关，而</a:t>
            </a:r>
            <a:r>
              <a:rPr lang="en-US" altLang="zh-CN" sz="2400" kern="100" dirty="0" err="1">
                <a:latin typeface="Times New Roman" panose="02020603050405020304"/>
                <a:ea typeface="宋体" panose="02010600030101010101" pitchFamily="2" charset="-122"/>
              </a:rPr>
              <a:t>Kruskal</a:t>
            </a:r>
            <a:r>
              <a:rPr lang="zh-CN" altLang="zh-CN" sz="2400" kern="100" dirty="0">
                <a:latin typeface="Times New Roman" panose="02020603050405020304"/>
                <a:ea typeface="宋体" panose="02010600030101010101" pitchFamily="2" charset="-122"/>
                <a:cs typeface="Times New Roman" panose="02020603050405020304"/>
              </a:rPr>
              <a:t>算法的时间复杂度为</a:t>
            </a:r>
            <a:r>
              <a:rPr lang="en-US" altLang="zh-CN" sz="2400" i="1" kern="100" dirty="0">
                <a:latin typeface="Times New Roman" panose="02020603050405020304"/>
                <a:ea typeface="宋体" panose="02010600030101010101" pitchFamily="2" charset="-122"/>
              </a:rPr>
              <a:t>O</a:t>
            </a:r>
            <a:r>
              <a:rPr lang="en-US" altLang="zh-CN" sz="2400" kern="100" dirty="0">
                <a:latin typeface="Times New Roman" panose="02020603050405020304"/>
                <a:ea typeface="宋体" panose="02010600030101010101" pitchFamily="2" charset="-122"/>
              </a:rPr>
              <a:t>(</a:t>
            </a:r>
            <a:r>
              <a:rPr lang="en-US" altLang="zh-CN" sz="2400" i="1" kern="100" dirty="0" err="1">
                <a:latin typeface="Times New Roman" panose="02020603050405020304"/>
                <a:ea typeface="宋体" panose="02010600030101010101" pitchFamily="2" charset="-122"/>
              </a:rPr>
              <a:t>e</a:t>
            </a:r>
            <a:r>
              <a:rPr lang="en-US" altLang="zh-CN" sz="2400" kern="100" dirty="0" err="1">
                <a:latin typeface="Times New Roman" panose="02020603050405020304"/>
                <a:ea typeface="宋体" panose="02010600030101010101" pitchFamily="2" charset="-122"/>
              </a:rPr>
              <a:t>log</a:t>
            </a:r>
            <a:r>
              <a:rPr lang="en-US" altLang="zh-CN" sz="2400" i="1" kern="100" dirty="0" err="1">
                <a:latin typeface="Times New Roman" panose="02020603050405020304"/>
                <a:ea typeface="宋体" panose="02010600030101010101" pitchFamily="2" charset="-122"/>
              </a:rPr>
              <a:t>e</a:t>
            </a:r>
            <a:r>
              <a:rPr lang="en-US" altLang="zh-CN" sz="2400" kern="100" dirty="0">
                <a:latin typeface="Times New Roman" panose="02020603050405020304"/>
                <a:ea typeface="宋体" panose="02010600030101010101" pitchFamily="2" charset="-122"/>
              </a:rPr>
              <a:t>)</a:t>
            </a:r>
            <a:r>
              <a:rPr lang="zh-CN" altLang="zh-CN" sz="2400" kern="100" dirty="0">
                <a:latin typeface="Times New Roman" panose="02020603050405020304"/>
                <a:ea typeface="宋体" panose="02010600030101010101" pitchFamily="2" charset="-122"/>
                <a:cs typeface="Times New Roman" panose="02020603050405020304"/>
              </a:rPr>
              <a:t>，跟边的数目有关，适合稀疏图。</a:t>
            </a:r>
            <a:endParaRPr lang="zh-CN" altLang="en-US"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8210"/>
            <a:ext cx="9016739" cy="1938992"/>
          </a:xfrm>
          <a:prstGeom prst="rect">
            <a:avLst/>
          </a:prstGeom>
        </p:spPr>
        <p:txBody>
          <a:bodyPr wrap="square">
            <a:spAutoFit/>
          </a:bodyPr>
          <a:lstStyle/>
          <a:p>
            <a:r>
              <a:rPr lang="zh-CN" altLang="zh-CN" sz="2400" dirty="0"/>
              <a:t>设数组</a:t>
            </a:r>
            <a:r>
              <a:rPr lang="en-US" altLang="zh-CN" sz="2400" dirty="0" err="1"/>
              <a:t>mincount</a:t>
            </a:r>
            <a:r>
              <a:rPr lang="en-US" altLang="zh-CN" sz="2400" dirty="0"/>
              <a:t>[]</a:t>
            </a:r>
            <a:r>
              <a:rPr lang="zh-CN" altLang="zh-CN" sz="2400" dirty="0"/>
              <a:t>，其中</a:t>
            </a:r>
            <a:r>
              <a:rPr lang="en-US" altLang="zh-CN" sz="2400" dirty="0" err="1"/>
              <a:t>mincount</a:t>
            </a:r>
            <a:r>
              <a:rPr lang="en-US" altLang="zh-CN" sz="2400" dirty="0"/>
              <a:t>[</a:t>
            </a:r>
            <a:r>
              <a:rPr lang="en-US" altLang="zh-CN" sz="2400" dirty="0" err="1"/>
              <a:t>i</a:t>
            </a:r>
            <a:r>
              <a:rPr lang="en-US" altLang="zh-CN" sz="2400" dirty="0"/>
              <a:t>]</a:t>
            </a:r>
            <a:r>
              <a:rPr lang="zh-CN" altLang="zh-CN" sz="2400" dirty="0"/>
              <a:t>表示集合</a:t>
            </a:r>
            <a:r>
              <a:rPr lang="en-US" altLang="zh-CN" sz="2400" dirty="0"/>
              <a:t>U</a:t>
            </a:r>
            <a:r>
              <a:rPr lang="zh-CN" altLang="zh-CN" sz="2400" dirty="0"/>
              <a:t>中的顶点到集合</a:t>
            </a:r>
            <a:r>
              <a:rPr lang="en-US" altLang="zh-CN" sz="2400" dirty="0"/>
              <a:t>U</a:t>
            </a:r>
            <a:r>
              <a:rPr lang="zh-CN" altLang="zh-CN" sz="2400" dirty="0"/>
              <a:t>外的顶点</a:t>
            </a:r>
            <a:r>
              <a:rPr lang="en-US" altLang="zh-CN" sz="2400" dirty="0" err="1"/>
              <a:t>i</a:t>
            </a:r>
            <a:r>
              <a:rPr lang="zh-CN" altLang="zh-CN" sz="2400" dirty="0"/>
              <a:t>的最小边权。设</a:t>
            </a:r>
            <a:r>
              <a:rPr lang="en-US" altLang="zh-CN" sz="2400" dirty="0" err="1"/>
              <a:t>mincount</a:t>
            </a:r>
            <a:r>
              <a:rPr lang="en-US" altLang="zh-CN" sz="2400" dirty="0"/>
              <a:t>[1]</a:t>
            </a:r>
            <a:r>
              <a:rPr lang="zh-CN" altLang="zh-CN" sz="2400" dirty="0"/>
              <a:t>＝</a:t>
            </a:r>
            <a:r>
              <a:rPr lang="en-US" altLang="zh-CN" sz="2400" dirty="0"/>
              <a:t>0</a:t>
            </a:r>
            <a:r>
              <a:rPr lang="zh-CN" altLang="zh-CN" sz="2400" dirty="0"/>
              <a:t>，则因为</a:t>
            </a:r>
            <a:r>
              <a:rPr lang="en-US" altLang="zh-CN" sz="2400" dirty="0" err="1"/>
              <a:t>mincount</a:t>
            </a:r>
            <a:r>
              <a:rPr lang="en-US" altLang="zh-CN" sz="2400" dirty="0"/>
              <a:t>[1]</a:t>
            </a:r>
            <a:r>
              <a:rPr lang="zh-CN" altLang="zh-CN" sz="2400" dirty="0"/>
              <a:t>＝</a:t>
            </a:r>
            <a:r>
              <a:rPr lang="en-US" altLang="zh-CN" sz="2400" dirty="0"/>
              <a:t>0</a:t>
            </a:r>
            <a:r>
              <a:rPr lang="zh-CN" altLang="zh-CN" sz="2400" dirty="0"/>
              <a:t>最小，将顶点</a:t>
            </a:r>
            <a:r>
              <a:rPr lang="en-US" altLang="zh-CN" sz="2400" dirty="0"/>
              <a:t>1</a:t>
            </a:r>
            <a:r>
              <a:rPr lang="zh-CN" altLang="zh-CN" sz="2400" dirty="0"/>
              <a:t>放入集合</a:t>
            </a:r>
            <a:r>
              <a:rPr lang="en-US" altLang="zh-CN" sz="2400" dirty="0"/>
              <a:t>U={1}</a:t>
            </a:r>
            <a:r>
              <a:rPr lang="zh-CN" altLang="zh-CN" sz="2400" dirty="0"/>
              <a:t>，此时与集合相邻的边为</a:t>
            </a:r>
            <a:r>
              <a:rPr lang="en-US" altLang="zh-CN" sz="2400" dirty="0"/>
              <a:t>{</a:t>
            </a:r>
            <a:r>
              <a:rPr lang="zh-CN" altLang="zh-CN" sz="2400" dirty="0"/>
              <a:t>（</a:t>
            </a:r>
            <a:r>
              <a:rPr lang="en-US" altLang="zh-CN" sz="2400" dirty="0"/>
              <a:t>1</a:t>
            </a:r>
            <a:r>
              <a:rPr lang="zh-CN" altLang="zh-CN" sz="2400" dirty="0"/>
              <a:t>，</a:t>
            </a:r>
            <a:r>
              <a:rPr lang="en-US" altLang="zh-CN" sz="2400" dirty="0"/>
              <a:t>2</a:t>
            </a:r>
            <a:r>
              <a:rPr lang="zh-CN" altLang="zh-CN" sz="2400" dirty="0"/>
              <a:t>），（</a:t>
            </a:r>
            <a:r>
              <a:rPr lang="en-US" altLang="zh-CN" sz="2400" dirty="0"/>
              <a:t>1</a:t>
            </a:r>
            <a:r>
              <a:rPr lang="zh-CN" altLang="zh-CN" sz="2400" dirty="0"/>
              <a:t>，</a:t>
            </a:r>
            <a:r>
              <a:rPr lang="en-US" altLang="zh-CN" sz="2400" dirty="0"/>
              <a:t>3</a:t>
            </a:r>
            <a:r>
              <a:rPr lang="zh-CN" altLang="zh-CN" sz="2400" dirty="0"/>
              <a:t>），（</a:t>
            </a:r>
            <a:r>
              <a:rPr lang="en-US" altLang="zh-CN" sz="2400" dirty="0"/>
              <a:t>1</a:t>
            </a:r>
            <a:r>
              <a:rPr lang="zh-CN" altLang="zh-CN" sz="2400" dirty="0"/>
              <a:t>，</a:t>
            </a:r>
            <a:r>
              <a:rPr lang="en-US" altLang="zh-CN" sz="2400" dirty="0"/>
              <a:t>4</a:t>
            </a:r>
            <a:r>
              <a:rPr lang="zh-CN" altLang="zh-CN" sz="2400" dirty="0"/>
              <a:t>），（</a:t>
            </a:r>
            <a:r>
              <a:rPr lang="en-US" altLang="zh-CN" sz="2400" dirty="0"/>
              <a:t>1</a:t>
            </a:r>
            <a:r>
              <a:rPr lang="zh-CN" altLang="zh-CN" sz="2400" dirty="0"/>
              <a:t>，</a:t>
            </a:r>
            <a:r>
              <a:rPr lang="en-US" altLang="zh-CN" sz="2400" dirty="0"/>
              <a:t>5</a:t>
            </a:r>
            <a:r>
              <a:rPr lang="zh-CN" altLang="zh-CN" sz="2400" dirty="0"/>
              <a:t>）</a:t>
            </a:r>
            <a:r>
              <a:rPr lang="en-US" altLang="zh-CN" sz="2400" dirty="0"/>
              <a:t>}</a:t>
            </a:r>
            <a:r>
              <a:rPr lang="zh-CN" altLang="zh-CN" sz="2400" dirty="0"/>
              <a:t>，更新</a:t>
            </a:r>
            <a:r>
              <a:rPr lang="en-US" altLang="zh-CN" sz="2400" dirty="0" err="1"/>
              <a:t>mincount</a:t>
            </a:r>
            <a:r>
              <a:rPr lang="en-US" altLang="zh-CN" sz="2400" dirty="0"/>
              <a:t>[2] </a:t>
            </a:r>
            <a:r>
              <a:rPr lang="zh-CN" altLang="zh-CN" sz="2400" dirty="0"/>
              <a:t>、</a:t>
            </a:r>
            <a:r>
              <a:rPr lang="en-US" altLang="zh-CN" sz="2400" dirty="0" err="1"/>
              <a:t>mincount</a:t>
            </a:r>
            <a:r>
              <a:rPr lang="en-US" altLang="zh-CN" sz="2400" dirty="0"/>
              <a:t>[3]</a:t>
            </a:r>
            <a:r>
              <a:rPr lang="zh-CN" altLang="zh-CN" sz="2400" dirty="0"/>
              <a:t>、</a:t>
            </a:r>
            <a:r>
              <a:rPr lang="en-US" altLang="zh-CN" sz="2400" dirty="0" err="1"/>
              <a:t>mincount</a:t>
            </a:r>
            <a:r>
              <a:rPr lang="en-US" altLang="zh-CN" sz="2400" dirty="0"/>
              <a:t>[4]</a:t>
            </a:r>
            <a:r>
              <a:rPr lang="zh-CN" altLang="zh-CN" sz="2400" dirty="0"/>
              <a:t>、</a:t>
            </a:r>
            <a:r>
              <a:rPr lang="en-US" altLang="zh-CN" sz="2400" dirty="0"/>
              <a:t> </a:t>
            </a:r>
            <a:r>
              <a:rPr lang="en-US" altLang="zh-CN" sz="2400" dirty="0" err="1"/>
              <a:t>mincount</a:t>
            </a:r>
            <a:r>
              <a:rPr lang="en-US" altLang="zh-CN" sz="2400" dirty="0"/>
              <a:t>[5]</a:t>
            </a:r>
            <a:r>
              <a:rPr lang="zh-CN" altLang="zh-CN" sz="2400" dirty="0"/>
              <a:t>的值，如图</a:t>
            </a:r>
            <a:endParaRPr lang="zh-CN" altLang="en-US" sz="2400"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1529041" y="2144529"/>
            <a:ext cx="6186798" cy="210696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8638"/>
            <a:ext cx="9096866" cy="1292662"/>
          </a:xfrm>
          <a:prstGeom prst="rect">
            <a:avLst/>
          </a:prstGeom>
        </p:spPr>
        <p:txBody>
          <a:bodyPr wrap="square">
            <a:spAutoFit/>
          </a:bodyPr>
          <a:lstStyle/>
          <a:p>
            <a:r>
              <a:rPr lang="zh-CN" altLang="zh-CN" dirty="0"/>
              <a:t>由于</a:t>
            </a:r>
            <a:r>
              <a:rPr lang="en-US" altLang="zh-CN" dirty="0" err="1"/>
              <a:t>mincount</a:t>
            </a:r>
            <a:r>
              <a:rPr lang="en-US" altLang="zh-CN" dirty="0"/>
              <a:t>[3]</a:t>
            </a:r>
            <a:r>
              <a:rPr lang="zh-CN" altLang="zh-CN" dirty="0"/>
              <a:t>＝</a:t>
            </a:r>
            <a:r>
              <a:rPr lang="en-US" altLang="zh-CN" dirty="0"/>
              <a:t>3</a:t>
            </a:r>
            <a:r>
              <a:rPr lang="zh-CN" altLang="zh-CN" dirty="0"/>
              <a:t>的值最小，将顶点</a:t>
            </a:r>
            <a:r>
              <a:rPr lang="en-US" altLang="zh-CN" dirty="0"/>
              <a:t>3</a:t>
            </a:r>
            <a:r>
              <a:rPr lang="zh-CN" altLang="zh-CN" dirty="0"/>
              <a:t>加入集合</a:t>
            </a:r>
            <a:r>
              <a:rPr lang="en-US" altLang="zh-CN" dirty="0"/>
              <a:t>U</a:t>
            </a:r>
            <a:r>
              <a:rPr lang="zh-CN" altLang="zh-CN" dirty="0"/>
              <a:t>，即</a:t>
            </a:r>
            <a:r>
              <a:rPr lang="en-US" altLang="zh-CN" dirty="0"/>
              <a:t>U</a:t>
            </a:r>
            <a:r>
              <a:rPr lang="zh-CN" altLang="zh-CN" dirty="0"/>
              <a:t>＝</a:t>
            </a:r>
            <a:r>
              <a:rPr lang="en-US" altLang="zh-CN" dirty="0"/>
              <a:t>{1</a:t>
            </a:r>
            <a:r>
              <a:rPr lang="zh-CN" altLang="zh-CN" dirty="0"/>
              <a:t>，</a:t>
            </a:r>
            <a:r>
              <a:rPr lang="en-US" altLang="zh-CN" dirty="0"/>
              <a:t>3}</a:t>
            </a:r>
            <a:r>
              <a:rPr lang="zh-CN" altLang="zh-CN" dirty="0"/>
              <a:t>，此时与顶点</a:t>
            </a:r>
            <a:r>
              <a:rPr lang="en-US" altLang="zh-CN" dirty="0"/>
              <a:t>3</a:t>
            </a:r>
            <a:r>
              <a:rPr lang="zh-CN" altLang="zh-CN" dirty="0"/>
              <a:t>相邻的顶点为</a:t>
            </a:r>
            <a:r>
              <a:rPr lang="en-US" altLang="zh-CN" dirty="0"/>
              <a:t>2</a:t>
            </a:r>
            <a:r>
              <a:rPr lang="zh-CN" altLang="zh-CN" dirty="0"/>
              <a:t>，</a:t>
            </a:r>
            <a:r>
              <a:rPr lang="en-US" altLang="zh-CN" dirty="0"/>
              <a:t>4</a:t>
            </a:r>
            <a:r>
              <a:rPr lang="zh-CN" altLang="zh-CN" dirty="0"/>
              <a:t>，</a:t>
            </a:r>
            <a:r>
              <a:rPr lang="en-US" altLang="zh-CN" dirty="0"/>
              <a:t>5</a:t>
            </a:r>
            <a:r>
              <a:rPr lang="zh-CN" altLang="zh-CN" dirty="0"/>
              <a:t>，更新</a:t>
            </a:r>
            <a:r>
              <a:rPr lang="en-US" altLang="zh-CN" dirty="0" err="1"/>
              <a:t>mincount</a:t>
            </a:r>
            <a:r>
              <a:rPr lang="en-US" altLang="zh-CN" dirty="0"/>
              <a:t>[2]</a:t>
            </a:r>
            <a:r>
              <a:rPr lang="zh-CN" altLang="zh-CN" dirty="0"/>
              <a:t>、</a:t>
            </a:r>
            <a:r>
              <a:rPr lang="en-US" altLang="zh-CN" dirty="0" err="1"/>
              <a:t>mincount</a:t>
            </a:r>
            <a:r>
              <a:rPr lang="en-US" altLang="zh-CN" dirty="0"/>
              <a:t>[4]</a:t>
            </a:r>
            <a:r>
              <a:rPr lang="zh-CN" altLang="zh-CN" dirty="0"/>
              <a:t>、</a:t>
            </a:r>
            <a:r>
              <a:rPr lang="en-US" altLang="zh-CN" dirty="0" err="1"/>
              <a:t>mincount</a:t>
            </a:r>
            <a:r>
              <a:rPr lang="en-US" altLang="zh-CN" dirty="0"/>
              <a:t>[5]</a:t>
            </a:r>
            <a:r>
              <a:rPr lang="zh-CN" altLang="zh-CN" dirty="0"/>
              <a:t>的值，如图</a:t>
            </a:r>
            <a:endParaRPr lang="zh-CN" altLang="en-US"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1013659" y="1592085"/>
            <a:ext cx="7178234" cy="2456727"/>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2419" y="0"/>
            <a:ext cx="9063873" cy="1292662"/>
          </a:xfrm>
          <a:prstGeom prst="rect">
            <a:avLst/>
          </a:prstGeom>
        </p:spPr>
        <p:txBody>
          <a:bodyPr wrap="square">
            <a:spAutoFit/>
          </a:bodyPr>
          <a:lstStyle/>
          <a:p>
            <a:r>
              <a:rPr lang="zh-CN" altLang="zh-CN" dirty="0"/>
              <a:t>由于</a:t>
            </a:r>
            <a:r>
              <a:rPr lang="en-US" altLang="zh-CN" dirty="0" err="1"/>
              <a:t>mincount</a:t>
            </a:r>
            <a:r>
              <a:rPr lang="en-US" altLang="zh-CN" dirty="0"/>
              <a:t>[5]</a:t>
            </a:r>
            <a:r>
              <a:rPr lang="zh-CN" altLang="zh-CN" dirty="0"/>
              <a:t>＝</a:t>
            </a:r>
            <a:r>
              <a:rPr lang="en-US" altLang="zh-CN" dirty="0"/>
              <a:t>4</a:t>
            </a:r>
            <a:r>
              <a:rPr lang="zh-CN" altLang="zh-CN" dirty="0"/>
              <a:t>最小，将顶点</a:t>
            </a:r>
            <a:r>
              <a:rPr lang="en-US" altLang="zh-CN" dirty="0"/>
              <a:t>5</a:t>
            </a:r>
            <a:r>
              <a:rPr lang="zh-CN" altLang="zh-CN" dirty="0"/>
              <a:t>加入集合</a:t>
            </a:r>
            <a:r>
              <a:rPr lang="en-US" altLang="zh-CN" dirty="0"/>
              <a:t>U</a:t>
            </a:r>
            <a:r>
              <a:rPr lang="zh-CN" altLang="zh-CN" dirty="0"/>
              <a:t>，即</a:t>
            </a:r>
            <a:r>
              <a:rPr lang="en-US" altLang="zh-CN" dirty="0"/>
              <a:t>U</a:t>
            </a:r>
            <a:r>
              <a:rPr lang="zh-CN" altLang="zh-CN" dirty="0"/>
              <a:t>＝</a:t>
            </a:r>
            <a:r>
              <a:rPr lang="en-US" altLang="zh-CN" dirty="0"/>
              <a:t>{1</a:t>
            </a:r>
            <a:r>
              <a:rPr lang="zh-CN" altLang="zh-CN" dirty="0"/>
              <a:t>，</a:t>
            </a:r>
            <a:r>
              <a:rPr lang="en-US" altLang="zh-CN" dirty="0"/>
              <a:t>3</a:t>
            </a:r>
            <a:r>
              <a:rPr lang="zh-CN" altLang="zh-CN" dirty="0"/>
              <a:t>，</a:t>
            </a:r>
            <a:r>
              <a:rPr lang="en-US" altLang="zh-CN" dirty="0"/>
              <a:t>5}</a:t>
            </a:r>
            <a:r>
              <a:rPr lang="zh-CN" altLang="zh-CN" dirty="0"/>
              <a:t>，此时与顶点</a:t>
            </a:r>
            <a:r>
              <a:rPr lang="en-US" altLang="zh-CN" dirty="0"/>
              <a:t>5</a:t>
            </a:r>
            <a:r>
              <a:rPr lang="zh-CN" altLang="zh-CN" dirty="0"/>
              <a:t>相邻的顶点为</a:t>
            </a:r>
            <a:r>
              <a:rPr lang="en-US" altLang="zh-CN" dirty="0"/>
              <a:t>4</a:t>
            </a:r>
            <a:r>
              <a:rPr lang="zh-CN" altLang="zh-CN" dirty="0"/>
              <a:t>，</a:t>
            </a:r>
            <a:r>
              <a:rPr lang="en-US" altLang="zh-CN" dirty="0"/>
              <a:t>2</a:t>
            </a:r>
            <a:r>
              <a:rPr lang="zh-CN" altLang="zh-CN" dirty="0"/>
              <a:t>，更新</a:t>
            </a:r>
            <a:r>
              <a:rPr lang="en-US" altLang="zh-CN" dirty="0" err="1"/>
              <a:t>mincount</a:t>
            </a:r>
            <a:r>
              <a:rPr lang="en-US" altLang="zh-CN" dirty="0"/>
              <a:t>[4]</a:t>
            </a:r>
            <a:r>
              <a:rPr lang="zh-CN" altLang="zh-CN" dirty="0"/>
              <a:t>、</a:t>
            </a:r>
            <a:r>
              <a:rPr lang="en-US" altLang="zh-CN" dirty="0" err="1"/>
              <a:t>mincount</a:t>
            </a:r>
            <a:r>
              <a:rPr lang="en-US" altLang="zh-CN" dirty="0"/>
              <a:t>[2]</a:t>
            </a:r>
            <a:r>
              <a:rPr lang="zh-CN" altLang="zh-CN" dirty="0"/>
              <a:t>的值</a:t>
            </a:r>
            <a:endParaRPr lang="zh-CN" altLang="en-US"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786268" y="1632427"/>
            <a:ext cx="7127534" cy="2204281"/>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259"/>
            <a:ext cx="9144000" cy="892552"/>
          </a:xfrm>
          <a:prstGeom prst="rect">
            <a:avLst/>
          </a:prstGeom>
        </p:spPr>
        <p:txBody>
          <a:bodyPr wrap="square">
            <a:spAutoFit/>
          </a:bodyPr>
          <a:lstStyle/>
          <a:p>
            <a:r>
              <a:rPr lang="zh-CN" altLang="zh-CN" dirty="0"/>
              <a:t>由于</a:t>
            </a:r>
            <a:r>
              <a:rPr lang="en-US" altLang="zh-CN" dirty="0" err="1"/>
              <a:t>mincount</a:t>
            </a:r>
            <a:r>
              <a:rPr lang="en-US" altLang="zh-CN" dirty="0"/>
              <a:t>[4]</a:t>
            </a:r>
            <a:r>
              <a:rPr lang="zh-CN" altLang="zh-CN" dirty="0"/>
              <a:t>＝</a:t>
            </a:r>
            <a:r>
              <a:rPr lang="en-US" altLang="zh-CN" dirty="0"/>
              <a:t>2</a:t>
            </a:r>
            <a:r>
              <a:rPr lang="zh-CN" altLang="zh-CN" dirty="0"/>
              <a:t>最小，将顶点</a:t>
            </a:r>
            <a:r>
              <a:rPr lang="en-US" altLang="zh-CN" dirty="0"/>
              <a:t>4</a:t>
            </a:r>
            <a:r>
              <a:rPr lang="zh-CN" altLang="zh-CN" dirty="0"/>
              <a:t>加入集合</a:t>
            </a:r>
            <a:r>
              <a:rPr lang="en-US" altLang="zh-CN" dirty="0"/>
              <a:t>U</a:t>
            </a:r>
            <a:r>
              <a:rPr lang="zh-CN" altLang="zh-CN" dirty="0"/>
              <a:t>，即</a:t>
            </a:r>
            <a:r>
              <a:rPr lang="en-US" altLang="zh-CN" dirty="0"/>
              <a:t>U</a:t>
            </a:r>
            <a:r>
              <a:rPr lang="zh-CN" altLang="zh-CN" dirty="0"/>
              <a:t>＝</a:t>
            </a:r>
            <a:r>
              <a:rPr lang="en-US" altLang="zh-CN" dirty="0"/>
              <a:t>{1</a:t>
            </a:r>
            <a:r>
              <a:rPr lang="zh-CN" altLang="zh-CN" dirty="0"/>
              <a:t>，</a:t>
            </a:r>
            <a:r>
              <a:rPr lang="en-US" altLang="zh-CN" dirty="0"/>
              <a:t>3</a:t>
            </a:r>
            <a:r>
              <a:rPr lang="zh-CN" altLang="zh-CN" dirty="0"/>
              <a:t>，</a:t>
            </a:r>
            <a:r>
              <a:rPr lang="en-US" altLang="zh-CN" dirty="0"/>
              <a:t>4</a:t>
            </a:r>
            <a:r>
              <a:rPr lang="zh-CN" altLang="zh-CN" dirty="0"/>
              <a:t>，</a:t>
            </a:r>
            <a:r>
              <a:rPr lang="en-US" altLang="zh-CN" dirty="0"/>
              <a:t>5}</a:t>
            </a:r>
            <a:r>
              <a:rPr lang="zh-CN" altLang="zh-CN" dirty="0"/>
              <a:t>，此时与顶点</a:t>
            </a:r>
            <a:r>
              <a:rPr lang="en-US" altLang="zh-CN" dirty="0"/>
              <a:t>4</a:t>
            </a:r>
            <a:r>
              <a:rPr lang="zh-CN" altLang="zh-CN" dirty="0"/>
              <a:t>相邻的顶点为</a:t>
            </a:r>
            <a:r>
              <a:rPr lang="en-US" altLang="zh-CN" dirty="0"/>
              <a:t>2</a:t>
            </a:r>
            <a:r>
              <a:rPr lang="zh-CN" altLang="zh-CN" dirty="0"/>
              <a:t>，更新</a:t>
            </a:r>
            <a:r>
              <a:rPr lang="en-US" altLang="zh-CN" dirty="0" err="1"/>
              <a:t>mincount</a:t>
            </a:r>
            <a:r>
              <a:rPr lang="en-US" altLang="zh-CN" dirty="0"/>
              <a:t>[2]</a:t>
            </a:r>
            <a:r>
              <a:rPr lang="zh-CN" altLang="zh-CN" dirty="0"/>
              <a:t>的值，如图</a:t>
            </a:r>
            <a:endParaRPr lang="zh-CN" altLang="en-US"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674219" y="1480377"/>
            <a:ext cx="6772956" cy="2144229"/>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2420" y="13870"/>
            <a:ext cx="8927183" cy="492443"/>
          </a:xfrm>
          <a:prstGeom prst="rect">
            <a:avLst/>
          </a:prstGeom>
        </p:spPr>
        <p:txBody>
          <a:bodyPr wrap="square">
            <a:spAutoFit/>
          </a:bodyPr>
          <a:lstStyle/>
          <a:p>
            <a:r>
              <a:rPr lang="zh-CN" altLang="zh-CN" dirty="0"/>
              <a:t>此时仅剩一个顶点</a:t>
            </a:r>
            <a:r>
              <a:rPr lang="en-US" altLang="zh-CN" dirty="0"/>
              <a:t>2</a:t>
            </a:r>
            <a:r>
              <a:rPr lang="zh-CN" altLang="zh-CN" dirty="0"/>
              <a:t>，连接顶点</a:t>
            </a:r>
            <a:r>
              <a:rPr lang="en-US" altLang="zh-CN" dirty="0"/>
              <a:t>2</a:t>
            </a:r>
            <a:r>
              <a:rPr lang="zh-CN" altLang="zh-CN" dirty="0"/>
              <a:t>，如图</a:t>
            </a:r>
            <a:endParaRPr lang="zh-CN" altLang="en-US"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2497454" y="1282098"/>
            <a:ext cx="4091882" cy="2592318"/>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713" y="134818"/>
            <a:ext cx="9144000" cy="4770537"/>
          </a:xfrm>
          <a:prstGeom prst="rect">
            <a:avLst/>
          </a:prstGeom>
        </p:spPr>
        <p:txBody>
          <a:bodyPr wrap="square">
            <a:spAutoFit/>
          </a:bodyPr>
          <a:lstStyle/>
          <a:p>
            <a:r>
              <a:rPr lang="en-US" altLang="zh-CN" sz="1600" kern="0" dirty="0">
                <a:solidFill>
                  <a:srgbClr val="8000FF"/>
                </a:solidFill>
                <a:latin typeface="YaHei Consolas Hybrid"/>
                <a:ea typeface="宋体" panose="02010600030101010101" pitchFamily="2" charset="-122"/>
                <a:cs typeface="Courier New" panose="02070309020205020404"/>
              </a:rPr>
              <a:t>void</a:t>
            </a:r>
            <a:r>
              <a:rPr lang="en-US" altLang="zh-CN" sz="1600" kern="0" dirty="0">
                <a:solidFill>
                  <a:srgbClr val="000000"/>
                </a:solidFill>
                <a:latin typeface="YaHei Consolas Hybrid"/>
                <a:ea typeface="宋体" panose="02010600030101010101" pitchFamily="2" charset="-122"/>
                <a:cs typeface="Courier New" panose="02070309020205020404"/>
              </a:rPr>
              <a:t> Prim</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8000FF"/>
                </a:solidFill>
                <a:latin typeface="YaHei Consolas Hybrid"/>
                <a:ea typeface="宋体" panose="02010600030101010101" pitchFamily="2" charset="-122"/>
                <a:cs typeface="Courier New" panose="02070309020205020404"/>
              </a:rPr>
              <a:t>int</a:t>
            </a:r>
            <a:r>
              <a:rPr lang="en-US" altLang="zh-CN" sz="1600" kern="0" dirty="0">
                <a:solidFill>
                  <a:srgbClr val="000000"/>
                </a:solidFill>
                <a:latin typeface="YaHei Consolas Hybrid"/>
                <a:ea typeface="宋体" panose="02010600030101010101" pitchFamily="2" charset="-122"/>
                <a:cs typeface="Courier New" panose="02070309020205020404"/>
              </a:rPr>
              <a:t> star</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8000FF"/>
                </a:solidFill>
                <a:latin typeface="YaHei Consolas Hybrid"/>
                <a:ea typeface="宋体" panose="02010600030101010101" pitchFamily="2" charset="-122"/>
                <a:cs typeface="Courier New" panose="02070309020205020404"/>
              </a:rPr>
              <a:t>int</a:t>
            </a:r>
            <a:r>
              <a:rPr lang="en-US" altLang="zh-CN" sz="1600" kern="0" dirty="0">
                <a:solidFill>
                  <a:srgbClr val="000000"/>
                </a:solidFill>
                <a:latin typeface="YaHei Consolas Hybrid"/>
                <a:ea typeface="宋体" panose="02010600030101010101" pitchFamily="2" charset="-122"/>
                <a:cs typeface="Courier New" panose="02070309020205020404"/>
              </a:rPr>
              <a:t> count</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FF8000"/>
                </a:solidFill>
                <a:latin typeface="YaHei Consolas Hybrid"/>
                <a:ea typeface="宋体" panose="02010600030101010101" pitchFamily="2" charset="-122"/>
                <a:cs typeface="Courier New" panose="02070309020205020404"/>
              </a:rPr>
              <a:t>0</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k</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a:solidFill>
                  <a:srgbClr val="008000"/>
                </a:solidFill>
                <a:latin typeface="YaHei Consolas Hybrid"/>
                <a:ea typeface="宋体" panose="02010600030101010101" pitchFamily="2" charset="-122"/>
                <a:cs typeface="Courier New" panose="02070309020205020404"/>
              </a:rPr>
              <a:t>//count</a:t>
            </a:r>
            <a:r>
              <a:rPr lang="zh-CN" altLang="zh-CN" sz="1600" kern="0" dirty="0">
                <a:solidFill>
                  <a:srgbClr val="008000"/>
                </a:solidFill>
                <a:latin typeface="Times New Roman" panose="02020603050405020304"/>
                <a:ea typeface="YaHei Consolas Hybrid"/>
                <a:cs typeface="Courier New" panose="02070309020205020404"/>
              </a:rPr>
              <a:t>为生成树所有边的权值和</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FF"/>
                </a:solidFill>
                <a:latin typeface="YaHei Consolas Hybrid"/>
                <a:ea typeface="宋体" panose="02010600030101010101" pitchFamily="2" charset="-122"/>
                <a:cs typeface="Courier New" panose="02070309020205020404"/>
              </a:rPr>
              <a:t>for</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8000FF"/>
                </a:solidFill>
                <a:latin typeface="YaHei Consolas Hybrid"/>
                <a:ea typeface="宋体" panose="02010600030101010101" pitchFamily="2" charset="-122"/>
                <a:cs typeface="Courier New" panose="02070309020205020404"/>
              </a:rPr>
              <a:t>int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FF8000"/>
                </a:solidFill>
                <a:latin typeface="YaHei Consolas Hybrid"/>
                <a:ea typeface="宋体" panose="02010600030101010101" pitchFamily="2" charset="-122"/>
                <a:cs typeface="Courier New" panose="02070309020205020404"/>
              </a:rPr>
              <a:t>1</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&lt;=</a:t>
            </a:r>
            <a:r>
              <a:rPr lang="en-US" altLang="zh-CN" sz="1600" kern="0" dirty="0">
                <a:solidFill>
                  <a:srgbClr val="000000"/>
                </a:solidFill>
                <a:latin typeface="YaHei Consolas Hybrid"/>
                <a:ea typeface="宋体" panose="02010600030101010101" pitchFamily="2" charset="-122"/>
                <a:cs typeface="Courier New" panose="02070309020205020404"/>
              </a:rPr>
              <a:t>n</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a:solidFill>
                  <a:srgbClr val="008000"/>
                </a:solidFill>
                <a:latin typeface="YaHei Consolas Hybrid"/>
                <a:ea typeface="宋体" panose="02010600030101010101" pitchFamily="2" charset="-122"/>
                <a:cs typeface="Courier New" panose="02070309020205020404"/>
              </a:rPr>
              <a:t>//</a:t>
            </a:r>
            <a:r>
              <a:rPr lang="zh-CN" altLang="zh-CN" sz="1600" kern="0" dirty="0">
                <a:solidFill>
                  <a:srgbClr val="008000"/>
                </a:solidFill>
                <a:latin typeface="Times New Roman" panose="02020603050405020304"/>
                <a:ea typeface="YaHei Consolas Hybrid"/>
                <a:cs typeface="Courier New" panose="02070309020205020404"/>
              </a:rPr>
              <a:t>计算每个点到</a:t>
            </a:r>
            <a:r>
              <a:rPr lang="en-US" altLang="zh-CN" sz="1600" kern="0" dirty="0">
                <a:solidFill>
                  <a:srgbClr val="008000"/>
                </a:solidFill>
                <a:latin typeface="Times New Roman" panose="02020603050405020304"/>
                <a:ea typeface="YaHei Consolas Hybrid"/>
                <a:cs typeface="Courier New" panose="02070309020205020404"/>
              </a:rPr>
              <a:t>star</a:t>
            </a:r>
            <a:r>
              <a:rPr lang="zh-CN" altLang="zh-CN" sz="1600" kern="0" dirty="0">
                <a:solidFill>
                  <a:srgbClr val="008000"/>
                </a:solidFill>
                <a:latin typeface="Times New Roman" panose="02020603050405020304"/>
                <a:ea typeface="YaHei Consolas Hybrid"/>
                <a:cs typeface="Courier New" panose="02070309020205020404"/>
              </a:rPr>
              <a:t>点的最小权值</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mincount</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w</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star</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a:solidFill>
                  <a:srgbClr val="008000"/>
                </a:solidFill>
                <a:latin typeface="YaHei Consolas Hybrid"/>
                <a:ea typeface="宋体" panose="02010600030101010101" pitchFamily="2" charset="-122"/>
                <a:cs typeface="Courier New" panose="02070309020205020404"/>
              </a:rPr>
              <a:t>//</a:t>
            </a:r>
            <a:r>
              <a:rPr lang="zh-CN" altLang="zh-CN" sz="1600" kern="0" dirty="0">
                <a:solidFill>
                  <a:srgbClr val="008000"/>
                </a:solidFill>
                <a:latin typeface="Times New Roman" panose="02020603050405020304"/>
                <a:ea typeface="YaHei Consolas Hybrid"/>
                <a:cs typeface="Courier New" panose="02070309020205020404"/>
              </a:rPr>
              <a:t>如果没有连边就是无穷大</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mincount</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star</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FF8000"/>
                </a:solidFill>
                <a:latin typeface="YaHei Consolas Hybrid"/>
                <a:ea typeface="宋体" panose="02010600030101010101" pitchFamily="2" charset="-122"/>
                <a:cs typeface="Courier New" panose="02070309020205020404"/>
              </a:rPr>
              <a:t>0</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a:solidFill>
                  <a:srgbClr val="008000"/>
                </a:solidFill>
                <a:latin typeface="YaHei Consolas Hybrid"/>
                <a:ea typeface="宋体" panose="02010600030101010101" pitchFamily="2" charset="-122"/>
                <a:cs typeface="Courier New" panose="02070309020205020404"/>
              </a:rPr>
              <a:t>//</a:t>
            </a:r>
            <a:r>
              <a:rPr lang="zh-CN" altLang="zh-CN" sz="1600" kern="0" dirty="0">
                <a:solidFill>
                  <a:srgbClr val="008000"/>
                </a:solidFill>
                <a:latin typeface="Times New Roman" panose="02020603050405020304"/>
                <a:ea typeface="YaHei Consolas Hybrid"/>
                <a:cs typeface="Courier New" panose="02070309020205020404"/>
              </a:rPr>
              <a:t>此处设加入集合的</a:t>
            </a:r>
            <a:r>
              <a:rPr lang="en-US" altLang="zh-CN" sz="1600" kern="0" dirty="0" err="1">
                <a:solidFill>
                  <a:srgbClr val="008000"/>
                </a:solidFill>
                <a:latin typeface="Times New Roman" panose="02020603050405020304"/>
                <a:ea typeface="YaHei Consolas Hybrid"/>
                <a:cs typeface="Courier New" panose="02070309020205020404"/>
              </a:rPr>
              <a:t>mincount</a:t>
            </a:r>
            <a:r>
              <a:rPr lang="zh-CN" altLang="zh-CN" sz="1600" kern="0" dirty="0">
                <a:solidFill>
                  <a:srgbClr val="008000"/>
                </a:solidFill>
                <a:latin typeface="Times New Roman" panose="02020603050405020304"/>
                <a:ea typeface="YaHei Consolas Hybrid"/>
                <a:cs typeface="Courier New" panose="02070309020205020404"/>
              </a:rPr>
              <a:t>为</a:t>
            </a:r>
            <a:r>
              <a:rPr lang="en-US" altLang="zh-CN" sz="1600" kern="0" dirty="0">
                <a:solidFill>
                  <a:srgbClr val="008000"/>
                </a:solidFill>
                <a:latin typeface="Times New Roman" panose="02020603050405020304"/>
                <a:ea typeface="YaHei Consolas Hybrid"/>
                <a:cs typeface="Courier New" panose="02070309020205020404"/>
              </a:rPr>
              <a:t>0</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FF"/>
                </a:solidFill>
                <a:latin typeface="YaHei Consolas Hybrid"/>
                <a:ea typeface="宋体" panose="02010600030101010101" pitchFamily="2" charset="-122"/>
                <a:cs typeface="Courier New" panose="02070309020205020404"/>
              </a:rPr>
              <a:t>for</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8000FF"/>
                </a:solidFill>
                <a:latin typeface="YaHei Consolas Hybrid"/>
                <a:ea typeface="宋体" panose="02010600030101010101" pitchFamily="2" charset="-122"/>
                <a:cs typeface="Courier New" panose="02070309020205020404"/>
              </a:rPr>
              <a:t>int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FF8000"/>
                </a:solidFill>
                <a:latin typeface="YaHei Consolas Hybrid"/>
                <a:ea typeface="宋体" panose="02010600030101010101" pitchFamily="2" charset="-122"/>
                <a:cs typeface="Courier New" panose="02070309020205020404"/>
              </a:rPr>
              <a:t>1</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&lt;</a:t>
            </a:r>
            <a:r>
              <a:rPr lang="en-US" altLang="zh-CN" sz="1600" kern="0" dirty="0">
                <a:solidFill>
                  <a:srgbClr val="000000"/>
                </a:solidFill>
                <a:latin typeface="YaHei Consolas Hybrid"/>
                <a:ea typeface="宋体" panose="02010600030101010101" pitchFamily="2" charset="-122"/>
                <a:cs typeface="Courier New" panose="02070309020205020404"/>
              </a:rPr>
              <a:t>n</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8000FF"/>
                </a:solidFill>
                <a:latin typeface="YaHei Consolas Hybrid"/>
                <a:ea typeface="宋体" panose="02010600030101010101" pitchFamily="2" charset="-122"/>
                <a:cs typeface="Courier New" panose="02070309020205020404"/>
              </a:rPr>
              <a:t>int</a:t>
            </a:r>
            <a:r>
              <a:rPr lang="en-US" altLang="zh-CN" sz="1600" kern="0" dirty="0">
                <a:solidFill>
                  <a:srgbClr val="000000"/>
                </a:solidFill>
                <a:latin typeface="YaHei Consolas Hybrid"/>
                <a:ea typeface="宋体" panose="02010600030101010101" pitchFamily="2" charset="-122"/>
                <a:cs typeface="Courier New" panose="02070309020205020404"/>
              </a:rPr>
              <a:t> Min</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INF</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FF"/>
                </a:solidFill>
                <a:latin typeface="YaHei Consolas Hybrid"/>
                <a:ea typeface="宋体" panose="02010600030101010101" pitchFamily="2" charset="-122"/>
                <a:cs typeface="Courier New" panose="02070309020205020404"/>
              </a:rPr>
              <a:t>for</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8000FF"/>
                </a:solidFill>
                <a:latin typeface="YaHei Consolas Hybrid"/>
                <a:ea typeface="宋体" panose="02010600030101010101" pitchFamily="2" charset="-122"/>
                <a:cs typeface="Courier New" panose="02070309020205020404"/>
              </a:rPr>
              <a:t>int</a:t>
            </a:r>
            <a:r>
              <a:rPr lang="en-US" altLang="zh-CN" sz="1600" kern="0" dirty="0">
                <a:solidFill>
                  <a:srgbClr val="000000"/>
                </a:solidFill>
                <a:latin typeface="YaHei Consolas Hybrid"/>
                <a:ea typeface="宋体" panose="02010600030101010101" pitchFamily="2" charset="-122"/>
                <a:cs typeface="Courier New" panose="02070309020205020404"/>
              </a:rPr>
              <a:t> j</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FF8000"/>
                </a:solidFill>
                <a:latin typeface="YaHei Consolas Hybrid"/>
                <a:ea typeface="宋体" panose="02010600030101010101" pitchFamily="2" charset="-122"/>
                <a:cs typeface="Courier New" panose="02070309020205020404"/>
              </a:rPr>
              <a:t>1</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j</a:t>
            </a:r>
            <a:r>
              <a:rPr lang="en-US" altLang="zh-CN" sz="1600" b="1" kern="0" dirty="0">
                <a:solidFill>
                  <a:srgbClr val="000080"/>
                </a:solidFill>
                <a:latin typeface="YaHei Consolas Hybrid"/>
                <a:ea typeface="宋体" panose="02010600030101010101" pitchFamily="2" charset="-122"/>
                <a:cs typeface="Courier New" panose="02070309020205020404"/>
              </a:rPr>
              <a:t>&lt;=</a:t>
            </a:r>
            <a:r>
              <a:rPr lang="en-US" altLang="zh-CN" sz="1600" kern="0" dirty="0">
                <a:solidFill>
                  <a:srgbClr val="000000"/>
                </a:solidFill>
                <a:latin typeface="YaHei Consolas Hybrid"/>
                <a:ea typeface="宋体" panose="02010600030101010101" pitchFamily="2" charset="-122"/>
                <a:cs typeface="Courier New" panose="02070309020205020404"/>
              </a:rPr>
              <a:t>n</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j</a:t>
            </a:r>
            <a:r>
              <a:rPr lang="en-US" altLang="zh-CN" sz="1600" b="1" kern="0" dirty="0" err="1">
                <a:solidFill>
                  <a:srgbClr val="000080"/>
                </a:solidFill>
                <a:latin typeface="YaHei Consolas Hybrid"/>
                <a:ea typeface="宋体" panose="02010600030101010101" pitchFamily="2" charset="-122"/>
                <a:cs typeface="Courier New" panose="02070309020205020404"/>
              </a:rPr>
              <a:t>++</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a:solidFill>
                  <a:srgbClr val="008000"/>
                </a:solidFill>
                <a:latin typeface="YaHei Consolas Hybrid"/>
                <a:ea typeface="宋体" panose="02010600030101010101" pitchFamily="2" charset="-122"/>
                <a:cs typeface="Courier New" panose="02070309020205020404"/>
              </a:rPr>
              <a:t>//</a:t>
            </a:r>
            <a:r>
              <a:rPr lang="zh-CN" altLang="zh-CN" sz="1600" kern="0" dirty="0">
                <a:solidFill>
                  <a:srgbClr val="008000"/>
                </a:solidFill>
                <a:latin typeface="Times New Roman" panose="02020603050405020304"/>
                <a:ea typeface="YaHei Consolas Hybrid"/>
                <a:cs typeface="Courier New" panose="02070309020205020404"/>
              </a:rPr>
              <a:t>找到集合外最小权值的边</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FF"/>
                </a:solidFill>
                <a:latin typeface="YaHei Consolas Hybrid"/>
                <a:ea typeface="宋体" panose="02010600030101010101" pitchFamily="2" charset="-122"/>
                <a:cs typeface="Courier New" panose="02070309020205020404"/>
              </a:rPr>
              <a:t>if</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000000"/>
                </a:solidFill>
                <a:latin typeface="YaHei Consolas Hybrid"/>
                <a:ea typeface="宋体" panose="02010600030101010101" pitchFamily="2" charset="-122"/>
                <a:cs typeface="Courier New" panose="02070309020205020404"/>
              </a:rPr>
              <a:t>mincount</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j</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FF8000"/>
                </a:solidFill>
                <a:latin typeface="YaHei Consolas Hybrid"/>
                <a:ea typeface="宋体" panose="02010600030101010101" pitchFamily="2" charset="-122"/>
                <a:cs typeface="Courier New" panose="02070309020205020404"/>
              </a:rPr>
              <a:t>0</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80"/>
                </a:solidFill>
                <a:latin typeface="YaHei Consolas Hybrid"/>
                <a:ea typeface="宋体" panose="02010600030101010101" pitchFamily="2" charset="-122"/>
                <a:cs typeface="Courier New" panose="02070309020205020404"/>
              </a:rPr>
              <a:t>&amp;&amp;</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mincount</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j</a:t>
            </a:r>
            <a:r>
              <a:rPr lang="en-US" altLang="zh-CN" sz="1600" b="1" kern="0" dirty="0">
                <a:solidFill>
                  <a:srgbClr val="000080"/>
                </a:solidFill>
                <a:latin typeface="YaHei Consolas Hybrid"/>
                <a:ea typeface="宋体" panose="02010600030101010101" pitchFamily="2" charset="-122"/>
                <a:cs typeface="Courier New" panose="02070309020205020404"/>
              </a:rPr>
              <a:t>]&lt;</a:t>
            </a:r>
            <a:r>
              <a:rPr lang="en-US" altLang="zh-CN" sz="1600" kern="0" dirty="0">
                <a:solidFill>
                  <a:srgbClr val="000000"/>
                </a:solidFill>
                <a:latin typeface="YaHei Consolas Hybrid"/>
                <a:ea typeface="宋体" panose="02010600030101010101" pitchFamily="2" charset="-122"/>
                <a:cs typeface="Courier New" panose="02070309020205020404"/>
              </a:rPr>
              <a:t>Min</a:t>
            </a:r>
            <a:r>
              <a:rPr lang="en-US" altLang="zh-CN" sz="1600" b="1" kern="0" dirty="0">
                <a:solidFill>
                  <a:srgbClr val="000080"/>
                </a:solidFill>
                <a:latin typeface="YaHei Consolas Hybrid"/>
                <a:ea typeface="宋体" panose="02010600030101010101" pitchFamily="2" charset="-122"/>
                <a:cs typeface="Courier New" panose="02070309020205020404"/>
              </a:rPr>
              <a:t>) { </a:t>
            </a:r>
            <a:r>
              <a:rPr lang="en-US" altLang="zh-CN" sz="1600" kern="0" dirty="0">
                <a:solidFill>
                  <a:srgbClr val="008000"/>
                </a:solidFill>
                <a:latin typeface="YaHei Consolas Hybrid"/>
                <a:ea typeface="宋体" panose="02010600030101010101" pitchFamily="2" charset="-122"/>
                <a:cs typeface="Courier New" panose="02070309020205020404"/>
              </a:rPr>
              <a:t>//</a:t>
            </a:r>
            <a:r>
              <a:rPr lang="zh-CN" altLang="zh-CN" sz="1600" kern="0" dirty="0">
                <a:solidFill>
                  <a:srgbClr val="008000"/>
                </a:solidFill>
                <a:latin typeface="Times New Roman" panose="02020603050405020304"/>
                <a:ea typeface="YaHei Consolas Hybrid"/>
                <a:cs typeface="Courier New" panose="02070309020205020404"/>
              </a:rPr>
              <a:t>集合外的</a:t>
            </a:r>
            <a:r>
              <a:rPr lang="en-US" altLang="zh-CN" sz="1600" kern="0" dirty="0" err="1">
                <a:solidFill>
                  <a:srgbClr val="008000"/>
                </a:solidFill>
                <a:latin typeface="Times New Roman" panose="02020603050405020304"/>
                <a:ea typeface="YaHei Consolas Hybrid"/>
                <a:cs typeface="Courier New" panose="02070309020205020404"/>
              </a:rPr>
              <a:t>mincount</a:t>
            </a:r>
            <a:r>
              <a:rPr lang="zh-CN" altLang="zh-CN" sz="1600" kern="0" dirty="0">
                <a:solidFill>
                  <a:srgbClr val="008000"/>
                </a:solidFill>
                <a:latin typeface="Times New Roman" panose="02020603050405020304"/>
                <a:ea typeface="YaHei Consolas Hybrid"/>
                <a:cs typeface="Courier New" panose="02070309020205020404"/>
              </a:rPr>
              <a:t>不等于</a:t>
            </a:r>
            <a:r>
              <a:rPr lang="en-US" altLang="zh-CN" sz="1600" kern="0" dirty="0">
                <a:solidFill>
                  <a:srgbClr val="008000"/>
                </a:solidFill>
                <a:latin typeface="Times New Roman" panose="02020603050405020304"/>
                <a:ea typeface="YaHei Consolas Hybrid"/>
                <a:cs typeface="Courier New" panose="02070309020205020404"/>
              </a:rPr>
              <a:t>0</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Min</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000000"/>
                </a:solidFill>
                <a:latin typeface="YaHei Consolas Hybrid"/>
                <a:ea typeface="宋体" panose="02010600030101010101" pitchFamily="2" charset="-122"/>
                <a:cs typeface="Courier New" panose="02070309020205020404"/>
              </a:rPr>
              <a:t>mincount</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j</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k</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j</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a:solidFill>
                  <a:srgbClr val="008000"/>
                </a:solidFill>
                <a:latin typeface="YaHei Consolas Hybrid"/>
                <a:ea typeface="宋体" panose="02010600030101010101" pitchFamily="2" charset="-122"/>
                <a:cs typeface="Courier New" panose="02070309020205020404"/>
              </a:rPr>
              <a:t>//</a:t>
            </a:r>
            <a:r>
              <a:rPr lang="zh-CN" altLang="zh-CN" sz="1600" kern="0" dirty="0">
                <a:solidFill>
                  <a:srgbClr val="008000"/>
                </a:solidFill>
                <a:latin typeface="Times New Roman" panose="02020603050405020304"/>
                <a:ea typeface="YaHei Consolas Hybrid"/>
                <a:cs typeface="Courier New" panose="02070309020205020404"/>
              </a:rPr>
              <a:t>最小的边的顶点存入</a:t>
            </a:r>
            <a:r>
              <a:rPr lang="en-US" altLang="zh-CN" sz="1600" kern="0" dirty="0">
                <a:solidFill>
                  <a:srgbClr val="008000"/>
                </a:solidFill>
                <a:latin typeface="Times New Roman" panose="02020603050405020304"/>
                <a:ea typeface="YaHei Consolas Hybrid"/>
                <a:cs typeface="Courier New" panose="02070309020205020404"/>
              </a:rPr>
              <a:t>k</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mincount</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k</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FF8000"/>
                </a:solidFill>
                <a:latin typeface="YaHei Consolas Hybrid"/>
                <a:ea typeface="宋体" panose="02010600030101010101" pitchFamily="2" charset="-122"/>
                <a:cs typeface="Courier New" panose="02070309020205020404"/>
              </a:rPr>
              <a:t>0</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a:solidFill>
                  <a:srgbClr val="008000"/>
                </a:solidFill>
                <a:latin typeface="YaHei Consolas Hybrid"/>
                <a:ea typeface="宋体" panose="02010600030101010101" pitchFamily="2" charset="-122"/>
                <a:cs typeface="Courier New" panose="02070309020205020404"/>
              </a:rPr>
              <a:t>//</a:t>
            </a:r>
            <a:r>
              <a:rPr lang="zh-CN" altLang="zh-CN" sz="1600" kern="0" dirty="0">
                <a:solidFill>
                  <a:srgbClr val="008000"/>
                </a:solidFill>
                <a:latin typeface="Times New Roman" panose="02020603050405020304"/>
                <a:ea typeface="YaHei Consolas Hybrid"/>
                <a:cs typeface="Courier New" panose="02070309020205020404"/>
              </a:rPr>
              <a:t>把这个点加入到最小生成树中</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count</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Min</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a:solidFill>
                  <a:srgbClr val="008000"/>
                </a:solidFill>
                <a:latin typeface="YaHei Consolas Hybrid"/>
                <a:ea typeface="宋体" panose="02010600030101010101" pitchFamily="2" charset="-122"/>
                <a:cs typeface="Courier New" panose="02070309020205020404"/>
              </a:rPr>
              <a:t>//</a:t>
            </a:r>
            <a:r>
              <a:rPr lang="zh-CN" altLang="zh-CN" sz="1600" kern="0" dirty="0">
                <a:solidFill>
                  <a:srgbClr val="008000"/>
                </a:solidFill>
                <a:latin typeface="Times New Roman" panose="02020603050405020304"/>
                <a:ea typeface="YaHei Consolas Hybrid"/>
                <a:cs typeface="Courier New" panose="02070309020205020404"/>
              </a:rPr>
              <a:t>将这条边权值加入到最小生成树中</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FF"/>
                </a:solidFill>
                <a:latin typeface="YaHei Consolas Hybrid"/>
                <a:ea typeface="宋体" panose="02010600030101010101" pitchFamily="2" charset="-122"/>
                <a:cs typeface="Courier New" panose="02070309020205020404"/>
              </a:rPr>
              <a:t>for</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8000FF"/>
                </a:solidFill>
                <a:latin typeface="YaHei Consolas Hybrid"/>
                <a:ea typeface="宋体" panose="02010600030101010101" pitchFamily="2" charset="-122"/>
                <a:cs typeface="Courier New" panose="02070309020205020404"/>
              </a:rPr>
              <a:t>int</a:t>
            </a:r>
            <a:r>
              <a:rPr lang="en-US" altLang="zh-CN" sz="1600" kern="0" dirty="0">
                <a:solidFill>
                  <a:srgbClr val="000000"/>
                </a:solidFill>
                <a:latin typeface="YaHei Consolas Hybrid"/>
                <a:ea typeface="宋体" panose="02010600030101010101" pitchFamily="2" charset="-122"/>
                <a:cs typeface="Courier New" panose="02070309020205020404"/>
              </a:rPr>
              <a:t> j</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FF8000"/>
                </a:solidFill>
                <a:latin typeface="YaHei Consolas Hybrid"/>
                <a:ea typeface="宋体" panose="02010600030101010101" pitchFamily="2" charset="-122"/>
                <a:cs typeface="Courier New" panose="02070309020205020404"/>
              </a:rPr>
              <a:t>1</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j</a:t>
            </a:r>
            <a:r>
              <a:rPr lang="en-US" altLang="zh-CN" sz="1600" b="1" kern="0" dirty="0">
                <a:solidFill>
                  <a:srgbClr val="000080"/>
                </a:solidFill>
                <a:latin typeface="YaHei Consolas Hybrid"/>
                <a:ea typeface="宋体" panose="02010600030101010101" pitchFamily="2" charset="-122"/>
                <a:cs typeface="Courier New" panose="02070309020205020404"/>
              </a:rPr>
              <a:t>&lt;=</a:t>
            </a:r>
            <a:r>
              <a:rPr lang="en-US" altLang="zh-CN" sz="1600" kern="0" dirty="0">
                <a:solidFill>
                  <a:srgbClr val="000000"/>
                </a:solidFill>
                <a:latin typeface="YaHei Consolas Hybrid"/>
                <a:ea typeface="宋体" panose="02010600030101010101" pitchFamily="2" charset="-122"/>
                <a:cs typeface="Courier New" panose="02070309020205020404"/>
              </a:rPr>
              <a:t>n</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j</a:t>
            </a:r>
            <a:r>
              <a:rPr lang="en-US" altLang="zh-CN" sz="1600" b="1" kern="0" dirty="0" err="1">
                <a:solidFill>
                  <a:srgbClr val="000080"/>
                </a:solidFill>
                <a:latin typeface="YaHei Consolas Hybrid"/>
                <a:ea typeface="宋体" panose="02010600030101010101" pitchFamily="2" charset="-122"/>
                <a:cs typeface="Courier New" panose="02070309020205020404"/>
              </a:rPr>
              <a:t>++</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a:solidFill>
                  <a:srgbClr val="008000"/>
                </a:solidFill>
                <a:latin typeface="YaHei Consolas Hybrid"/>
                <a:ea typeface="宋体" panose="02010600030101010101" pitchFamily="2" charset="-122"/>
                <a:cs typeface="Courier New" panose="02070309020205020404"/>
              </a:rPr>
              <a:t>//</a:t>
            </a:r>
            <a:r>
              <a:rPr lang="zh-CN" altLang="zh-CN" sz="1600" kern="0" dirty="0">
                <a:solidFill>
                  <a:srgbClr val="008000"/>
                </a:solidFill>
                <a:latin typeface="Times New Roman" panose="02020603050405020304"/>
                <a:ea typeface="YaHei Consolas Hybrid"/>
                <a:cs typeface="Courier New" panose="02070309020205020404"/>
              </a:rPr>
              <a:t>修正集合外点到</a:t>
            </a:r>
            <a:r>
              <a:rPr lang="en-US" altLang="zh-CN" sz="1600" kern="0" dirty="0">
                <a:solidFill>
                  <a:srgbClr val="008000"/>
                </a:solidFill>
                <a:latin typeface="Times New Roman" panose="02020603050405020304"/>
                <a:ea typeface="YaHei Consolas Hybrid"/>
                <a:cs typeface="Courier New" panose="02070309020205020404"/>
              </a:rPr>
              <a:t>k</a:t>
            </a:r>
            <a:r>
              <a:rPr lang="zh-CN" altLang="zh-CN" sz="1600" kern="0" dirty="0">
                <a:solidFill>
                  <a:srgbClr val="008000"/>
                </a:solidFill>
                <a:latin typeface="Times New Roman" panose="02020603050405020304"/>
                <a:ea typeface="YaHei Consolas Hybrid"/>
                <a:cs typeface="Courier New" panose="02070309020205020404"/>
              </a:rPr>
              <a:t>点的最小权值</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mincount</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j</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min</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000000"/>
                </a:solidFill>
                <a:latin typeface="YaHei Consolas Hybrid"/>
                <a:ea typeface="宋体" panose="02010600030101010101" pitchFamily="2" charset="-122"/>
                <a:cs typeface="Courier New" panose="02070309020205020404"/>
              </a:rPr>
              <a:t>mincount</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j</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w</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k</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j</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cout</a:t>
            </a:r>
            <a:r>
              <a:rPr lang="en-US" altLang="zh-CN" sz="1600" b="1" kern="0" dirty="0">
                <a:solidFill>
                  <a:srgbClr val="000080"/>
                </a:solidFill>
                <a:latin typeface="YaHei Consolas Hybrid"/>
                <a:ea typeface="宋体" panose="02010600030101010101" pitchFamily="2" charset="-122"/>
                <a:cs typeface="Courier New" panose="02070309020205020404"/>
              </a:rPr>
              <a:t>&lt;&lt;</a:t>
            </a:r>
            <a:r>
              <a:rPr lang="en-US" altLang="zh-CN" sz="1600" kern="0" dirty="0">
                <a:solidFill>
                  <a:srgbClr val="000000"/>
                </a:solidFill>
                <a:latin typeface="YaHei Consolas Hybrid"/>
                <a:ea typeface="宋体" panose="02010600030101010101" pitchFamily="2" charset="-122"/>
                <a:cs typeface="Courier New" panose="02070309020205020404"/>
              </a:rPr>
              <a:t>count</a:t>
            </a:r>
            <a:r>
              <a:rPr lang="en-US" altLang="zh-CN" sz="1600" b="1" kern="0" dirty="0">
                <a:solidFill>
                  <a:srgbClr val="000080"/>
                </a:solidFill>
                <a:latin typeface="YaHei Consolas Hybrid"/>
                <a:ea typeface="宋体" panose="02010600030101010101" pitchFamily="2" charset="-122"/>
                <a:cs typeface="Courier New" panose="02070309020205020404"/>
              </a:rPr>
              <a:t>&lt;&lt;</a:t>
            </a:r>
            <a:r>
              <a:rPr lang="en-US" altLang="zh-CN" sz="1600" kern="0" dirty="0">
                <a:solidFill>
                  <a:srgbClr val="808080"/>
                </a:solidFill>
                <a:latin typeface="YaHei Consolas Hybrid"/>
                <a:ea typeface="宋体" panose="02010600030101010101" pitchFamily="2" charset="-122"/>
                <a:cs typeface="Courier New" panose="02070309020205020404"/>
              </a:rPr>
              <a:t>"\n"</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effectLst/>
              <a:latin typeface="Times New Roman" panose="02020603050405020304"/>
              <a:ea typeface="宋体" panose="0201060003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7649" y="15962"/>
            <a:ext cx="2666756" cy="492443"/>
          </a:xfrm>
          <a:prstGeom prst="rect">
            <a:avLst/>
          </a:prstGeom>
        </p:spPr>
        <p:txBody>
          <a:bodyPr wrap="none">
            <a:spAutoFit/>
          </a:bodyPr>
          <a:lstStyle/>
          <a:p>
            <a:r>
              <a:rPr lang="en-US" altLang="zh-CN" b="1" dirty="0"/>
              <a:t>5.4.1 Dijkstra</a:t>
            </a:r>
            <a:r>
              <a:rPr lang="zh-CN" altLang="zh-CN" b="1" dirty="0"/>
              <a:t>算法</a:t>
            </a:r>
          </a:p>
        </p:txBody>
      </p:sp>
      <p:sp>
        <p:nvSpPr>
          <p:cNvPr id="3" name="矩形 2"/>
          <p:cNvSpPr/>
          <p:nvPr/>
        </p:nvSpPr>
        <p:spPr>
          <a:xfrm>
            <a:off x="0" y="563776"/>
            <a:ext cx="9144000" cy="1292662"/>
          </a:xfrm>
          <a:prstGeom prst="rect">
            <a:avLst/>
          </a:prstGeom>
        </p:spPr>
        <p:txBody>
          <a:bodyPr wrap="square">
            <a:spAutoFit/>
          </a:bodyPr>
          <a:lstStyle/>
          <a:p>
            <a:r>
              <a:rPr lang="zh-CN" altLang="zh-CN" dirty="0"/>
              <a:t>【题目描述】</a:t>
            </a:r>
            <a:r>
              <a:rPr lang="en-US" altLang="zh-CN" dirty="0"/>
              <a:t>5.2 </a:t>
            </a:r>
            <a:r>
              <a:rPr lang="zh-CN" altLang="zh-CN" dirty="0"/>
              <a:t>地图（</a:t>
            </a:r>
            <a:r>
              <a:rPr lang="en-US" altLang="zh-CN" dirty="0"/>
              <a:t>map</a:t>
            </a:r>
            <a:r>
              <a:rPr lang="zh-CN" altLang="zh-CN" dirty="0"/>
              <a:t>）</a:t>
            </a:r>
          </a:p>
          <a:p>
            <a:r>
              <a:rPr lang="zh-CN" altLang="zh-CN" dirty="0"/>
              <a:t>有一张地图类似图所示。现在要从</a:t>
            </a:r>
            <a:r>
              <a:rPr lang="en-US" altLang="zh-CN" dirty="0"/>
              <a:t>A</a:t>
            </a:r>
            <a:r>
              <a:rPr lang="zh-CN" altLang="zh-CN" dirty="0"/>
              <a:t>点出发，找到一条最短的路径到其他各点，试编程解决该问题。</a:t>
            </a:r>
          </a:p>
        </p:txBody>
      </p:sp>
      <p:pic>
        <p:nvPicPr>
          <p:cNvPr id="4" name="图片 3"/>
          <p:cNvPicPr/>
          <p:nvPr/>
        </p:nvPicPr>
        <p:blipFill>
          <a:blip r:embed="rId2">
            <a:extLst>
              <a:ext uri="{28A0092B-C50C-407E-A947-70E740481C1C}">
                <a14:useLocalDpi xmlns:a14="http://schemas.microsoft.com/office/drawing/2010/main" val="0"/>
              </a:ext>
            </a:extLst>
          </a:blip>
          <a:srcRect/>
          <a:stretch>
            <a:fillRect/>
          </a:stretch>
        </p:blipFill>
        <p:spPr>
          <a:xfrm>
            <a:off x="2806179" y="1951290"/>
            <a:ext cx="2604807" cy="1390512"/>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03"/>
            <a:ext cx="9144000" cy="1692771"/>
          </a:xfrm>
          <a:prstGeom prst="rect">
            <a:avLst/>
          </a:prstGeom>
        </p:spPr>
        <p:txBody>
          <a:bodyPr wrap="square">
            <a:spAutoFit/>
          </a:bodyPr>
          <a:lstStyle/>
          <a:p>
            <a:r>
              <a:rPr lang="zh-CN" altLang="zh-CN" dirty="0"/>
              <a:t>首先，将起点</a:t>
            </a:r>
            <a:r>
              <a:rPr lang="en-US" altLang="zh-CN" dirty="0"/>
              <a:t>A</a:t>
            </a:r>
            <a:r>
              <a:rPr lang="zh-CN" altLang="zh-CN" dirty="0"/>
              <a:t>标记为已访问，从</a:t>
            </a:r>
            <a:r>
              <a:rPr lang="en-US" altLang="zh-CN" dirty="0"/>
              <a:t>A</a:t>
            </a:r>
            <a:r>
              <a:rPr lang="zh-CN" altLang="zh-CN" dirty="0"/>
              <a:t>点出发（</a:t>
            </a:r>
            <a:r>
              <a:rPr lang="en-US" altLang="zh-CN" dirty="0"/>
              <a:t>A</a:t>
            </a:r>
            <a:r>
              <a:rPr lang="zh-CN" altLang="zh-CN" dirty="0"/>
              <a:t>点到</a:t>
            </a:r>
            <a:r>
              <a:rPr lang="en-US" altLang="zh-CN" dirty="0"/>
              <a:t>A</a:t>
            </a:r>
            <a:r>
              <a:rPr lang="zh-CN" altLang="zh-CN" dirty="0"/>
              <a:t>点自身为</a:t>
            </a:r>
            <a:r>
              <a:rPr lang="en-US" altLang="zh-CN" dirty="0"/>
              <a:t>0</a:t>
            </a:r>
            <a:r>
              <a:rPr lang="zh-CN" altLang="zh-CN" dirty="0"/>
              <a:t>），找出所有和</a:t>
            </a:r>
            <a:r>
              <a:rPr lang="en-US" altLang="zh-CN" dirty="0"/>
              <a:t>A</a:t>
            </a:r>
            <a:r>
              <a:rPr lang="zh-CN" altLang="zh-CN" dirty="0"/>
              <a:t>邻近，且有路径的地点即</a:t>
            </a:r>
            <a:r>
              <a:rPr lang="en-US" altLang="zh-CN" dirty="0"/>
              <a:t>B</a:t>
            </a:r>
            <a:r>
              <a:rPr lang="zh-CN" altLang="zh-CN" dirty="0"/>
              <a:t>和</a:t>
            </a:r>
            <a:r>
              <a:rPr lang="en-US" altLang="zh-CN" dirty="0"/>
              <a:t>C</a:t>
            </a:r>
            <a:r>
              <a:rPr lang="zh-CN" altLang="zh-CN" dirty="0"/>
              <a:t>。我们在</a:t>
            </a:r>
            <a:r>
              <a:rPr lang="en-US" altLang="zh-CN" dirty="0"/>
              <a:t>B</a:t>
            </a:r>
            <a:r>
              <a:rPr lang="zh-CN" altLang="zh-CN" dirty="0"/>
              <a:t>和</a:t>
            </a:r>
            <a:r>
              <a:rPr lang="en-US" altLang="zh-CN" dirty="0"/>
              <a:t>C</a:t>
            </a:r>
            <a:r>
              <a:rPr lang="zh-CN" altLang="zh-CN" dirty="0"/>
              <a:t>上标记现在的路径总和</a:t>
            </a:r>
            <a:r>
              <a:rPr lang="en-US" altLang="zh-CN" dirty="0"/>
              <a:t>W</a:t>
            </a:r>
            <a:r>
              <a:rPr lang="zh-CN" altLang="zh-CN" dirty="0"/>
              <a:t>，则从</a:t>
            </a:r>
            <a:r>
              <a:rPr lang="en-US" altLang="zh-CN" dirty="0"/>
              <a:t>A</a:t>
            </a:r>
            <a:r>
              <a:rPr lang="zh-CN" altLang="zh-CN" dirty="0"/>
              <a:t>到</a:t>
            </a:r>
            <a:r>
              <a:rPr lang="en-US" altLang="zh-CN" dirty="0"/>
              <a:t>B</a:t>
            </a:r>
            <a:r>
              <a:rPr lang="zh-CN" altLang="zh-CN" dirty="0"/>
              <a:t>的总和路径为</a:t>
            </a:r>
            <a:r>
              <a:rPr lang="en-US" altLang="zh-CN" dirty="0"/>
              <a:t>6</a:t>
            </a:r>
            <a:r>
              <a:rPr lang="zh-CN" altLang="zh-CN" dirty="0"/>
              <a:t>，从</a:t>
            </a:r>
            <a:r>
              <a:rPr lang="en-US" altLang="zh-CN" dirty="0"/>
              <a:t>A</a:t>
            </a:r>
            <a:r>
              <a:rPr lang="zh-CN" altLang="zh-CN" dirty="0"/>
              <a:t>到</a:t>
            </a:r>
            <a:r>
              <a:rPr lang="en-US" altLang="zh-CN" dirty="0"/>
              <a:t>C</a:t>
            </a:r>
            <a:r>
              <a:rPr lang="zh-CN" altLang="zh-CN" dirty="0"/>
              <a:t>的总和路径为</a:t>
            </a:r>
            <a:r>
              <a:rPr lang="en-US" altLang="zh-CN" dirty="0"/>
              <a:t>3</a:t>
            </a:r>
            <a:r>
              <a:rPr lang="zh-CN" altLang="zh-CN" dirty="0"/>
              <a:t>。</a:t>
            </a:r>
            <a:endParaRPr lang="zh-CN" altLang="en-US"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1092645" y="1982470"/>
            <a:ext cx="7221796" cy="1976788"/>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0"/>
            <a:ext cx="9087438" cy="2677656"/>
          </a:xfrm>
          <a:prstGeom prst="rect">
            <a:avLst/>
          </a:prstGeom>
        </p:spPr>
        <p:txBody>
          <a:bodyPr wrap="square">
            <a:spAutoFit/>
          </a:bodyPr>
          <a:lstStyle/>
          <a:p>
            <a:r>
              <a:rPr lang="zh-CN" altLang="zh-CN" sz="2400" dirty="0"/>
              <a:t>标记</a:t>
            </a:r>
            <a:r>
              <a:rPr lang="en-US" altLang="zh-CN" sz="2400" dirty="0"/>
              <a:t>C</a:t>
            </a:r>
            <a:r>
              <a:rPr lang="zh-CN" altLang="zh-CN" sz="2400" dirty="0"/>
              <a:t>结点为已访问（此时已确定了</a:t>
            </a:r>
            <a:r>
              <a:rPr lang="en-US" altLang="zh-CN" sz="2400" dirty="0"/>
              <a:t>A</a:t>
            </a:r>
            <a:r>
              <a:rPr lang="zh-CN" altLang="zh-CN" sz="2400" dirty="0"/>
              <a:t>点到</a:t>
            </a:r>
            <a:r>
              <a:rPr lang="en-US" altLang="zh-CN" sz="2400" dirty="0"/>
              <a:t>C</a:t>
            </a:r>
            <a:r>
              <a:rPr lang="zh-CN" altLang="zh-CN" sz="2400" dirty="0"/>
              <a:t>点的最短距离就是</a:t>
            </a:r>
            <a:r>
              <a:rPr lang="en-US" altLang="zh-CN" sz="2400" dirty="0"/>
              <a:t>3</a:t>
            </a:r>
            <a:r>
              <a:rPr lang="zh-CN" altLang="zh-CN" sz="2400" dirty="0"/>
              <a:t>，因为</a:t>
            </a:r>
            <a:r>
              <a:rPr lang="en-US" altLang="zh-CN" sz="2400" dirty="0"/>
              <a:t>A</a:t>
            </a:r>
            <a:r>
              <a:rPr lang="zh-CN" altLang="zh-CN" sz="2400" dirty="0"/>
              <a:t>点到</a:t>
            </a:r>
            <a:r>
              <a:rPr lang="en-US" altLang="zh-CN" sz="2400" dirty="0"/>
              <a:t>C</a:t>
            </a:r>
            <a:r>
              <a:rPr lang="zh-CN" altLang="zh-CN" sz="2400" dirty="0"/>
              <a:t>点的另一条路是通过</a:t>
            </a:r>
            <a:r>
              <a:rPr lang="en-US" altLang="zh-CN" sz="2400" dirty="0"/>
              <a:t>B</a:t>
            </a:r>
            <a:r>
              <a:rPr lang="zh-CN" altLang="zh-CN" sz="2400" dirty="0"/>
              <a:t>点出发走到</a:t>
            </a:r>
            <a:r>
              <a:rPr lang="en-US" altLang="zh-CN" sz="2400" dirty="0"/>
              <a:t>C</a:t>
            </a:r>
            <a:r>
              <a:rPr lang="zh-CN" altLang="zh-CN" sz="2400" dirty="0"/>
              <a:t>点，但</a:t>
            </a:r>
            <a:r>
              <a:rPr lang="en-US" altLang="zh-CN" sz="2400" dirty="0"/>
              <a:t>A</a:t>
            </a:r>
            <a:r>
              <a:rPr lang="zh-CN" altLang="zh-CN" sz="2400" dirty="0"/>
              <a:t>点到</a:t>
            </a:r>
            <a:r>
              <a:rPr lang="en-US" altLang="zh-CN" sz="2400" dirty="0"/>
              <a:t>B</a:t>
            </a:r>
            <a:r>
              <a:rPr lang="zh-CN" altLang="zh-CN" sz="2400" dirty="0"/>
              <a:t>点的长度为</a:t>
            </a:r>
            <a:r>
              <a:rPr lang="en-US" altLang="zh-CN" sz="2400" dirty="0"/>
              <a:t>6</a:t>
            </a:r>
            <a:r>
              <a:rPr lang="zh-CN" altLang="zh-CN" sz="2400" dirty="0"/>
              <a:t>，无论如何也不可能小于</a:t>
            </a:r>
            <a:r>
              <a:rPr lang="en-US" altLang="zh-CN" sz="2400" dirty="0"/>
              <a:t>3</a:t>
            </a:r>
            <a:r>
              <a:rPr lang="zh-CN" altLang="zh-CN" sz="2400" dirty="0"/>
              <a:t>了），再从总和路径最短的</a:t>
            </a:r>
            <a:r>
              <a:rPr lang="en-US" altLang="zh-CN" sz="2400" dirty="0"/>
              <a:t>C</a:t>
            </a:r>
            <a:r>
              <a:rPr lang="zh-CN" altLang="zh-CN" sz="2400" dirty="0"/>
              <a:t>出发</a:t>
            </a:r>
            <a:r>
              <a:rPr lang="en-US" altLang="zh-CN" sz="2400" dirty="0"/>
              <a:t>(</a:t>
            </a:r>
            <a:r>
              <a:rPr lang="zh-CN" altLang="zh-CN" sz="2400" dirty="0"/>
              <a:t>只有这样才能保证每个点都能被更新成最小值</a:t>
            </a:r>
            <a:r>
              <a:rPr lang="en-US" altLang="zh-CN" sz="2400" dirty="0"/>
              <a:t>)</a:t>
            </a:r>
            <a:r>
              <a:rPr lang="zh-CN" altLang="zh-CN" sz="2400" dirty="0"/>
              <a:t>，找出所有与</a:t>
            </a:r>
            <a:r>
              <a:rPr lang="en-US" altLang="zh-CN" sz="2400" dirty="0"/>
              <a:t>C</a:t>
            </a:r>
            <a:r>
              <a:rPr lang="zh-CN" altLang="zh-CN" sz="2400" dirty="0"/>
              <a:t>有路径且未标记的结点即</a:t>
            </a:r>
            <a:r>
              <a:rPr lang="en-US" altLang="zh-CN" sz="2400" dirty="0"/>
              <a:t>B</a:t>
            </a:r>
            <a:r>
              <a:rPr lang="zh-CN" altLang="zh-CN" sz="2400" dirty="0"/>
              <a:t>、</a:t>
            </a:r>
            <a:r>
              <a:rPr lang="en-US" altLang="zh-CN" sz="2400" dirty="0"/>
              <a:t>D</a:t>
            </a:r>
            <a:r>
              <a:rPr lang="zh-CN" altLang="zh-CN" sz="2400" dirty="0"/>
              <a:t>和</a:t>
            </a:r>
            <a:r>
              <a:rPr lang="en-US" altLang="zh-CN" sz="2400" dirty="0"/>
              <a:t>E</a:t>
            </a:r>
            <a:r>
              <a:rPr lang="zh-CN" altLang="zh-CN" sz="2400" dirty="0"/>
              <a:t>，更新</a:t>
            </a:r>
            <a:r>
              <a:rPr lang="en-US" altLang="zh-CN" sz="2400" dirty="0"/>
              <a:t>A</a:t>
            </a:r>
            <a:r>
              <a:rPr lang="zh-CN" altLang="zh-CN" sz="2400" dirty="0"/>
              <a:t>至各未标记结点的最小距离，这时我们会发现，从</a:t>
            </a:r>
            <a:r>
              <a:rPr lang="en-US" altLang="zh-CN" sz="2400" dirty="0"/>
              <a:t>A</a:t>
            </a:r>
            <a:r>
              <a:rPr lang="zh-CN" altLang="zh-CN" sz="2400" dirty="0"/>
              <a:t>经由</a:t>
            </a:r>
            <a:r>
              <a:rPr lang="en-US" altLang="zh-CN" sz="2400" dirty="0"/>
              <a:t>C</a:t>
            </a:r>
            <a:r>
              <a:rPr lang="zh-CN" altLang="zh-CN" sz="2400" dirty="0"/>
              <a:t>到达</a:t>
            </a:r>
            <a:r>
              <a:rPr lang="en-US" altLang="zh-CN" sz="2400" dirty="0"/>
              <a:t>B</a:t>
            </a:r>
            <a:r>
              <a:rPr lang="zh-CN" altLang="zh-CN" sz="2400" dirty="0"/>
              <a:t>的总和路径为</a:t>
            </a:r>
            <a:r>
              <a:rPr lang="en-US" altLang="zh-CN" sz="2400" dirty="0"/>
              <a:t>5</a:t>
            </a:r>
            <a:r>
              <a:rPr lang="zh-CN" altLang="zh-CN" sz="2400" dirty="0"/>
              <a:t>，比</a:t>
            </a:r>
            <a:r>
              <a:rPr lang="en-US" altLang="zh-CN" sz="2400" dirty="0"/>
              <a:t>A</a:t>
            </a:r>
            <a:r>
              <a:rPr lang="zh-CN" altLang="zh-CN" sz="2400" dirty="0"/>
              <a:t>直接到</a:t>
            </a:r>
            <a:r>
              <a:rPr lang="en-US" altLang="zh-CN" sz="2400" dirty="0"/>
              <a:t>B</a:t>
            </a:r>
            <a:r>
              <a:rPr lang="zh-CN" altLang="zh-CN" sz="2400" dirty="0"/>
              <a:t>的路径</a:t>
            </a:r>
            <a:r>
              <a:rPr lang="en-US" altLang="zh-CN" sz="2400" dirty="0"/>
              <a:t>6</a:t>
            </a:r>
            <a:r>
              <a:rPr lang="zh-CN" altLang="zh-CN" sz="2400" dirty="0"/>
              <a:t>还短，所以我们决定选择从</a:t>
            </a:r>
            <a:r>
              <a:rPr lang="en-US" altLang="zh-CN" sz="2400" dirty="0"/>
              <a:t>A</a:t>
            </a:r>
            <a:r>
              <a:rPr lang="zh-CN" altLang="zh-CN" sz="2400" dirty="0"/>
              <a:t>经</a:t>
            </a:r>
            <a:r>
              <a:rPr lang="en-US" altLang="zh-CN" sz="2400" dirty="0"/>
              <a:t>C</a:t>
            </a:r>
            <a:r>
              <a:rPr lang="zh-CN" altLang="zh-CN" sz="2400" dirty="0"/>
              <a:t>到达</a:t>
            </a:r>
            <a:r>
              <a:rPr lang="en-US" altLang="zh-CN" sz="2400" dirty="0"/>
              <a:t>B</a:t>
            </a:r>
            <a:r>
              <a:rPr lang="zh-CN" altLang="zh-CN" sz="2400" dirty="0"/>
              <a:t>，如图</a:t>
            </a:r>
            <a:endParaRPr lang="zh-CN" altLang="en-US" sz="2400"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659238" y="2677656"/>
            <a:ext cx="7952148" cy="2153581"/>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5988" y="8654"/>
            <a:ext cx="9078012" cy="1569660"/>
          </a:xfrm>
          <a:prstGeom prst="rect">
            <a:avLst/>
          </a:prstGeom>
        </p:spPr>
        <p:txBody>
          <a:bodyPr wrap="square">
            <a:spAutoFit/>
          </a:bodyPr>
          <a:lstStyle/>
          <a:p>
            <a:r>
              <a:rPr lang="zh-CN" altLang="zh-CN" sz="2400" dirty="0"/>
              <a:t>此时未标记且路径最短的结点为</a:t>
            </a:r>
            <a:r>
              <a:rPr lang="en-US" altLang="zh-CN" sz="2400" dirty="0"/>
              <a:t>B</a:t>
            </a:r>
            <a:r>
              <a:rPr lang="zh-CN" altLang="zh-CN" sz="2400" dirty="0"/>
              <a:t>，将</a:t>
            </a:r>
            <a:r>
              <a:rPr lang="en-US" altLang="zh-CN" sz="2400" dirty="0"/>
              <a:t>B</a:t>
            </a:r>
            <a:r>
              <a:rPr lang="zh-CN" altLang="zh-CN" sz="2400" dirty="0"/>
              <a:t>标为已访问（即</a:t>
            </a:r>
            <a:r>
              <a:rPr lang="en-US" altLang="zh-CN" sz="2400" dirty="0"/>
              <a:t>A</a:t>
            </a:r>
            <a:r>
              <a:rPr lang="zh-CN" altLang="zh-CN" sz="2400" dirty="0"/>
              <a:t>点到</a:t>
            </a:r>
            <a:r>
              <a:rPr lang="en-US" altLang="zh-CN" sz="2400" dirty="0"/>
              <a:t>B</a:t>
            </a:r>
            <a:r>
              <a:rPr lang="zh-CN" altLang="zh-CN" sz="2400" dirty="0"/>
              <a:t>点的最短距离已最终确定，这和之前确定了</a:t>
            </a:r>
            <a:r>
              <a:rPr lang="en-US" altLang="zh-CN" sz="2400" dirty="0"/>
              <a:t>A</a:t>
            </a:r>
            <a:r>
              <a:rPr lang="zh-CN" altLang="zh-CN" sz="2400" dirty="0"/>
              <a:t>点到</a:t>
            </a:r>
            <a:r>
              <a:rPr lang="en-US" altLang="zh-CN" sz="2400" dirty="0"/>
              <a:t>C</a:t>
            </a:r>
            <a:r>
              <a:rPr lang="zh-CN" altLang="zh-CN" sz="2400" dirty="0"/>
              <a:t>点的最短距离同理），再找到与</a:t>
            </a:r>
            <a:r>
              <a:rPr lang="en-US" altLang="zh-CN" sz="2400" dirty="0"/>
              <a:t>B</a:t>
            </a:r>
            <a:r>
              <a:rPr lang="zh-CN" altLang="zh-CN" sz="2400" dirty="0"/>
              <a:t>点有路径的所有未标记结点即</a:t>
            </a:r>
            <a:r>
              <a:rPr lang="en-US" altLang="zh-CN" sz="2400" dirty="0"/>
              <a:t>D</a:t>
            </a:r>
            <a:r>
              <a:rPr lang="zh-CN" altLang="zh-CN" sz="2400" dirty="0"/>
              <a:t>，更新所有未标记结点的最短路径。可以发现没有值被改变，如图</a:t>
            </a:r>
            <a:endParaRPr lang="zh-CN" altLang="en-US" sz="2400"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896016" y="1731655"/>
            <a:ext cx="7366577" cy="2204036"/>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1735"/>
            <a:ext cx="9144000" cy="1292662"/>
          </a:xfrm>
          <a:prstGeom prst="rect">
            <a:avLst/>
          </a:prstGeom>
        </p:spPr>
        <p:txBody>
          <a:bodyPr wrap="square">
            <a:spAutoFit/>
          </a:bodyPr>
          <a:lstStyle/>
          <a:p>
            <a:r>
              <a:rPr lang="zh-CN" altLang="zh-CN" dirty="0"/>
              <a:t>此时未标记且路径最短的结点为</a:t>
            </a:r>
            <a:r>
              <a:rPr lang="en-US" altLang="zh-CN" dirty="0"/>
              <a:t>D</a:t>
            </a:r>
            <a:r>
              <a:rPr lang="zh-CN" altLang="zh-CN" dirty="0"/>
              <a:t>，将</a:t>
            </a:r>
            <a:r>
              <a:rPr lang="en-US" altLang="zh-CN" dirty="0"/>
              <a:t>D</a:t>
            </a:r>
            <a:r>
              <a:rPr lang="zh-CN" altLang="zh-CN" dirty="0"/>
              <a:t>标为已访问，找到与</a:t>
            </a:r>
            <a:r>
              <a:rPr lang="en-US" altLang="zh-CN" dirty="0"/>
              <a:t>D</a:t>
            </a:r>
            <a:r>
              <a:rPr lang="zh-CN" altLang="zh-CN" dirty="0"/>
              <a:t>点有路径的所有未标记结点即</a:t>
            </a:r>
            <a:r>
              <a:rPr lang="en-US" altLang="zh-CN" dirty="0"/>
              <a:t>E</a:t>
            </a:r>
            <a:r>
              <a:rPr lang="zh-CN" altLang="zh-CN" dirty="0"/>
              <a:t>，</a:t>
            </a:r>
            <a:r>
              <a:rPr lang="en-US" altLang="zh-CN" dirty="0"/>
              <a:t>F</a:t>
            </a:r>
            <a:r>
              <a:rPr lang="zh-CN" altLang="zh-CN" dirty="0"/>
              <a:t>，更新所有未标记结点的最短路径，如图</a:t>
            </a:r>
            <a:endParaRPr lang="zh-CN" altLang="en-US"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838068" y="1733193"/>
            <a:ext cx="7551787" cy="2155364"/>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5502"/>
            <a:ext cx="9144000" cy="1292662"/>
          </a:xfrm>
          <a:prstGeom prst="rect">
            <a:avLst/>
          </a:prstGeom>
        </p:spPr>
        <p:txBody>
          <a:bodyPr wrap="square">
            <a:spAutoFit/>
          </a:bodyPr>
          <a:lstStyle/>
          <a:p>
            <a:r>
              <a:rPr lang="zh-CN" altLang="zh-CN" dirty="0"/>
              <a:t>以此类推，最后结果为：从</a:t>
            </a:r>
            <a:r>
              <a:rPr lang="en-US" altLang="zh-CN" dirty="0"/>
              <a:t>A</a:t>
            </a:r>
            <a:r>
              <a:rPr lang="zh-CN" altLang="zh-CN" dirty="0"/>
              <a:t>到</a:t>
            </a:r>
            <a:r>
              <a:rPr lang="en-US" altLang="zh-CN" dirty="0"/>
              <a:t>B</a:t>
            </a:r>
            <a:r>
              <a:rPr lang="zh-CN" altLang="zh-CN" dirty="0"/>
              <a:t>的最短路径为</a:t>
            </a:r>
            <a:r>
              <a:rPr lang="en-US" altLang="zh-CN" dirty="0"/>
              <a:t>5</a:t>
            </a:r>
            <a:r>
              <a:rPr lang="zh-CN" altLang="zh-CN" dirty="0"/>
              <a:t>，从</a:t>
            </a:r>
            <a:r>
              <a:rPr lang="en-US" altLang="zh-CN" dirty="0"/>
              <a:t>A</a:t>
            </a:r>
            <a:r>
              <a:rPr lang="zh-CN" altLang="zh-CN" dirty="0"/>
              <a:t>到</a:t>
            </a:r>
            <a:r>
              <a:rPr lang="en-US" altLang="zh-CN" dirty="0"/>
              <a:t>C</a:t>
            </a:r>
            <a:r>
              <a:rPr lang="zh-CN" altLang="zh-CN" dirty="0"/>
              <a:t>的最短路径为</a:t>
            </a:r>
            <a:r>
              <a:rPr lang="en-US" altLang="zh-CN" dirty="0"/>
              <a:t>3</a:t>
            </a:r>
            <a:r>
              <a:rPr lang="zh-CN" altLang="zh-CN" dirty="0"/>
              <a:t>，从</a:t>
            </a:r>
            <a:r>
              <a:rPr lang="en-US" altLang="zh-CN" dirty="0"/>
              <a:t>A</a:t>
            </a:r>
            <a:r>
              <a:rPr lang="zh-CN" altLang="zh-CN" dirty="0"/>
              <a:t>到</a:t>
            </a:r>
            <a:r>
              <a:rPr lang="en-US" altLang="zh-CN" dirty="0"/>
              <a:t>D</a:t>
            </a:r>
            <a:r>
              <a:rPr lang="zh-CN" altLang="zh-CN" dirty="0"/>
              <a:t>的最短路径为</a:t>
            </a:r>
            <a:r>
              <a:rPr lang="en-US" altLang="zh-CN" dirty="0"/>
              <a:t>6</a:t>
            </a:r>
            <a:r>
              <a:rPr lang="zh-CN" altLang="zh-CN" dirty="0"/>
              <a:t>，从</a:t>
            </a:r>
            <a:r>
              <a:rPr lang="en-US" altLang="zh-CN" dirty="0"/>
              <a:t>A</a:t>
            </a:r>
            <a:r>
              <a:rPr lang="zh-CN" altLang="zh-CN" dirty="0"/>
              <a:t>到</a:t>
            </a:r>
            <a:r>
              <a:rPr lang="en-US" altLang="zh-CN" dirty="0"/>
              <a:t>E</a:t>
            </a:r>
            <a:r>
              <a:rPr lang="zh-CN" altLang="zh-CN" dirty="0"/>
              <a:t>的最短路径为</a:t>
            </a:r>
            <a:r>
              <a:rPr lang="en-US" altLang="zh-CN" dirty="0"/>
              <a:t>7</a:t>
            </a:r>
            <a:r>
              <a:rPr lang="zh-CN" altLang="zh-CN" dirty="0"/>
              <a:t>，从</a:t>
            </a:r>
            <a:r>
              <a:rPr lang="en-US" altLang="zh-CN" dirty="0"/>
              <a:t>A</a:t>
            </a:r>
            <a:r>
              <a:rPr lang="zh-CN" altLang="zh-CN" dirty="0"/>
              <a:t>到</a:t>
            </a:r>
            <a:r>
              <a:rPr lang="en-US" altLang="zh-CN" dirty="0"/>
              <a:t>F</a:t>
            </a:r>
            <a:r>
              <a:rPr lang="zh-CN" altLang="zh-CN" dirty="0"/>
              <a:t>的最短路径为</a:t>
            </a:r>
            <a:r>
              <a:rPr lang="en-US" altLang="zh-CN" dirty="0"/>
              <a:t>9</a:t>
            </a:r>
            <a:r>
              <a:rPr lang="zh-CN" altLang="zh-CN" dirty="0"/>
              <a:t>，如图</a:t>
            </a:r>
            <a:endParaRPr lang="zh-CN" altLang="en-US" dirty="0"/>
          </a:p>
        </p:txBody>
      </p:sp>
      <p:pic>
        <p:nvPicPr>
          <p:cNvPr id="4" name="图片 3"/>
          <p:cNvPicPr/>
          <p:nvPr/>
        </p:nvPicPr>
        <p:blipFill>
          <a:blip r:embed="rId2">
            <a:extLst>
              <a:ext uri="{28A0092B-C50C-407E-A947-70E740481C1C}">
                <a14:useLocalDpi xmlns:a14="http://schemas.microsoft.com/office/drawing/2010/main" val="0"/>
              </a:ext>
            </a:extLst>
          </a:blip>
          <a:srcRect/>
          <a:stretch>
            <a:fillRect/>
          </a:stretch>
        </p:blipFill>
        <p:spPr>
          <a:xfrm>
            <a:off x="699255" y="1633357"/>
            <a:ext cx="7836716" cy="2109084"/>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45811"/>
            <a:ext cx="8979031" cy="5355312"/>
          </a:xfrm>
          <a:prstGeom prst="rect">
            <a:avLst/>
          </a:prstGeom>
        </p:spPr>
        <p:txBody>
          <a:bodyPr wrap="square">
            <a:spAutoFit/>
          </a:bodyPr>
          <a:lstStyle/>
          <a:p>
            <a:r>
              <a:rPr lang="en-US" altLang="zh-CN" sz="1600" kern="0" dirty="0">
                <a:solidFill>
                  <a:srgbClr val="8000FF"/>
                </a:solidFill>
                <a:latin typeface="YaHei Consolas Hybrid"/>
                <a:ea typeface="宋体" panose="02010600030101010101" pitchFamily="2" charset="-122"/>
                <a:cs typeface="Courier New" panose="02070309020205020404"/>
              </a:rPr>
              <a:t>void</a:t>
            </a:r>
            <a:r>
              <a:rPr lang="en-US" altLang="zh-CN" sz="1600" kern="0" dirty="0">
                <a:solidFill>
                  <a:srgbClr val="000000"/>
                </a:solidFill>
                <a:latin typeface="YaHei Consolas Hybrid"/>
                <a:ea typeface="宋体" panose="02010600030101010101" pitchFamily="2" charset="-122"/>
                <a:cs typeface="Courier New" panose="02070309020205020404"/>
              </a:rPr>
              <a:t> Dijkstra</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8000FF"/>
                </a:solidFill>
                <a:latin typeface="YaHei Consolas Hybrid"/>
                <a:ea typeface="宋体" panose="02010600030101010101" pitchFamily="2" charset="-122"/>
                <a:cs typeface="Courier New" panose="02070309020205020404"/>
              </a:rPr>
              <a:t>int</a:t>
            </a:r>
            <a:r>
              <a:rPr lang="en-US" altLang="zh-CN" sz="1600" kern="0" dirty="0">
                <a:solidFill>
                  <a:srgbClr val="000000"/>
                </a:solidFill>
                <a:latin typeface="YaHei Consolas Hybrid"/>
                <a:ea typeface="宋体" panose="02010600030101010101" pitchFamily="2" charset="-122"/>
                <a:cs typeface="Courier New" panose="02070309020205020404"/>
              </a:rPr>
              <a:t> x</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a:solidFill>
                  <a:srgbClr val="008000"/>
                </a:solidFill>
                <a:latin typeface="YaHei Consolas Hybrid"/>
                <a:ea typeface="宋体" panose="02010600030101010101" pitchFamily="2" charset="-122"/>
                <a:cs typeface="Courier New" panose="02070309020205020404"/>
              </a:rPr>
              <a:t>//</a:t>
            </a:r>
            <a:r>
              <a:rPr lang="zh-CN" altLang="zh-CN" sz="1600" kern="0" dirty="0">
                <a:solidFill>
                  <a:srgbClr val="008000"/>
                </a:solidFill>
                <a:latin typeface="Times New Roman" panose="02020603050405020304"/>
                <a:ea typeface="YaHei Consolas Hybrid"/>
                <a:cs typeface="Courier New" panose="02070309020205020404"/>
              </a:rPr>
              <a:t>求从</a:t>
            </a:r>
            <a:r>
              <a:rPr lang="en-US" altLang="zh-CN" sz="1600" kern="0" dirty="0">
                <a:solidFill>
                  <a:srgbClr val="008000"/>
                </a:solidFill>
                <a:latin typeface="Times New Roman" panose="02020603050405020304"/>
                <a:ea typeface="YaHei Consolas Hybrid"/>
                <a:cs typeface="Courier New" panose="02070309020205020404"/>
              </a:rPr>
              <a:t>x</a:t>
            </a:r>
            <a:r>
              <a:rPr lang="zh-CN" altLang="zh-CN" sz="1600" kern="0" dirty="0">
                <a:solidFill>
                  <a:srgbClr val="008000"/>
                </a:solidFill>
                <a:latin typeface="Times New Roman" panose="02020603050405020304"/>
                <a:ea typeface="YaHei Consolas Hybrid"/>
                <a:cs typeface="Courier New" panose="02070309020205020404"/>
              </a:rPr>
              <a:t>到其他结点的单源最短路径</a:t>
            </a:r>
            <a:endParaRPr lang="zh-CN" altLang="zh-CN" sz="1800" kern="100" dirty="0">
              <a:latin typeface="Times New Roman" panose="02020603050405020304"/>
              <a:ea typeface="宋体" panose="02010600030101010101" pitchFamily="2" charset="-122"/>
            </a:endParaRPr>
          </a:p>
          <a:p>
            <a:r>
              <a:rPr lang="en-US" altLang="zh-CN" sz="1600" kern="0" dirty="0">
                <a:solidFill>
                  <a:srgbClr val="8000FF"/>
                </a:solidFill>
                <a:latin typeface="YaHei Consolas Hybrid"/>
                <a:ea typeface="宋体" panose="02010600030101010101" pitchFamily="2" charset="-122"/>
                <a:cs typeface="Courier New" panose="02070309020205020404"/>
              </a:rPr>
              <a:t>  </a:t>
            </a:r>
            <a:r>
              <a:rPr lang="en-US" altLang="zh-CN" sz="1600" kern="0" dirty="0" err="1">
                <a:solidFill>
                  <a:srgbClr val="8000FF"/>
                </a:solidFill>
                <a:latin typeface="YaHei Consolas Hybrid"/>
                <a:ea typeface="宋体" panose="02010600030101010101" pitchFamily="2" charset="-122"/>
                <a:cs typeface="Courier New" panose="02070309020205020404"/>
              </a:rPr>
              <a:t>int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Min</a:t>
            </a:r>
            <a:r>
              <a:rPr lang="en-US" altLang="zh-CN" sz="1600" b="1" kern="0" dirty="0" err="1">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000000"/>
                </a:solidFill>
                <a:latin typeface="YaHei Consolas Hybrid"/>
                <a:ea typeface="宋体" panose="02010600030101010101" pitchFamily="2" charset="-122"/>
                <a:cs typeface="Courier New" panose="02070309020205020404"/>
              </a:rPr>
              <a:t>p</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FF"/>
                </a:solidFill>
                <a:latin typeface="YaHei Consolas Hybrid"/>
                <a:ea typeface="宋体" panose="02010600030101010101" pitchFamily="2" charset="-122"/>
                <a:cs typeface="Courier New" panose="02070309020205020404"/>
              </a:rPr>
              <a:t>for</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8000FF"/>
                </a:solidFill>
                <a:latin typeface="YaHei Consolas Hybrid"/>
                <a:ea typeface="宋体" panose="02010600030101010101" pitchFamily="2" charset="-122"/>
                <a:cs typeface="Courier New" panose="02070309020205020404"/>
              </a:rPr>
              <a:t>int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FF8000"/>
                </a:solidFill>
                <a:latin typeface="YaHei Consolas Hybrid"/>
                <a:ea typeface="宋体" panose="02010600030101010101" pitchFamily="2" charset="-122"/>
                <a:cs typeface="Courier New" panose="02070309020205020404"/>
              </a:rPr>
              <a:t>1</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&lt;=</a:t>
            </a:r>
            <a:r>
              <a:rPr lang="en-US" altLang="zh-CN" sz="1600" kern="0" dirty="0">
                <a:solidFill>
                  <a:srgbClr val="000000"/>
                </a:solidFill>
                <a:latin typeface="YaHei Consolas Hybrid"/>
                <a:ea typeface="宋体" panose="02010600030101010101" pitchFamily="2" charset="-122"/>
                <a:cs typeface="Courier New" panose="02070309020205020404"/>
              </a:rPr>
              <a:t>n</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a:solidFill>
                  <a:srgbClr val="008000"/>
                </a:solidFill>
                <a:latin typeface="YaHei Consolas Hybrid"/>
                <a:ea typeface="宋体" panose="02010600030101010101" pitchFamily="2" charset="-122"/>
                <a:cs typeface="Courier New" panose="02070309020205020404"/>
              </a:rPr>
              <a:t>//</a:t>
            </a:r>
            <a:r>
              <a:rPr lang="zh-CN" altLang="zh-CN" sz="1600" kern="0" dirty="0">
                <a:solidFill>
                  <a:srgbClr val="008000"/>
                </a:solidFill>
                <a:latin typeface="Times New Roman" panose="02020603050405020304"/>
                <a:ea typeface="YaHei Consolas Hybrid"/>
                <a:cs typeface="Courier New" panose="02070309020205020404"/>
              </a:rPr>
              <a:t>预处理起点</a:t>
            </a:r>
            <a:r>
              <a:rPr lang="en-US" altLang="zh-CN" sz="1600" kern="0" dirty="0">
                <a:solidFill>
                  <a:srgbClr val="008000"/>
                </a:solidFill>
                <a:latin typeface="Times New Roman" panose="02020603050405020304"/>
                <a:ea typeface="YaHei Consolas Hybrid"/>
                <a:cs typeface="Courier New" panose="02070309020205020404"/>
              </a:rPr>
              <a:t>x</a:t>
            </a:r>
            <a:r>
              <a:rPr lang="zh-CN" altLang="zh-CN" sz="1600" kern="0" dirty="0">
                <a:solidFill>
                  <a:srgbClr val="008000"/>
                </a:solidFill>
                <a:latin typeface="Times New Roman" panose="02020603050405020304"/>
                <a:ea typeface="YaHei Consolas Hybrid"/>
                <a:cs typeface="Courier New" panose="02070309020205020404"/>
              </a:rPr>
              <a:t>到各结点的最短距离</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d</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Map</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x</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visit</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x</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FF8000"/>
                </a:solidFill>
                <a:latin typeface="YaHei Consolas Hybrid"/>
                <a:ea typeface="宋体" panose="02010600030101010101" pitchFamily="2" charset="-122"/>
                <a:cs typeface="Courier New" panose="02070309020205020404"/>
              </a:rPr>
              <a:t>1</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a:solidFill>
                  <a:srgbClr val="008000"/>
                </a:solidFill>
                <a:latin typeface="YaHei Consolas Hybrid"/>
                <a:ea typeface="宋体" panose="02010600030101010101" pitchFamily="2" charset="-122"/>
                <a:cs typeface="Courier New" panose="02070309020205020404"/>
              </a:rPr>
              <a:t>//</a:t>
            </a:r>
            <a:r>
              <a:rPr lang="zh-CN" altLang="zh-CN" sz="1600" kern="0" dirty="0">
                <a:solidFill>
                  <a:srgbClr val="008000"/>
                </a:solidFill>
                <a:latin typeface="Times New Roman" panose="02020603050405020304"/>
                <a:ea typeface="YaHei Consolas Hybrid"/>
                <a:cs typeface="Courier New" panose="02070309020205020404"/>
              </a:rPr>
              <a:t>设起点为已访问过</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d</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x</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FF8000"/>
                </a:solidFill>
                <a:latin typeface="YaHei Consolas Hybrid"/>
                <a:ea typeface="宋体" panose="02010600030101010101" pitchFamily="2" charset="-122"/>
                <a:cs typeface="Courier New" panose="02070309020205020404"/>
              </a:rPr>
              <a:t>0</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a:solidFill>
                  <a:srgbClr val="008000"/>
                </a:solidFill>
                <a:latin typeface="YaHei Consolas Hybrid"/>
                <a:ea typeface="宋体" panose="02010600030101010101" pitchFamily="2" charset="-122"/>
                <a:cs typeface="Courier New" panose="02070309020205020404"/>
              </a:rPr>
              <a:t>//</a:t>
            </a:r>
            <a:r>
              <a:rPr lang="zh-CN" altLang="zh-CN" sz="1600" kern="0" dirty="0">
                <a:solidFill>
                  <a:srgbClr val="008000"/>
                </a:solidFill>
                <a:latin typeface="Times New Roman" panose="02020603050405020304"/>
                <a:ea typeface="YaHei Consolas Hybrid"/>
                <a:cs typeface="Courier New" panose="02070309020205020404"/>
              </a:rPr>
              <a:t>自身到自身距离为零</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FF"/>
                </a:solidFill>
                <a:latin typeface="YaHei Consolas Hybrid"/>
                <a:ea typeface="宋体" panose="02010600030101010101" pitchFamily="2" charset="-122"/>
                <a:cs typeface="Courier New" panose="02070309020205020404"/>
              </a:rPr>
              <a:t>for</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8000FF"/>
                </a:solidFill>
                <a:latin typeface="YaHei Consolas Hybrid"/>
                <a:ea typeface="宋体" panose="02010600030101010101" pitchFamily="2" charset="-122"/>
                <a:cs typeface="Courier New" panose="02070309020205020404"/>
              </a:rPr>
              <a:t>int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FF8000"/>
                </a:solidFill>
                <a:latin typeface="YaHei Consolas Hybrid"/>
                <a:ea typeface="宋体" panose="02010600030101010101" pitchFamily="2" charset="-122"/>
                <a:cs typeface="Courier New" panose="02070309020205020404"/>
              </a:rPr>
              <a:t>1</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&lt;</a:t>
            </a:r>
            <a:r>
              <a:rPr lang="en-US" altLang="zh-CN" sz="1600" kern="0" dirty="0">
                <a:solidFill>
                  <a:srgbClr val="000000"/>
                </a:solidFill>
                <a:latin typeface="YaHei Consolas Hybrid"/>
                <a:ea typeface="宋体" panose="02010600030101010101" pitchFamily="2" charset="-122"/>
                <a:cs typeface="Courier New" panose="02070309020205020404"/>
              </a:rPr>
              <a:t>n</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800" b="1" kern="0" dirty="0">
                <a:solidFill>
                  <a:srgbClr val="000080"/>
                </a:solidFill>
                <a:latin typeface="YaHei Consolas Hybrid"/>
                <a:ea typeface="宋体" panose="02010600030101010101" pitchFamily="2" charset="-122"/>
                <a:cs typeface="Courier New" panose="02070309020205020404"/>
              </a:rPr>
              <a:t> {</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Min</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MAX</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a:solidFill>
                  <a:srgbClr val="008000"/>
                </a:solidFill>
                <a:latin typeface="YaHei Consolas Hybrid"/>
                <a:ea typeface="宋体" panose="02010600030101010101" pitchFamily="2" charset="-122"/>
                <a:cs typeface="Courier New" panose="02070309020205020404"/>
              </a:rPr>
              <a:t>//</a:t>
            </a:r>
            <a:r>
              <a:rPr lang="zh-CN" altLang="zh-CN" sz="1600" kern="0" dirty="0">
                <a:solidFill>
                  <a:srgbClr val="008000"/>
                </a:solidFill>
                <a:latin typeface="Times New Roman" panose="02020603050405020304"/>
                <a:ea typeface="YaHei Consolas Hybrid"/>
                <a:cs typeface="Courier New" panose="02070309020205020404"/>
              </a:rPr>
              <a:t>最短路径初始设为无穷大</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FF"/>
                </a:solidFill>
                <a:latin typeface="YaHei Consolas Hybrid"/>
                <a:ea typeface="宋体" panose="02010600030101010101" pitchFamily="2" charset="-122"/>
                <a:cs typeface="Courier New" panose="02070309020205020404"/>
              </a:rPr>
              <a:t>for</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8000FF"/>
                </a:solidFill>
                <a:latin typeface="YaHei Consolas Hybrid"/>
                <a:ea typeface="宋体" panose="02010600030101010101" pitchFamily="2" charset="-122"/>
                <a:cs typeface="Courier New" panose="02070309020205020404"/>
              </a:rPr>
              <a:t>int</a:t>
            </a:r>
            <a:r>
              <a:rPr lang="en-US" altLang="zh-CN" sz="1600" kern="0" dirty="0">
                <a:solidFill>
                  <a:srgbClr val="000000"/>
                </a:solidFill>
                <a:latin typeface="YaHei Consolas Hybrid"/>
                <a:ea typeface="宋体" panose="02010600030101010101" pitchFamily="2" charset="-122"/>
                <a:cs typeface="Courier New" panose="02070309020205020404"/>
              </a:rPr>
              <a:t> j</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FF8000"/>
                </a:solidFill>
                <a:latin typeface="YaHei Consolas Hybrid"/>
                <a:ea typeface="宋体" panose="02010600030101010101" pitchFamily="2" charset="-122"/>
                <a:cs typeface="Courier New" panose="02070309020205020404"/>
              </a:rPr>
              <a:t>1</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j</a:t>
            </a:r>
            <a:r>
              <a:rPr lang="en-US" altLang="zh-CN" sz="1600" b="1" kern="0" dirty="0">
                <a:solidFill>
                  <a:srgbClr val="000080"/>
                </a:solidFill>
                <a:latin typeface="YaHei Consolas Hybrid"/>
                <a:ea typeface="宋体" panose="02010600030101010101" pitchFamily="2" charset="-122"/>
                <a:cs typeface="Courier New" panose="02070309020205020404"/>
              </a:rPr>
              <a:t>&lt;=</a:t>
            </a:r>
            <a:r>
              <a:rPr lang="en-US" altLang="zh-CN" sz="1600" kern="0" dirty="0">
                <a:solidFill>
                  <a:srgbClr val="000000"/>
                </a:solidFill>
                <a:latin typeface="YaHei Consolas Hybrid"/>
                <a:ea typeface="宋体" panose="02010600030101010101" pitchFamily="2" charset="-122"/>
                <a:cs typeface="Courier New" panose="02070309020205020404"/>
              </a:rPr>
              <a:t>n</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j</a:t>
            </a:r>
            <a:r>
              <a:rPr lang="en-US" altLang="zh-CN" sz="1600" b="1" kern="0" dirty="0" err="1">
                <a:solidFill>
                  <a:srgbClr val="000080"/>
                </a:solidFill>
                <a:latin typeface="YaHei Consolas Hybrid"/>
                <a:ea typeface="宋体" panose="02010600030101010101" pitchFamily="2" charset="-122"/>
                <a:cs typeface="Courier New" panose="02070309020205020404"/>
              </a:rPr>
              <a:t>++</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FF"/>
                </a:solidFill>
                <a:latin typeface="YaHei Consolas Hybrid"/>
                <a:ea typeface="宋体" panose="02010600030101010101" pitchFamily="2" charset="-122"/>
                <a:cs typeface="Courier New" panose="02070309020205020404"/>
              </a:rPr>
              <a:t>if</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visit</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j</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80"/>
                </a:solidFill>
                <a:latin typeface="YaHei Consolas Hybrid"/>
                <a:ea typeface="宋体" panose="02010600030101010101" pitchFamily="2" charset="-122"/>
                <a:cs typeface="Courier New" panose="02070309020205020404"/>
              </a:rPr>
              <a:t>&amp;&amp;</a:t>
            </a:r>
            <a:r>
              <a:rPr lang="en-US" altLang="zh-CN" sz="1600" kern="0" dirty="0">
                <a:solidFill>
                  <a:srgbClr val="000000"/>
                </a:solidFill>
                <a:latin typeface="YaHei Consolas Hybrid"/>
                <a:ea typeface="宋体" panose="02010600030101010101" pitchFamily="2" charset="-122"/>
                <a:cs typeface="Courier New" panose="02070309020205020404"/>
              </a:rPr>
              <a:t> Min</a:t>
            </a:r>
            <a:r>
              <a:rPr lang="en-US" altLang="zh-CN" sz="1600" b="1" kern="0" dirty="0">
                <a:solidFill>
                  <a:srgbClr val="000080"/>
                </a:solidFill>
                <a:latin typeface="YaHei Consolas Hybrid"/>
                <a:ea typeface="宋体" panose="02010600030101010101" pitchFamily="2" charset="-122"/>
                <a:cs typeface="Courier New" panose="02070309020205020404"/>
              </a:rPr>
              <a:t>&gt;</a:t>
            </a:r>
            <a:r>
              <a:rPr lang="en-US" altLang="zh-CN" sz="1600" kern="0" dirty="0">
                <a:solidFill>
                  <a:srgbClr val="000000"/>
                </a:solidFill>
                <a:latin typeface="YaHei Consolas Hybrid"/>
                <a:ea typeface="宋体" panose="02010600030101010101" pitchFamily="2" charset="-122"/>
                <a:cs typeface="Courier New" panose="02070309020205020404"/>
              </a:rPr>
              <a:t>d</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j</a:t>
            </a:r>
            <a:r>
              <a:rPr lang="en-US" altLang="zh-CN" sz="1600" b="1" kern="0" dirty="0">
                <a:solidFill>
                  <a:srgbClr val="000080"/>
                </a:solidFill>
                <a:latin typeface="YaHei Consolas Hybrid"/>
                <a:ea typeface="宋体" panose="02010600030101010101" pitchFamily="2" charset="-122"/>
                <a:cs typeface="Courier New" panose="02070309020205020404"/>
              </a:rPr>
              <a:t>]) {</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a:solidFill>
                  <a:srgbClr val="008000"/>
                </a:solidFill>
                <a:latin typeface="YaHei Consolas Hybrid"/>
                <a:ea typeface="宋体" panose="02010600030101010101" pitchFamily="2" charset="-122"/>
                <a:cs typeface="Courier New" panose="02070309020205020404"/>
              </a:rPr>
              <a:t>//</a:t>
            </a:r>
            <a:r>
              <a:rPr lang="zh-CN" altLang="zh-CN" sz="1600" kern="0" dirty="0">
                <a:solidFill>
                  <a:srgbClr val="008000"/>
                </a:solidFill>
                <a:latin typeface="Times New Roman" panose="02020603050405020304"/>
                <a:ea typeface="YaHei Consolas Hybrid"/>
                <a:cs typeface="Courier New" panose="02070309020205020404"/>
              </a:rPr>
              <a:t>找没查找过的路径最短的结点</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p</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j</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a:solidFill>
                  <a:srgbClr val="008000"/>
                </a:solidFill>
                <a:latin typeface="YaHei Consolas Hybrid"/>
                <a:ea typeface="宋体" panose="02010600030101010101" pitchFamily="2" charset="-122"/>
                <a:cs typeface="Courier New" panose="02070309020205020404"/>
              </a:rPr>
              <a:t>//</a:t>
            </a:r>
            <a:r>
              <a:rPr lang="zh-CN" altLang="zh-CN" sz="1600" kern="0" dirty="0">
                <a:solidFill>
                  <a:srgbClr val="008000"/>
                </a:solidFill>
                <a:latin typeface="Times New Roman" panose="02020603050405020304"/>
                <a:ea typeface="YaHei Consolas Hybrid"/>
                <a:cs typeface="Courier New" panose="02070309020205020404"/>
              </a:rPr>
              <a:t>定位路径最短的结点</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Min</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d</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j</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visit</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p</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FF8000"/>
                </a:solidFill>
                <a:latin typeface="YaHei Consolas Hybrid"/>
                <a:ea typeface="宋体" panose="02010600030101010101" pitchFamily="2" charset="-122"/>
                <a:cs typeface="Courier New" panose="02070309020205020404"/>
              </a:rPr>
              <a:t>1</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a:solidFill>
                  <a:srgbClr val="008000"/>
                </a:solidFill>
                <a:latin typeface="YaHei Consolas Hybrid"/>
                <a:ea typeface="宋体" panose="02010600030101010101" pitchFamily="2" charset="-122"/>
                <a:cs typeface="Courier New" panose="02070309020205020404"/>
              </a:rPr>
              <a:t>//</a:t>
            </a:r>
            <a:r>
              <a:rPr lang="zh-CN" altLang="zh-CN" sz="1600" kern="0" dirty="0">
                <a:solidFill>
                  <a:srgbClr val="008000"/>
                </a:solidFill>
                <a:latin typeface="Times New Roman" panose="02020603050405020304"/>
                <a:ea typeface="YaHei Consolas Hybrid"/>
                <a:cs typeface="Courier New" panose="02070309020205020404"/>
              </a:rPr>
              <a:t>路径最短结点设为已访问</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FF"/>
                </a:solidFill>
                <a:latin typeface="YaHei Consolas Hybrid"/>
                <a:ea typeface="宋体" panose="02010600030101010101" pitchFamily="2" charset="-122"/>
                <a:cs typeface="Courier New" panose="02070309020205020404"/>
              </a:rPr>
              <a:t>for</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8000FF"/>
                </a:solidFill>
                <a:latin typeface="YaHei Consolas Hybrid"/>
                <a:ea typeface="宋体" panose="02010600030101010101" pitchFamily="2" charset="-122"/>
                <a:cs typeface="Courier New" panose="02070309020205020404"/>
              </a:rPr>
              <a:t>int</a:t>
            </a:r>
            <a:r>
              <a:rPr lang="en-US" altLang="zh-CN" sz="1600" kern="0" dirty="0">
                <a:solidFill>
                  <a:srgbClr val="000000"/>
                </a:solidFill>
                <a:latin typeface="YaHei Consolas Hybrid"/>
                <a:ea typeface="宋体" panose="02010600030101010101" pitchFamily="2" charset="-122"/>
                <a:cs typeface="Courier New" panose="02070309020205020404"/>
              </a:rPr>
              <a:t> j</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FF8000"/>
                </a:solidFill>
                <a:latin typeface="YaHei Consolas Hybrid"/>
                <a:ea typeface="宋体" panose="02010600030101010101" pitchFamily="2" charset="-122"/>
                <a:cs typeface="Courier New" panose="02070309020205020404"/>
              </a:rPr>
              <a:t>1</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j</a:t>
            </a:r>
            <a:r>
              <a:rPr lang="en-US" altLang="zh-CN" sz="1600" b="1" kern="0" dirty="0">
                <a:solidFill>
                  <a:srgbClr val="000080"/>
                </a:solidFill>
                <a:latin typeface="YaHei Consolas Hybrid"/>
                <a:ea typeface="宋体" panose="02010600030101010101" pitchFamily="2" charset="-122"/>
                <a:cs typeface="Courier New" panose="02070309020205020404"/>
              </a:rPr>
              <a:t>&lt;=</a:t>
            </a:r>
            <a:r>
              <a:rPr lang="en-US" altLang="zh-CN" sz="1600" kern="0" dirty="0">
                <a:solidFill>
                  <a:srgbClr val="000000"/>
                </a:solidFill>
                <a:latin typeface="YaHei Consolas Hybrid"/>
                <a:ea typeface="宋体" panose="02010600030101010101" pitchFamily="2" charset="-122"/>
                <a:cs typeface="Courier New" panose="02070309020205020404"/>
              </a:rPr>
              <a:t>n</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j</a:t>
            </a:r>
            <a:r>
              <a:rPr lang="en-US" altLang="zh-CN" sz="1600" b="1" kern="0" dirty="0" err="1">
                <a:solidFill>
                  <a:srgbClr val="000080"/>
                </a:solidFill>
                <a:latin typeface="YaHei Consolas Hybrid"/>
                <a:ea typeface="宋体" panose="02010600030101010101" pitchFamily="2" charset="-122"/>
                <a:cs typeface="Courier New" panose="02070309020205020404"/>
              </a:rPr>
              <a:t>++</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a:solidFill>
                  <a:srgbClr val="008000"/>
                </a:solidFill>
                <a:latin typeface="YaHei Consolas Hybrid"/>
                <a:ea typeface="宋体" panose="02010600030101010101" pitchFamily="2" charset="-122"/>
                <a:cs typeface="Courier New" panose="02070309020205020404"/>
              </a:rPr>
              <a:t>//</a:t>
            </a:r>
            <a:r>
              <a:rPr lang="zh-CN" altLang="zh-CN" sz="1600" kern="0" dirty="0">
                <a:solidFill>
                  <a:srgbClr val="008000"/>
                </a:solidFill>
                <a:latin typeface="Times New Roman" panose="02020603050405020304"/>
                <a:ea typeface="YaHei Consolas Hybrid"/>
                <a:cs typeface="Courier New" panose="02070309020205020404"/>
              </a:rPr>
              <a:t>更新未查找结点的最小距离总和</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FF"/>
                </a:solidFill>
                <a:latin typeface="YaHei Consolas Hybrid"/>
                <a:ea typeface="宋体" panose="02010600030101010101" pitchFamily="2" charset="-122"/>
                <a:cs typeface="Courier New" panose="02070309020205020404"/>
              </a:rPr>
              <a:t>if</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visit</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j</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80"/>
                </a:solidFill>
                <a:latin typeface="YaHei Consolas Hybrid"/>
                <a:ea typeface="宋体" panose="02010600030101010101" pitchFamily="2" charset="-122"/>
                <a:cs typeface="Courier New" panose="02070309020205020404"/>
              </a:rPr>
              <a:t>&amp;&amp;</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Min</a:t>
            </a:r>
            <a:r>
              <a:rPr lang="en-US" altLang="zh-CN" sz="1600" b="1" kern="0" dirty="0" err="1">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000000"/>
                </a:solidFill>
                <a:latin typeface="YaHei Consolas Hybrid"/>
                <a:ea typeface="宋体" panose="02010600030101010101" pitchFamily="2" charset="-122"/>
                <a:cs typeface="Courier New" panose="02070309020205020404"/>
              </a:rPr>
              <a:t>Map</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p</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j</a:t>
            </a:r>
            <a:r>
              <a:rPr lang="en-US" altLang="zh-CN" sz="1600" b="1" kern="0" dirty="0">
                <a:solidFill>
                  <a:srgbClr val="000080"/>
                </a:solidFill>
                <a:latin typeface="YaHei Consolas Hybrid"/>
                <a:ea typeface="宋体" panose="02010600030101010101" pitchFamily="2" charset="-122"/>
                <a:cs typeface="Courier New" panose="02070309020205020404"/>
              </a:rPr>
              <a:t>]&lt;</a:t>
            </a:r>
            <a:r>
              <a:rPr lang="en-US" altLang="zh-CN" sz="1600" kern="0" dirty="0">
                <a:solidFill>
                  <a:srgbClr val="000000"/>
                </a:solidFill>
                <a:latin typeface="YaHei Consolas Hybrid"/>
                <a:ea typeface="宋体" panose="02010600030101010101" pitchFamily="2" charset="-122"/>
                <a:cs typeface="Courier New" panose="02070309020205020404"/>
              </a:rPr>
              <a:t>d</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j</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8000"/>
                </a:solidFill>
                <a:latin typeface="YaHei Consolas Hybrid"/>
                <a:ea typeface="宋体" panose="02010600030101010101" pitchFamily="2" charset="-122"/>
                <a:cs typeface="Courier New" panose="02070309020205020404"/>
              </a:rPr>
              <a:t>//Map[x][p]+Map[p][j]</a:t>
            </a:r>
            <a:r>
              <a:rPr lang="zh-CN" altLang="zh-CN" sz="1600" kern="0" dirty="0">
                <a:solidFill>
                  <a:srgbClr val="008000"/>
                </a:solidFill>
                <a:latin typeface="Times New Roman" panose="02020603050405020304"/>
                <a:ea typeface="YaHei Consolas Hybrid"/>
                <a:cs typeface="Courier New" panose="02070309020205020404"/>
              </a:rPr>
              <a:t>的值更优</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d</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j</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000000"/>
                </a:solidFill>
                <a:latin typeface="YaHei Consolas Hybrid"/>
                <a:ea typeface="宋体" panose="02010600030101010101" pitchFamily="2" charset="-122"/>
                <a:cs typeface="Courier New" panose="02070309020205020404"/>
              </a:rPr>
              <a:t>Min</a:t>
            </a:r>
            <a:r>
              <a:rPr lang="en-US" altLang="zh-CN" sz="1600" b="1" kern="0" dirty="0" err="1">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000000"/>
                </a:solidFill>
                <a:latin typeface="YaHei Consolas Hybrid"/>
                <a:ea typeface="宋体" panose="02010600030101010101" pitchFamily="2" charset="-122"/>
                <a:cs typeface="Courier New" panose="02070309020205020404"/>
              </a:rPr>
              <a:t>Map</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p</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j</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FF"/>
                </a:solidFill>
                <a:latin typeface="YaHei Consolas Hybrid"/>
                <a:ea typeface="宋体" panose="02010600030101010101" pitchFamily="2" charset="-122"/>
                <a:cs typeface="Courier New" panose="02070309020205020404"/>
              </a:rPr>
              <a:t>for</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8000FF"/>
                </a:solidFill>
                <a:latin typeface="YaHei Consolas Hybrid"/>
                <a:ea typeface="宋体" panose="02010600030101010101" pitchFamily="2" charset="-122"/>
                <a:cs typeface="Courier New" panose="02070309020205020404"/>
              </a:rPr>
              <a:t>int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FF8000"/>
                </a:solidFill>
                <a:latin typeface="YaHei Consolas Hybrid"/>
                <a:ea typeface="宋体" panose="02010600030101010101" pitchFamily="2" charset="-122"/>
                <a:cs typeface="Courier New" panose="02070309020205020404"/>
              </a:rPr>
              <a:t>1</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&lt;=</a:t>
            </a:r>
            <a:r>
              <a:rPr lang="en-US" altLang="zh-CN" sz="1600" kern="0" dirty="0">
                <a:solidFill>
                  <a:srgbClr val="000000"/>
                </a:solidFill>
                <a:latin typeface="YaHei Consolas Hybrid"/>
                <a:ea typeface="宋体" panose="02010600030101010101" pitchFamily="2" charset="-122"/>
                <a:cs typeface="Courier New" panose="02070309020205020404"/>
              </a:rPr>
              <a:t>n</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a:solidFill>
                  <a:srgbClr val="008000"/>
                </a:solidFill>
                <a:latin typeface="YaHei Consolas Hybrid"/>
                <a:ea typeface="宋体" panose="02010600030101010101" pitchFamily="2" charset="-122"/>
                <a:cs typeface="Courier New" panose="02070309020205020404"/>
              </a:rPr>
              <a:t>//</a:t>
            </a:r>
            <a:r>
              <a:rPr lang="zh-CN" altLang="zh-CN" sz="1600" kern="0" dirty="0">
                <a:solidFill>
                  <a:srgbClr val="008000"/>
                </a:solidFill>
                <a:latin typeface="Times New Roman" panose="02020603050405020304"/>
                <a:ea typeface="YaHei Consolas Hybrid"/>
                <a:cs typeface="Courier New" panose="02070309020205020404"/>
              </a:rPr>
              <a:t>打印从起点</a:t>
            </a:r>
            <a:r>
              <a:rPr lang="en-US" altLang="zh-CN" sz="1600" kern="0" dirty="0">
                <a:solidFill>
                  <a:srgbClr val="008000"/>
                </a:solidFill>
                <a:latin typeface="Times New Roman" panose="02020603050405020304"/>
                <a:ea typeface="YaHei Consolas Hybrid"/>
                <a:cs typeface="Courier New" panose="02070309020205020404"/>
              </a:rPr>
              <a:t>x</a:t>
            </a:r>
            <a:r>
              <a:rPr lang="zh-CN" altLang="zh-CN" sz="1600" kern="0" dirty="0">
                <a:solidFill>
                  <a:srgbClr val="008000"/>
                </a:solidFill>
                <a:latin typeface="Times New Roman" panose="02020603050405020304"/>
                <a:ea typeface="YaHei Consolas Hybrid"/>
                <a:cs typeface="Courier New" panose="02070309020205020404"/>
              </a:rPr>
              <a:t>到任意点的最短距离</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cout</a:t>
            </a:r>
            <a:r>
              <a:rPr lang="en-US" altLang="zh-CN" sz="1600" b="1" kern="0" dirty="0">
                <a:solidFill>
                  <a:srgbClr val="000080"/>
                </a:solidFill>
                <a:latin typeface="YaHei Consolas Hybrid"/>
                <a:ea typeface="宋体" panose="02010600030101010101" pitchFamily="2" charset="-122"/>
                <a:cs typeface="Courier New" panose="02070309020205020404"/>
              </a:rPr>
              <a:t>&lt;&lt;</a:t>
            </a:r>
            <a:r>
              <a:rPr lang="en-US" altLang="zh-CN" sz="1600" kern="0" dirty="0">
                <a:solidFill>
                  <a:srgbClr val="000000"/>
                </a:solidFill>
                <a:latin typeface="YaHei Consolas Hybrid"/>
                <a:ea typeface="宋体" panose="02010600030101010101" pitchFamily="2" charset="-122"/>
                <a:cs typeface="Courier New" panose="02070309020205020404"/>
              </a:rPr>
              <a:t>d</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]&lt;&lt;</a:t>
            </a:r>
            <a:r>
              <a:rPr lang="en-US" altLang="zh-CN" sz="1600" kern="0" dirty="0">
                <a:solidFill>
                  <a:srgbClr val="808080"/>
                </a:solidFill>
                <a:latin typeface="YaHei Consolas Hybrid"/>
                <a:ea typeface="宋体" panose="02010600030101010101" pitchFamily="2" charset="-122"/>
                <a:cs typeface="Courier New" panose="02070309020205020404"/>
              </a:rPr>
              <a:t>'\n'</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effectLst/>
              <a:latin typeface="Times New Roman" panose="02020603050405020304"/>
              <a:ea typeface="宋体" panose="02010600030101010101"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4434227" cy="833433"/>
          </a:xfrm>
          <a:prstGeom prst="rect">
            <a:avLst/>
          </a:prstGeom>
        </p:spPr>
        <p:txBody>
          <a:bodyPr wrap="none">
            <a:spAutoFit/>
          </a:bodyPr>
          <a:lstStyle/>
          <a:p>
            <a:pPr algn="just">
              <a:lnSpc>
                <a:spcPct val="172000"/>
              </a:lnSpc>
              <a:spcBef>
                <a:spcPts val="1300"/>
              </a:spcBef>
              <a:spcAft>
                <a:spcPts val="1300"/>
              </a:spcAft>
            </a:pPr>
            <a:r>
              <a:rPr lang="en-US" altLang="zh-CN" sz="2800" b="1" kern="100" dirty="0">
                <a:latin typeface="Times New Roman" panose="02020603050405020304"/>
              </a:rPr>
              <a:t>5.4.2 Dijkstra</a:t>
            </a:r>
            <a:r>
              <a:rPr lang="zh-CN" altLang="zh-CN" sz="2800" b="1" kern="100" dirty="0">
                <a:latin typeface="Times New Roman" panose="02020603050405020304"/>
                <a:ea typeface="宋体" panose="02010600030101010101" pitchFamily="2" charset="-122"/>
              </a:rPr>
              <a:t>算法的堆优化</a:t>
            </a:r>
            <a:endParaRPr lang="zh-CN" altLang="zh-CN" sz="2800" b="1" kern="100" dirty="0">
              <a:effectLst/>
              <a:latin typeface="Times New Roman" panose="02020603050405020304"/>
            </a:endParaRPr>
          </a:p>
        </p:txBody>
      </p:sp>
      <p:sp>
        <p:nvSpPr>
          <p:cNvPr id="3" name="矩形 2"/>
          <p:cNvSpPr/>
          <p:nvPr/>
        </p:nvSpPr>
        <p:spPr>
          <a:xfrm>
            <a:off x="122549" y="874109"/>
            <a:ext cx="8889476" cy="2246769"/>
          </a:xfrm>
          <a:prstGeom prst="rect">
            <a:avLst/>
          </a:prstGeom>
        </p:spPr>
        <p:txBody>
          <a:bodyPr wrap="square">
            <a:spAutoFit/>
          </a:bodyPr>
          <a:lstStyle/>
          <a:p>
            <a:r>
              <a:rPr lang="zh-CN" altLang="zh-CN" sz="2800" kern="100" dirty="0">
                <a:latin typeface="Times New Roman" panose="02020603050405020304"/>
                <a:ea typeface="宋体" panose="02010600030101010101" pitchFamily="2" charset="-122"/>
                <a:cs typeface="Times New Roman" panose="02020603050405020304"/>
              </a:rPr>
              <a:t>朴素的</a:t>
            </a:r>
            <a:r>
              <a:rPr lang="en-US" altLang="zh-CN" sz="2800" kern="100" dirty="0">
                <a:latin typeface="Times New Roman" panose="02020603050405020304"/>
                <a:ea typeface="宋体" panose="02010600030101010101" pitchFamily="2" charset="-122"/>
              </a:rPr>
              <a:t>Dijkstra</a:t>
            </a:r>
            <a:r>
              <a:rPr lang="zh-CN" altLang="zh-CN" sz="2800" kern="100" dirty="0">
                <a:latin typeface="Times New Roman" panose="02020603050405020304"/>
                <a:ea typeface="宋体" panose="02010600030101010101" pitchFamily="2" charset="-122"/>
                <a:cs typeface="Times New Roman" panose="02020603050405020304"/>
              </a:rPr>
              <a:t>算法使用邻接矩阵来实现，其外循环</a:t>
            </a:r>
            <a:r>
              <a:rPr lang="en-US" altLang="zh-CN" sz="2800" i="1" kern="100" dirty="0">
                <a:latin typeface="Times New Roman" panose="02020603050405020304"/>
                <a:ea typeface="宋体" panose="02010600030101010101" pitchFamily="2" charset="-122"/>
              </a:rPr>
              <a:t>n</a:t>
            </a:r>
            <a:r>
              <a:rPr lang="zh-CN" altLang="zh-CN" sz="2800" kern="100" dirty="0">
                <a:latin typeface="Times New Roman" panose="02020603050405020304"/>
                <a:ea typeface="宋体" panose="02010600030101010101" pitchFamily="2" charset="-122"/>
                <a:cs typeface="Times New Roman" panose="02020603050405020304"/>
              </a:rPr>
              <a:t>－</a:t>
            </a:r>
            <a:r>
              <a:rPr lang="en-US" altLang="zh-CN" sz="2800" kern="100" dirty="0">
                <a:latin typeface="Times New Roman" panose="02020603050405020304"/>
                <a:ea typeface="宋体" panose="02010600030101010101" pitchFamily="2" charset="-122"/>
              </a:rPr>
              <a:t>1</a:t>
            </a:r>
            <a:r>
              <a:rPr lang="zh-CN" altLang="zh-CN" sz="2800" kern="100" dirty="0">
                <a:latin typeface="Times New Roman" panose="02020603050405020304"/>
                <a:ea typeface="宋体" panose="02010600030101010101" pitchFamily="2" charset="-122"/>
                <a:cs typeface="Times New Roman" panose="02020603050405020304"/>
              </a:rPr>
              <a:t>次，内循环</a:t>
            </a:r>
            <a:r>
              <a:rPr lang="en-US" altLang="zh-CN" sz="2800" i="1" kern="100" dirty="0">
                <a:latin typeface="Times New Roman" panose="02020603050405020304"/>
                <a:ea typeface="宋体" panose="02010600030101010101" pitchFamily="2" charset="-122"/>
              </a:rPr>
              <a:t>n</a:t>
            </a:r>
            <a:r>
              <a:rPr lang="zh-CN" altLang="zh-CN" sz="2800" kern="100" dirty="0">
                <a:latin typeface="Times New Roman" panose="02020603050405020304"/>
                <a:ea typeface="宋体" panose="02010600030101010101" pitchFamily="2" charset="-122"/>
                <a:cs typeface="Times New Roman" panose="02020603050405020304"/>
              </a:rPr>
              <a:t>次，时间复杂度为</a:t>
            </a:r>
            <a:r>
              <a:rPr lang="en-US" altLang="zh-CN" sz="2800" i="1" kern="100" dirty="0">
                <a:latin typeface="Times New Roman" panose="02020603050405020304"/>
                <a:ea typeface="宋体" panose="02010600030101010101" pitchFamily="2" charset="-122"/>
              </a:rPr>
              <a:t>O</a:t>
            </a:r>
            <a:r>
              <a:rPr lang="en-US" altLang="zh-CN" sz="2800" kern="100" dirty="0">
                <a:latin typeface="Times New Roman" panose="02020603050405020304"/>
                <a:ea typeface="宋体" panose="02010600030101010101" pitchFamily="2" charset="-122"/>
              </a:rPr>
              <a:t>(</a:t>
            </a:r>
            <a:r>
              <a:rPr lang="en-US" altLang="zh-CN" sz="2800" i="1" kern="100" dirty="0">
                <a:latin typeface="Times New Roman" panose="02020603050405020304"/>
                <a:ea typeface="宋体" panose="02010600030101010101" pitchFamily="2" charset="-122"/>
              </a:rPr>
              <a:t>n</a:t>
            </a:r>
            <a:r>
              <a:rPr lang="en-US" altLang="zh-CN" sz="2800" kern="100" baseline="30000" dirty="0">
                <a:latin typeface="Times New Roman" panose="02020603050405020304"/>
                <a:ea typeface="宋体" panose="02010600030101010101" pitchFamily="2" charset="-122"/>
              </a:rPr>
              <a:t>2</a:t>
            </a:r>
            <a:r>
              <a:rPr lang="en-US" altLang="zh-CN" sz="2800" kern="100" dirty="0">
                <a:latin typeface="Times New Roman" panose="02020603050405020304"/>
                <a:ea typeface="宋体" panose="02010600030101010101" pitchFamily="2" charset="-122"/>
              </a:rPr>
              <a:t>)</a:t>
            </a:r>
            <a:r>
              <a:rPr lang="zh-CN" altLang="zh-CN" sz="2800" kern="100" dirty="0">
                <a:latin typeface="Times New Roman" panose="02020603050405020304"/>
                <a:ea typeface="宋体" panose="02010600030101010101" pitchFamily="2" charset="-122"/>
                <a:cs typeface="Times New Roman" panose="02020603050405020304"/>
              </a:rPr>
              <a:t>。在数据量大的情况下，可以手写小根堆来存储，从而使复杂度降低到</a:t>
            </a:r>
            <a:r>
              <a:rPr lang="en-US" altLang="zh-CN" sz="2800" i="1" kern="100" dirty="0">
                <a:latin typeface="Times New Roman" panose="02020603050405020304"/>
                <a:ea typeface="宋体" panose="02010600030101010101" pitchFamily="2" charset="-122"/>
              </a:rPr>
              <a:t>O</a:t>
            </a:r>
            <a:r>
              <a:rPr lang="en-US" altLang="zh-CN" sz="2800" kern="100" dirty="0">
                <a:latin typeface="Times New Roman" panose="02020603050405020304"/>
                <a:ea typeface="宋体" panose="02010600030101010101" pitchFamily="2" charset="-122"/>
              </a:rPr>
              <a:t>(</a:t>
            </a:r>
            <a:r>
              <a:rPr lang="en-US" altLang="zh-CN" sz="2800" i="1" kern="100" dirty="0" err="1">
                <a:latin typeface="Times New Roman" panose="02020603050405020304"/>
                <a:ea typeface="宋体" panose="02010600030101010101" pitchFamily="2" charset="-122"/>
              </a:rPr>
              <a:t>n</a:t>
            </a:r>
            <a:r>
              <a:rPr lang="en-US" altLang="zh-CN" sz="2800" kern="100" dirty="0" err="1">
                <a:latin typeface="Times New Roman" panose="02020603050405020304"/>
                <a:ea typeface="宋体" panose="02010600030101010101" pitchFamily="2" charset="-122"/>
              </a:rPr>
              <a:t>log</a:t>
            </a:r>
            <a:r>
              <a:rPr lang="en-US" altLang="zh-CN" sz="2800" i="1" kern="100" dirty="0" err="1">
                <a:latin typeface="Times New Roman" panose="02020603050405020304"/>
                <a:ea typeface="宋体" panose="02010600030101010101" pitchFamily="2" charset="-122"/>
              </a:rPr>
              <a:t>n</a:t>
            </a:r>
            <a:r>
              <a:rPr lang="en-US" altLang="zh-CN" sz="2800" kern="100" dirty="0">
                <a:latin typeface="Times New Roman" panose="02020603050405020304"/>
                <a:ea typeface="宋体" panose="02010600030101010101" pitchFamily="2" charset="-122"/>
              </a:rPr>
              <a:t>)</a:t>
            </a:r>
            <a:r>
              <a:rPr lang="zh-CN" altLang="zh-CN" sz="2800" kern="100" dirty="0">
                <a:latin typeface="Times New Roman" panose="02020603050405020304"/>
                <a:ea typeface="宋体" panose="02010600030101010101" pitchFamily="2" charset="-122"/>
                <a:cs typeface="Times New Roman" panose="02020603050405020304"/>
              </a:rPr>
              <a:t>，也可以使用</a:t>
            </a:r>
            <a:r>
              <a:rPr lang="en-US" altLang="zh-CN" sz="2800" kern="100" dirty="0">
                <a:latin typeface="Times New Roman" panose="02020603050405020304"/>
                <a:ea typeface="宋体" panose="02010600030101010101" pitchFamily="2" charset="-122"/>
              </a:rPr>
              <a:t>STL</a:t>
            </a:r>
            <a:r>
              <a:rPr lang="zh-CN" altLang="zh-CN" sz="2800" kern="100" dirty="0">
                <a:latin typeface="Times New Roman" panose="02020603050405020304"/>
                <a:ea typeface="宋体" panose="02010600030101010101" pitchFamily="2" charset="-122"/>
                <a:cs typeface="Times New Roman" panose="02020603050405020304"/>
              </a:rPr>
              <a:t>的优先队列模拟堆优化以简化代码的复杂度</a:t>
            </a:r>
            <a:endParaRPr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249"/>
            <a:ext cx="2357505" cy="492443"/>
          </a:xfrm>
          <a:prstGeom prst="rect">
            <a:avLst/>
          </a:prstGeom>
        </p:spPr>
        <p:txBody>
          <a:bodyPr wrap="none">
            <a:spAutoFit/>
          </a:bodyPr>
          <a:lstStyle/>
          <a:p>
            <a:r>
              <a:rPr lang="en-US" altLang="zh-CN" b="1" dirty="0"/>
              <a:t>5.4.3 Floyd</a:t>
            </a:r>
            <a:r>
              <a:rPr lang="zh-CN" altLang="zh-CN" b="1" dirty="0"/>
              <a:t>算法</a:t>
            </a:r>
          </a:p>
        </p:txBody>
      </p:sp>
      <p:sp>
        <p:nvSpPr>
          <p:cNvPr id="3" name="矩形 2"/>
          <p:cNvSpPr/>
          <p:nvPr/>
        </p:nvSpPr>
        <p:spPr>
          <a:xfrm>
            <a:off x="0" y="842126"/>
            <a:ext cx="9144000" cy="2677656"/>
          </a:xfrm>
          <a:prstGeom prst="rect">
            <a:avLst/>
          </a:prstGeom>
        </p:spPr>
        <p:txBody>
          <a:bodyPr wrap="square">
            <a:spAutoFit/>
          </a:bodyPr>
          <a:lstStyle/>
          <a:p>
            <a:pPr indent="276225" algn="just">
              <a:spcAft>
                <a:spcPts val="0"/>
              </a:spcAft>
            </a:pPr>
            <a:r>
              <a:rPr lang="zh-CN" altLang="zh-CN" sz="2400" kern="100" dirty="0">
                <a:latin typeface="Times New Roman" panose="02020603050405020304"/>
                <a:ea typeface="宋体" panose="02010600030101010101" pitchFamily="2" charset="-122"/>
              </a:rPr>
              <a:t>如想求得每对顶点之间的最短路径，我们可以以一个顶点为源点，重复执行</a:t>
            </a:r>
            <a:r>
              <a:rPr lang="en-US" altLang="zh-CN" sz="2400" kern="100" dirty="0">
                <a:latin typeface="Times New Roman" panose="02020603050405020304"/>
                <a:ea typeface="宋体" panose="02010600030101010101" pitchFamily="2" charset="-122"/>
              </a:rPr>
              <a:t>Dijkstra</a:t>
            </a:r>
            <a:r>
              <a:rPr lang="zh-CN" altLang="zh-CN" sz="2400" kern="100" dirty="0">
                <a:latin typeface="Times New Roman" panose="02020603050405020304"/>
                <a:ea typeface="宋体" panose="02010600030101010101" pitchFamily="2" charset="-122"/>
              </a:rPr>
              <a:t>算法</a:t>
            </a:r>
            <a:r>
              <a:rPr lang="en-US" altLang="zh-CN" sz="2400" i="1" kern="100" dirty="0">
                <a:latin typeface="Times New Roman" panose="02020603050405020304"/>
                <a:ea typeface="宋体" panose="02010600030101010101" pitchFamily="2" charset="-122"/>
              </a:rPr>
              <a:t>n</a:t>
            </a:r>
            <a:r>
              <a:rPr lang="zh-CN" altLang="zh-CN" sz="2400" kern="100" dirty="0">
                <a:latin typeface="Times New Roman" panose="02020603050405020304"/>
                <a:ea typeface="宋体" panose="02010600030101010101" pitchFamily="2" charset="-122"/>
              </a:rPr>
              <a:t>次，这样可以求得每一对顶点之间的最短路径，其时间复杂度是</a:t>
            </a:r>
            <a:r>
              <a:rPr lang="en-US" altLang="zh-CN" sz="2400" i="1" kern="100" dirty="0">
                <a:latin typeface="Times New Roman" panose="02020603050405020304"/>
                <a:ea typeface="宋体" panose="02010600030101010101" pitchFamily="2" charset="-122"/>
              </a:rPr>
              <a:t>O</a:t>
            </a:r>
            <a:r>
              <a:rPr lang="en-US" altLang="zh-CN" sz="2400" kern="100" dirty="0">
                <a:latin typeface="Times New Roman" panose="02020603050405020304"/>
                <a:ea typeface="宋体" panose="02010600030101010101" pitchFamily="2" charset="-122"/>
              </a:rPr>
              <a:t>(</a:t>
            </a:r>
            <a:r>
              <a:rPr lang="en-US" altLang="zh-CN" sz="2400" i="1" kern="100" dirty="0">
                <a:latin typeface="Times New Roman" panose="02020603050405020304"/>
                <a:ea typeface="宋体" panose="02010600030101010101" pitchFamily="2" charset="-122"/>
              </a:rPr>
              <a:t>n</a:t>
            </a:r>
            <a:r>
              <a:rPr lang="en-US" altLang="zh-CN" sz="2400" kern="100" baseline="30000" dirty="0">
                <a:latin typeface="Times New Roman" panose="02020603050405020304"/>
                <a:ea typeface="宋体" panose="02010600030101010101" pitchFamily="2" charset="-122"/>
              </a:rPr>
              <a:t>3</a:t>
            </a:r>
            <a:r>
              <a:rPr lang="en-US" altLang="zh-CN" sz="2400" kern="100" dirty="0">
                <a:latin typeface="Times New Roman" panose="02020603050405020304"/>
                <a:ea typeface="宋体" panose="02010600030101010101" pitchFamily="2" charset="-122"/>
              </a:rPr>
              <a:t>)</a:t>
            </a:r>
            <a:r>
              <a:rPr lang="zh-CN" altLang="zh-CN" sz="2400" kern="100" dirty="0">
                <a:latin typeface="Times New Roman" panose="02020603050405020304"/>
                <a:ea typeface="宋体" panose="02010600030101010101" pitchFamily="2" charset="-122"/>
              </a:rPr>
              <a:t>。</a:t>
            </a:r>
            <a:endParaRPr lang="zh-CN" altLang="zh-CN" sz="2000" kern="100" dirty="0">
              <a:latin typeface="Times New Roman" panose="02020603050405020304"/>
              <a:ea typeface="宋体" panose="02010600030101010101" pitchFamily="2" charset="-122"/>
            </a:endParaRPr>
          </a:p>
          <a:p>
            <a:pPr indent="279400" algn="just">
              <a:spcAft>
                <a:spcPts val="0"/>
              </a:spcAft>
            </a:pPr>
            <a:r>
              <a:rPr lang="zh-CN" altLang="zh-CN" sz="2400" kern="100" dirty="0">
                <a:latin typeface="Times New Roman" panose="02020603050405020304"/>
                <a:ea typeface="宋体" panose="02010600030101010101" pitchFamily="2" charset="-122"/>
              </a:rPr>
              <a:t>另外一种算法是</a:t>
            </a:r>
            <a:r>
              <a:rPr lang="en-US" altLang="zh-CN" sz="2400" kern="100" dirty="0">
                <a:latin typeface="Times New Roman" panose="02020603050405020304"/>
                <a:ea typeface="宋体" panose="02010600030101010101" pitchFamily="2" charset="-122"/>
              </a:rPr>
              <a:t>Floyd</a:t>
            </a:r>
            <a:r>
              <a:rPr lang="zh-CN" altLang="zh-CN" sz="2400" kern="100" dirty="0">
                <a:latin typeface="Times New Roman" panose="02020603050405020304"/>
                <a:ea typeface="宋体" panose="02010600030101010101" pitchFamily="2" charset="-122"/>
              </a:rPr>
              <a:t>算法，其本质是动态规划，时间复杂度也是</a:t>
            </a:r>
            <a:r>
              <a:rPr lang="en-US" altLang="zh-CN" sz="2400" i="1" kern="100" dirty="0">
                <a:latin typeface="Times New Roman" panose="02020603050405020304"/>
                <a:ea typeface="宋体" panose="02010600030101010101" pitchFamily="2" charset="-122"/>
              </a:rPr>
              <a:t>O</a:t>
            </a:r>
            <a:r>
              <a:rPr lang="en-US" altLang="zh-CN" sz="2400" kern="100" dirty="0">
                <a:latin typeface="Times New Roman" panose="02020603050405020304"/>
                <a:ea typeface="宋体" panose="02010600030101010101" pitchFamily="2" charset="-122"/>
              </a:rPr>
              <a:t>(</a:t>
            </a:r>
            <a:r>
              <a:rPr lang="en-US" altLang="zh-CN" sz="2400" i="1" kern="100" dirty="0">
                <a:latin typeface="Times New Roman" panose="02020603050405020304"/>
                <a:ea typeface="宋体" panose="02010600030101010101" pitchFamily="2" charset="-122"/>
              </a:rPr>
              <a:t>n</a:t>
            </a:r>
            <a:r>
              <a:rPr lang="en-US" altLang="zh-CN" sz="2400" kern="100" baseline="30000" dirty="0">
                <a:latin typeface="Times New Roman" panose="02020603050405020304"/>
                <a:ea typeface="宋体" panose="02010600030101010101" pitchFamily="2" charset="-122"/>
              </a:rPr>
              <a:t>3</a:t>
            </a:r>
            <a:r>
              <a:rPr lang="en-US" altLang="zh-CN" sz="2400" kern="100" dirty="0">
                <a:latin typeface="Times New Roman" panose="02020603050405020304"/>
                <a:ea typeface="宋体" panose="02010600030101010101" pitchFamily="2" charset="-122"/>
              </a:rPr>
              <a:t>)</a:t>
            </a:r>
            <a:r>
              <a:rPr lang="zh-CN" altLang="zh-CN" sz="2400" kern="100" dirty="0">
                <a:latin typeface="Times New Roman" panose="02020603050405020304"/>
                <a:ea typeface="宋体" panose="02010600030101010101" pitchFamily="2" charset="-122"/>
              </a:rPr>
              <a:t>，但形式较简单。</a:t>
            </a:r>
            <a:endParaRPr lang="zh-CN" altLang="zh-CN" sz="2000" kern="100" dirty="0">
              <a:latin typeface="Times New Roman" panose="02020603050405020304"/>
              <a:ea typeface="宋体" panose="02010600030101010101" pitchFamily="2" charset="-122"/>
            </a:endParaRPr>
          </a:p>
          <a:p>
            <a:pPr indent="276225" algn="just">
              <a:spcAft>
                <a:spcPts val="0"/>
              </a:spcAft>
            </a:pPr>
            <a:r>
              <a:rPr lang="zh-CN" altLang="zh-CN" sz="2400" kern="100" dirty="0">
                <a:latin typeface="Times New Roman" panose="02020603050405020304"/>
                <a:ea typeface="宋体" panose="02010600030101010101" pitchFamily="2" charset="-122"/>
              </a:rPr>
              <a:t>设</a:t>
            </a:r>
            <a:r>
              <a:rPr lang="en-US" altLang="zh-CN" sz="2400" kern="100" dirty="0">
                <a:latin typeface="Times New Roman" panose="02020603050405020304"/>
                <a:ea typeface="宋体" panose="02010600030101010101" pitchFamily="2" charset="-122"/>
              </a:rPr>
              <a:t>D[</a:t>
            </a:r>
            <a:r>
              <a:rPr lang="en-US" altLang="zh-CN" sz="2400" kern="100" dirty="0" err="1">
                <a:latin typeface="Times New Roman" panose="02020603050405020304"/>
                <a:ea typeface="宋体" panose="02010600030101010101" pitchFamily="2" charset="-122"/>
              </a:rPr>
              <a:t>i</a:t>
            </a:r>
            <a:r>
              <a:rPr lang="en-US" altLang="zh-CN" sz="2400" kern="100" dirty="0">
                <a:latin typeface="Times New Roman" panose="02020603050405020304"/>
                <a:ea typeface="宋体" panose="02010600030101010101" pitchFamily="2" charset="-122"/>
              </a:rPr>
              <a:t>][j]</a:t>
            </a:r>
            <a:r>
              <a:rPr lang="zh-CN" altLang="zh-CN" sz="2400" kern="100" dirty="0">
                <a:latin typeface="Times New Roman" panose="02020603050405020304"/>
                <a:ea typeface="宋体" panose="02010600030101010101" pitchFamily="2" charset="-122"/>
              </a:rPr>
              <a:t>为从</a:t>
            </a:r>
            <a:r>
              <a:rPr lang="en-US" altLang="zh-CN" sz="2400" kern="100" dirty="0" err="1">
                <a:latin typeface="Times New Roman" panose="02020603050405020304"/>
                <a:ea typeface="宋体" panose="02010600030101010101" pitchFamily="2" charset="-122"/>
              </a:rPr>
              <a:t>i</a:t>
            </a:r>
            <a:r>
              <a:rPr lang="zh-CN" altLang="zh-CN" sz="2400" kern="100" dirty="0">
                <a:latin typeface="Times New Roman" panose="02020603050405020304"/>
                <a:ea typeface="宋体" panose="02010600030101010101" pitchFamily="2" charset="-122"/>
              </a:rPr>
              <a:t>点至</a:t>
            </a:r>
            <a:r>
              <a:rPr lang="en-US" altLang="zh-CN" sz="2400" kern="100" dirty="0">
                <a:latin typeface="Times New Roman" panose="02020603050405020304"/>
                <a:ea typeface="宋体" panose="02010600030101010101" pitchFamily="2" charset="-122"/>
              </a:rPr>
              <a:t>j</a:t>
            </a:r>
            <a:r>
              <a:rPr lang="zh-CN" altLang="zh-CN" sz="2400" kern="100" dirty="0">
                <a:latin typeface="Times New Roman" panose="02020603050405020304"/>
                <a:ea typeface="宋体" panose="02010600030101010101" pitchFamily="2" charset="-122"/>
              </a:rPr>
              <a:t>点的最短路径，则其动态转移方程为：</a:t>
            </a:r>
            <a:endParaRPr lang="zh-CN" altLang="zh-CN" sz="2000" kern="100" dirty="0">
              <a:latin typeface="Times New Roman" panose="02020603050405020304"/>
              <a:ea typeface="宋体" panose="02010600030101010101" pitchFamily="2" charset="-122"/>
            </a:endParaRPr>
          </a:p>
          <a:p>
            <a:pPr indent="276225" algn="just">
              <a:spcAft>
                <a:spcPts val="0"/>
              </a:spcAft>
            </a:pPr>
            <a:r>
              <a:rPr lang="en-US" altLang="zh-CN" sz="2400" kern="100" dirty="0">
                <a:latin typeface="Times New Roman" panose="02020603050405020304"/>
                <a:ea typeface="宋体" panose="02010600030101010101" pitchFamily="2" charset="-122"/>
              </a:rPr>
              <a:t>D[</a:t>
            </a:r>
            <a:r>
              <a:rPr lang="en-US" altLang="zh-CN" sz="2400" kern="100" dirty="0" err="1">
                <a:latin typeface="Times New Roman" panose="02020603050405020304"/>
                <a:ea typeface="宋体" panose="02010600030101010101" pitchFamily="2" charset="-122"/>
              </a:rPr>
              <a:t>i</a:t>
            </a:r>
            <a:r>
              <a:rPr lang="en-US" altLang="zh-CN" sz="2400" kern="100" dirty="0">
                <a:latin typeface="Times New Roman" panose="02020603050405020304"/>
                <a:ea typeface="宋体" panose="02010600030101010101" pitchFamily="2" charset="-122"/>
              </a:rPr>
              <a:t>][j]</a:t>
            </a:r>
            <a:r>
              <a:rPr lang="zh-CN" altLang="zh-CN" sz="2400" kern="100" dirty="0">
                <a:latin typeface="Times New Roman" panose="02020603050405020304"/>
                <a:ea typeface="宋体" panose="02010600030101010101" pitchFamily="2" charset="-122"/>
              </a:rPr>
              <a:t>＝</a:t>
            </a:r>
            <a:r>
              <a:rPr lang="en-US" altLang="zh-CN" sz="2400" kern="100" dirty="0">
                <a:latin typeface="Times New Roman" panose="02020603050405020304"/>
                <a:ea typeface="宋体" panose="02010600030101010101" pitchFamily="2" charset="-122"/>
              </a:rPr>
              <a:t>min(D[</a:t>
            </a:r>
            <a:r>
              <a:rPr lang="en-US" altLang="zh-CN" sz="2400" kern="100" dirty="0" err="1">
                <a:latin typeface="Times New Roman" panose="02020603050405020304"/>
                <a:ea typeface="宋体" panose="02010600030101010101" pitchFamily="2" charset="-122"/>
              </a:rPr>
              <a:t>i</a:t>
            </a:r>
            <a:r>
              <a:rPr lang="en-US" altLang="zh-CN" sz="2400" kern="100" dirty="0">
                <a:latin typeface="Times New Roman" panose="02020603050405020304"/>
                <a:ea typeface="宋体" panose="02010600030101010101" pitchFamily="2" charset="-122"/>
              </a:rPr>
              <a:t>][j]</a:t>
            </a:r>
            <a:r>
              <a:rPr lang="zh-CN" altLang="zh-CN" sz="2400" kern="100" dirty="0">
                <a:latin typeface="Times New Roman" panose="02020603050405020304"/>
                <a:ea typeface="宋体" panose="02010600030101010101" pitchFamily="2" charset="-122"/>
              </a:rPr>
              <a:t>，</a:t>
            </a:r>
            <a:r>
              <a:rPr lang="en-US" altLang="zh-CN" sz="2400" kern="100" dirty="0">
                <a:latin typeface="Times New Roman" panose="02020603050405020304"/>
                <a:ea typeface="宋体" panose="02010600030101010101" pitchFamily="2" charset="-122"/>
              </a:rPr>
              <a:t>D[</a:t>
            </a:r>
            <a:r>
              <a:rPr lang="en-US" altLang="zh-CN" sz="2400" kern="100" dirty="0" err="1">
                <a:latin typeface="Times New Roman" panose="02020603050405020304"/>
                <a:ea typeface="宋体" panose="02010600030101010101" pitchFamily="2" charset="-122"/>
              </a:rPr>
              <a:t>i</a:t>
            </a:r>
            <a:r>
              <a:rPr lang="en-US" altLang="zh-CN" sz="2400" kern="100" dirty="0">
                <a:latin typeface="Times New Roman" panose="02020603050405020304"/>
                <a:ea typeface="宋体" panose="02010600030101010101" pitchFamily="2" charset="-122"/>
              </a:rPr>
              <a:t>][k]</a:t>
            </a:r>
            <a:r>
              <a:rPr lang="zh-CN" altLang="zh-CN" sz="2400" kern="100" dirty="0">
                <a:latin typeface="Times New Roman" panose="02020603050405020304"/>
                <a:ea typeface="宋体" panose="02010600030101010101" pitchFamily="2" charset="-122"/>
              </a:rPr>
              <a:t>＋</a:t>
            </a:r>
            <a:r>
              <a:rPr lang="en-US" altLang="zh-CN" sz="2400" kern="100" dirty="0">
                <a:latin typeface="Times New Roman" panose="02020603050405020304"/>
                <a:ea typeface="宋体" panose="02010600030101010101" pitchFamily="2" charset="-122"/>
              </a:rPr>
              <a:t>D[k][j])(1</a:t>
            </a:r>
            <a:r>
              <a:rPr lang="zh-CN" altLang="zh-CN" sz="2400" kern="100" dirty="0">
                <a:latin typeface="Times New Roman" panose="02020603050405020304"/>
                <a:ea typeface="宋体" panose="02010600030101010101" pitchFamily="2" charset="-122"/>
              </a:rPr>
              <a:t>≤</a:t>
            </a:r>
            <a:r>
              <a:rPr lang="en-US" altLang="zh-CN" sz="2400" i="1" kern="100" dirty="0">
                <a:latin typeface="Times New Roman" panose="02020603050405020304"/>
                <a:ea typeface="宋体" panose="02010600030101010101" pitchFamily="2" charset="-122"/>
              </a:rPr>
              <a:t>k</a:t>
            </a:r>
            <a:r>
              <a:rPr lang="zh-CN" altLang="zh-CN" sz="2400" kern="100" dirty="0">
                <a:latin typeface="Times New Roman" panose="02020603050405020304"/>
                <a:ea typeface="宋体" panose="02010600030101010101" pitchFamily="2" charset="-122"/>
              </a:rPr>
              <a:t>≤</a:t>
            </a:r>
            <a:r>
              <a:rPr lang="en-US" altLang="zh-CN" sz="2400" i="1" kern="100" dirty="0">
                <a:latin typeface="Times New Roman" panose="02020603050405020304"/>
                <a:ea typeface="宋体" panose="02010600030101010101" pitchFamily="2" charset="-122"/>
              </a:rPr>
              <a:t>n</a:t>
            </a:r>
            <a:r>
              <a:rPr lang="en-US" altLang="zh-CN" sz="2400" kern="100" dirty="0">
                <a:latin typeface="Times New Roman" panose="02020603050405020304"/>
                <a:ea typeface="宋体" panose="02010600030101010101" pitchFamily="2" charset="-122"/>
              </a:rPr>
              <a:t>)</a:t>
            </a:r>
            <a:endParaRPr lang="zh-CN" altLang="zh-CN" sz="2000" kern="100" dirty="0">
              <a:effectLst/>
              <a:latin typeface="Times New Roman" panose="02020603050405020304"/>
              <a:ea typeface="宋体" panose="02010600030101010101"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7707" y="205756"/>
            <a:ext cx="9144000" cy="4401205"/>
          </a:xfrm>
          <a:prstGeom prst="rect">
            <a:avLst/>
          </a:prstGeom>
        </p:spPr>
        <p:txBody>
          <a:bodyPr wrap="square">
            <a:spAutoFit/>
          </a:bodyPr>
          <a:lstStyle/>
          <a:p>
            <a:pPr algn="just">
              <a:spcAft>
                <a:spcPts val="0"/>
              </a:spcAft>
            </a:pPr>
            <a:r>
              <a:rPr lang="zh-CN" altLang="zh-CN" sz="2000" kern="100" dirty="0">
                <a:latin typeface="Times New Roman" panose="02020603050405020304"/>
                <a:ea typeface="宋体" panose="02010600030101010101" pitchFamily="2" charset="-122"/>
              </a:rPr>
              <a:t>【题目描述】</a:t>
            </a:r>
            <a:r>
              <a:rPr lang="en-US" altLang="zh-CN" sz="2000" kern="100" dirty="0">
                <a:latin typeface="Times New Roman" panose="02020603050405020304"/>
                <a:ea typeface="宋体" panose="02010600030101010101" pitchFamily="2" charset="-122"/>
              </a:rPr>
              <a:t>5.4 </a:t>
            </a:r>
            <a:r>
              <a:rPr lang="zh-CN" altLang="zh-CN" sz="2000" kern="100" dirty="0">
                <a:latin typeface="Times New Roman" panose="02020603050405020304"/>
                <a:ea typeface="宋体" panose="02010600030101010101" pitchFamily="2" charset="-122"/>
              </a:rPr>
              <a:t>最小交通费用问题（</a:t>
            </a:r>
            <a:r>
              <a:rPr lang="en-US" altLang="zh-CN" sz="2000" kern="100" dirty="0">
                <a:latin typeface="Times New Roman" panose="02020603050405020304"/>
                <a:ea typeface="宋体" panose="02010600030101010101" pitchFamily="2" charset="-122"/>
              </a:rPr>
              <a:t>cost</a:t>
            </a:r>
            <a:r>
              <a:rPr lang="zh-CN" altLang="zh-CN" sz="2000" kern="100" dirty="0">
                <a:latin typeface="Times New Roman" panose="02020603050405020304"/>
                <a:ea typeface="宋体" panose="02010600030101010101" pitchFamily="2" charset="-122"/>
              </a:rPr>
              <a:t>）</a:t>
            </a:r>
            <a:endParaRPr lang="zh-CN" altLang="zh-CN" sz="1800" kern="100" dirty="0">
              <a:latin typeface="Times New Roman" panose="02020603050405020304"/>
              <a:ea typeface="宋体" panose="02010600030101010101" pitchFamily="2" charset="-122"/>
            </a:endParaRPr>
          </a:p>
          <a:p>
            <a:pPr indent="279400" algn="just">
              <a:spcAft>
                <a:spcPts val="0"/>
              </a:spcAft>
            </a:pPr>
            <a:r>
              <a:rPr lang="zh-CN" altLang="zh-CN" sz="2000" kern="100" dirty="0">
                <a:latin typeface="Times New Roman" panose="02020603050405020304"/>
                <a:ea typeface="宋体" panose="02010600030101010101" pitchFamily="2" charset="-122"/>
              </a:rPr>
              <a:t>某游乐城内有</a:t>
            </a:r>
            <a:r>
              <a:rPr lang="en-US" altLang="zh-CN" sz="2000" i="1" kern="100" dirty="0">
                <a:latin typeface="Times New Roman" panose="02020603050405020304"/>
                <a:ea typeface="宋体" panose="02010600030101010101" pitchFamily="2" charset="-122"/>
              </a:rPr>
              <a:t>N</a:t>
            </a:r>
            <a:r>
              <a:rPr lang="zh-CN" altLang="zh-CN" sz="2000" kern="100" dirty="0">
                <a:latin typeface="Times New Roman" panose="02020603050405020304"/>
                <a:ea typeface="宋体" panose="02010600030101010101" pitchFamily="2" charset="-122"/>
              </a:rPr>
              <a:t>个活动场所，某些活动场所之间有公路连接，任意两个场所可以通过公路直接或者间接到达，并且任意有公路连接的两个场所之间，来回使用的交通工具不一样，所以费用也不一样，琪儿和琳琳在</a:t>
            </a:r>
            <a:r>
              <a:rPr lang="en-US" altLang="zh-CN" sz="2000" kern="100" dirty="0">
                <a:latin typeface="Times New Roman" panose="02020603050405020304"/>
                <a:ea typeface="宋体" panose="02010600030101010101" pitchFamily="2" charset="-122"/>
              </a:rPr>
              <a:t>A</a:t>
            </a:r>
            <a:r>
              <a:rPr lang="zh-CN" altLang="zh-CN" sz="2000" kern="100" dirty="0">
                <a:latin typeface="Times New Roman" panose="02020603050405020304"/>
                <a:ea typeface="宋体" panose="02010600030101010101" pitchFamily="2" charset="-122"/>
              </a:rPr>
              <a:t>场所时，琳琳有点累，想休息一下，此时琪儿只能单独去</a:t>
            </a:r>
            <a:r>
              <a:rPr lang="en-US" altLang="zh-CN" sz="2000" kern="100" dirty="0">
                <a:latin typeface="Times New Roman" panose="02020603050405020304"/>
                <a:ea typeface="宋体" panose="02010600030101010101" pitchFamily="2" charset="-122"/>
              </a:rPr>
              <a:t>B</a:t>
            </a:r>
            <a:r>
              <a:rPr lang="zh-CN" altLang="zh-CN" sz="2000" kern="100" dirty="0">
                <a:latin typeface="Times New Roman" panose="02020603050405020304"/>
                <a:ea typeface="宋体" panose="02010600030101010101" pitchFamily="2" charset="-122"/>
              </a:rPr>
              <a:t>场所，请设计一条</a:t>
            </a:r>
            <a:r>
              <a:rPr lang="en-US" altLang="zh-CN" sz="2000" kern="100" dirty="0">
                <a:latin typeface="Times New Roman" panose="02020603050405020304"/>
                <a:ea typeface="宋体" panose="02010600030101010101" pitchFamily="2" charset="-122"/>
              </a:rPr>
              <a:t>A</a:t>
            </a:r>
            <a:r>
              <a:rPr lang="zh-CN" altLang="zh-CN" sz="2000" kern="100" dirty="0">
                <a:latin typeface="Times New Roman" panose="02020603050405020304"/>
                <a:ea typeface="宋体" panose="02010600030101010101" pitchFamily="2" charset="-122"/>
              </a:rPr>
              <a:t>到</a:t>
            </a:r>
            <a:r>
              <a:rPr lang="en-US" altLang="zh-CN" sz="2000" kern="100" dirty="0">
                <a:latin typeface="Times New Roman" panose="02020603050405020304"/>
                <a:ea typeface="宋体" panose="02010600030101010101" pitchFamily="2" charset="-122"/>
              </a:rPr>
              <a:t>B</a:t>
            </a:r>
            <a:r>
              <a:rPr lang="zh-CN" altLang="zh-CN" sz="2000" kern="100" dirty="0">
                <a:latin typeface="Times New Roman" panose="02020603050405020304"/>
                <a:ea typeface="宋体" panose="02010600030101010101" pitchFamily="2" charset="-122"/>
              </a:rPr>
              <a:t>来回最小交通费用的线路。</a:t>
            </a:r>
            <a:endParaRPr lang="zh-CN" altLang="zh-CN" sz="1800" kern="100" dirty="0">
              <a:latin typeface="Times New Roman" panose="02020603050405020304"/>
              <a:ea typeface="宋体" panose="02010600030101010101" pitchFamily="2" charset="-122"/>
            </a:endParaRPr>
          </a:p>
          <a:p>
            <a:pPr algn="just">
              <a:spcAft>
                <a:spcPts val="0"/>
              </a:spcAft>
            </a:pPr>
            <a:r>
              <a:rPr lang="zh-CN" altLang="zh-CN" sz="2000" kern="100" dirty="0">
                <a:latin typeface="Times New Roman" panose="02020603050405020304"/>
                <a:ea typeface="宋体" panose="02010600030101010101" pitchFamily="2" charset="-122"/>
              </a:rPr>
              <a:t>【输入格式】</a:t>
            </a:r>
            <a:endParaRPr lang="zh-CN" altLang="zh-CN" sz="1800" kern="100" dirty="0">
              <a:latin typeface="Times New Roman" panose="02020603050405020304"/>
              <a:ea typeface="宋体" panose="02010600030101010101" pitchFamily="2" charset="-122"/>
            </a:endParaRPr>
          </a:p>
          <a:p>
            <a:pPr indent="279400" algn="just">
              <a:spcAft>
                <a:spcPts val="0"/>
              </a:spcAft>
            </a:pPr>
            <a:r>
              <a:rPr lang="zh-CN" altLang="zh-CN" sz="2000" kern="100" dirty="0">
                <a:latin typeface="Times New Roman" panose="02020603050405020304"/>
                <a:ea typeface="宋体" panose="02010600030101010101" pitchFamily="2" charset="-122"/>
              </a:rPr>
              <a:t>第一行有两个数</a:t>
            </a:r>
            <a:r>
              <a:rPr lang="en-US" altLang="zh-CN" sz="2000" i="1" kern="100" dirty="0">
                <a:latin typeface="Times New Roman" panose="02020603050405020304"/>
                <a:ea typeface="宋体" panose="02010600030101010101" pitchFamily="2" charset="-122"/>
              </a:rPr>
              <a:t>N</a:t>
            </a:r>
            <a:r>
              <a:rPr lang="zh-CN" altLang="zh-CN" sz="2000" kern="100" dirty="0">
                <a:latin typeface="Times New Roman" panose="02020603050405020304"/>
                <a:ea typeface="宋体" panose="02010600030101010101" pitchFamily="2" charset="-122"/>
              </a:rPr>
              <a:t>，</a:t>
            </a:r>
            <a:r>
              <a:rPr lang="en-US" altLang="zh-CN" sz="2000" i="1" kern="100" dirty="0">
                <a:latin typeface="Times New Roman" panose="02020603050405020304"/>
                <a:ea typeface="宋体" panose="02010600030101010101" pitchFamily="2" charset="-122"/>
              </a:rPr>
              <a:t>M</a:t>
            </a:r>
            <a:r>
              <a:rPr lang="zh-CN" altLang="zh-CN" sz="2000" kern="100" dirty="0">
                <a:latin typeface="Times New Roman" panose="02020603050405020304"/>
                <a:ea typeface="宋体" panose="02010600030101010101" pitchFamily="2" charset="-122"/>
              </a:rPr>
              <a:t>（</a:t>
            </a:r>
            <a:r>
              <a:rPr lang="en-US" altLang="zh-CN" sz="2000" i="1" kern="100" dirty="0">
                <a:latin typeface="Times New Roman" panose="02020603050405020304"/>
                <a:ea typeface="宋体" panose="02010600030101010101" pitchFamily="2" charset="-122"/>
              </a:rPr>
              <a:t>N</a:t>
            </a:r>
            <a:r>
              <a:rPr lang="zh-CN" altLang="zh-CN" sz="2000" kern="100" dirty="0">
                <a:latin typeface="Times New Roman" panose="02020603050405020304"/>
                <a:ea typeface="宋体" panose="02010600030101010101" pitchFamily="2" charset="-122"/>
              </a:rPr>
              <a:t>＜</a:t>
            </a:r>
            <a:r>
              <a:rPr lang="en-US" altLang="zh-CN" sz="2000" kern="100" dirty="0">
                <a:latin typeface="Times New Roman" panose="02020603050405020304"/>
                <a:ea typeface="宋体" panose="02010600030101010101" pitchFamily="2" charset="-122"/>
              </a:rPr>
              <a:t>100</a:t>
            </a:r>
            <a:r>
              <a:rPr lang="zh-CN" altLang="zh-CN" sz="2000" kern="100" dirty="0">
                <a:latin typeface="Times New Roman" panose="02020603050405020304"/>
                <a:ea typeface="宋体" panose="02010600030101010101" pitchFamily="2" charset="-122"/>
              </a:rPr>
              <a:t>，为场所个数，</a:t>
            </a:r>
            <a:r>
              <a:rPr lang="en-US" altLang="zh-CN" sz="2000" i="1" kern="100" dirty="0">
                <a:latin typeface="Times New Roman" panose="02020603050405020304"/>
                <a:ea typeface="宋体" panose="02010600030101010101" pitchFamily="2" charset="-122"/>
              </a:rPr>
              <a:t>M</a:t>
            </a:r>
            <a:r>
              <a:rPr lang="zh-CN" altLang="zh-CN" sz="2000" kern="100" dirty="0">
                <a:latin typeface="Times New Roman" panose="02020603050405020304"/>
                <a:ea typeface="宋体" panose="02010600030101010101" pitchFamily="2" charset="-122"/>
              </a:rPr>
              <a:t>用于描述场所间交通路线图）。</a:t>
            </a:r>
            <a:endParaRPr lang="zh-CN" altLang="zh-CN" sz="1800" kern="100" dirty="0">
              <a:latin typeface="Times New Roman" panose="02020603050405020304"/>
              <a:ea typeface="宋体" panose="02010600030101010101" pitchFamily="2" charset="-122"/>
            </a:endParaRPr>
          </a:p>
          <a:p>
            <a:pPr indent="279400" algn="just">
              <a:spcAft>
                <a:spcPts val="0"/>
              </a:spcAft>
            </a:pPr>
            <a:r>
              <a:rPr lang="zh-CN" altLang="zh-CN" sz="2000" kern="100" dirty="0">
                <a:latin typeface="Times New Roman" panose="02020603050405020304"/>
                <a:ea typeface="宋体" panose="02010600030101010101" pitchFamily="2" charset="-122"/>
              </a:rPr>
              <a:t>第二行至第</a:t>
            </a:r>
            <a:r>
              <a:rPr lang="en-US" altLang="zh-CN" sz="2000" i="1" kern="100" dirty="0">
                <a:latin typeface="Times New Roman" panose="02020603050405020304"/>
                <a:ea typeface="宋体" panose="02010600030101010101" pitchFamily="2" charset="-122"/>
              </a:rPr>
              <a:t>M</a:t>
            </a:r>
            <a:r>
              <a:rPr lang="zh-CN" altLang="zh-CN" sz="2000" kern="100" dirty="0">
                <a:latin typeface="Times New Roman" panose="02020603050405020304"/>
                <a:ea typeface="宋体" panose="02010600030101010101" pitchFamily="2" charset="-122"/>
              </a:rPr>
              <a:t>＋</a:t>
            </a:r>
            <a:r>
              <a:rPr lang="en-US" altLang="zh-CN" sz="2000" kern="100" dirty="0">
                <a:latin typeface="Times New Roman" panose="02020603050405020304"/>
                <a:ea typeface="宋体" panose="02010600030101010101" pitchFamily="2" charset="-122"/>
              </a:rPr>
              <a:t>1</a:t>
            </a:r>
            <a:r>
              <a:rPr lang="zh-CN" altLang="zh-CN" sz="2000" kern="100" dirty="0">
                <a:latin typeface="Times New Roman" panose="02020603050405020304"/>
                <a:ea typeface="宋体" panose="02010600030101010101" pitchFamily="2" charset="-122"/>
              </a:rPr>
              <a:t>行分别有三个数字，前两个为场所编号，第三个为它们的交通费用。</a:t>
            </a:r>
            <a:endParaRPr lang="zh-CN" altLang="zh-CN" sz="1800" kern="100" dirty="0">
              <a:latin typeface="Times New Roman" panose="02020603050405020304"/>
              <a:ea typeface="宋体" panose="02010600030101010101" pitchFamily="2" charset="-122"/>
            </a:endParaRPr>
          </a:p>
          <a:p>
            <a:pPr indent="279400" algn="just">
              <a:spcAft>
                <a:spcPts val="0"/>
              </a:spcAft>
            </a:pPr>
            <a:r>
              <a:rPr lang="zh-CN" altLang="zh-CN" sz="2000" kern="100" dirty="0">
                <a:latin typeface="Times New Roman" panose="02020603050405020304"/>
                <a:ea typeface="宋体" panose="02010600030101010101" pitchFamily="2" charset="-122"/>
              </a:rPr>
              <a:t>第</a:t>
            </a:r>
            <a:r>
              <a:rPr lang="en-US" altLang="zh-CN" sz="2000" i="1" kern="100" dirty="0">
                <a:latin typeface="Times New Roman" panose="02020603050405020304"/>
                <a:ea typeface="宋体" panose="02010600030101010101" pitchFamily="2" charset="-122"/>
              </a:rPr>
              <a:t>M</a:t>
            </a:r>
            <a:r>
              <a:rPr lang="zh-CN" altLang="zh-CN" sz="2000" kern="100" dirty="0">
                <a:latin typeface="Times New Roman" panose="02020603050405020304"/>
                <a:ea typeface="宋体" panose="02010600030101010101" pitchFamily="2" charset="-122"/>
              </a:rPr>
              <a:t>＋</a:t>
            </a:r>
            <a:r>
              <a:rPr lang="en-US" altLang="zh-CN" sz="2000" kern="100" dirty="0">
                <a:latin typeface="Times New Roman" panose="02020603050405020304"/>
                <a:ea typeface="宋体" panose="02010600030101010101" pitchFamily="2" charset="-122"/>
              </a:rPr>
              <a:t>2</a:t>
            </a:r>
            <a:r>
              <a:rPr lang="zh-CN" altLang="zh-CN" sz="2000" kern="100" dirty="0">
                <a:latin typeface="Times New Roman" panose="02020603050405020304"/>
                <a:ea typeface="宋体" panose="02010600030101010101" pitchFamily="2" charset="-122"/>
              </a:rPr>
              <a:t>行有两个数字，为两个求解的场所编号。</a:t>
            </a:r>
            <a:endParaRPr lang="zh-CN" altLang="zh-CN" sz="1800" kern="100" dirty="0">
              <a:latin typeface="Times New Roman" panose="02020603050405020304"/>
              <a:ea typeface="宋体" panose="02010600030101010101" pitchFamily="2" charset="-122"/>
            </a:endParaRPr>
          </a:p>
          <a:p>
            <a:pPr algn="just">
              <a:spcAft>
                <a:spcPts val="0"/>
              </a:spcAft>
            </a:pPr>
            <a:r>
              <a:rPr lang="zh-CN" altLang="zh-CN" sz="2000" kern="100" dirty="0">
                <a:latin typeface="Times New Roman" panose="02020603050405020304"/>
                <a:ea typeface="宋体" panose="02010600030101010101" pitchFamily="2" charset="-122"/>
              </a:rPr>
              <a:t>【输出格式】</a:t>
            </a:r>
            <a:endParaRPr lang="zh-CN" altLang="zh-CN" sz="1800" kern="100" dirty="0">
              <a:latin typeface="Times New Roman" panose="02020603050405020304"/>
              <a:ea typeface="宋体" panose="02010600030101010101" pitchFamily="2" charset="-122"/>
            </a:endParaRPr>
          </a:p>
          <a:p>
            <a:pPr indent="279400" algn="just">
              <a:spcAft>
                <a:spcPts val="0"/>
              </a:spcAft>
            </a:pPr>
            <a:r>
              <a:rPr lang="zh-CN" altLang="zh-CN" sz="2000" kern="100" dirty="0">
                <a:latin typeface="Times New Roman" panose="02020603050405020304"/>
                <a:ea typeface="宋体" panose="02010600030101010101" pitchFamily="2" charset="-122"/>
              </a:rPr>
              <a:t>一个整数（最小交通费）。</a:t>
            </a:r>
            <a:endParaRPr lang="zh-CN" altLang="zh-CN" sz="1800" kern="100" dirty="0">
              <a:effectLst/>
              <a:latin typeface="Times New Roman" panose="02020603050405020304"/>
              <a:ea typeface="宋体" panose="0201060003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801278"/>
            <a:ext cx="9144000" cy="3046988"/>
          </a:xfrm>
          <a:prstGeom prst="rect">
            <a:avLst/>
          </a:prstGeom>
        </p:spPr>
        <p:txBody>
          <a:bodyPr wrap="square">
            <a:spAutoFit/>
          </a:bodyPr>
          <a:lstStyle/>
          <a:p>
            <a:r>
              <a:rPr lang="en-US" altLang="zh-CN" sz="2400" kern="0" dirty="0">
                <a:solidFill>
                  <a:srgbClr val="8000FF"/>
                </a:solidFill>
                <a:latin typeface="YaHei Consolas Hybrid"/>
                <a:ea typeface="宋体" panose="02010600030101010101" pitchFamily="2" charset="-122"/>
                <a:cs typeface="Courier New" panose="02070309020205020404"/>
              </a:rPr>
              <a:t>void</a:t>
            </a:r>
            <a:r>
              <a:rPr lang="en-US" altLang="zh-CN" sz="2400" kern="0" dirty="0">
                <a:solidFill>
                  <a:srgbClr val="000000"/>
                </a:solidFill>
                <a:latin typeface="YaHei Consolas Hybrid"/>
                <a:ea typeface="宋体" panose="02010600030101010101" pitchFamily="2" charset="-122"/>
                <a:cs typeface="Courier New" panose="02070309020205020404"/>
              </a:rPr>
              <a:t> Floyd</a:t>
            </a:r>
            <a:r>
              <a:rPr lang="en-US" altLang="zh-CN" sz="2400" b="1" kern="0" dirty="0">
                <a:solidFill>
                  <a:srgbClr val="000080"/>
                </a:solidFill>
                <a:latin typeface="YaHei Consolas Hybrid"/>
                <a:ea typeface="宋体" panose="02010600030101010101" pitchFamily="2" charset="-122"/>
                <a:cs typeface="Courier New" panose="02070309020205020404"/>
              </a:rPr>
              <a:t>()</a:t>
            </a:r>
            <a:endParaRPr lang="zh-CN" altLang="zh-CN" sz="2800" kern="100" dirty="0">
              <a:latin typeface="Times New Roman" panose="02020603050405020304"/>
              <a:ea typeface="宋体" panose="02010600030101010101" pitchFamily="2" charset="-122"/>
            </a:endParaRPr>
          </a:p>
          <a:p>
            <a:r>
              <a:rPr lang="en-US" altLang="zh-CN" sz="2400" b="1" kern="0" dirty="0">
                <a:solidFill>
                  <a:srgbClr val="000080"/>
                </a:solidFill>
                <a:latin typeface="YaHei Consolas Hybrid"/>
                <a:ea typeface="宋体" panose="02010600030101010101" pitchFamily="2" charset="-122"/>
                <a:cs typeface="Courier New" panose="02070309020205020404"/>
              </a:rPr>
              <a:t>{</a:t>
            </a:r>
            <a:endParaRPr lang="zh-CN" altLang="zh-CN" sz="2800" kern="100" dirty="0">
              <a:latin typeface="Times New Roman" panose="02020603050405020304"/>
              <a:ea typeface="宋体" panose="02010600030101010101" pitchFamily="2" charset="-122"/>
            </a:endParaRPr>
          </a:p>
          <a:p>
            <a:r>
              <a:rPr lang="en-US" altLang="zh-CN" sz="2400" kern="0" dirty="0">
                <a:solidFill>
                  <a:srgbClr val="000000"/>
                </a:solidFill>
                <a:latin typeface="YaHei Consolas Hybrid"/>
                <a:ea typeface="宋体" panose="02010600030101010101" pitchFamily="2" charset="-122"/>
                <a:cs typeface="Courier New" panose="02070309020205020404"/>
              </a:rPr>
              <a:t>  </a:t>
            </a:r>
            <a:r>
              <a:rPr lang="en-US" altLang="zh-CN" sz="2400" b="1" kern="0" dirty="0">
                <a:solidFill>
                  <a:srgbClr val="0000FF"/>
                </a:solidFill>
                <a:latin typeface="YaHei Consolas Hybrid"/>
                <a:ea typeface="宋体" panose="02010600030101010101" pitchFamily="2" charset="-122"/>
                <a:cs typeface="Courier New" panose="02070309020205020404"/>
              </a:rPr>
              <a:t>for</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err="1">
                <a:solidFill>
                  <a:srgbClr val="8000FF"/>
                </a:solidFill>
                <a:latin typeface="YaHei Consolas Hybrid"/>
                <a:ea typeface="宋体" panose="02010600030101010101" pitchFamily="2" charset="-122"/>
                <a:cs typeface="Courier New" panose="02070309020205020404"/>
              </a:rPr>
              <a:t>int</a:t>
            </a:r>
            <a:r>
              <a:rPr lang="en-US" altLang="zh-CN" sz="2400" kern="0" dirty="0">
                <a:solidFill>
                  <a:srgbClr val="000000"/>
                </a:solidFill>
                <a:latin typeface="YaHei Consolas Hybrid"/>
                <a:ea typeface="宋体" panose="02010600030101010101" pitchFamily="2" charset="-122"/>
                <a:cs typeface="Courier New" panose="02070309020205020404"/>
              </a:rPr>
              <a:t> k</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FF8000"/>
                </a:solidFill>
                <a:latin typeface="YaHei Consolas Hybrid"/>
                <a:ea typeface="宋体" panose="02010600030101010101" pitchFamily="2" charset="-122"/>
                <a:cs typeface="Courier New" panose="02070309020205020404"/>
              </a:rPr>
              <a:t>1</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 k</a:t>
            </a:r>
            <a:r>
              <a:rPr lang="en-US" altLang="zh-CN" sz="2400" b="1" kern="0" dirty="0">
                <a:solidFill>
                  <a:srgbClr val="000080"/>
                </a:solidFill>
                <a:latin typeface="YaHei Consolas Hybrid"/>
                <a:ea typeface="宋体" panose="02010600030101010101" pitchFamily="2" charset="-122"/>
                <a:cs typeface="Courier New" panose="02070309020205020404"/>
              </a:rPr>
              <a:t>&lt;=</a:t>
            </a:r>
            <a:r>
              <a:rPr lang="en-US" altLang="zh-CN" sz="2400" kern="0" dirty="0">
                <a:solidFill>
                  <a:srgbClr val="000000"/>
                </a:solidFill>
                <a:latin typeface="YaHei Consolas Hybrid"/>
                <a:ea typeface="宋体" panose="02010600030101010101" pitchFamily="2" charset="-122"/>
                <a:cs typeface="Courier New" panose="02070309020205020404"/>
              </a:rPr>
              <a:t>n</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 k</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      </a:t>
            </a:r>
            <a:r>
              <a:rPr lang="en-US" altLang="zh-CN" sz="2400" kern="0" dirty="0">
                <a:solidFill>
                  <a:srgbClr val="008000"/>
                </a:solidFill>
                <a:latin typeface="YaHei Consolas Hybrid"/>
                <a:ea typeface="宋体" panose="02010600030101010101" pitchFamily="2" charset="-122"/>
                <a:cs typeface="Courier New" panose="02070309020205020404"/>
              </a:rPr>
              <a:t>//</a:t>
            </a:r>
            <a:r>
              <a:rPr lang="zh-CN" altLang="zh-CN" sz="2400" kern="0" dirty="0">
                <a:solidFill>
                  <a:srgbClr val="008000"/>
                </a:solidFill>
                <a:latin typeface="Times New Roman" panose="02020603050405020304"/>
                <a:ea typeface="YaHei Consolas Hybrid"/>
                <a:cs typeface="Courier New" panose="02070309020205020404"/>
              </a:rPr>
              <a:t>注意</a:t>
            </a:r>
            <a:r>
              <a:rPr lang="en-US" altLang="zh-CN" sz="2400" kern="0" dirty="0">
                <a:solidFill>
                  <a:srgbClr val="008000"/>
                </a:solidFill>
                <a:latin typeface="Times New Roman" panose="02020603050405020304"/>
                <a:ea typeface="YaHei Consolas Hybrid"/>
                <a:cs typeface="Courier New" panose="02070309020205020404"/>
              </a:rPr>
              <a:t>k</a:t>
            </a:r>
            <a:r>
              <a:rPr lang="zh-CN" altLang="zh-CN" sz="2400" kern="0" dirty="0">
                <a:solidFill>
                  <a:srgbClr val="008000"/>
                </a:solidFill>
                <a:latin typeface="Times New Roman" panose="02020603050405020304"/>
                <a:ea typeface="YaHei Consolas Hybrid"/>
                <a:cs typeface="Courier New" panose="02070309020205020404"/>
              </a:rPr>
              <a:t>在最外层循环</a:t>
            </a:r>
            <a:endParaRPr lang="zh-CN" altLang="zh-CN" sz="2800" kern="100" dirty="0">
              <a:latin typeface="Times New Roman" panose="02020603050405020304"/>
              <a:ea typeface="宋体" panose="02010600030101010101" pitchFamily="2" charset="-122"/>
            </a:endParaRPr>
          </a:p>
          <a:p>
            <a:r>
              <a:rPr lang="en-US" altLang="zh-CN" sz="2400" kern="0" dirty="0">
                <a:solidFill>
                  <a:srgbClr val="000000"/>
                </a:solidFill>
                <a:latin typeface="YaHei Consolas Hybrid"/>
                <a:ea typeface="宋体" panose="02010600030101010101" pitchFamily="2" charset="-122"/>
                <a:cs typeface="Courier New" panose="02070309020205020404"/>
              </a:rPr>
              <a:t>    </a:t>
            </a:r>
            <a:r>
              <a:rPr lang="en-US" altLang="zh-CN" sz="2400" b="1" kern="0" dirty="0">
                <a:solidFill>
                  <a:srgbClr val="0000FF"/>
                </a:solidFill>
                <a:latin typeface="YaHei Consolas Hybrid"/>
                <a:ea typeface="宋体" panose="02010600030101010101" pitchFamily="2" charset="-122"/>
                <a:cs typeface="Courier New" panose="02070309020205020404"/>
              </a:rPr>
              <a:t>for</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err="1">
                <a:solidFill>
                  <a:srgbClr val="8000FF"/>
                </a:solidFill>
                <a:latin typeface="YaHei Consolas Hybrid"/>
                <a:ea typeface="宋体" panose="02010600030101010101" pitchFamily="2" charset="-122"/>
                <a:cs typeface="Courier New" panose="02070309020205020404"/>
              </a:rPr>
              <a:t>int</a:t>
            </a:r>
            <a:r>
              <a:rPr lang="en-US" altLang="zh-CN" sz="2400" kern="0" dirty="0">
                <a:solidFill>
                  <a:srgbClr val="000000"/>
                </a:solidFill>
                <a:latin typeface="YaHei Consolas Hybrid"/>
                <a:ea typeface="宋体" panose="02010600030101010101" pitchFamily="2" charset="-122"/>
                <a:cs typeface="Courier New" panose="02070309020205020404"/>
              </a:rPr>
              <a:t> </a:t>
            </a:r>
            <a:r>
              <a:rPr lang="en-US" altLang="zh-CN" sz="2400" kern="0" dirty="0" err="1">
                <a:solidFill>
                  <a:srgbClr val="000000"/>
                </a:solidFill>
                <a:latin typeface="YaHei Consolas Hybrid"/>
                <a:ea typeface="宋体" panose="02010600030101010101" pitchFamily="2" charset="-122"/>
                <a:cs typeface="Courier New" panose="02070309020205020404"/>
              </a:rPr>
              <a:t>i</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FF8000"/>
                </a:solidFill>
                <a:latin typeface="YaHei Consolas Hybrid"/>
                <a:ea typeface="宋体" panose="02010600030101010101" pitchFamily="2" charset="-122"/>
                <a:cs typeface="Courier New" panose="02070309020205020404"/>
              </a:rPr>
              <a:t>1</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 </a:t>
            </a:r>
            <a:r>
              <a:rPr lang="en-US" altLang="zh-CN" sz="2400" kern="0" dirty="0" err="1">
                <a:solidFill>
                  <a:srgbClr val="000000"/>
                </a:solidFill>
                <a:latin typeface="YaHei Consolas Hybrid"/>
                <a:ea typeface="宋体" panose="02010600030101010101" pitchFamily="2" charset="-122"/>
                <a:cs typeface="Courier New" panose="02070309020205020404"/>
              </a:rPr>
              <a:t>i</a:t>
            </a:r>
            <a:r>
              <a:rPr lang="en-US" altLang="zh-CN" sz="2400" b="1" kern="0" dirty="0">
                <a:solidFill>
                  <a:srgbClr val="000080"/>
                </a:solidFill>
                <a:latin typeface="YaHei Consolas Hybrid"/>
                <a:ea typeface="宋体" panose="02010600030101010101" pitchFamily="2" charset="-122"/>
                <a:cs typeface="Courier New" panose="02070309020205020404"/>
              </a:rPr>
              <a:t>&lt;=</a:t>
            </a:r>
            <a:r>
              <a:rPr lang="en-US" altLang="zh-CN" sz="2400" kern="0" dirty="0">
                <a:solidFill>
                  <a:srgbClr val="000000"/>
                </a:solidFill>
                <a:latin typeface="YaHei Consolas Hybrid"/>
                <a:ea typeface="宋体" panose="02010600030101010101" pitchFamily="2" charset="-122"/>
                <a:cs typeface="Courier New" panose="02070309020205020404"/>
              </a:rPr>
              <a:t>n</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 </a:t>
            </a:r>
            <a:r>
              <a:rPr lang="en-US" altLang="zh-CN" sz="2400" kern="0" dirty="0" err="1">
                <a:solidFill>
                  <a:srgbClr val="000000"/>
                </a:solidFill>
                <a:latin typeface="YaHei Consolas Hybrid"/>
                <a:ea typeface="宋体" panose="02010600030101010101" pitchFamily="2" charset="-122"/>
                <a:cs typeface="Courier New" panose="02070309020205020404"/>
              </a:rPr>
              <a:t>i</a:t>
            </a:r>
            <a:r>
              <a:rPr lang="en-US" altLang="zh-CN" sz="2400" b="1" kern="0" dirty="0">
                <a:solidFill>
                  <a:srgbClr val="000080"/>
                </a:solidFill>
                <a:latin typeface="YaHei Consolas Hybrid"/>
                <a:ea typeface="宋体" panose="02010600030101010101" pitchFamily="2" charset="-122"/>
                <a:cs typeface="Courier New" panose="02070309020205020404"/>
              </a:rPr>
              <a:t>++)</a:t>
            </a:r>
            <a:endParaRPr lang="zh-CN" altLang="zh-CN" sz="2800" kern="100" dirty="0">
              <a:latin typeface="Times New Roman" panose="02020603050405020304"/>
              <a:ea typeface="宋体" panose="02010600030101010101" pitchFamily="2" charset="-122"/>
            </a:endParaRPr>
          </a:p>
          <a:p>
            <a:r>
              <a:rPr lang="en-US" altLang="zh-CN" sz="2400" kern="0" dirty="0">
                <a:solidFill>
                  <a:srgbClr val="000000"/>
                </a:solidFill>
                <a:latin typeface="YaHei Consolas Hybrid"/>
                <a:ea typeface="宋体" panose="02010600030101010101" pitchFamily="2" charset="-122"/>
                <a:cs typeface="Courier New" panose="02070309020205020404"/>
              </a:rPr>
              <a:t>      </a:t>
            </a:r>
            <a:r>
              <a:rPr lang="en-US" altLang="zh-CN" sz="2400" b="1" kern="0" dirty="0">
                <a:solidFill>
                  <a:srgbClr val="0000FF"/>
                </a:solidFill>
                <a:latin typeface="YaHei Consolas Hybrid"/>
                <a:ea typeface="宋体" panose="02010600030101010101" pitchFamily="2" charset="-122"/>
                <a:cs typeface="Courier New" panose="02070309020205020404"/>
              </a:rPr>
              <a:t>for</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err="1">
                <a:solidFill>
                  <a:srgbClr val="8000FF"/>
                </a:solidFill>
                <a:latin typeface="YaHei Consolas Hybrid"/>
                <a:ea typeface="宋体" panose="02010600030101010101" pitchFamily="2" charset="-122"/>
                <a:cs typeface="Courier New" panose="02070309020205020404"/>
              </a:rPr>
              <a:t>int</a:t>
            </a:r>
            <a:r>
              <a:rPr lang="en-US" altLang="zh-CN" sz="2400" kern="0" dirty="0">
                <a:solidFill>
                  <a:srgbClr val="000000"/>
                </a:solidFill>
                <a:latin typeface="YaHei Consolas Hybrid"/>
                <a:ea typeface="宋体" panose="02010600030101010101" pitchFamily="2" charset="-122"/>
                <a:cs typeface="Courier New" panose="02070309020205020404"/>
              </a:rPr>
              <a:t> j</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FF8000"/>
                </a:solidFill>
                <a:latin typeface="YaHei Consolas Hybrid"/>
                <a:ea typeface="宋体" panose="02010600030101010101" pitchFamily="2" charset="-122"/>
                <a:cs typeface="Courier New" panose="02070309020205020404"/>
              </a:rPr>
              <a:t>1</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 j</a:t>
            </a:r>
            <a:r>
              <a:rPr lang="en-US" altLang="zh-CN" sz="2400" b="1" kern="0" dirty="0">
                <a:solidFill>
                  <a:srgbClr val="000080"/>
                </a:solidFill>
                <a:latin typeface="YaHei Consolas Hybrid"/>
                <a:ea typeface="宋体" panose="02010600030101010101" pitchFamily="2" charset="-122"/>
                <a:cs typeface="Courier New" panose="02070309020205020404"/>
              </a:rPr>
              <a:t>&lt;=</a:t>
            </a:r>
            <a:r>
              <a:rPr lang="en-US" altLang="zh-CN" sz="2400" kern="0" dirty="0">
                <a:solidFill>
                  <a:srgbClr val="000000"/>
                </a:solidFill>
                <a:latin typeface="YaHei Consolas Hybrid"/>
                <a:ea typeface="宋体" panose="02010600030101010101" pitchFamily="2" charset="-122"/>
                <a:cs typeface="Courier New" panose="02070309020205020404"/>
              </a:rPr>
              <a:t>n</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 </a:t>
            </a:r>
            <a:r>
              <a:rPr lang="en-US" altLang="zh-CN" sz="2400" kern="0" dirty="0" err="1">
                <a:solidFill>
                  <a:srgbClr val="000000"/>
                </a:solidFill>
                <a:latin typeface="YaHei Consolas Hybrid"/>
                <a:ea typeface="宋体" panose="02010600030101010101" pitchFamily="2" charset="-122"/>
                <a:cs typeface="Courier New" panose="02070309020205020404"/>
              </a:rPr>
              <a:t>j</a:t>
            </a:r>
            <a:r>
              <a:rPr lang="en-US" altLang="zh-CN" sz="2400" b="1" kern="0" dirty="0" err="1">
                <a:solidFill>
                  <a:srgbClr val="000080"/>
                </a:solidFill>
                <a:latin typeface="YaHei Consolas Hybrid"/>
                <a:ea typeface="宋体" panose="02010600030101010101" pitchFamily="2" charset="-122"/>
                <a:cs typeface="Courier New" panose="02070309020205020404"/>
              </a:rPr>
              <a:t>++</a:t>
            </a:r>
            <a:r>
              <a:rPr lang="en-US" altLang="zh-CN" sz="2400" b="1" kern="0" dirty="0">
                <a:solidFill>
                  <a:srgbClr val="000080"/>
                </a:solidFill>
                <a:latin typeface="YaHei Consolas Hybrid"/>
                <a:ea typeface="宋体" panose="02010600030101010101" pitchFamily="2" charset="-122"/>
                <a:cs typeface="Courier New" panose="02070309020205020404"/>
              </a:rPr>
              <a:t>)</a:t>
            </a:r>
            <a:endParaRPr lang="zh-CN" altLang="zh-CN" sz="2800" kern="100" dirty="0">
              <a:latin typeface="Times New Roman" panose="02020603050405020304"/>
              <a:ea typeface="宋体" panose="02010600030101010101" pitchFamily="2" charset="-122"/>
            </a:endParaRPr>
          </a:p>
          <a:p>
            <a:r>
              <a:rPr lang="en-US" altLang="zh-CN" sz="2400" kern="0" dirty="0">
                <a:solidFill>
                  <a:srgbClr val="000000"/>
                </a:solidFill>
                <a:latin typeface="YaHei Consolas Hybrid"/>
                <a:ea typeface="宋体" panose="02010600030101010101" pitchFamily="2" charset="-122"/>
                <a:cs typeface="Courier New" panose="02070309020205020404"/>
              </a:rPr>
              <a:t>        </a:t>
            </a:r>
            <a:r>
              <a:rPr lang="en-US" altLang="zh-CN" sz="2400" b="1" kern="0" dirty="0">
                <a:solidFill>
                  <a:srgbClr val="0000FF"/>
                </a:solidFill>
                <a:latin typeface="YaHei Consolas Hybrid"/>
                <a:ea typeface="宋体" panose="02010600030101010101" pitchFamily="2" charset="-122"/>
                <a:cs typeface="Courier New" panose="02070309020205020404"/>
              </a:rPr>
              <a:t>if</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a</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err="1">
                <a:solidFill>
                  <a:srgbClr val="000000"/>
                </a:solidFill>
                <a:latin typeface="YaHei Consolas Hybrid"/>
                <a:ea typeface="宋体" panose="02010600030101010101" pitchFamily="2" charset="-122"/>
                <a:cs typeface="Courier New" panose="02070309020205020404"/>
              </a:rPr>
              <a:t>i</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k</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a</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k</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j</a:t>
            </a:r>
            <a:r>
              <a:rPr lang="en-US" altLang="zh-CN" sz="2400" b="1" kern="0" dirty="0">
                <a:solidFill>
                  <a:srgbClr val="000080"/>
                </a:solidFill>
                <a:latin typeface="YaHei Consolas Hybrid"/>
                <a:ea typeface="宋体" panose="02010600030101010101" pitchFamily="2" charset="-122"/>
                <a:cs typeface="Courier New" panose="02070309020205020404"/>
              </a:rPr>
              <a:t>]&lt;</a:t>
            </a:r>
            <a:r>
              <a:rPr lang="en-US" altLang="zh-CN" sz="2400" kern="0" dirty="0">
                <a:solidFill>
                  <a:srgbClr val="000000"/>
                </a:solidFill>
                <a:latin typeface="YaHei Consolas Hybrid"/>
                <a:ea typeface="宋体" panose="02010600030101010101" pitchFamily="2" charset="-122"/>
                <a:cs typeface="Courier New" panose="02070309020205020404"/>
              </a:rPr>
              <a:t>a</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err="1">
                <a:solidFill>
                  <a:srgbClr val="000000"/>
                </a:solidFill>
                <a:latin typeface="YaHei Consolas Hybrid"/>
                <a:ea typeface="宋体" panose="02010600030101010101" pitchFamily="2" charset="-122"/>
                <a:cs typeface="Courier New" panose="02070309020205020404"/>
              </a:rPr>
              <a:t>i</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j</a:t>
            </a:r>
            <a:r>
              <a:rPr lang="en-US" altLang="zh-CN" sz="2400" b="1" kern="0" dirty="0">
                <a:solidFill>
                  <a:srgbClr val="000080"/>
                </a:solidFill>
                <a:latin typeface="YaHei Consolas Hybrid"/>
                <a:ea typeface="宋体" panose="02010600030101010101" pitchFamily="2" charset="-122"/>
                <a:cs typeface="Courier New" panose="02070309020205020404"/>
              </a:rPr>
              <a:t>])</a:t>
            </a:r>
            <a:endParaRPr lang="zh-CN" altLang="zh-CN" sz="2800" kern="100" dirty="0">
              <a:latin typeface="Times New Roman" panose="02020603050405020304"/>
              <a:ea typeface="宋体" panose="02010600030101010101" pitchFamily="2" charset="-122"/>
            </a:endParaRPr>
          </a:p>
          <a:p>
            <a:r>
              <a:rPr lang="en-US" altLang="zh-CN" sz="2400" kern="0" dirty="0">
                <a:solidFill>
                  <a:srgbClr val="000000"/>
                </a:solidFill>
                <a:latin typeface="YaHei Consolas Hybrid"/>
                <a:ea typeface="宋体" panose="02010600030101010101" pitchFamily="2" charset="-122"/>
                <a:cs typeface="Courier New" panose="02070309020205020404"/>
              </a:rPr>
              <a:t>          a</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err="1">
                <a:solidFill>
                  <a:srgbClr val="000000"/>
                </a:solidFill>
                <a:latin typeface="YaHei Consolas Hybrid"/>
                <a:ea typeface="宋体" panose="02010600030101010101" pitchFamily="2" charset="-122"/>
                <a:cs typeface="Courier New" panose="02070309020205020404"/>
              </a:rPr>
              <a:t>i</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j</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a</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err="1">
                <a:solidFill>
                  <a:srgbClr val="000000"/>
                </a:solidFill>
                <a:latin typeface="YaHei Consolas Hybrid"/>
                <a:ea typeface="宋体" panose="02010600030101010101" pitchFamily="2" charset="-122"/>
                <a:cs typeface="Courier New" panose="02070309020205020404"/>
              </a:rPr>
              <a:t>i</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k</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a</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k</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j</a:t>
            </a:r>
            <a:r>
              <a:rPr lang="en-US" altLang="zh-CN" sz="2400" b="1" kern="0" dirty="0">
                <a:solidFill>
                  <a:srgbClr val="000080"/>
                </a:solidFill>
                <a:latin typeface="YaHei Consolas Hybrid"/>
                <a:ea typeface="宋体" panose="02010600030101010101" pitchFamily="2" charset="-122"/>
                <a:cs typeface="Courier New" panose="02070309020205020404"/>
              </a:rPr>
              <a:t>];</a:t>
            </a:r>
            <a:endParaRPr lang="zh-CN" altLang="zh-CN" sz="2800" kern="100" dirty="0">
              <a:latin typeface="Times New Roman" panose="02020603050405020304"/>
              <a:ea typeface="宋体" panose="02010600030101010101" pitchFamily="2" charset="-122"/>
            </a:endParaRPr>
          </a:p>
          <a:p>
            <a:r>
              <a:rPr lang="en-US" altLang="zh-CN" sz="2400" b="1" kern="0" dirty="0">
                <a:solidFill>
                  <a:srgbClr val="000080"/>
                </a:solidFill>
                <a:latin typeface="YaHei Consolas Hybrid"/>
                <a:ea typeface="宋体" panose="02010600030101010101" pitchFamily="2" charset="-122"/>
                <a:cs typeface="Courier New" panose="02070309020205020404"/>
              </a:rPr>
              <a:t>}</a:t>
            </a:r>
            <a:endParaRPr lang="zh-CN" altLang="zh-CN" sz="2800" kern="100" dirty="0">
              <a:effectLst/>
              <a:latin typeface="Times New Roman" panose="02020603050405020304"/>
              <a:ea typeface="宋体" panose="02010600030101010101" pitchFamily="2"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249"/>
            <a:ext cx="2611612" cy="492443"/>
          </a:xfrm>
          <a:prstGeom prst="rect">
            <a:avLst/>
          </a:prstGeom>
        </p:spPr>
        <p:txBody>
          <a:bodyPr wrap="none">
            <a:spAutoFit/>
          </a:bodyPr>
          <a:lstStyle/>
          <a:p>
            <a:r>
              <a:rPr lang="en-US" altLang="zh-CN" b="1" dirty="0"/>
              <a:t>5.4.4 </a:t>
            </a:r>
            <a:r>
              <a:rPr lang="zh-CN" altLang="zh-CN" b="1" dirty="0"/>
              <a:t>最小环问题</a:t>
            </a:r>
          </a:p>
        </p:txBody>
      </p:sp>
      <p:sp>
        <p:nvSpPr>
          <p:cNvPr id="3" name="矩形 2"/>
          <p:cNvSpPr/>
          <p:nvPr/>
        </p:nvSpPr>
        <p:spPr>
          <a:xfrm>
            <a:off x="0" y="843633"/>
            <a:ext cx="9144000" cy="3908762"/>
          </a:xfrm>
          <a:prstGeom prst="rect">
            <a:avLst/>
          </a:prstGeom>
        </p:spPr>
        <p:txBody>
          <a:bodyPr wrap="square">
            <a:spAutoFit/>
          </a:bodyPr>
          <a:lstStyle/>
          <a:p>
            <a:pPr algn="just">
              <a:spcAft>
                <a:spcPts val="0"/>
              </a:spcAft>
            </a:pPr>
            <a:r>
              <a:rPr lang="zh-CN" altLang="zh-CN" sz="2000" kern="100" dirty="0">
                <a:latin typeface="Times New Roman" panose="02020603050405020304"/>
                <a:ea typeface="宋体" panose="02010600030101010101" pitchFamily="2" charset="-122"/>
              </a:rPr>
              <a:t>【题目描述】旅游（</a:t>
            </a:r>
            <a:r>
              <a:rPr lang="en-US" altLang="zh-CN" sz="2000" kern="100" dirty="0">
                <a:latin typeface="Times New Roman" panose="02020603050405020304"/>
                <a:ea typeface="宋体" panose="02010600030101010101" pitchFamily="2" charset="-122"/>
              </a:rPr>
              <a:t>tour</a:t>
            </a:r>
            <a:r>
              <a:rPr lang="zh-CN" altLang="zh-CN" sz="2000" kern="100" dirty="0">
                <a:latin typeface="Times New Roman" panose="02020603050405020304"/>
                <a:ea typeface="宋体" panose="02010600030101010101" pitchFamily="2" charset="-122"/>
              </a:rPr>
              <a:t>）</a:t>
            </a:r>
            <a:r>
              <a:rPr lang="en-US" altLang="zh-CN" sz="2000" kern="100" dirty="0">
                <a:latin typeface="Times New Roman" panose="02020603050405020304"/>
                <a:ea typeface="宋体" panose="02010600030101010101" pitchFamily="2" charset="-122"/>
              </a:rPr>
              <a:t>HDU 1599</a:t>
            </a:r>
            <a:endParaRPr lang="zh-CN" altLang="zh-CN" sz="1800" kern="100" dirty="0">
              <a:latin typeface="Times New Roman" panose="02020603050405020304"/>
              <a:ea typeface="宋体" panose="02010600030101010101" pitchFamily="2" charset="-122"/>
            </a:endParaRPr>
          </a:p>
          <a:p>
            <a:pPr indent="276225" algn="just">
              <a:spcAft>
                <a:spcPts val="0"/>
              </a:spcAft>
            </a:pPr>
            <a:r>
              <a:rPr lang="zh-CN" altLang="zh-CN" sz="2000" kern="100" dirty="0">
                <a:latin typeface="Times New Roman" panose="02020603050405020304"/>
                <a:ea typeface="宋体" panose="02010600030101010101" pitchFamily="2" charset="-122"/>
              </a:rPr>
              <a:t>已知省内有</a:t>
            </a:r>
            <a:r>
              <a:rPr lang="en-US" altLang="zh-CN" sz="2000" i="1" kern="100" dirty="0">
                <a:latin typeface="Times New Roman" panose="02020603050405020304"/>
                <a:ea typeface="宋体" panose="02010600030101010101" pitchFamily="2" charset="-122"/>
              </a:rPr>
              <a:t>N</a:t>
            </a:r>
            <a:r>
              <a:rPr lang="zh-CN" altLang="zh-CN" sz="2000" kern="100" dirty="0">
                <a:latin typeface="Times New Roman" panose="02020603050405020304"/>
                <a:ea typeface="宋体" panose="02010600030101010101" pitchFamily="2" charset="-122"/>
              </a:rPr>
              <a:t>个景区，景区之间有一些双向的路来连接，小光想找一条旅游路线，这个路线从</a:t>
            </a:r>
            <a:r>
              <a:rPr lang="en-US" altLang="zh-CN" sz="2000" kern="100" dirty="0">
                <a:latin typeface="Times New Roman" panose="02020603050405020304"/>
                <a:ea typeface="宋体" panose="02010600030101010101" pitchFamily="2" charset="-122"/>
              </a:rPr>
              <a:t>A</a:t>
            </a:r>
            <a:r>
              <a:rPr lang="zh-CN" altLang="zh-CN" sz="2000" kern="100" dirty="0">
                <a:latin typeface="Times New Roman" panose="02020603050405020304"/>
                <a:ea typeface="宋体" panose="02010600030101010101" pitchFamily="2" charset="-122"/>
              </a:rPr>
              <a:t>点出发并且最后回到</a:t>
            </a:r>
            <a:r>
              <a:rPr lang="en-US" altLang="zh-CN" sz="2000" kern="100" dirty="0">
                <a:latin typeface="Times New Roman" panose="02020603050405020304"/>
                <a:ea typeface="宋体" panose="02010600030101010101" pitchFamily="2" charset="-122"/>
              </a:rPr>
              <a:t>A</a:t>
            </a:r>
            <a:r>
              <a:rPr lang="zh-CN" altLang="zh-CN" sz="2000" kern="100" dirty="0">
                <a:latin typeface="Times New Roman" panose="02020603050405020304"/>
                <a:ea typeface="宋体" panose="02010600030101010101" pitchFamily="2" charset="-122"/>
              </a:rPr>
              <a:t>点，假设经过的路线为</a:t>
            </a:r>
            <a:r>
              <a:rPr lang="en-US" altLang="zh-CN" sz="2000" i="1" kern="100" dirty="0">
                <a:latin typeface="Times New Roman" panose="02020603050405020304"/>
                <a:ea typeface="宋体" panose="02010600030101010101" pitchFamily="2" charset="-122"/>
              </a:rPr>
              <a:t>V</a:t>
            </a:r>
            <a:r>
              <a:rPr lang="en-US" altLang="zh-CN" sz="2000" kern="100" baseline="-25000" dirty="0">
                <a:latin typeface="Times New Roman" panose="02020603050405020304"/>
                <a:ea typeface="宋体" panose="02010600030101010101" pitchFamily="2" charset="-122"/>
              </a:rPr>
              <a:t>1</a:t>
            </a:r>
            <a:r>
              <a:rPr lang="en-US" altLang="zh-CN" sz="2000" kern="100" dirty="0">
                <a:latin typeface="Times New Roman" panose="02020603050405020304"/>
                <a:ea typeface="宋体" panose="02010600030101010101" pitchFamily="2" charset="-122"/>
              </a:rPr>
              <a:t>,</a:t>
            </a:r>
            <a:r>
              <a:rPr lang="en-US" altLang="zh-CN" sz="2000" i="1" kern="100" dirty="0">
                <a:latin typeface="Times New Roman" panose="02020603050405020304"/>
                <a:ea typeface="宋体" panose="02010600030101010101" pitchFamily="2" charset="-122"/>
              </a:rPr>
              <a:t>V</a:t>
            </a:r>
            <a:r>
              <a:rPr lang="en-US" altLang="zh-CN" sz="2000" kern="100" baseline="-25000" dirty="0">
                <a:latin typeface="Times New Roman" panose="02020603050405020304"/>
                <a:ea typeface="宋体" panose="02010600030101010101" pitchFamily="2" charset="-122"/>
              </a:rPr>
              <a:t>2</a:t>
            </a:r>
            <a:r>
              <a:rPr lang="en-US" altLang="zh-CN" sz="2000" kern="100" dirty="0">
                <a:latin typeface="Times New Roman" panose="02020603050405020304"/>
                <a:ea typeface="宋体" panose="02010600030101010101" pitchFamily="2" charset="-122"/>
              </a:rPr>
              <a:t>,</a:t>
            </a:r>
            <a:r>
              <a:rPr lang="en-US" altLang="zh-CN" sz="2000" kern="100" dirty="0">
                <a:latin typeface="宋体" panose="02010600030101010101" pitchFamily="2" charset="-122"/>
                <a:ea typeface="宋体" panose="02010600030101010101" pitchFamily="2" charset="-122"/>
              </a:rPr>
              <a:t>…</a:t>
            </a:r>
            <a:r>
              <a:rPr lang="en-US" altLang="zh-CN" sz="2000" kern="100" dirty="0">
                <a:latin typeface="Times New Roman" panose="02020603050405020304"/>
                <a:ea typeface="宋体" panose="02010600030101010101" pitchFamily="2" charset="-122"/>
              </a:rPr>
              <a:t>,</a:t>
            </a:r>
            <a:r>
              <a:rPr lang="en-US" altLang="zh-CN" sz="2000" i="1" kern="100" dirty="0">
                <a:latin typeface="Times New Roman" panose="02020603050405020304"/>
                <a:ea typeface="宋体" panose="02010600030101010101" pitchFamily="2" charset="-122"/>
              </a:rPr>
              <a:t>V</a:t>
            </a:r>
            <a:r>
              <a:rPr lang="en-US" altLang="zh-CN" sz="2000" kern="100" baseline="-25000" dirty="0">
                <a:latin typeface="Times New Roman" panose="02020603050405020304"/>
                <a:ea typeface="宋体" panose="02010600030101010101" pitchFamily="2" charset="-122"/>
              </a:rPr>
              <a:t>K</a:t>
            </a:r>
            <a:r>
              <a:rPr lang="en-US" altLang="zh-CN" sz="2000" kern="100" dirty="0">
                <a:latin typeface="Times New Roman" panose="02020603050405020304"/>
                <a:ea typeface="宋体" panose="02010600030101010101" pitchFamily="2" charset="-122"/>
              </a:rPr>
              <a:t>,</a:t>
            </a:r>
            <a:r>
              <a:rPr lang="en-US" altLang="zh-CN" sz="2000" i="1" kern="100" dirty="0">
                <a:latin typeface="Times New Roman" panose="02020603050405020304"/>
                <a:ea typeface="宋体" panose="02010600030101010101" pitchFamily="2" charset="-122"/>
              </a:rPr>
              <a:t>V</a:t>
            </a:r>
            <a:r>
              <a:rPr lang="en-US" altLang="zh-CN" sz="2000" kern="100" baseline="-25000" dirty="0">
                <a:latin typeface="Times New Roman" panose="02020603050405020304"/>
                <a:ea typeface="宋体" panose="02010600030101010101" pitchFamily="2" charset="-122"/>
              </a:rPr>
              <a:t>1</a:t>
            </a:r>
            <a:r>
              <a:rPr lang="zh-CN" altLang="zh-CN" sz="2000" kern="100" dirty="0">
                <a:latin typeface="Times New Roman" panose="02020603050405020304"/>
                <a:ea typeface="宋体" panose="02010600030101010101" pitchFamily="2" charset="-122"/>
              </a:rPr>
              <a:t>。那么必须满足</a:t>
            </a:r>
            <a:r>
              <a:rPr lang="en-US" altLang="zh-CN" sz="2000" i="1" kern="100" dirty="0">
                <a:latin typeface="Times New Roman" panose="02020603050405020304"/>
                <a:ea typeface="宋体" panose="02010600030101010101" pitchFamily="2" charset="-122"/>
              </a:rPr>
              <a:t>K</a:t>
            </a:r>
            <a:r>
              <a:rPr lang="zh-CN" altLang="zh-CN" sz="2000" kern="100" dirty="0">
                <a:latin typeface="Times New Roman" panose="02020603050405020304"/>
                <a:ea typeface="宋体" panose="02010600030101010101" pitchFamily="2" charset="-122"/>
              </a:rPr>
              <a:t>＞</a:t>
            </a:r>
            <a:r>
              <a:rPr lang="en-US" altLang="zh-CN" sz="2000" kern="100" dirty="0">
                <a:latin typeface="Times New Roman" panose="02020603050405020304"/>
                <a:ea typeface="宋体" panose="02010600030101010101" pitchFamily="2" charset="-122"/>
              </a:rPr>
              <a:t>2</a:t>
            </a:r>
            <a:r>
              <a:rPr lang="zh-CN" altLang="zh-CN" sz="2000" kern="100" dirty="0">
                <a:latin typeface="Times New Roman" panose="02020603050405020304"/>
                <a:ea typeface="宋体" panose="02010600030101010101" pitchFamily="2" charset="-122"/>
              </a:rPr>
              <a:t>，就是说除了出发点以外至少要经过</a:t>
            </a:r>
            <a:r>
              <a:rPr lang="en-US" altLang="zh-CN" sz="2000" kern="100" dirty="0">
                <a:latin typeface="Times New Roman" panose="02020603050405020304"/>
                <a:ea typeface="宋体" panose="02010600030101010101" pitchFamily="2" charset="-122"/>
              </a:rPr>
              <a:t>2</a:t>
            </a:r>
            <a:r>
              <a:rPr lang="zh-CN" altLang="zh-CN" sz="2000" kern="100" dirty="0">
                <a:latin typeface="Times New Roman" panose="02020603050405020304"/>
                <a:ea typeface="宋体" panose="02010600030101010101" pitchFamily="2" charset="-122"/>
              </a:rPr>
              <a:t>个其他不同的景区，而且不能重复经过同一个景区。请你帮他找一条这样的路线，并且花费越少越好。</a:t>
            </a:r>
            <a:endParaRPr lang="zh-CN" altLang="zh-CN" sz="1800" kern="100" dirty="0">
              <a:latin typeface="Times New Roman" panose="02020603050405020304"/>
              <a:ea typeface="宋体" panose="02010600030101010101" pitchFamily="2" charset="-122"/>
            </a:endParaRPr>
          </a:p>
          <a:p>
            <a:pPr algn="just">
              <a:spcAft>
                <a:spcPts val="0"/>
              </a:spcAft>
            </a:pPr>
            <a:r>
              <a:rPr lang="zh-CN" altLang="zh-CN" sz="2000" kern="100" dirty="0">
                <a:latin typeface="Times New Roman" panose="02020603050405020304"/>
                <a:ea typeface="宋体" panose="02010600030101010101" pitchFamily="2" charset="-122"/>
              </a:rPr>
              <a:t>【输入格式】</a:t>
            </a:r>
            <a:endParaRPr lang="zh-CN" altLang="zh-CN" sz="1800" kern="100" dirty="0">
              <a:latin typeface="Times New Roman" panose="02020603050405020304"/>
              <a:ea typeface="宋体" panose="02010600030101010101" pitchFamily="2" charset="-122"/>
            </a:endParaRPr>
          </a:p>
          <a:p>
            <a:pPr indent="276225" algn="just">
              <a:spcAft>
                <a:spcPts val="0"/>
              </a:spcAft>
            </a:pPr>
            <a:r>
              <a:rPr lang="zh-CN" altLang="zh-CN" sz="2000" kern="100" dirty="0">
                <a:latin typeface="Times New Roman" panose="02020603050405020304"/>
                <a:ea typeface="宋体" panose="02010600030101010101" pitchFamily="2" charset="-122"/>
              </a:rPr>
              <a:t>第一行是</a:t>
            </a:r>
            <a:r>
              <a:rPr lang="en-US" altLang="zh-CN" sz="2000" kern="100" dirty="0">
                <a:latin typeface="Times New Roman" panose="02020603050405020304"/>
                <a:ea typeface="宋体" panose="02010600030101010101" pitchFamily="2" charset="-122"/>
              </a:rPr>
              <a:t>2</a:t>
            </a:r>
            <a:r>
              <a:rPr lang="zh-CN" altLang="zh-CN" sz="2000" kern="100" dirty="0">
                <a:latin typeface="Times New Roman" panose="02020603050405020304"/>
                <a:ea typeface="宋体" panose="02010600030101010101" pitchFamily="2" charset="-122"/>
              </a:rPr>
              <a:t>个整数</a:t>
            </a:r>
            <a:r>
              <a:rPr lang="en-US" altLang="zh-CN" sz="2000" i="1" kern="100" dirty="0">
                <a:latin typeface="Times New Roman" panose="02020603050405020304"/>
                <a:ea typeface="宋体" panose="02010600030101010101" pitchFamily="2" charset="-122"/>
              </a:rPr>
              <a:t>N</a:t>
            </a:r>
            <a:r>
              <a:rPr lang="zh-CN" altLang="zh-CN" sz="2000" kern="100" dirty="0">
                <a:latin typeface="Times New Roman" panose="02020603050405020304"/>
                <a:ea typeface="宋体" panose="02010600030101010101" pitchFamily="2" charset="-122"/>
              </a:rPr>
              <a:t>和</a:t>
            </a:r>
            <a:r>
              <a:rPr lang="en-US" altLang="zh-CN" sz="2000" i="1" kern="100" dirty="0">
                <a:latin typeface="Times New Roman" panose="02020603050405020304"/>
                <a:ea typeface="宋体" panose="02010600030101010101" pitchFamily="2" charset="-122"/>
              </a:rPr>
              <a:t>M</a:t>
            </a:r>
            <a:r>
              <a:rPr lang="zh-CN" altLang="zh-CN" sz="2000" kern="100" dirty="0">
                <a:latin typeface="Times New Roman" panose="02020603050405020304"/>
                <a:ea typeface="宋体" panose="02010600030101010101" pitchFamily="2" charset="-122"/>
              </a:rPr>
              <a:t>（</a:t>
            </a:r>
            <a:r>
              <a:rPr lang="en-US" altLang="zh-CN" sz="2000" i="1" kern="100" dirty="0">
                <a:latin typeface="Times New Roman" panose="02020603050405020304"/>
                <a:ea typeface="宋体" panose="02010600030101010101" pitchFamily="2" charset="-122"/>
              </a:rPr>
              <a:t>N</a:t>
            </a:r>
            <a:r>
              <a:rPr lang="zh-CN" altLang="zh-CN" sz="2000" kern="100" dirty="0">
                <a:latin typeface="Times New Roman" panose="02020603050405020304"/>
                <a:ea typeface="宋体" panose="02010600030101010101" pitchFamily="2" charset="-122"/>
              </a:rPr>
              <a:t>≤</a:t>
            </a:r>
            <a:r>
              <a:rPr lang="en-US" altLang="zh-CN" sz="2000" kern="100" dirty="0">
                <a:latin typeface="Times New Roman" panose="02020603050405020304"/>
                <a:ea typeface="宋体" panose="02010600030101010101" pitchFamily="2" charset="-122"/>
              </a:rPr>
              <a:t>100</a:t>
            </a:r>
            <a:r>
              <a:rPr lang="zh-CN" altLang="zh-CN" sz="2000" kern="100" dirty="0">
                <a:latin typeface="Times New Roman" panose="02020603050405020304"/>
                <a:ea typeface="宋体" panose="02010600030101010101" pitchFamily="2" charset="-122"/>
              </a:rPr>
              <a:t>，</a:t>
            </a:r>
            <a:r>
              <a:rPr lang="en-US" altLang="zh-CN" sz="2000" i="1" kern="100" dirty="0">
                <a:latin typeface="Times New Roman" panose="02020603050405020304"/>
                <a:ea typeface="宋体" panose="02010600030101010101" pitchFamily="2" charset="-122"/>
              </a:rPr>
              <a:t>M</a:t>
            </a:r>
            <a:r>
              <a:rPr lang="zh-CN" altLang="zh-CN" sz="2000" kern="100" dirty="0">
                <a:latin typeface="Times New Roman" panose="02020603050405020304"/>
                <a:ea typeface="宋体" panose="02010600030101010101" pitchFamily="2" charset="-122"/>
              </a:rPr>
              <a:t>≤</a:t>
            </a:r>
            <a:r>
              <a:rPr lang="en-US" altLang="zh-CN" sz="2000" kern="100" dirty="0">
                <a:latin typeface="Times New Roman" panose="02020603050405020304"/>
                <a:ea typeface="宋体" panose="02010600030101010101" pitchFamily="2" charset="-122"/>
              </a:rPr>
              <a:t>1 000)</a:t>
            </a:r>
            <a:r>
              <a:rPr lang="zh-CN" altLang="zh-CN" sz="2000" kern="100" dirty="0">
                <a:latin typeface="Times New Roman" panose="02020603050405020304"/>
                <a:ea typeface="宋体" panose="02010600030101010101" pitchFamily="2" charset="-122"/>
              </a:rPr>
              <a:t>，代表景区的个数和道路的条数。</a:t>
            </a:r>
            <a:endParaRPr lang="zh-CN" altLang="zh-CN" sz="1800" kern="100" dirty="0">
              <a:latin typeface="Times New Roman" panose="02020603050405020304"/>
              <a:ea typeface="宋体" panose="02010600030101010101" pitchFamily="2" charset="-122"/>
            </a:endParaRPr>
          </a:p>
          <a:p>
            <a:pPr indent="276225" algn="just">
              <a:spcAft>
                <a:spcPts val="0"/>
              </a:spcAft>
            </a:pPr>
            <a:r>
              <a:rPr lang="zh-CN" altLang="zh-CN" sz="2000" kern="100" dirty="0">
                <a:latin typeface="Times New Roman" panose="02020603050405020304"/>
                <a:ea typeface="宋体" panose="02010600030101010101" pitchFamily="2" charset="-122"/>
              </a:rPr>
              <a:t>接下来的</a:t>
            </a:r>
            <a:r>
              <a:rPr lang="en-US" altLang="zh-CN" sz="2000" i="1" kern="100" dirty="0">
                <a:latin typeface="Times New Roman" panose="02020603050405020304"/>
                <a:ea typeface="宋体" panose="02010600030101010101" pitchFamily="2" charset="-122"/>
              </a:rPr>
              <a:t>M</a:t>
            </a:r>
            <a:r>
              <a:rPr lang="zh-CN" altLang="zh-CN" sz="2000" kern="100" dirty="0">
                <a:latin typeface="Times New Roman" panose="02020603050405020304"/>
                <a:ea typeface="宋体" panose="02010600030101010101" pitchFamily="2" charset="-122"/>
              </a:rPr>
              <a:t>行里，每行包括</a:t>
            </a:r>
            <a:r>
              <a:rPr lang="en-US" altLang="zh-CN" sz="2000" kern="100" dirty="0">
                <a:latin typeface="Times New Roman" panose="02020603050405020304"/>
                <a:ea typeface="宋体" panose="02010600030101010101" pitchFamily="2" charset="-122"/>
              </a:rPr>
              <a:t>3</a:t>
            </a:r>
            <a:r>
              <a:rPr lang="zh-CN" altLang="zh-CN" sz="2000" kern="100" dirty="0">
                <a:latin typeface="Times New Roman" panose="02020603050405020304"/>
                <a:ea typeface="宋体" panose="02010600030101010101" pitchFamily="2" charset="-122"/>
              </a:rPr>
              <a:t>个整数</a:t>
            </a:r>
            <a:r>
              <a:rPr lang="en-US" altLang="zh-CN" sz="2000" i="1" kern="100" dirty="0" err="1">
                <a:latin typeface="Times New Roman" panose="02020603050405020304"/>
                <a:ea typeface="宋体" panose="02010600030101010101" pitchFamily="2" charset="-122"/>
              </a:rPr>
              <a:t>a</a:t>
            </a:r>
            <a:r>
              <a:rPr lang="en-US" altLang="zh-CN" sz="2000" kern="100" dirty="0" err="1">
                <a:latin typeface="Times New Roman" panose="02020603050405020304"/>
                <a:ea typeface="宋体" panose="02010600030101010101" pitchFamily="2" charset="-122"/>
              </a:rPr>
              <a:t>,</a:t>
            </a:r>
            <a:r>
              <a:rPr lang="en-US" altLang="zh-CN" sz="2000" i="1" kern="100" dirty="0" err="1">
                <a:latin typeface="Times New Roman" panose="02020603050405020304"/>
                <a:ea typeface="宋体" panose="02010600030101010101" pitchFamily="2" charset="-122"/>
              </a:rPr>
              <a:t>b</a:t>
            </a:r>
            <a:r>
              <a:rPr lang="en-US" altLang="zh-CN" sz="2000" kern="100" dirty="0" err="1">
                <a:latin typeface="Times New Roman" panose="02020603050405020304"/>
                <a:ea typeface="宋体" panose="02010600030101010101" pitchFamily="2" charset="-122"/>
              </a:rPr>
              <a:t>,</a:t>
            </a:r>
            <a:r>
              <a:rPr lang="en-US" altLang="zh-CN" sz="2000" i="1" kern="100" dirty="0" err="1">
                <a:latin typeface="Times New Roman" panose="02020603050405020304"/>
                <a:ea typeface="宋体" panose="02010600030101010101" pitchFamily="2" charset="-122"/>
              </a:rPr>
              <a:t>c</a:t>
            </a:r>
            <a:r>
              <a:rPr lang="zh-CN" altLang="zh-CN" sz="2000" kern="100" dirty="0">
                <a:latin typeface="Times New Roman" panose="02020603050405020304"/>
                <a:ea typeface="宋体" panose="02010600030101010101" pitchFamily="2" charset="-122"/>
              </a:rPr>
              <a:t>，代表</a:t>
            </a:r>
            <a:r>
              <a:rPr lang="en-US" altLang="zh-CN" sz="2000" i="1" kern="100" dirty="0">
                <a:latin typeface="Times New Roman" panose="02020603050405020304"/>
                <a:ea typeface="宋体" panose="02010600030101010101" pitchFamily="2" charset="-122"/>
              </a:rPr>
              <a:t>a</a:t>
            </a:r>
            <a:r>
              <a:rPr lang="zh-CN" altLang="zh-CN" sz="2000" kern="100" dirty="0">
                <a:latin typeface="Times New Roman" panose="02020603050405020304"/>
                <a:ea typeface="宋体" panose="02010600030101010101" pitchFamily="2" charset="-122"/>
              </a:rPr>
              <a:t>和</a:t>
            </a:r>
            <a:r>
              <a:rPr lang="en-US" altLang="zh-CN" sz="2000" i="1" kern="100" dirty="0">
                <a:latin typeface="Times New Roman" panose="02020603050405020304"/>
                <a:ea typeface="宋体" panose="02010600030101010101" pitchFamily="2" charset="-122"/>
              </a:rPr>
              <a:t>b</a:t>
            </a:r>
            <a:r>
              <a:rPr lang="zh-CN" altLang="zh-CN" sz="2000" kern="100" dirty="0">
                <a:latin typeface="Times New Roman" panose="02020603050405020304"/>
                <a:ea typeface="宋体" panose="02010600030101010101" pitchFamily="2" charset="-122"/>
              </a:rPr>
              <a:t>之间有一条通路，并且需要花费</a:t>
            </a:r>
            <a:r>
              <a:rPr lang="en-US" altLang="zh-CN" sz="2000" i="1" kern="100" dirty="0">
                <a:latin typeface="Times New Roman" panose="02020603050405020304"/>
                <a:ea typeface="宋体" panose="02010600030101010101" pitchFamily="2" charset="-122"/>
              </a:rPr>
              <a:t>c</a:t>
            </a:r>
            <a:r>
              <a:rPr lang="zh-CN" altLang="zh-CN" sz="2000" kern="100" dirty="0">
                <a:latin typeface="Times New Roman" panose="02020603050405020304"/>
                <a:ea typeface="宋体" panose="02010600030101010101" pitchFamily="2" charset="-122"/>
              </a:rPr>
              <a:t>元</a:t>
            </a:r>
            <a:r>
              <a:rPr lang="en-US" altLang="zh-CN" sz="2000" kern="100" dirty="0">
                <a:latin typeface="Times New Roman" panose="02020603050405020304"/>
                <a:ea typeface="宋体" panose="02010600030101010101" pitchFamily="2" charset="-122"/>
              </a:rPr>
              <a:t>(</a:t>
            </a:r>
            <a:r>
              <a:rPr lang="en-US" altLang="zh-CN" sz="2000" i="1" kern="100" dirty="0">
                <a:latin typeface="Times New Roman" panose="02020603050405020304"/>
                <a:ea typeface="宋体" panose="02010600030101010101" pitchFamily="2" charset="-122"/>
              </a:rPr>
              <a:t>c</a:t>
            </a:r>
            <a:r>
              <a:rPr lang="zh-CN" altLang="zh-CN" sz="2000" kern="100" dirty="0">
                <a:latin typeface="Times New Roman" panose="02020603050405020304"/>
                <a:ea typeface="宋体" panose="02010600030101010101" pitchFamily="2" charset="-122"/>
              </a:rPr>
              <a:t>≤</a:t>
            </a:r>
            <a:r>
              <a:rPr lang="en-US" altLang="zh-CN" sz="2000" kern="100" dirty="0">
                <a:latin typeface="Times New Roman" panose="02020603050405020304"/>
                <a:ea typeface="宋体" panose="02010600030101010101" pitchFamily="2" charset="-122"/>
              </a:rPr>
              <a:t>100)</a:t>
            </a:r>
            <a:r>
              <a:rPr lang="zh-CN" altLang="zh-CN" sz="2000" kern="100" dirty="0">
                <a:latin typeface="Times New Roman" panose="02020603050405020304"/>
                <a:ea typeface="宋体" panose="02010600030101010101" pitchFamily="2" charset="-122"/>
              </a:rPr>
              <a:t>。</a:t>
            </a:r>
            <a:endParaRPr lang="zh-CN" altLang="zh-CN" sz="1800" kern="100" dirty="0">
              <a:latin typeface="Times New Roman" panose="02020603050405020304"/>
              <a:ea typeface="宋体" panose="02010600030101010101" pitchFamily="2" charset="-122"/>
            </a:endParaRPr>
          </a:p>
          <a:p>
            <a:pPr algn="just">
              <a:spcAft>
                <a:spcPts val="0"/>
              </a:spcAft>
            </a:pPr>
            <a:r>
              <a:rPr lang="zh-CN" altLang="zh-CN" sz="2000" kern="100" dirty="0">
                <a:latin typeface="Times New Roman" panose="02020603050405020304"/>
                <a:ea typeface="宋体" panose="02010600030101010101" pitchFamily="2" charset="-122"/>
              </a:rPr>
              <a:t>【输出格式】</a:t>
            </a:r>
            <a:endParaRPr lang="zh-CN" altLang="zh-CN" sz="1800" kern="100" dirty="0">
              <a:latin typeface="Times New Roman" panose="02020603050405020304"/>
              <a:ea typeface="宋体" panose="02010600030101010101" pitchFamily="2" charset="-122"/>
            </a:endParaRPr>
          </a:p>
          <a:p>
            <a:pPr indent="276225" algn="just">
              <a:spcAft>
                <a:spcPts val="0"/>
              </a:spcAft>
            </a:pPr>
            <a:r>
              <a:rPr lang="zh-CN" altLang="zh-CN" sz="2000" kern="100" dirty="0">
                <a:latin typeface="Times New Roman" panose="02020603050405020304"/>
                <a:ea typeface="宋体" panose="02010600030101010101" pitchFamily="2" charset="-122"/>
              </a:rPr>
              <a:t>对于每个测试实例，如果能找到这样一条路线的话，输出花费的最小值。如果找不到的话，输出“</a:t>
            </a:r>
            <a:r>
              <a:rPr lang="en-US" altLang="zh-CN" sz="2000" kern="100" dirty="0">
                <a:latin typeface="Times New Roman" panose="02020603050405020304"/>
                <a:ea typeface="宋体" panose="02010600030101010101" pitchFamily="2" charset="-122"/>
              </a:rPr>
              <a:t>It's impossible.</a:t>
            </a:r>
            <a:r>
              <a:rPr lang="zh-CN" altLang="zh-CN" sz="2000" kern="100" dirty="0">
                <a:latin typeface="Times New Roman" panose="02020603050405020304"/>
                <a:ea typeface="宋体" panose="02010600030101010101" pitchFamily="2" charset="-122"/>
              </a:rPr>
              <a:t>”。</a:t>
            </a:r>
            <a:endParaRPr lang="zh-CN" altLang="zh-CN" sz="1800" kern="100" dirty="0">
              <a:effectLst/>
              <a:latin typeface="Times New Roman" panose="02020603050405020304"/>
              <a:ea typeface="宋体" panose="02010600030101010101"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7133" y="43740"/>
            <a:ext cx="9054445" cy="1692771"/>
          </a:xfrm>
          <a:prstGeom prst="rect">
            <a:avLst/>
          </a:prstGeom>
        </p:spPr>
        <p:txBody>
          <a:bodyPr wrap="square">
            <a:spAutoFit/>
          </a:bodyPr>
          <a:lstStyle/>
          <a:p>
            <a:r>
              <a:rPr lang="en-US" altLang="zh-CN" dirty="0"/>
              <a:t>     </a:t>
            </a:r>
            <a:r>
              <a:rPr lang="zh-CN" altLang="zh-CN" dirty="0"/>
              <a:t>最小环问题可以用</a:t>
            </a:r>
            <a:r>
              <a:rPr lang="en-US" altLang="zh-CN" dirty="0"/>
              <a:t>Floyd</a:t>
            </a:r>
            <a:r>
              <a:rPr lang="zh-CN" altLang="zh-CN" dirty="0"/>
              <a:t>解决：枚举每一个点</a:t>
            </a:r>
            <a:r>
              <a:rPr lang="en-US" altLang="zh-CN" i="1" dirty="0"/>
              <a:t>k</a:t>
            </a:r>
            <a:r>
              <a:rPr lang="zh-CN" altLang="zh-CN" dirty="0"/>
              <a:t>，和连接它的两个点</a:t>
            </a:r>
            <a:r>
              <a:rPr lang="en-US" altLang="zh-CN" i="1" dirty="0" err="1"/>
              <a:t>i</a:t>
            </a:r>
            <a:r>
              <a:rPr lang="zh-CN" altLang="zh-CN" dirty="0"/>
              <a:t>、</a:t>
            </a:r>
            <a:r>
              <a:rPr lang="en-US" altLang="zh-CN" i="1" dirty="0"/>
              <a:t>j</a:t>
            </a:r>
            <a:r>
              <a:rPr lang="zh-CN" altLang="zh-CN" dirty="0"/>
              <a:t>（</a:t>
            </a:r>
            <a:r>
              <a:rPr lang="en-US" altLang="zh-CN" i="1" dirty="0" err="1"/>
              <a:t>i</a:t>
            </a:r>
            <a:r>
              <a:rPr lang="zh-CN" altLang="zh-CN" dirty="0"/>
              <a:t>、</a:t>
            </a:r>
            <a:r>
              <a:rPr lang="en-US" altLang="zh-CN" i="1" dirty="0"/>
              <a:t>j</a:t>
            </a:r>
            <a:r>
              <a:rPr lang="zh-CN" altLang="zh-CN" dirty="0"/>
              <a:t>均小于</a:t>
            </a:r>
            <a:r>
              <a:rPr lang="en-US" altLang="zh-CN" i="1" dirty="0"/>
              <a:t>k</a:t>
            </a:r>
            <a:r>
              <a:rPr lang="en-US" altLang="zh-CN" dirty="0"/>
              <a:t>)</a:t>
            </a:r>
            <a:r>
              <a:rPr lang="zh-CN" altLang="zh-CN" dirty="0"/>
              <a:t>，使</a:t>
            </a:r>
            <a:r>
              <a:rPr lang="en-US" altLang="zh-CN" i="1" dirty="0" err="1"/>
              <a:t>i</a:t>
            </a:r>
            <a:r>
              <a:rPr lang="en-US" altLang="zh-CN" dirty="0" err="1"/>
              <a:t>,</a:t>
            </a:r>
            <a:r>
              <a:rPr lang="en-US" altLang="zh-CN" i="1" dirty="0" err="1"/>
              <a:t>j</a:t>
            </a:r>
            <a:r>
              <a:rPr lang="en-US" altLang="zh-CN" dirty="0" err="1"/>
              <a:t>,</a:t>
            </a:r>
            <a:r>
              <a:rPr lang="en-US" altLang="zh-CN" i="1" dirty="0" err="1"/>
              <a:t>k</a:t>
            </a:r>
            <a:r>
              <a:rPr lang="zh-CN" altLang="zh-CN" dirty="0"/>
              <a:t>构成环。设</a:t>
            </a:r>
            <a:r>
              <a:rPr lang="en-US" altLang="zh-CN" dirty="0"/>
              <a:t>dis[</a:t>
            </a:r>
            <a:r>
              <a:rPr lang="en-US" altLang="zh-CN" dirty="0" err="1"/>
              <a:t>i</a:t>
            </a:r>
            <a:r>
              <a:rPr lang="en-US" altLang="zh-CN" dirty="0"/>
              <a:t>][j]</a:t>
            </a:r>
            <a:r>
              <a:rPr lang="zh-CN" altLang="zh-CN" dirty="0"/>
              <a:t>表示从</a:t>
            </a:r>
            <a:r>
              <a:rPr lang="en-US" altLang="zh-CN" i="1" dirty="0" err="1"/>
              <a:t>i</a:t>
            </a:r>
            <a:r>
              <a:rPr lang="zh-CN" altLang="zh-CN" dirty="0"/>
              <a:t>点到</a:t>
            </a:r>
            <a:r>
              <a:rPr lang="en-US" altLang="zh-CN" i="1" dirty="0"/>
              <a:t>j</a:t>
            </a:r>
            <a:r>
              <a:rPr lang="zh-CN" altLang="zh-CN" dirty="0"/>
              <a:t>点的最短路径，</a:t>
            </a:r>
            <a:r>
              <a:rPr lang="en-US" altLang="zh-CN" dirty="0"/>
              <a:t>g[</a:t>
            </a:r>
            <a:r>
              <a:rPr lang="en-US" altLang="zh-CN" i="1" dirty="0" err="1"/>
              <a:t>i</a:t>
            </a:r>
            <a:r>
              <a:rPr lang="en-US" altLang="zh-CN" dirty="0"/>
              <a:t>][</a:t>
            </a:r>
            <a:r>
              <a:rPr lang="en-US" altLang="zh-CN" i="1" dirty="0"/>
              <a:t>j</a:t>
            </a:r>
            <a:r>
              <a:rPr lang="en-US" altLang="zh-CN" dirty="0"/>
              <a:t>]</a:t>
            </a:r>
            <a:r>
              <a:rPr lang="zh-CN" altLang="zh-CN" dirty="0"/>
              <a:t>表示从</a:t>
            </a:r>
            <a:r>
              <a:rPr lang="en-US" altLang="zh-CN" i="1" dirty="0" err="1"/>
              <a:t>i</a:t>
            </a:r>
            <a:r>
              <a:rPr lang="zh-CN" altLang="zh-CN" dirty="0"/>
              <a:t>点到</a:t>
            </a:r>
            <a:r>
              <a:rPr lang="en-US" altLang="zh-CN" i="1" dirty="0"/>
              <a:t>j</a:t>
            </a:r>
            <a:r>
              <a:rPr lang="zh-CN" altLang="zh-CN" dirty="0"/>
              <a:t>点的的权值，则</a:t>
            </a:r>
            <a:endParaRPr lang="en-US" altLang="zh-CN" dirty="0"/>
          </a:p>
          <a:p>
            <a:r>
              <a:rPr lang="en-US" altLang="zh-CN" i="1" dirty="0" err="1">
                <a:solidFill>
                  <a:srgbClr val="FF0000"/>
                </a:solidFill>
              </a:rPr>
              <a:t>ans</a:t>
            </a:r>
            <a:r>
              <a:rPr lang="en-US" altLang="zh-CN" dirty="0">
                <a:solidFill>
                  <a:srgbClr val="FF0000"/>
                </a:solidFill>
              </a:rPr>
              <a:t>=min{</a:t>
            </a:r>
            <a:r>
              <a:rPr lang="en-US" altLang="zh-CN" i="1" dirty="0" err="1">
                <a:solidFill>
                  <a:srgbClr val="FF0000"/>
                </a:solidFill>
              </a:rPr>
              <a:t>ans</a:t>
            </a:r>
            <a:r>
              <a:rPr lang="zh-CN" altLang="zh-CN" dirty="0">
                <a:solidFill>
                  <a:srgbClr val="FF0000"/>
                </a:solidFill>
              </a:rPr>
              <a:t>，</a:t>
            </a:r>
            <a:r>
              <a:rPr lang="en-US" altLang="zh-CN" dirty="0">
                <a:solidFill>
                  <a:srgbClr val="FF0000"/>
                </a:solidFill>
              </a:rPr>
              <a:t>dis[</a:t>
            </a:r>
            <a:r>
              <a:rPr lang="en-US" altLang="zh-CN" i="1" dirty="0" err="1">
                <a:solidFill>
                  <a:srgbClr val="FF0000"/>
                </a:solidFill>
              </a:rPr>
              <a:t>i</a:t>
            </a:r>
            <a:r>
              <a:rPr lang="en-US" altLang="zh-CN" dirty="0">
                <a:solidFill>
                  <a:srgbClr val="FF0000"/>
                </a:solidFill>
              </a:rPr>
              <a:t>][</a:t>
            </a:r>
            <a:r>
              <a:rPr lang="en-US" altLang="zh-CN" i="1" dirty="0">
                <a:solidFill>
                  <a:srgbClr val="FF0000"/>
                </a:solidFill>
              </a:rPr>
              <a:t>j</a:t>
            </a:r>
            <a:r>
              <a:rPr lang="en-US" altLang="zh-CN" dirty="0">
                <a:solidFill>
                  <a:srgbClr val="FF0000"/>
                </a:solidFill>
              </a:rPr>
              <a:t>]</a:t>
            </a:r>
            <a:r>
              <a:rPr lang="zh-CN" altLang="zh-CN" dirty="0">
                <a:solidFill>
                  <a:srgbClr val="FF0000"/>
                </a:solidFill>
              </a:rPr>
              <a:t>＋</a:t>
            </a:r>
            <a:r>
              <a:rPr lang="en-US" altLang="zh-CN" dirty="0">
                <a:solidFill>
                  <a:srgbClr val="FF0000"/>
                </a:solidFill>
              </a:rPr>
              <a:t>g[</a:t>
            </a:r>
            <a:r>
              <a:rPr lang="en-US" altLang="zh-CN" i="1" dirty="0">
                <a:solidFill>
                  <a:srgbClr val="FF0000"/>
                </a:solidFill>
              </a:rPr>
              <a:t>k</a:t>
            </a:r>
            <a:r>
              <a:rPr lang="en-US" altLang="zh-CN" dirty="0">
                <a:solidFill>
                  <a:srgbClr val="FF0000"/>
                </a:solidFill>
              </a:rPr>
              <a:t>][</a:t>
            </a:r>
            <a:r>
              <a:rPr lang="en-US" altLang="zh-CN" i="1" dirty="0" err="1">
                <a:solidFill>
                  <a:srgbClr val="FF0000"/>
                </a:solidFill>
              </a:rPr>
              <a:t>i</a:t>
            </a:r>
            <a:r>
              <a:rPr lang="en-US" altLang="zh-CN" dirty="0">
                <a:solidFill>
                  <a:srgbClr val="FF0000"/>
                </a:solidFill>
              </a:rPr>
              <a:t>]</a:t>
            </a:r>
            <a:r>
              <a:rPr lang="zh-CN" altLang="zh-CN" dirty="0">
                <a:solidFill>
                  <a:srgbClr val="FF0000"/>
                </a:solidFill>
              </a:rPr>
              <a:t>＋</a:t>
            </a:r>
            <a:r>
              <a:rPr lang="en-US" altLang="zh-CN" dirty="0">
                <a:solidFill>
                  <a:srgbClr val="FF0000"/>
                </a:solidFill>
              </a:rPr>
              <a:t>g[</a:t>
            </a:r>
            <a:r>
              <a:rPr lang="en-US" altLang="zh-CN" i="1" dirty="0">
                <a:solidFill>
                  <a:srgbClr val="FF0000"/>
                </a:solidFill>
              </a:rPr>
              <a:t>k</a:t>
            </a:r>
            <a:r>
              <a:rPr lang="en-US" altLang="zh-CN" dirty="0">
                <a:solidFill>
                  <a:srgbClr val="FF0000"/>
                </a:solidFill>
              </a:rPr>
              <a:t>][</a:t>
            </a:r>
            <a:r>
              <a:rPr lang="en-US" altLang="zh-CN" i="1" dirty="0">
                <a:solidFill>
                  <a:srgbClr val="FF0000"/>
                </a:solidFill>
              </a:rPr>
              <a:t>j</a:t>
            </a:r>
            <a:r>
              <a:rPr lang="en-US" altLang="zh-CN" dirty="0">
                <a:solidFill>
                  <a:srgbClr val="FF0000"/>
                </a:solidFill>
              </a:rPr>
              <a:t>]}</a:t>
            </a:r>
            <a:endParaRPr lang="zh-CN" altLang="en-US"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1776540" y="1736511"/>
            <a:ext cx="4251902" cy="1327200"/>
          </a:xfrm>
          <a:prstGeom prst="rect">
            <a:avLst/>
          </a:prstGeom>
          <a:noFill/>
          <a:ln>
            <a:noFill/>
          </a:ln>
        </p:spPr>
      </p:pic>
      <p:sp>
        <p:nvSpPr>
          <p:cNvPr id="4" name="矩形 3"/>
          <p:cNvSpPr/>
          <p:nvPr/>
        </p:nvSpPr>
        <p:spPr>
          <a:xfrm>
            <a:off x="25921" y="3281879"/>
            <a:ext cx="9096867" cy="1384995"/>
          </a:xfrm>
          <a:prstGeom prst="rect">
            <a:avLst/>
          </a:prstGeom>
        </p:spPr>
        <p:txBody>
          <a:bodyPr wrap="square">
            <a:spAutoFit/>
          </a:bodyPr>
          <a:lstStyle/>
          <a:p>
            <a:pPr indent="276225" algn="just">
              <a:spcAft>
                <a:spcPts val="0"/>
              </a:spcAft>
            </a:pPr>
            <a:r>
              <a:rPr lang="zh-CN" altLang="zh-CN" sz="2800" kern="100" dirty="0">
                <a:latin typeface="Times New Roman" panose="02020603050405020304"/>
                <a:ea typeface="宋体" panose="02010600030101010101" pitchFamily="2" charset="-122"/>
              </a:rPr>
              <a:t>此环分成两部分：</a:t>
            </a:r>
            <a:endParaRPr lang="zh-CN" altLang="zh-CN" sz="2400" kern="100" dirty="0">
              <a:latin typeface="Times New Roman" panose="02020603050405020304"/>
              <a:ea typeface="宋体" panose="02010600030101010101" pitchFamily="2" charset="-122"/>
            </a:endParaRPr>
          </a:p>
          <a:p>
            <a:pPr indent="276225" algn="just">
              <a:spcAft>
                <a:spcPts val="0"/>
              </a:spcAft>
            </a:pPr>
            <a:r>
              <a:rPr lang="zh-CN" altLang="zh-CN" sz="2800" kern="100" dirty="0">
                <a:latin typeface="Times New Roman" panose="02020603050405020304"/>
                <a:ea typeface="宋体" panose="02010600030101010101" pitchFamily="2" charset="-122"/>
              </a:rPr>
              <a:t>（</a:t>
            </a:r>
            <a:r>
              <a:rPr lang="en-US" altLang="zh-CN" sz="2800" kern="100" dirty="0">
                <a:latin typeface="Times New Roman" panose="02020603050405020304"/>
                <a:ea typeface="宋体" panose="02010600030101010101" pitchFamily="2" charset="-122"/>
              </a:rPr>
              <a:t>1</a:t>
            </a:r>
            <a:r>
              <a:rPr lang="zh-CN" altLang="zh-CN" sz="2800" kern="100" dirty="0">
                <a:latin typeface="Times New Roman" panose="02020603050405020304"/>
                <a:ea typeface="宋体" panose="02010600030101010101" pitchFamily="2" charset="-122"/>
              </a:rPr>
              <a:t>）</a:t>
            </a:r>
            <a:r>
              <a:rPr lang="en-US" altLang="zh-CN" sz="2800" i="1" kern="100" dirty="0" err="1">
                <a:latin typeface="Times New Roman" panose="02020603050405020304"/>
                <a:ea typeface="宋体" panose="02010600030101010101" pitchFamily="2" charset="-122"/>
              </a:rPr>
              <a:t>i</a:t>
            </a:r>
            <a:r>
              <a:rPr lang="zh-CN" altLang="zh-CN" sz="2800" kern="100" dirty="0">
                <a:latin typeface="Times New Roman" panose="02020603050405020304"/>
                <a:ea typeface="宋体" panose="02010600030101010101" pitchFamily="2" charset="-122"/>
              </a:rPr>
              <a:t>→</a:t>
            </a:r>
            <a:r>
              <a:rPr lang="en-US" altLang="zh-CN" sz="2800" i="1" kern="100" dirty="0">
                <a:latin typeface="Times New Roman" panose="02020603050405020304"/>
                <a:ea typeface="宋体" panose="02010600030101010101" pitchFamily="2" charset="-122"/>
              </a:rPr>
              <a:t>j</a:t>
            </a:r>
            <a:r>
              <a:rPr lang="zh-CN" altLang="zh-CN" sz="2800" kern="100" dirty="0">
                <a:latin typeface="Times New Roman" panose="02020603050405020304"/>
                <a:ea typeface="宋体" panose="02010600030101010101" pitchFamily="2" charset="-122"/>
              </a:rPr>
              <a:t>的路径，该路径不经过</a:t>
            </a:r>
            <a:r>
              <a:rPr lang="en-US" altLang="zh-CN" sz="2800" i="1" kern="100" dirty="0">
                <a:latin typeface="Times New Roman" panose="02020603050405020304"/>
                <a:ea typeface="宋体" panose="02010600030101010101" pitchFamily="2" charset="-122"/>
              </a:rPr>
              <a:t>k</a:t>
            </a:r>
            <a:r>
              <a:rPr lang="zh-CN" altLang="zh-CN" sz="2800" kern="100" dirty="0">
                <a:latin typeface="Times New Roman" panose="02020603050405020304"/>
                <a:ea typeface="宋体" panose="02010600030101010101" pitchFamily="2" charset="-122"/>
              </a:rPr>
              <a:t>；</a:t>
            </a:r>
            <a:endParaRPr lang="zh-CN" altLang="zh-CN" sz="2400" kern="100" dirty="0">
              <a:latin typeface="Times New Roman" panose="02020603050405020304"/>
              <a:ea typeface="宋体" panose="02010600030101010101" pitchFamily="2" charset="-122"/>
            </a:endParaRPr>
          </a:p>
          <a:p>
            <a:pPr indent="276225" algn="just">
              <a:spcAft>
                <a:spcPts val="0"/>
              </a:spcAft>
            </a:pPr>
            <a:r>
              <a:rPr lang="zh-CN" altLang="zh-CN" sz="2800" kern="100" dirty="0">
                <a:latin typeface="Times New Roman" panose="02020603050405020304"/>
                <a:ea typeface="宋体" panose="02010600030101010101" pitchFamily="2" charset="-122"/>
              </a:rPr>
              <a:t>（</a:t>
            </a:r>
            <a:r>
              <a:rPr lang="en-US" altLang="zh-CN" sz="2800" kern="100" dirty="0">
                <a:latin typeface="Times New Roman" panose="02020603050405020304"/>
                <a:ea typeface="宋体" panose="02010600030101010101" pitchFamily="2" charset="-122"/>
              </a:rPr>
              <a:t>2</a:t>
            </a:r>
            <a:r>
              <a:rPr lang="zh-CN" altLang="zh-CN" sz="2800" kern="100" dirty="0">
                <a:latin typeface="Times New Roman" panose="02020603050405020304"/>
                <a:ea typeface="宋体" panose="02010600030101010101" pitchFamily="2" charset="-122"/>
              </a:rPr>
              <a:t>）</a:t>
            </a:r>
            <a:r>
              <a:rPr lang="en-US" altLang="zh-CN" sz="2800" i="1" kern="100" dirty="0" err="1">
                <a:latin typeface="Times New Roman" panose="02020603050405020304"/>
                <a:ea typeface="宋体" panose="02010600030101010101" pitchFamily="2" charset="-122"/>
              </a:rPr>
              <a:t>i</a:t>
            </a:r>
            <a:r>
              <a:rPr lang="zh-CN" altLang="zh-CN" sz="2800" kern="100" dirty="0">
                <a:latin typeface="Times New Roman" panose="02020603050405020304"/>
                <a:ea typeface="宋体" panose="02010600030101010101" pitchFamily="2" charset="-122"/>
              </a:rPr>
              <a:t>→</a:t>
            </a:r>
            <a:r>
              <a:rPr lang="en-US" altLang="zh-CN" sz="2800" i="1" kern="100" dirty="0">
                <a:latin typeface="Times New Roman" panose="02020603050405020304"/>
                <a:ea typeface="宋体" panose="02010600030101010101" pitchFamily="2" charset="-122"/>
              </a:rPr>
              <a:t>k</a:t>
            </a:r>
            <a:r>
              <a:rPr lang="zh-CN" altLang="zh-CN" sz="2800" kern="100" dirty="0">
                <a:latin typeface="Times New Roman" panose="02020603050405020304"/>
                <a:ea typeface="宋体" panose="02010600030101010101" pitchFamily="2" charset="-122"/>
              </a:rPr>
              <a:t>→</a:t>
            </a:r>
            <a:r>
              <a:rPr lang="en-US" altLang="zh-CN" sz="2800" i="1" kern="100" dirty="0">
                <a:latin typeface="Times New Roman" panose="02020603050405020304"/>
                <a:ea typeface="宋体" panose="02010600030101010101" pitchFamily="2" charset="-122"/>
              </a:rPr>
              <a:t>j</a:t>
            </a:r>
            <a:r>
              <a:rPr lang="zh-CN" altLang="zh-CN" sz="2800" kern="100" dirty="0">
                <a:latin typeface="Times New Roman" panose="02020603050405020304"/>
                <a:ea typeface="宋体" panose="02010600030101010101" pitchFamily="2" charset="-122"/>
              </a:rPr>
              <a:t>的路径，其中</a:t>
            </a:r>
            <a:r>
              <a:rPr lang="en-US" altLang="zh-CN" sz="2800" i="1" kern="100" dirty="0" err="1">
                <a:latin typeface="Times New Roman" panose="02020603050405020304"/>
                <a:ea typeface="宋体" panose="02010600030101010101" pitchFamily="2" charset="-122"/>
              </a:rPr>
              <a:t>i</a:t>
            </a:r>
            <a:r>
              <a:rPr lang="zh-CN" altLang="zh-CN" sz="2800" kern="100" dirty="0">
                <a:latin typeface="Times New Roman" panose="02020603050405020304"/>
                <a:ea typeface="宋体" panose="02010600030101010101" pitchFamily="2" charset="-122"/>
              </a:rPr>
              <a:t>≠</a:t>
            </a:r>
            <a:r>
              <a:rPr lang="en-US" altLang="zh-CN" sz="2800" i="1" kern="100" dirty="0">
                <a:latin typeface="Times New Roman" panose="02020603050405020304"/>
                <a:ea typeface="宋体" panose="02010600030101010101" pitchFamily="2" charset="-122"/>
              </a:rPr>
              <a:t>j</a:t>
            </a:r>
            <a:r>
              <a:rPr lang="zh-CN" altLang="zh-CN" sz="2800" kern="100" dirty="0">
                <a:latin typeface="Times New Roman" panose="02020603050405020304"/>
                <a:ea typeface="宋体" panose="02010600030101010101" pitchFamily="2" charset="-122"/>
              </a:rPr>
              <a:t>。</a:t>
            </a:r>
            <a:endParaRPr lang="zh-CN" altLang="zh-CN" sz="2400" kern="100" dirty="0">
              <a:effectLst/>
              <a:latin typeface="Times New Roman" panose="02020603050405020304"/>
              <a:ea typeface="宋体" panose="02010600030101010101" pitchFamily="2"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63371"/>
            <a:ext cx="9247695" cy="5016758"/>
          </a:xfrm>
          <a:prstGeom prst="rect">
            <a:avLst/>
          </a:prstGeom>
        </p:spPr>
        <p:txBody>
          <a:bodyPr wrap="square">
            <a:spAutoFit/>
          </a:bodyPr>
          <a:lstStyle/>
          <a:p>
            <a:r>
              <a:rPr lang="en-US" altLang="zh-CN" sz="2000" kern="0" dirty="0">
                <a:solidFill>
                  <a:srgbClr val="8000FF"/>
                </a:solidFill>
                <a:latin typeface="YaHei Consolas Hybrid"/>
                <a:ea typeface="宋体" panose="02010600030101010101" pitchFamily="2" charset="-122"/>
                <a:cs typeface="Courier New" panose="02070309020205020404"/>
              </a:rPr>
              <a:t>void</a:t>
            </a:r>
            <a:r>
              <a:rPr lang="en-US" altLang="zh-CN" sz="2000" kern="0" dirty="0">
                <a:solidFill>
                  <a:srgbClr val="000000"/>
                </a:solidFill>
                <a:latin typeface="YaHei Consolas Hybrid"/>
                <a:ea typeface="宋体" panose="02010600030101010101" pitchFamily="2" charset="-122"/>
                <a:cs typeface="Courier New" panose="02070309020205020404"/>
              </a:rPr>
              <a:t> Floyd</a:t>
            </a:r>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latin typeface="Times New Roman" panose="02020603050405020304"/>
              <a:ea typeface="宋体" panose="02010600030101010101" pitchFamily="2" charset="-122"/>
            </a:endParaRPr>
          </a:p>
          <a:p>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a:solidFill>
                  <a:srgbClr val="8000FF"/>
                </a:solidFill>
                <a:latin typeface="YaHei Consolas Hybrid"/>
                <a:ea typeface="宋体" panose="02010600030101010101" pitchFamily="2" charset="-122"/>
                <a:cs typeface="Courier New" panose="02070309020205020404"/>
              </a:rPr>
              <a:t>long</a:t>
            </a:r>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err="1">
                <a:solidFill>
                  <a:srgbClr val="8000FF"/>
                </a:solidFill>
                <a:latin typeface="YaHei Consolas Hybrid"/>
                <a:ea typeface="宋体" panose="02010600030101010101" pitchFamily="2" charset="-122"/>
                <a:cs typeface="Courier New" panose="02070309020205020404"/>
              </a:rPr>
              <a:t>long</a:t>
            </a:r>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err="1">
                <a:solidFill>
                  <a:srgbClr val="000000"/>
                </a:solidFill>
                <a:latin typeface="YaHei Consolas Hybrid"/>
                <a:ea typeface="宋体" panose="02010600030101010101" pitchFamily="2" charset="-122"/>
                <a:cs typeface="Courier New" panose="02070309020205020404"/>
              </a:rPr>
              <a:t>ans</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INF</a:t>
            </a:r>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b="1" kern="0" dirty="0">
                <a:solidFill>
                  <a:srgbClr val="0000FF"/>
                </a:solidFill>
                <a:latin typeface="YaHei Consolas Hybrid"/>
                <a:ea typeface="宋体" panose="02010600030101010101" pitchFamily="2" charset="-122"/>
                <a:cs typeface="Courier New" panose="02070309020205020404"/>
              </a:rPr>
              <a:t>for</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8000FF"/>
                </a:solidFill>
                <a:latin typeface="YaHei Consolas Hybrid"/>
                <a:ea typeface="宋体" panose="02010600030101010101" pitchFamily="2" charset="-122"/>
                <a:cs typeface="Courier New" panose="02070309020205020404"/>
              </a:rPr>
              <a:t>int</a:t>
            </a:r>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err="1">
                <a:solidFill>
                  <a:srgbClr val="000000"/>
                </a:solidFill>
                <a:latin typeface="YaHei Consolas Hybrid"/>
                <a:ea typeface="宋体" panose="02010600030101010101" pitchFamily="2" charset="-122"/>
                <a:cs typeface="Courier New" panose="02070309020205020404"/>
              </a:rPr>
              <a:t>i</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FF8000"/>
                </a:solidFill>
                <a:latin typeface="YaHei Consolas Hybrid"/>
                <a:ea typeface="宋体" panose="02010600030101010101" pitchFamily="2" charset="-122"/>
                <a:cs typeface="Courier New" panose="02070309020205020404"/>
              </a:rPr>
              <a:t>1</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err="1">
                <a:solidFill>
                  <a:srgbClr val="000000"/>
                </a:solidFill>
                <a:latin typeface="YaHei Consolas Hybrid"/>
                <a:ea typeface="宋体" panose="02010600030101010101" pitchFamily="2" charset="-122"/>
                <a:cs typeface="Courier New" panose="02070309020205020404"/>
              </a:rPr>
              <a:t>i</a:t>
            </a:r>
            <a:r>
              <a:rPr lang="en-US" altLang="zh-CN" sz="2000" b="1" kern="0" dirty="0">
                <a:solidFill>
                  <a:srgbClr val="000080"/>
                </a:solidFill>
                <a:latin typeface="YaHei Consolas Hybrid"/>
                <a:ea typeface="宋体" panose="02010600030101010101" pitchFamily="2" charset="-122"/>
                <a:cs typeface="Courier New" panose="02070309020205020404"/>
              </a:rPr>
              <a:t>&lt;=</a:t>
            </a:r>
            <a:r>
              <a:rPr lang="en-US" altLang="zh-CN" sz="2000" kern="0" dirty="0">
                <a:solidFill>
                  <a:srgbClr val="000000"/>
                </a:solidFill>
                <a:latin typeface="YaHei Consolas Hybrid"/>
                <a:ea typeface="宋体" panose="02010600030101010101" pitchFamily="2" charset="-122"/>
                <a:cs typeface="Courier New" panose="02070309020205020404"/>
              </a:rPr>
              <a:t>n</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err="1">
                <a:solidFill>
                  <a:srgbClr val="000000"/>
                </a:solidFill>
                <a:latin typeface="YaHei Consolas Hybrid"/>
                <a:ea typeface="宋体" panose="02010600030101010101" pitchFamily="2" charset="-122"/>
                <a:cs typeface="Courier New" panose="02070309020205020404"/>
              </a:rPr>
              <a:t>i</a:t>
            </a:r>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b="1" kern="0" dirty="0">
                <a:solidFill>
                  <a:srgbClr val="0000FF"/>
                </a:solidFill>
                <a:latin typeface="YaHei Consolas Hybrid"/>
                <a:ea typeface="宋体" panose="02010600030101010101" pitchFamily="2" charset="-122"/>
                <a:cs typeface="Courier New" panose="02070309020205020404"/>
              </a:rPr>
              <a:t>for</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8000FF"/>
                </a:solidFill>
                <a:latin typeface="YaHei Consolas Hybrid"/>
                <a:ea typeface="宋体" panose="02010600030101010101" pitchFamily="2" charset="-122"/>
                <a:cs typeface="Courier New" panose="02070309020205020404"/>
              </a:rPr>
              <a:t>int</a:t>
            </a:r>
            <a:r>
              <a:rPr lang="en-US" altLang="zh-CN" sz="2000" kern="0" dirty="0">
                <a:solidFill>
                  <a:srgbClr val="000000"/>
                </a:solidFill>
                <a:latin typeface="YaHei Consolas Hybrid"/>
                <a:ea typeface="宋体" panose="02010600030101010101" pitchFamily="2" charset="-122"/>
                <a:cs typeface="Courier New" panose="02070309020205020404"/>
              </a:rPr>
              <a:t> j</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FF8000"/>
                </a:solidFill>
                <a:latin typeface="YaHei Consolas Hybrid"/>
                <a:ea typeface="宋体" panose="02010600030101010101" pitchFamily="2" charset="-122"/>
                <a:cs typeface="Courier New" panose="02070309020205020404"/>
              </a:rPr>
              <a:t>1</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 j</a:t>
            </a:r>
            <a:r>
              <a:rPr lang="en-US" altLang="zh-CN" sz="2000" b="1" kern="0" dirty="0">
                <a:solidFill>
                  <a:srgbClr val="000080"/>
                </a:solidFill>
                <a:latin typeface="YaHei Consolas Hybrid"/>
                <a:ea typeface="宋体" panose="02010600030101010101" pitchFamily="2" charset="-122"/>
                <a:cs typeface="Courier New" panose="02070309020205020404"/>
              </a:rPr>
              <a:t>&lt;=</a:t>
            </a:r>
            <a:r>
              <a:rPr lang="en-US" altLang="zh-CN" sz="2000" kern="0" dirty="0">
                <a:solidFill>
                  <a:srgbClr val="000000"/>
                </a:solidFill>
                <a:latin typeface="YaHei Consolas Hybrid"/>
                <a:ea typeface="宋体" panose="02010600030101010101" pitchFamily="2" charset="-122"/>
                <a:cs typeface="Courier New" panose="02070309020205020404"/>
              </a:rPr>
              <a:t>n</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err="1">
                <a:solidFill>
                  <a:srgbClr val="000000"/>
                </a:solidFill>
                <a:latin typeface="YaHei Consolas Hybrid"/>
                <a:ea typeface="宋体" panose="02010600030101010101" pitchFamily="2" charset="-122"/>
                <a:cs typeface="Courier New" panose="02070309020205020404"/>
              </a:rPr>
              <a:t>j</a:t>
            </a:r>
            <a:r>
              <a:rPr lang="en-US" altLang="zh-CN" sz="2000" b="1" kern="0" dirty="0" err="1">
                <a:solidFill>
                  <a:srgbClr val="000080"/>
                </a:solidFill>
                <a:latin typeface="YaHei Consolas Hybrid"/>
                <a:ea typeface="宋体" panose="02010600030101010101" pitchFamily="2" charset="-122"/>
                <a:cs typeface="Courier New" panose="02070309020205020404"/>
              </a:rPr>
              <a:t>++</a:t>
            </a:r>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b="1" kern="0" dirty="0">
                <a:solidFill>
                  <a:srgbClr val="0000FF"/>
                </a:solidFill>
                <a:latin typeface="YaHei Consolas Hybrid"/>
                <a:ea typeface="宋体" panose="02010600030101010101" pitchFamily="2" charset="-122"/>
                <a:cs typeface="Courier New" panose="02070309020205020404"/>
              </a:rPr>
              <a:t>for</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8000FF"/>
                </a:solidFill>
                <a:latin typeface="YaHei Consolas Hybrid"/>
                <a:ea typeface="宋体" panose="02010600030101010101" pitchFamily="2" charset="-122"/>
                <a:cs typeface="Courier New" panose="02070309020205020404"/>
              </a:rPr>
              <a:t>int</a:t>
            </a:r>
            <a:r>
              <a:rPr lang="en-US" altLang="zh-CN" sz="2000" kern="0" dirty="0">
                <a:solidFill>
                  <a:srgbClr val="000000"/>
                </a:solidFill>
                <a:latin typeface="YaHei Consolas Hybrid"/>
                <a:ea typeface="宋体" panose="02010600030101010101" pitchFamily="2" charset="-122"/>
                <a:cs typeface="Courier New" panose="02070309020205020404"/>
              </a:rPr>
              <a:t> k</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FF8000"/>
                </a:solidFill>
                <a:latin typeface="YaHei Consolas Hybrid"/>
                <a:ea typeface="宋体" panose="02010600030101010101" pitchFamily="2" charset="-122"/>
                <a:cs typeface="Courier New" panose="02070309020205020404"/>
              </a:rPr>
              <a:t>1</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 k</a:t>
            </a:r>
            <a:r>
              <a:rPr lang="en-US" altLang="zh-CN" sz="2000" b="1" kern="0" dirty="0">
                <a:solidFill>
                  <a:srgbClr val="000080"/>
                </a:solidFill>
                <a:latin typeface="YaHei Consolas Hybrid"/>
                <a:ea typeface="宋体" panose="02010600030101010101" pitchFamily="2" charset="-122"/>
                <a:cs typeface="Courier New" panose="02070309020205020404"/>
              </a:rPr>
              <a:t>&lt;=</a:t>
            </a:r>
            <a:r>
              <a:rPr lang="en-US" altLang="zh-CN" sz="2000" kern="0" dirty="0">
                <a:solidFill>
                  <a:srgbClr val="000000"/>
                </a:solidFill>
                <a:latin typeface="YaHei Consolas Hybrid"/>
                <a:ea typeface="宋体" panose="02010600030101010101" pitchFamily="2" charset="-122"/>
                <a:cs typeface="Courier New" panose="02070309020205020404"/>
              </a:rPr>
              <a:t>n</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 k</a:t>
            </a:r>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b="1" kern="0" dirty="0">
                <a:solidFill>
                  <a:srgbClr val="0000FF"/>
                </a:solidFill>
                <a:latin typeface="YaHei Consolas Hybrid"/>
                <a:ea typeface="宋体" panose="02010600030101010101" pitchFamily="2" charset="-122"/>
                <a:cs typeface="Courier New" panose="02070309020205020404"/>
              </a:rPr>
              <a:t>if</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j</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000000"/>
                </a:solidFill>
                <a:latin typeface="YaHei Consolas Hybrid"/>
                <a:ea typeface="宋体" panose="02010600030101010101" pitchFamily="2" charset="-122"/>
                <a:cs typeface="Courier New" panose="02070309020205020404"/>
              </a:rPr>
              <a:t>i</a:t>
            </a:r>
            <a:r>
              <a:rPr lang="en-US" altLang="zh-CN" sz="2000" b="1" kern="0" dirty="0">
                <a:solidFill>
                  <a:srgbClr val="000080"/>
                </a:solidFill>
                <a:latin typeface="YaHei Consolas Hybrid"/>
                <a:ea typeface="宋体" panose="02010600030101010101" pitchFamily="2" charset="-122"/>
                <a:cs typeface="Courier New" panose="02070309020205020404"/>
              </a:rPr>
              <a:t>&amp;&amp;</a:t>
            </a:r>
            <a:r>
              <a:rPr lang="en-US" altLang="zh-CN" sz="2000" kern="0" dirty="0">
                <a:solidFill>
                  <a:srgbClr val="000000"/>
                </a:solidFill>
                <a:latin typeface="YaHei Consolas Hybrid"/>
                <a:ea typeface="宋体" panose="02010600030101010101" pitchFamily="2" charset="-122"/>
                <a:cs typeface="Courier New" panose="02070309020205020404"/>
              </a:rPr>
              <a:t>k</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000000"/>
                </a:solidFill>
                <a:latin typeface="YaHei Consolas Hybrid"/>
                <a:ea typeface="宋体" panose="02010600030101010101" pitchFamily="2" charset="-122"/>
                <a:cs typeface="Courier New" panose="02070309020205020404"/>
              </a:rPr>
              <a:t>i</a:t>
            </a:r>
            <a:r>
              <a:rPr lang="en-US" altLang="zh-CN" sz="2000" b="1" kern="0" dirty="0">
                <a:solidFill>
                  <a:srgbClr val="000080"/>
                </a:solidFill>
                <a:latin typeface="YaHei Consolas Hybrid"/>
                <a:ea typeface="宋体" panose="02010600030101010101" pitchFamily="2" charset="-122"/>
                <a:cs typeface="Courier New" panose="02070309020205020404"/>
              </a:rPr>
              <a:t>&amp;&amp;</a:t>
            </a:r>
            <a:r>
              <a:rPr lang="en-US" altLang="zh-CN" sz="2000" kern="0" dirty="0">
                <a:solidFill>
                  <a:srgbClr val="000000"/>
                </a:solidFill>
                <a:latin typeface="YaHei Consolas Hybrid"/>
                <a:ea typeface="宋体" panose="02010600030101010101" pitchFamily="2" charset="-122"/>
                <a:cs typeface="Courier New" panose="02070309020205020404"/>
              </a:rPr>
              <a:t>j</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k</a:t>
            </a:r>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err="1">
                <a:solidFill>
                  <a:srgbClr val="000000"/>
                </a:solidFill>
                <a:latin typeface="YaHei Consolas Hybrid"/>
                <a:ea typeface="宋体" panose="02010600030101010101" pitchFamily="2" charset="-122"/>
                <a:cs typeface="Courier New" panose="02070309020205020404"/>
              </a:rPr>
              <a:t>ans</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min</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000000"/>
                </a:solidFill>
                <a:latin typeface="YaHei Consolas Hybrid"/>
                <a:ea typeface="宋体" panose="02010600030101010101" pitchFamily="2" charset="-122"/>
                <a:cs typeface="Courier New" panose="02070309020205020404"/>
              </a:rPr>
              <a:t>ans</a:t>
            </a:r>
            <a:r>
              <a:rPr lang="en-US" altLang="zh-CN" sz="2000" b="1" kern="0" dirty="0" err="1">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000000"/>
                </a:solidFill>
                <a:latin typeface="YaHei Consolas Hybrid"/>
                <a:ea typeface="宋体" panose="02010600030101010101" pitchFamily="2" charset="-122"/>
                <a:cs typeface="Courier New" panose="02070309020205020404"/>
              </a:rPr>
              <a:t>dis</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j</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k</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g</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j</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000000"/>
                </a:solidFill>
                <a:latin typeface="YaHei Consolas Hybrid"/>
                <a:ea typeface="宋体" panose="02010600030101010101" pitchFamily="2" charset="-122"/>
                <a:cs typeface="Courier New" panose="02070309020205020404"/>
              </a:rPr>
              <a:t>i</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g</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000000"/>
                </a:solidFill>
                <a:latin typeface="YaHei Consolas Hybrid"/>
                <a:ea typeface="宋体" panose="02010600030101010101" pitchFamily="2" charset="-122"/>
                <a:cs typeface="Courier New" panose="02070309020205020404"/>
              </a:rPr>
              <a:t>i</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k</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8000"/>
                </a:solidFill>
                <a:latin typeface="YaHei Consolas Hybrid"/>
                <a:ea typeface="宋体" panose="02010600030101010101" pitchFamily="2" charset="-122"/>
                <a:cs typeface="Courier New" panose="02070309020205020404"/>
              </a:rPr>
              <a:t>//</a:t>
            </a:r>
            <a:r>
              <a:rPr lang="zh-CN" altLang="zh-CN" sz="2000" kern="0" dirty="0">
                <a:solidFill>
                  <a:srgbClr val="008000"/>
                </a:solidFill>
                <a:latin typeface="Times New Roman" panose="02020603050405020304"/>
                <a:ea typeface="YaHei Consolas Hybrid"/>
                <a:cs typeface="Courier New" panose="02070309020205020404"/>
              </a:rPr>
              <a:t>注意先求最小环</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b="1" kern="0" dirty="0">
                <a:solidFill>
                  <a:srgbClr val="0000FF"/>
                </a:solidFill>
                <a:latin typeface="YaHei Consolas Hybrid"/>
                <a:ea typeface="宋体" panose="02010600030101010101" pitchFamily="2" charset="-122"/>
                <a:cs typeface="Courier New" panose="02070309020205020404"/>
              </a:rPr>
              <a:t>for</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8000FF"/>
                </a:solidFill>
                <a:latin typeface="YaHei Consolas Hybrid"/>
                <a:ea typeface="宋体" panose="02010600030101010101" pitchFamily="2" charset="-122"/>
                <a:cs typeface="Courier New" panose="02070309020205020404"/>
              </a:rPr>
              <a:t>int</a:t>
            </a:r>
            <a:r>
              <a:rPr lang="en-US" altLang="zh-CN" sz="2000" kern="0" dirty="0">
                <a:solidFill>
                  <a:srgbClr val="000000"/>
                </a:solidFill>
                <a:latin typeface="YaHei Consolas Hybrid"/>
                <a:ea typeface="宋体" panose="02010600030101010101" pitchFamily="2" charset="-122"/>
                <a:cs typeface="Courier New" panose="02070309020205020404"/>
              </a:rPr>
              <a:t> j</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FF8000"/>
                </a:solidFill>
                <a:latin typeface="YaHei Consolas Hybrid"/>
                <a:ea typeface="宋体" panose="02010600030101010101" pitchFamily="2" charset="-122"/>
                <a:cs typeface="Courier New" panose="02070309020205020404"/>
              </a:rPr>
              <a:t>1</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 j</a:t>
            </a:r>
            <a:r>
              <a:rPr lang="en-US" altLang="zh-CN" sz="2000" b="1" kern="0" dirty="0">
                <a:solidFill>
                  <a:srgbClr val="000080"/>
                </a:solidFill>
                <a:latin typeface="YaHei Consolas Hybrid"/>
                <a:ea typeface="宋体" panose="02010600030101010101" pitchFamily="2" charset="-122"/>
                <a:cs typeface="Courier New" panose="02070309020205020404"/>
              </a:rPr>
              <a:t>&lt;=</a:t>
            </a:r>
            <a:r>
              <a:rPr lang="en-US" altLang="zh-CN" sz="2000" kern="0" dirty="0">
                <a:solidFill>
                  <a:srgbClr val="000000"/>
                </a:solidFill>
                <a:latin typeface="YaHei Consolas Hybrid"/>
                <a:ea typeface="宋体" panose="02010600030101010101" pitchFamily="2" charset="-122"/>
                <a:cs typeface="Courier New" panose="02070309020205020404"/>
              </a:rPr>
              <a:t>n</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err="1">
                <a:solidFill>
                  <a:srgbClr val="000000"/>
                </a:solidFill>
                <a:latin typeface="YaHei Consolas Hybrid"/>
                <a:ea typeface="宋体" panose="02010600030101010101" pitchFamily="2" charset="-122"/>
                <a:cs typeface="Courier New" panose="02070309020205020404"/>
              </a:rPr>
              <a:t>j</a:t>
            </a:r>
            <a:r>
              <a:rPr lang="en-US" altLang="zh-CN" sz="2000" b="1" kern="0" dirty="0" err="1">
                <a:solidFill>
                  <a:srgbClr val="000080"/>
                </a:solidFill>
                <a:latin typeface="YaHei Consolas Hybrid"/>
                <a:ea typeface="宋体" panose="02010600030101010101" pitchFamily="2" charset="-122"/>
                <a:cs typeface="Courier New" panose="02070309020205020404"/>
              </a:rPr>
              <a:t>++</a:t>
            </a:r>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b="1" kern="0" dirty="0">
                <a:solidFill>
                  <a:srgbClr val="0000FF"/>
                </a:solidFill>
                <a:latin typeface="YaHei Consolas Hybrid"/>
                <a:ea typeface="宋体" panose="02010600030101010101" pitchFamily="2" charset="-122"/>
                <a:cs typeface="Courier New" panose="02070309020205020404"/>
              </a:rPr>
              <a:t>for</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8000FF"/>
                </a:solidFill>
                <a:latin typeface="YaHei Consolas Hybrid"/>
                <a:ea typeface="宋体" panose="02010600030101010101" pitchFamily="2" charset="-122"/>
                <a:cs typeface="Courier New" panose="02070309020205020404"/>
              </a:rPr>
              <a:t>int</a:t>
            </a:r>
            <a:r>
              <a:rPr lang="en-US" altLang="zh-CN" sz="2000" kern="0" dirty="0">
                <a:solidFill>
                  <a:srgbClr val="000000"/>
                </a:solidFill>
                <a:latin typeface="YaHei Consolas Hybrid"/>
                <a:ea typeface="宋体" panose="02010600030101010101" pitchFamily="2" charset="-122"/>
                <a:cs typeface="Courier New" panose="02070309020205020404"/>
              </a:rPr>
              <a:t> k</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FF8000"/>
                </a:solidFill>
                <a:latin typeface="YaHei Consolas Hybrid"/>
                <a:ea typeface="宋体" panose="02010600030101010101" pitchFamily="2" charset="-122"/>
                <a:cs typeface="Courier New" panose="02070309020205020404"/>
              </a:rPr>
              <a:t>1</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 k</a:t>
            </a:r>
            <a:r>
              <a:rPr lang="en-US" altLang="zh-CN" sz="2000" b="1" kern="0" dirty="0">
                <a:solidFill>
                  <a:srgbClr val="000080"/>
                </a:solidFill>
                <a:latin typeface="YaHei Consolas Hybrid"/>
                <a:ea typeface="宋体" panose="02010600030101010101" pitchFamily="2" charset="-122"/>
                <a:cs typeface="Courier New" panose="02070309020205020404"/>
              </a:rPr>
              <a:t>&lt;=</a:t>
            </a:r>
            <a:r>
              <a:rPr lang="en-US" altLang="zh-CN" sz="2000" kern="0" dirty="0">
                <a:solidFill>
                  <a:srgbClr val="000000"/>
                </a:solidFill>
                <a:latin typeface="YaHei Consolas Hybrid"/>
                <a:ea typeface="宋体" panose="02010600030101010101" pitchFamily="2" charset="-122"/>
                <a:cs typeface="Courier New" panose="02070309020205020404"/>
              </a:rPr>
              <a:t>n</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 k</a:t>
            </a:r>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dis</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j</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k</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min</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dis</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j</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k</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dis</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j</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000000"/>
                </a:solidFill>
                <a:latin typeface="YaHei Consolas Hybrid"/>
                <a:ea typeface="宋体" panose="02010600030101010101" pitchFamily="2" charset="-122"/>
                <a:cs typeface="Courier New" panose="02070309020205020404"/>
              </a:rPr>
              <a:t>i</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dis</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000000"/>
                </a:solidFill>
                <a:latin typeface="YaHei Consolas Hybrid"/>
                <a:ea typeface="宋体" panose="02010600030101010101" pitchFamily="2" charset="-122"/>
                <a:cs typeface="Courier New" panose="02070309020205020404"/>
              </a:rPr>
              <a:t>i</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k</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8000"/>
                </a:solidFill>
                <a:latin typeface="YaHei Consolas Hybrid"/>
                <a:ea typeface="宋体" panose="02010600030101010101" pitchFamily="2" charset="-122"/>
                <a:cs typeface="Courier New" panose="02070309020205020404"/>
              </a:rPr>
              <a:t>//</a:t>
            </a:r>
            <a:r>
              <a:rPr lang="zh-CN" altLang="zh-CN" sz="1800" kern="0" dirty="0">
                <a:solidFill>
                  <a:srgbClr val="008000"/>
                </a:solidFill>
                <a:latin typeface="Times New Roman" panose="02020603050405020304"/>
                <a:ea typeface="YaHei Consolas Hybrid"/>
                <a:cs typeface="Courier New" panose="02070309020205020404"/>
              </a:rPr>
              <a:t>再更新</a:t>
            </a:r>
            <a:r>
              <a:rPr lang="en-US" altLang="zh-CN" sz="1800" kern="0" dirty="0">
                <a:solidFill>
                  <a:srgbClr val="008000"/>
                </a:solidFill>
                <a:latin typeface="Times New Roman" panose="02020603050405020304"/>
                <a:ea typeface="YaHei Consolas Hybrid"/>
                <a:cs typeface="Courier New" panose="02070309020205020404"/>
              </a:rPr>
              <a:t>dis[j][k]</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b="1" kern="0" dirty="0">
                <a:solidFill>
                  <a:srgbClr val="0000FF"/>
                </a:solidFill>
                <a:latin typeface="YaHei Consolas Hybrid"/>
                <a:ea typeface="宋体" panose="02010600030101010101" pitchFamily="2" charset="-122"/>
                <a:cs typeface="Courier New" panose="02070309020205020404"/>
              </a:rPr>
              <a:t>if</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000000"/>
                </a:solidFill>
                <a:latin typeface="YaHei Consolas Hybrid"/>
                <a:ea typeface="宋体" panose="02010600030101010101" pitchFamily="2" charset="-122"/>
                <a:cs typeface="Courier New" panose="02070309020205020404"/>
              </a:rPr>
              <a:t>ans</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INF</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    puts</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808080"/>
                </a:solidFill>
                <a:latin typeface="YaHei Consolas Hybrid"/>
                <a:ea typeface="宋体" panose="02010600030101010101" pitchFamily="2" charset="-122"/>
                <a:cs typeface="Courier New" panose="02070309020205020404"/>
              </a:rPr>
              <a:t>"It's impossible."</a:t>
            </a:r>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b="1" kern="0" dirty="0">
                <a:solidFill>
                  <a:srgbClr val="0000FF"/>
                </a:solidFill>
                <a:latin typeface="YaHei Consolas Hybrid"/>
                <a:ea typeface="宋体" panose="02010600030101010101" pitchFamily="2" charset="-122"/>
                <a:cs typeface="Courier New" panose="02070309020205020404"/>
              </a:rPr>
              <a:t>else</a:t>
            </a:r>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err="1">
                <a:solidFill>
                  <a:srgbClr val="000000"/>
                </a:solidFill>
                <a:latin typeface="YaHei Consolas Hybrid"/>
                <a:ea typeface="宋体" panose="02010600030101010101" pitchFamily="2" charset="-122"/>
                <a:cs typeface="Courier New" panose="02070309020205020404"/>
              </a:rPr>
              <a:t>printf</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808080"/>
                </a:solidFill>
                <a:latin typeface="YaHei Consolas Hybrid"/>
                <a:ea typeface="宋体" panose="02010600030101010101" pitchFamily="2" charset="-122"/>
                <a:cs typeface="Courier New" panose="02070309020205020404"/>
              </a:rPr>
              <a:t>"%</a:t>
            </a:r>
            <a:r>
              <a:rPr lang="en-US" altLang="zh-CN" sz="2000" kern="0" dirty="0" err="1">
                <a:solidFill>
                  <a:srgbClr val="808080"/>
                </a:solidFill>
                <a:latin typeface="YaHei Consolas Hybrid"/>
                <a:ea typeface="宋体" panose="02010600030101010101" pitchFamily="2" charset="-122"/>
                <a:cs typeface="Courier New" panose="02070309020205020404"/>
              </a:rPr>
              <a:t>lld</a:t>
            </a:r>
            <a:r>
              <a:rPr lang="en-US" altLang="zh-CN" sz="2000" kern="0" dirty="0">
                <a:solidFill>
                  <a:srgbClr val="808080"/>
                </a:solidFill>
                <a:latin typeface="YaHei Consolas Hybrid"/>
                <a:ea typeface="宋体" panose="02010600030101010101" pitchFamily="2" charset="-122"/>
                <a:cs typeface="Courier New" panose="02070309020205020404"/>
              </a:rPr>
              <a:t>\n"</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000000"/>
                </a:solidFill>
                <a:latin typeface="YaHei Consolas Hybrid"/>
                <a:ea typeface="宋体" panose="02010600030101010101" pitchFamily="2" charset="-122"/>
                <a:cs typeface="Courier New" panose="02070309020205020404"/>
              </a:rPr>
              <a:t>ans</a:t>
            </a:r>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latin typeface="Times New Roman" panose="02020603050405020304"/>
              <a:ea typeface="宋体" panose="02010600030101010101" pitchFamily="2" charset="-122"/>
            </a:endParaRPr>
          </a:p>
          <a:p>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effectLst/>
              <a:latin typeface="Times New Roman" panose="02020603050405020304"/>
              <a:ea typeface="宋体" panose="02010600030101010101" pitchFamily="2"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892"/>
            <a:ext cx="3470758" cy="492443"/>
          </a:xfrm>
          <a:prstGeom prst="rect">
            <a:avLst/>
          </a:prstGeom>
        </p:spPr>
        <p:txBody>
          <a:bodyPr wrap="none">
            <a:spAutoFit/>
          </a:bodyPr>
          <a:lstStyle/>
          <a:p>
            <a:r>
              <a:rPr lang="en-US" altLang="zh-CN" b="1" dirty="0"/>
              <a:t>5.4.5 Bellman-Ford</a:t>
            </a:r>
            <a:r>
              <a:rPr lang="zh-CN" altLang="zh-CN" b="1" dirty="0"/>
              <a:t>算法</a:t>
            </a:r>
          </a:p>
        </p:txBody>
      </p:sp>
      <p:sp>
        <p:nvSpPr>
          <p:cNvPr id="3" name="矩形 2"/>
          <p:cNvSpPr/>
          <p:nvPr/>
        </p:nvSpPr>
        <p:spPr>
          <a:xfrm>
            <a:off x="0" y="496243"/>
            <a:ext cx="9144000" cy="2676525"/>
          </a:xfrm>
          <a:prstGeom prst="rect">
            <a:avLst/>
          </a:prstGeom>
        </p:spPr>
        <p:txBody>
          <a:bodyPr wrap="square">
            <a:spAutoFit/>
          </a:bodyPr>
          <a:lstStyle/>
          <a:p>
            <a:r>
              <a:rPr lang="en-US" altLang="zh-CN" sz="2400" dirty="0"/>
              <a:t>   </a:t>
            </a:r>
            <a:r>
              <a:rPr lang="zh-CN" altLang="zh-CN" sz="2400" dirty="0"/>
              <a:t>用</a:t>
            </a:r>
            <a:r>
              <a:rPr lang="en-US" altLang="zh-CN" sz="2400" dirty="0"/>
              <a:t>Dijkstra</a:t>
            </a:r>
            <a:r>
              <a:rPr lang="zh-CN" altLang="zh-CN" sz="2400" dirty="0"/>
              <a:t>算法求有向图的单源最短路径，条件是图中任意一条边都是正权。但在求单源最短路中可能存在有负权边的有向图，这时</a:t>
            </a:r>
            <a:r>
              <a:rPr lang="en-US" altLang="zh-CN" sz="2400" dirty="0"/>
              <a:t>Dijkstra</a:t>
            </a:r>
            <a:r>
              <a:rPr lang="zh-CN" altLang="zh-CN" sz="2400" dirty="0"/>
              <a:t>算法就无法计算了，因为总可以顺着“最短路”再穿过负权回路从而得到更小的最短路径，解决这种问题，需要使用</a:t>
            </a:r>
            <a:r>
              <a:rPr lang="en-US" altLang="zh-CN" sz="2400" dirty="0"/>
              <a:t>Bellman-Ford</a:t>
            </a:r>
            <a:r>
              <a:rPr lang="zh-CN" altLang="zh-CN" sz="2400" dirty="0"/>
              <a:t>算法。</a:t>
            </a:r>
          </a:p>
          <a:p>
            <a:r>
              <a:rPr lang="en-US" altLang="zh-CN" sz="2400" dirty="0"/>
              <a:t>   </a:t>
            </a:r>
            <a:r>
              <a:rPr lang="zh-CN" altLang="zh-CN" sz="2400" dirty="0"/>
              <a:t>我们通过实例逐步分解</a:t>
            </a:r>
            <a:r>
              <a:rPr lang="en-US" altLang="zh-CN" sz="2400" dirty="0" err="1"/>
              <a:t>Bellman</a:t>
            </a:r>
            <a:r>
              <a:rPr lang="en-US" altLang="zh-CN" sz="2400" b="1" dirty="0">
                <a:sym typeface="+mn-ea"/>
              </a:rPr>
              <a:t>-</a:t>
            </a:r>
            <a:r>
              <a:rPr lang="en-US" altLang="zh-CN" sz="2400" dirty="0" err="1"/>
              <a:t>Ford</a:t>
            </a:r>
            <a:r>
              <a:rPr lang="zh-CN" altLang="zh-CN" sz="2400" dirty="0"/>
              <a:t>算法来理解其本质，例如根据图求顶点１到其他各点的最短距离。</a:t>
            </a:r>
          </a:p>
        </p:txBody>
      </p:sp>
      <p:pic>
        <p:nvPicPr>
          <p:cNvPr id="4" name="图片 3"/>
          <p:cNvPicPr/>
          <p:nvPr/>
        </p:nvPicPr>
        <p:blipFill>
          <a:blip r:embed="rId2">
            <a:extLst>
              <a:ext uri="{28A0092B-C50C-407E-A947-70E740481C1C}">
                <a14:useLocalDpi xmlns:a14="http://schemas.microsoft.com/office/drawing/2010/main" val="0"/>
              </a:ext>
            </a:extLst>
          </a:blip>
          <a:srcRect/>
          <a:stretch>
            <a:fillRect/>
          </a:stretch>
        </p:blipFill>
        <p:spPr>
          <a:xfrm>
            <a:off x="2750581" y="3158873"/>
            <a:ext cx="2768813" cy="1733638"/>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274" y="9156"/>
            <a:ext cx="8960178" cy="492443"/>
          </a:xfrm>
          <a:prstGeom prst="rect">
            <a:avLst/>
          </a:prstGeom>
        </p:spPr>
        <p:txBody>
          <a:bodyPr wrap="square">
            <a:spAutoFit/>
          </a:bodyPr>
          <a:lstStyle/>
          <a:p>
            <a:r>
              <a:rPr lang="zh-CN" altLang="zh-CN" dirty="0"/>
              <a:t>设</a:t>
            </a:r>
            <a:r>
              <a:rPr lang="en-US" altLang="zh-CN" dirty="0"/>
              <a:t>W[</a:t>
            </a:r>
            <a:r>
              <a:rPr lang="en-US" altLang="zh-CN" dirty="0" err="1"/>
              <a:t>i</a:t>
            </a:r>
            <a:r>
              <a:rPr lang="en-US" altLang="zh-CN" dirty="0"/>
              <a:t>][j]</a:t>
            </a:r>
            <a:r>
              <a:rPr lang="zh-CN" altLang="zh-CN" dirty="0"/>
              <a:t>为各顶点之间的距离，则其邻接表如图</a:t>
            </a:r>
            <a:endParaRPr lang="zh-CN" altLang="en-US"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2659494" y="1089466"/>
            <a:ext cx="3232259" cy="207794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4454"/>
            <a:ext cx="9101579" cy="892552"/>
          </a:xfrm>
          <a:prstGeom prst="rect">
            <a:avLst/>
          </a:prstGeom>
        </p:spPr>
        <p:txBody>
          <a:bodyPr wrap="square">
            <a:spAutoFit/>
          </a:bodyPr>
          <a:lstStyle/>
          <a:p>
            <a:r>
              <a:rPr lang="en-US" altLang="zh-CN" dirty="0"/>
              <a:t>    </a:t>
            </a:r>
            <a:r>
              <a:rPr lang="zh-CN" altLang="zh-CN" dirty="0"/>
              <a:t>设</a:t>
            </a:r>
            <a:r>
              <a:rPr lang="en-US" altLang="zh-CN" dirty="0"/>
              <a:t>D[</a:t>
            </a:r>
            <a:r>
              <a:rPr lang="en-US" altLang="zh-CN" dirty="0" err="1"/>
              <a:t>i</a:t>
            </a:r>
            <a:r>
              <a:rPr lang="en-US" altLang="zh-CN" dirty="0"/>
              <a:t>]</a:t>
            </a:r>
            <a:r>
              <a:rPr lang="zh-CN" altLang="zh-CN" dirty="0"/>
              <a:t>为从顶点</a:t>
            </a:r>
            <a:r>
              <a:rPr lang="en-US" altLang="zh-CN" dirty="0"/>
              <a:t>1</a:t>
            </a:r>
            <a:r>
              <a:rPr lang="zh-CN" altLang="zh-CN" dirty="0"/>
              <a:t>至顶点</a:t>
            </a:r>
            <a:r>
              <a:rPr lang="en-US" altLang="zh-CN" i="1" dirty="0" err="1"/>
              <a:t>i</a:t>
            </a:r>
            <a:r>
              <a:rPr lang="zh-CN" altLang="zh-CN" dirty="0"/>
              <a:t>的最短路径，设</a:t>
            </a:r>
            <a:r>
              <a:rPr lang="en-US" altLang="zh-CN" dirty="0"/>
              <a:t>D[1]</a:t>
            </a:r>
            <a:r>
              <a:rPr lang="zh-CN" altLang="zh-CN" dirty="0"/>
              <a:t>＝</a:t>
            </a:r>
            <a:r>
              <a:rPr lang="en-US" altLang="zh-CN" dirty="0"/>
              <a:t>0</a:t>
            </a:r>
            <a:r>
              <a:rPr lang="zh-CN" altLang="zh-CN" dirty="0"/>
              <a:t>，其他各元素值为无穷大，则初始化的数组如图</a:t>
            </a:r>
            <a:endParaRPr lang="zh-CN" altLang="en-US"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2243907" y="1676044"/>
            <a:ext cx="4185174" cy="996456"/>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1847" y="0"/>
            <a:ext cx="9040306" cy="707886"/>
          </a:xfrm>
          <a:prstGeom prst="rect">
            <a:avLst/>
          </a:prstGeom>
        </p:spPr>
        <p:txBody>
          <a:bodyPr wrap="square">
            <a:spAutoFit/>
          </a:bodyPr>
          <a:lstStyle/>
          <a:p>
            <a:r>
              <a:rPr lang="en-US" altLang="zh-CN" sz="2000" dirty="0"/>
              <a:t>      </a:t>
            </a:r>
            <a:r>
              <a:rPr lang="zh-CN" altLang="zh-CN" sz="2000" dirty="0"/>
              <a:t>现在进行迭代求解，反复对每条边进行松弛操作，使得</a:t>
            </a:r>
            <a:r>
              <a:rPr lang="en-US" altLang="zh-CN" sz="2000" dirty="0"/>
              <a:t>D[</a:t>
            </a:r>
            <a:r>
              <a:rPr lang="en-US" altLang="zh-CN" sz="2000" dirty="0" err="1"/>
              <a:t>i</a:t>
            </a:r>
            <a:r>
              <a:rPr lang="en-US" altLang="zh-CN" sz="2000" dirty="0"/>
              <a:t>]</a:t>
            </a:r>
            <a:r>
              <a:rPr lang="zh-CN" altLang="zh-CN" sz="2000" dirty="0"/>
              <a:t>的值逐步逼近实际值。</a:t>
            </a:r>
          </a:p>
        </p:txBody>
      </p:sp>
      <p:sp>
        <p:nvSpPr>
          <p:cNvPr id="3" name="矩形 2"/>
          <p:cNvSpPr/>
          <p:nvPr/>
        </p:nvSpPr>
        <p:spPr>
          <a:xfrm>
            <a:off x="51847" y="690031"/>
            <a:ext cx="9144000" cy="3477875"/>
          </a:xfrm>
          <a:prstGeom prst="rect">
            <a:avLst/>
          </a:prstGeom>
        </p:spPr>
        <p:txBody>
          <a:bodyPr wrap="square">
            <a:spAutoFit/>
          </a:bodyPr>
          <a:lstStyle/>
          <a:p>
            <a:r>
              <a:rPr lang="zh-CN" altLang="zh-CN" sz="2000" dirty="0"/>
              <a:t>（</a:t>
            </a:r>
            <a:r>
              <a:rPr lang="en-US" altLang="zh-CN" sz="2000" dirty="0"/>
              <a:t>1</a:t>
            </a:r>
            <a:r>
              <a:rPr lang="zh-CN" altLang="zh-CN" sz="2000" dirty="0"/>
              <a:t>）求</a:t>
            </a:r>
            <a:r>
              <a:rPr lang="en-US" altLang="zh-CN" sz="2000" dirty="0"/>
              <a:t>D[2]</a:t>
            </a:r>
            <a:r>
              <a:rPr lang="zh-CN" altLang="zh-CN" sz="2000" dirty="0"/>
              <a:t>的值：</a:t>
            </a:r>
          </a:p>
          <a:p>
            <a:r>
              <a:rPr lang="zh-CN" altLang="zh-CN" sz="2000" dirty="0"/>
              <a:t>因为</a:t>
            </a:r>
            <a:r>
              <a:rPr lang="en-US" altLang="zh-CN" sz="2000" dirty="0"/>
              <a:t>D[1]</a:t>
            </a:r>
            <a:r>
              <a:rPr lang="zh-CN" altLang="zh-CN" sz="2000" dirty="0"/>
              <a:t>＋</a:t>
            </a:r>
            <a:r>
              <a:rPr lang="en-US" altLang="zh-CN" sz="2000" dirty="0"/>
              <a:t>W[1][2]</a:t>
            </a:r>
            <a:r>
              <a:rPr lang="zh-CN" altLang="zh-CN" sz="2000" dirty="0"/>
              <a:t>＜</a:t>
            </a:r>
            <a:r>
              <a:rPr lang="en-US" altLang="zh-CN" sz="2000" dirty="0"/>
              <a:t>D[2]</a:t>
            </a:r>
            <a:r>
              <a:rPr lang="zh-CN" altLang="zh-CN" sz="2000" dirty="0"/>
              <a:t>＋</a:t>
            </a:r>
            <a:r>
              <a:rPr lang="en-US" altLang="zh-CN" sz="2000" dirty="0"/>
              <a:t>W[2][2]</a:t>
            </a:r>
            <a:r>
              <a:rPr lang="zh-CN" altLang="zh-CN" sz="2000" dirty="0"/>
              <a:t>＜</a:t>
            </a:r>
            <a:r>
              <a:rPr lang="en-US" altLang="zh-CN" sz="2000" dirty="0"/>
              <a:t>D[3]</a:t>
            </a:r>
            <a:r>
              <a:rPr lang="zh-CN" altLang="zh-CN" sz="2000" dirty="0"/>
              <a:t>＋</a:t>
            </a:r>
            <a:r>
              <a:rPr lang="en-US" altLang="zh-CN" sz="2000" dirty="0"/>
              <a:t>W[3][2]</a:t>
            </a:r>
            <a:r>
              <a:rPr lang="zh-CN" altLang="zh-CN" sz="2000" dirty="0"/>
              <a:t>＜</a:t>
            </a:r>
            <a:r>
              <a:rPr lang="en-US" altLang="zh-CN" sz="2000" dirty="0"/>
              <a:t>D[4]</a:t>
            </a:r>
            <a:r>
              <a:rPr lang="zh-CN" altLang="zh-CN" sz="2000" dirty="0"/>
              <a:t>＋</a:t>
            </a:r>
            <a:r>
              <a:rPr lang="en-US" altLang="zh-CN" sz="2000" dirty="0"/>
              <a:t>W[4][2]</a:t>
            </a:r>
            <a:r>
              <a:rPr lang="zh-CN" altLang="zh-CN" sz="2000" dirty="0"/>
              <a:t>，所以</a:t>
            </a:r>
            <a:r>
              <a:rPr lang="en-US" altLang="zh-CN" sz="2000" dirty="0"/>
              <a:t>D[2]</a:t>
            </a:r>
            <a:r>
              <a:rPr lang="zh-CN" altLang="zh-CN" sz="2000" dirty="0"/>
              <a:t>＝</a:t>
            </a:r>
            <a:r>
              <a:rPr lang="en-US" altLang="zh-CN" sz="2000" dirty="0"/>
              <a:t>D[1]</a:t>
            </a:r>
            <a:r>
              <a:rPr lang="zh-CN" altLang="zh-CN" sz="2000" dirty="0"/>
              <a:t>＋</a:t>
            </a:r>
            <a:r>
              <a:rPr lang="en-US" altLang="zh-CN" sz="2000" dirty="0"/>
              <a:t>W[1][2]</a:t>
            </a:r>
            <a:r>
              <a:rPr lang="zh-CN" altLang="zh-CN" sz="2000" dirty="0"/>
              <a:t>＝</a:t>
            </a:r>
            <a:r>
              <a:rPr lang="en-US" altLang="zh-CN" sz="2000" dirty="0"/>
              <a:t>2</a:t>
            </a:r>
            <a:endParaRPr lang="zh-CN" altLang="zh-CN" sz="2000" dirty="0"/>
          </a:p>
          <a:p>
            <a:r>
              <a:rPr lang="zh-CN" altLang="zh-CN" sz="2000" dirty="0"/>
              <a:t>（</a:t>
            </a:r>
            <a:r>
              <a:rPr lang="en-US" altLang="zh-CN" sz="2000" dirty="0"/>
              <a:t>2</a:t>
            </a:r>
            <a:r>
              <a:rPr lang="zh-CN" altLang="zh-CN" sz="2000" dirty="0"/>
              <a:t>）求</a:t>
            </a:r>
            <a:r>
              <a:rPr lang="en-US" altLang="zh-CN" sz="2000" dirty="0"/>
              <a:t>D[3]</a:t>
            </a:r>
            <a:r>
              <a:rPr lang="zh-CN" altLang="zh-CN" sz="2000" dirty="0"/>
              <a:t>的值：</a:t>
            </a:r>
          </a:p>
          <a:p>
            <a:r>
              <a:rPr lang="zh-CN" altLang="zh-CN" sz="2000" dirty="0"/>
              <a:t>因为</a:t>
            </a:r>
            <a:r>
              <a:rPr lang="en-US" altLang="zh-CN" sz="2000" dirty="0"/>
              <a:t>D[1]</a:t>
            </a:r>
            <a:r>
              <a:rPr lang="zh-CN" altLang="zh-CN" sz="2000" dirty="0"/>
              <a:t>＋</a:t>
            </a:r>
            <a:r>
              <a:rPr lang="en-US" altLang="zh-CN" sz="2000" dirty="0"/>
              <a:t>W[1][3]</a:t>
            </a:r>
            <a:r>
              <a:rPr lang="zh-CN" altLang="zh-CN" sz="2000" dirty="0"/>
              <a:t>＜</a:t>
            </a:r>
            <a:r>
              <a:rPr lang="en-US" altLang="zh-CN" sz="2000" dirty="0"/>
              <a:t>D[2]</a:t>
            </a:r>
            <a:r>
              <a:rPr lang="zh-CN" altLang="zh-CN" sz="2000" dirty="0"/>
              <a:t>＋</a:t>
            </a:r>
            <a:r>
              <a:rPr lang="en-US" altLang="zh-CN" sz="2000" dirty="0"/>
              <a:t>W[2][3]</a:t>
            </a:r>
            <a:r>
              <a:rPr lang="zh-CN" altLang="zh-CN" sz="2000" dirty="0"/>
              <a:t>＜</a:t>
            </a:r>
            <a:r>
              <a:rPr lang="en-US" altLang="zh-CN" sz="2000" dirty="0"/>
              <a:t>D[3]</a:t>
            </a:r>
            <a:r>
              <a:rPr lang="zh-CN" altLang="zh-CN" sz="2000" dirty="0"/>
              <a:t>＋</a:t>
            </a:r>
            <a:r>
              <a:rPr lang="en-US" altLang="zh-CN" sz="2000" dirty="0"/>
              <a:t>W[3][3]</a:t>
            </a:r>
            <a:r>
              <a:rPr lang="zh-CN" altLang="zh-CN" sz="2000" dirty="0"/>
              <a:t>＜</a:t>
            </a:r>
            <a:r>
              <a:rPr lang="en-US" altLang="zh-CN" sz="2000" dirty="0"/>
              <a:t>D[4]</a:t>
            </a:r>
            <a:r>
              <a:rPr lang="zh-CN" altLang="zh-CN" sz="2000" dirty="0"/>
              <a:t>＋</a:t>
            </a:r>
            <a:r>
              <a:rPr lang="en-US" altLang="zh-CN" sz="2000" dirty="0"/>
              <a:t>W[4][3]</a:t>
            </a:r>
            <a:r>
              <a:rPr lang="zh-CN" altLang="zh-CN" sz="2000" dirty="0"/>
              <a:t>，所以</a:t>
            </a:r>
            <a:r>
              <a:rPr lang="en-US" altLang="zh-CN" sz="2000" dirty="0"/>
              <a:t>D[3]</a:t>
            </a:r>
            <a:r>
              <a:rPr lang="zh-CN" altLang="zh-CN" sz="2000" dirty="0"/>
              <a:t>＝</a:t>
            </a:r>
            <a:r>
              <a:rPr lang="en-US" altLang="zh-CN" sz="2000" dirty="0"/>
              <a:t>D[1]</a:t>
            </a:r>
            <a:r>
              <a:rPr lang="zh-CN" altLang="zh-CN" sz="2000" dirty="0"/>
              <a:t>＋</a:t>
            </a:r>
            <a:r>
              <a:rPr lang="en-US" altLang="zh-CN" sz="2000" dirty="0"/>
              <a:t>W[1][3]</a:t>
            </a:r>
            <a:r>
              <a:rPr lang="zh-CN" altLang="zh-CN" sz="2000" dirty="0"/>
              <a:t>＝</a:t>
            </a:r>
            <a:r>
              <a:rPr lang="en-US" altLang="zh-CN" sz="2000" dirty="0"/>
              <a:t>5</a:t>
            </a:r>
            <a:endParaRPr lang="zh-CN" altLang="zh-CN" sz="2000" dirty="0"/>
          </a:p>
          <a:p>
            <a:r>
              <a:rPr lang="zh-CN" altLang="zh-CN" sz="2000" dirty="0"/>
              <a:t>（</a:t>
            </a:r>
            <a:r>
              <a:rPr lang="en-US" altLang="zh-CN" sz="2000" dirty="0"/>
              <a:t>3</a:t>
            </a:r>
            <a:r>
              <a:rPr lang="zh-CN" altLang="zh-CN" sz="2000" dirty="0"/>
              <a:t>）求</a:t>
            </a:r>
            <a:r>
              <a:rPr lang="en-US" altLang="zh-CN" sz="2000" dirty="0"/>
              <a:t>D[4]</a:t>
            </a:r>
            <a:r>
              <a:rPr lang="zh-CN" altLang="zh-CN" sz="2000" dirty="0"/>
              <a:t>的值：</a:t>
            </a:r>
          </a:p>
          <a:p>
            <a:r>
              <a:rPr lang="zh-CN" altLang="zh-CN" sz="2000" dirty="0"/>
              <a:t>因为</a:t>
            </a:r>
            <a:r>
              <a:rPr lang="en-US" altLang="zh-CN" sz="2000" dirty="0"/>
              <a:t>D[2]</a:t>
            </a:r>
            <a:r>
              <a:rPr lang="zh-CN" altLang="zh-CN" sz="2000" dirty="0"/>
              <a:t>＋</a:t>
            </a:r>
            <a:r>
              <a:rPr lang="en-US" altLang="zh-CN" sz="2000" dirty="0"/>
              <a:t>W[2][4]</a:t>
            </a:r>
            <a:r>
              <a:rPr lang="zh-CN" altLang="zh-CN" sz="2000" dirty="0"/>
              <a:t>＜</a:t>
            </a:r>
            <a:r>
              <a:rPr lang="en-US" altLang="zh-CN" sz="2000" dirty="0"/>
              <a:t>D[1]</a:t>
            </a:r>
            <a:r>
              <a:rPr lang="zh-CN" altLang="zh-CN" sz="2000" dirty="0"/>
              <a:t>＋</a:t>
            </a:r>
            <a:r>
              <a:rPr lang="en-US" altLang="zh-CN" sz="2000" dirty="0"/>
              <a:t>W[1][4]</a:t>
            </a:r>
            <a:r>
              <a:rPr lang="zh-CN" altLang="zh-CN" sz="2000" dirty="0"/>
              <a:t>＜</a:t>
            </a:r>
            <a:r>
              <a:rPr lang="en-US" altLang="zh-CN" sz="2000" dirty="0"/>
              <a:t>D[3]</a:t>
            </a:r>
            <a:r>
              <a:rPr lang="zh-CN" altLang="zh-CN" sz="2000" dirty="0"/>
              <a:t>＋</a:t>
            </a:r>
            <a:r>
              <a:rPr lang="en-US" altLang="zh-CN" sz="2000" dirty="0"/>
              <a:t>W[3][4]</a:t>
            </a:r>
            <a:r>
              <a:rPr lang="zh-CN" altLang="zh-CN" sz="2000" dirty="0"/>
              <a:t>＜</a:t>
            </a:r>
            <a:r>
              <a:rPr lang="en-US" altLang="zh-CN" sz="2000" dirty="0"/>
              <a:t>D[4]</a:t>
            </a:r>
            <a:r>
              <a:rPr lang="zh-CN" altLang="zh-CN" sz="2000" dirty="0"/>
              <a:t>＋</a:t>
            </a:r>
            <a:r>
              <a:rPr lang="en-US" altLang="zh-CN" sz="2000" dirty="0"/>
              <a:t>W[4][4]</a:t>
            </a:r>
            <a:r>
              <a:rPr lang="zh-CN" altLang="zh-CN" sz="2000" dirty="0"/>
              <a:t>，所以</a:t>
            </a:r>
            <a:r>
              <a:rPr lang="en-US" altLang="zh-CN" sz="2000" dirty="0"/>
              <a:t>D[4]</a:t>
            </a:r>
            <a:r>
              <a:rPr lang="zh-CN" altLang="zh-CN" sz="2000" dirty="0"/>
              <a:t>＝</a:t>
            </a:r>
            <a:r>
              <a:rPr lang="en-US" altLang="zh-CN" sz="2000" dirty="0"/>
              <a:t>D[2]</a:t>
            </a:r>
            <a:r>
              <a:rPr lang="zh-CN" altLang="zh-CN" sz="2000" dirty="0"/>
              <a:t>＋</a:t>
            </a:r>
            <a:r>
              <a:rPr lang="en-US" altLang="zh-CN" sz="2000" dirty="0"/>
              <a:t>W[2][4]</a:t>
            </a:r>
            <a:r>
              <a:rPr lang="zh-CN" altLang="zh-CN" sz="2000" dirty="0"/>
              <a:t>＝</a:t>
            </a:r>
            <a:r>
              <a:rPr lang="en-US" altLang="zh-CN" sz="2000" dirty="0"/>
              <a:t>1</a:t>
            </a:r>
            <a:endParaRPr lang="zh-CN" altLang="zh-CN" sz="2000" dirty="0"/>
          </a:p>
          <a:p>
            <a:r>
              <a:rPr lang="zh-CN" altLang="zh-CN" sz="2000" dirty="0"/>
              <a:t>可以看到，我们共进行了</a:t>
            </a:r>
            <a:r>
              <a:rPr lang="en-US" altLang="zh-CN" sz="2000" dirty="0"/>
              <a:t>3</a:t>
            </a:r>
            <a:r>
              <a:rPr lang="zh-CN" altLang="zh-CN" sz="2000" dirty="0"/>
              <a:t>次</a:t>
            </a:r>
            <a:r>
              <a:rPr lang="en-US" altLang="zh-CN" sz="2000" dirty="0"/>
              <a:t>(</a:t>
            </a:r>
            <a:r>
              <a:rPr lang="zh-CN" altLang="zh-CN" sz="2000" dirty="0"/>
              <a:t>即</a:t>
            </a:r>
            <a:r>
              <a:rPr lang="en-US" altLang="zh-CN" sz="2000" i="1" dirty="0"/>
              <a:t>n</a:t>
            </a:r>
            <a:r>
              <a:rPr lang="zh-CN" altLang="zh-CN" sz="2000" dirty="0"/>
              <a:t>－</a:t>
            </a:r>
            <a:r>
              <a:rPr lang="en-US" altLang="zh-CN" sz="2000" dirty="0"/>
              <a:t>1</a:t>
            </a:r>
            <a:r>
              <a:rPr lang="zh-CN" altLang="zh-CN" sz="2000" dirty="0"/>
              <a:t>次</a:t>
            </a:r>
            <a:r>
              <a:rPr lang="en-US" altLang="zh-CN" sz="2000" dirty="0"/>
              <a:t>)</a:t>
            </a:r>
            <a:r>
              <a:rPr lang="zh-CN" altLang="zh-CN" sz="2000" dirty="0"/>
              <a:t>松弛操作，每次松弛操作确定了一条最短路径，</a:t>
            </a:r>
            <a:r>
              <a:rPr lang="en-US" altLang="zh-CN" sz="2000" dirty="0"/>
              <a:t>D</a:t>
            </a:r>
            <a:r>
              <a:rPr lang="zh-CN" altLang="zh-CN" sz="2000" dirty="0"/>
              <a:t>数组值如图</a:t>
            </a:r>
            <a:endParaRPr lang="zh-CN" altLang="en-US" sz="2000" dirty="0"/>
          </a:p>
        </p:txBody>
      </p:sp>
      <p:pic>
        <p:nvPicPr>
          <p:cNvPr id="4" name="图片 3"/>
          <p:cNvPicPr/>
          <p:nvPr/>
        </p:nvPicPr>
        <p:blipFill>
          <a:blip r:embed="rId2">
            <a:extLst>
              <a:ext uri="{28A0092B-C50C-407E-A947-70E740481C1C}">
                <a14:useLocalDpi xmlns:a14="http://schemas.microsoft.com/office/drawing/2010/main" val="0"/>
              </a:ext>
            </a:extLst>
          </a:blip>
          <a:srcRect/>
          <a:stretch>
            <a:fillRect/>
          </a:stretch>
        </p:blipFill>
        <p:spPr>
          <a:xfrm>
            <a:off x="2459740" y="4039994"/>
            <a:ext cx="3465005" cy="1064619"/>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994" y="20831"/>
            <a:ext cx="9144000" cy="4678204"/>
          </a:xfrm>
          <a:prstGeom prst="rect">
            <a:avLst/>
          </a:prstGeom>
        </p:spPr>
        <p:txBody>
          <a:bodyPr wrap="square">
            <a:spAutoFit/>
          </a:bodyPr>
          <a:lstStyle/>
          <a:p>
            <a:r>
              <a:rPr lang="en-US" altLang="zh-CN" sz="2400" dirty="0"/>
              <a:t>   </a:t>
            </a:r>
            <a:r>
              <a:rPr lang="zh-CN" altLang="zh-CN" sz="2400" dirty="0"/>
              <a:t>继续进行松弛操作（仍然是</a:t>
            </a:r>
            <a:r>
              <a:rPr lang="en-US" altLang="zh-CN" sz="2400" i="1" dirty="0"/>
              <a:t>n</a:t>
            </a:r>
            <a:r>
              <a:rPr lang="zh-CN" altLang="zh-CN" sz="2400" dirty="0"/>
              <a:t>－</a:t>
            </a:r>
            <a:r>
              <a:rPr lang="en-US" altLang="zh-CN" sz="2400" dirty="0"/>
              <a:t>1</a:t>
            </a:r>
            <a:r>
              <a:rPr lang="zh-CN" altLang="zh-CN" sz="2400" dirty="0"/>
              <a:t>次）以检查是否存在负权边，如发现</a:t>
            </a:r>
            <a:r>
              <a:rPr lang="en-US" altLang="zh-CN" sz="2400" dirty="0"/>
              <a:t>D[</a:t>
            </a:r>
            <a:r>
              <a:rPr lang="en-US" altLang="zh-CN" sz="2400" dirty="0" err="1"/>
              <a:t>i</a:t>
            </a:r>
            <a:r>
              <a:rPr lang="en-US" altLang="zh-CN" sz="2400" dirty="0"/>
              <a:t>]</a:t>
            </a:r>
            <a:r>
              <a:rPr lang="zh-CN" altLang="zh-CN" sz="2400" dirty="0"/>
              <a:t>的值仍然可以继续变小，则说明存在负权边并退出，否则输出最短路径。显然，我们很容易就可以看出：</a:t>
            </a:r>
          </a:p>
          <a:p>
            <a:r>
              <a:rPr lang="en-US" altLang="zh-CN" sz="2400" dirty="0"/>
              <a:t>D[4]</a:t>
            </a:r>
            <a:r>
              <a:rPr lang="zh-CN" altLang="zh-CN" sz="2400" dirty="0"/>
              <a:t>＋</a:t>
            </a:r>
            <a:r>
              <a:rPr lang="en-US" altLang="zh-CN" sz="2400" dirty="0"/>
              <a:t>W[4][2]</a:t>
            </a:r>
            <a:r>
              <a:rPr lang="zh-CN" altLang="zh-CN" sz="2400" dirty="0"/>
              <a:t>＜</a:t>
            </a:r>
            <a:r>
              <a:rPr lang="en-US" altLang="zh-CN" sz="2400" dirty="0"/>
              <a:t>D[4]</a:t>
            </a:r>
            <a:r>
              <a:rPr lang="zh-CN" altLang="zh-CN" sz="2400" dirty="0"/>
              <a:t>，这足以说明该图存在负权边了。</a:t>
            </a:r>
          </a:p>
          <a:p>
            <a:r>
              <a:rPr lang="zh-CN" altLang="zh-CN" sz="2400" dirty="0"/>
              <a:t>综上所述，</a:t>
            </a:r>
            <a:r>
              <a:rPr lang="en-US" altLang="zh-CN" sz="2400" dirty="0"/>
              <a:t>Bellman-Ford</a:t>
            </a:r>
            <a:r>
              <a:rPr lang="zh-CN" altLang="zh-CN" sz="2400" dirty="0"/>
              <a:t>算法流程分为三个阶段。</a:t>
            </a:r>
          </a:p>
          <a:p>
            <a:r>
              <a:rPr lang="zh-CN" altLang="zh-CN" sz="2400" dirty="0"/>
              <a:t>（</a:t>
            </a:r>
            <a:r>
              <a:rPr lang="en-US" altLang="zh-CN" sz="2400" dirty="0"/>
              <a:t>1</a:t>
            </a:r>
            <a:r>
              <a:rPr lang="zh-CN" altLang="zh-CN" sz="2400" dirty="0"/>
              <a:t>）</a:t>
            </a:r>
            <a:r>
              <a:rPr lang="en-US" altLang="zh-CN" sz="2400" dirty="0"/>
              <a:t> </a:t>
            </a:r>
            <a:r>
              <a:rPr lang="zh-CN" altLang="zh-CN" sz="2400" dirty="0"/>
              <a:t>初始化：将除源点外的所有顶点的最短距离估计值 </a:t>
            </a:r>
            <a:r>
              <a:rPr lang="en-US" altLang="zh-CN" sz="2400" dirty="0"/>
              <a:t>D[</a:t>
            </a:r>
            <a:r>
              <a:rPr lang="en-US" altLang="zh-CN" sz="2400" dirty="0" err="1"/>
              <a:t>i</a:t>
            </a:r>
            <a:r>
              <a:rPr lang="en-US" altLang="zh-CN" sz="2400" dirty="0"/>
              <a:t>]</a:t>
            </a:r>
            <a:r>
              <a:rPr lang="zh-CN" altLang="zh-CN" sz="2400" dirty="0"/>
              <a:t>＝</a:t>
            </a:r>
            <a:r>
              <a:rPr lang="en-US" altLang="zh-CN" sz="2400" dirty="0"/>
              <a:t>+∞</a:t>
            </a:r>
            <a:r>
              <a:rPr lang="zh-CN" altLang="zh-CN" sz="2400" dirty="0"/>
              <a:t>，</a:t>
            </a:r>
            <a:r>
              <a:rPr lang="en-US" altLang="zh-CN" sz="2400" dirty="0"/>
              <a:t>D[</a:t>
            </a:r>
            <a:r>
              <a:rPr lang="en-US" altLang="zh-CN" sz="2400" dirty="0" err="1"/>
              <a:t>sourse</a:t>
            </a:r>
            <a:r>
              <a:rPr lang="en-US" altLang="zh-CN" sz="2400" dirty="0"/>
              <a:t>]</a:t>
            </a:r>
            <a:r>
              <a:rPr lang="zh-CN" altLang="zh-CN" sz="2400" dirty="0"/>
              <a:t>＝</a:t>
            </a:r>
            <a:r>
              <a:rPr lang="en-US" altLang="zh-CN" sz="2400" dirty="0"/>
              <a:t>0</a:t>
            </a:r>
            <a:r>
              <a:rPr lang="zh-CN" altLang="zh-CN" sz="2400" dirty="0"/>
              <a:t>。</a:t>
            </a:r>
          </a:p>
          <a:p>
            <a:r>
              <a:rPr lang="zh-CN" altLang="zh-CN" sz="2400" dirty="0"/>
              <a:t>（</a:t>
            </a:r>
            <a:r>
              <a:rPr lang="en-US" altLang="zh-CN" sz="2400" dirty="0"/>
              <a:t>2</a:t>
            </a:r>
            <a:r>
              <a:rPr lang="zh-CN" altLang="zh-CN" sz="2400" dirty="0"/>
              <a:t>）迭代求解：反复对每条边进行松弛操作，使得每个顶点的最短距离</a:t>
            </a:r>
            <a:r>
              <a:rPr lang="en-US" altLang="zh-CN" sz="2400" dirty="0"/>
              <a:t>D[</a:t>
            </a:r>
            <a:r>
              <a:rPr lang="en-US" altLang="zh-CN" sz="2400" dirty="0" err="1"/>
              <a:t>i</a:t>
            </a:r>
            <a:r>
              <a:rPr lang="en-US" altLang="zh-CN" sz="2400" dirty="0"/>
              <a:t>]</a:t>
            </a:r>
            <a:r>
              <a:rPr lang="zh-CN" altLang="zh-CN" sz="2400" dirty="0"/>
              <a:t>估计值逐步逼近其最短距离（运行</a:t>
            </a:r>
            <a:r>
              <a:rPr lang="en-US" altLang="zh-CN" sz="2400" i="1" dirty="0"/>
              <a:t>n</a:t>
            </a:r>
            <a:r>
              <a:rPr lang="zh-CN" altLang="zh-CN" sz="2400" dirty="0"/>
              <a:t>－</a:t>
            </a:r>
            <a:r>
              <a:rPr lang="en-US" altLang="zh-CN" sz="2400" dirty="0"/>
              <a:t>1</a:t>
            </a:r>
            <a:r>
              <a:rPr lang="zh-CN" altLang="zh-CN" sz="2400" dirty="0"/>
              <a:t>次）。</a:t>
            </a:r>
          </a:p>
          <a:p>
            <a:r>
              <a:rPr lang="zh-CN" altLang="zh-CN" sz="2400" dirty="0"/>
              <a:t>（</a:t>
            </a:r>
            <a:r>
              <a:rPr lang="en-US" altLang="zh-CN" sz="2400" dirty="0"/>
              <a:t>3</a:t>
            </a:r>
            <a:r>
              <a:rPr lang="zh-CN" altLang="zh-CN" sz="2400" dirty="0"/>
              <a:t>）检验负权回路：通过松弛操作判断每一条边的两个端点是否收敛。如果存在未收敛的顶点，则算法返回</a:t>
            </a:r>
            <a:r>
              <a:rPr lang="en-US" altLang="zh-CN" sz="2400" dirty="0"/>
              <a:t>false</a:t>
            </a:r>
            <a:r>
              <a:rPr lang="zh-CN" altLang="zh-CN" sz="2400" dirty="0"/>
              <a:t>，表明问题无解；否则算法返回</a:t>
            </a:r>
            <a:r>
              <a:rPr lang="en-US" altLang="zh-CN" sz="2400" dirty="0"/>
              <a:t>true</a:t>
            </a:r>
            <a:r>
              <a:rPr lang="zh-CN" altLang="zh-CN" sz="2400" dirty="0"/>
              <a:t>，并且输出</a:t>
            </a:r>
            <a:r>
              <a:rPr lang="en-US" altLang="zh-CN" sz="2400" dirty="0"/>
              <a:t>D[</a:t>
            </a:r>
            <a:r>
              <a:rPr lang="en-US" altLang="zh-CN" sz="2400" dirty="0" err="1"/>
              <a:t>i</a:t>
            </a:r>
            <a:r>
              <a:rPr lang="en-US" altLang="zh-CN" sz="2400" dirty="0"/>
              <a:t>]</a:t>
            </a:r>
            <a:r>
              <a:rPr lang="zh-CN" altLang="zh-CN" sz="2400" dirty="0"/>
              <a:t>的值。</a:t>
            </a:r>
            <a:endParaRPr lang="zh-CN" altLang="en-US" sz="2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76829"/>
            <a:ext cx="9144000" cy="4401205"/>
          </a:xfrm>
          <a:prstGeom prst="rect">
            <a:avLst/>
          </a:prstGeom>
        </p:spPr>
        <p:txBody>
          <a:bodyPr wrap="square">
            <a:spAutoFit/>
          </a:bodyPr>
          <a:lstStyle/>
          <a:p>
            <a:r>
              <a:rPr lang="zh-CN" altLang="zh-CN" sz="2000" dirty="0"/>
              <a:t>【题目描述】虫洞（</a:t>
            </a:r>
            <a:r>
              <a:rPr lang="en-US" altLang="zh-CN" sz="2000" dirty="0"/>
              <a:t>hole</a:t>
            </a:r>
            <a:r>
              <a:rPr lang="zh-CN" altLang="zh-CN" sz="2000" dirty="0"/>
              <a:t>）</a:t>
            </a:r>
            <a:r>
              <a:rPr lang="en-US" altLang="zh-CN" sz="2000" dirty="0"/>
              <a:t>UVA 558</a:t>
            </a:r>
            <a:endParaRPr lang="zh-CN" altLang="zh-CN" sz="2000" dirty="0"/>
          </a:p>
          <a:p>
            <a:r>
              <a:rPr lang="zh-CN" altLang="zh-CN" sz="2000" dirty="0"/>
              <a:t>虫洞是时空中连接两个星系的子空间通道。虫洞有一些特别的性质。</a:t>
            </a:r>
          </a:p>
          <a:p>
            <a:r>
              <a:rPr lang="zh-CN" altLang="zh-CN" sz="2000" dirty="0"/>
              <a:t>（</a:t>
            </a:r>
            <a:r>
              <a:rPr lang="en-US" altLang="zh-CN" sz="2000" dirty="0"/>
              <a:t>1</a:t>
            </a:r>
            <a:r>
              <a:rPr lang="zh-CN" altLang="zh-CN" sz="2000" dirty="0"/>
              <a:t>）虫洞是单向通道。</a:t>
            </a:r>
          </a:p>
          <a:p>
            <a:r>
              <a:rPr lang="zh-CN" altLang="zh-CN" sz="2000" dirty="0"/>
              <a:t>（</a:t>
            </a:r>
            <a:r>
              <a:rPr lang="en-US" altLang="zh-CN" sz="2000" dirty="0"/>
              <a:t>2</a:t>
            </a:r>
            <a:r>
              <a:rPr lang="zh-CN" altLang="zh-CN" sz="2000" dirty="0"/>
              <a:t>）通过虫洞的用时可忽略。</a:t>
            </a:r>
          </a:p>
          <a:p>
            <a:r>
              <a:rPr lang="zh-CN" altLang="zh-CN" sz="2000" dirty="0"/>
              <a:t>（</a:t>
            </a:r>
            <a:r>
              <a:rPr lang="en-US" altLang="zh-CN" sz="2000" dirty="0"/>
              <a:t>3</a:t>
            </a:r>
            <a:r>
              <a:rPr lang="zh-CN" altLang="zh-CN" sz="2000" dirty="0"/>
              <a:t>）虫洞有两个口，每个口都在星系里。</a:t>
            </a:r>
          </a:p>
          <a:p>
            <a:r>
              <a:rPr lang="zh-CN" altLang="zh-CN" sz="2000" dirty="0"/>
              <a:t>（</a:t>
            </a:r>
            <a:r>
              <a:rPr lang="en-US" altLang="zh-CN" sz="2000" dirty="0"/>
              <a:t>4</a:t>
            </a:r>
            <a:r>
              <a:rPr lang="zh-CN" altLang="zh-CN" sz="2000" dirty="0"/>
              <a:t>）从太阳系出发总是能通过一系列的虫洞到达任何其他星系。</a:t>
            </a:r>
          </a:p>
          <a:p>
            <a:r>
              <a:rPr lang="zh-CN" altLang="zh-CN" sz="2000" dirty="0"/>
              <a:t>（</a:t>
            </a:r>
            <a:r>
              <a:rPr lang="en-US" altLang="zh-CN" sz="2000" dirty="0"/>
              <a:t>5</a:t>
            </a:r>
            <a:r>
              <a:rPr lang="zh-CN" altLang="zh-CN" sz="2000" dirty="0"/>
              <a:t>）对于任何一对星系，其间每个方向上至多有一个虫洞。</a:t>
            </a:r>
          </a:p>
          <a:p>
            <a:r>
              <a:rPr lang="zh-CN" altLang="zh-CN" sz="2000" dirty="0"/>
              <a:t>（</a:t>
            </a:r>
            <a:r>
              <a:rPr lang="en-US" altLang="zh-CN" sz="2000" dirty="0"/>
              <a:t>6</a:t>
            </a:r>
            <a:r>
              <a:rPr lang="zh-CN" altLang="zh-CN" sz="2000" dirty="0"/>
              <a:t>）没有虫洞两个口都在一个星系里。</a:t>
            </a:r>
          </a:p>
          <a:p>
            <a:r>
              <a:rPr lang="zh-CN" altLang="zh-CN" sz="2000" dirty="0"/>
              <a:t>所有虫洞都有自己恒定的时差，例如，某个虫洞可以让人到未来</a:t>
            </a:r>
            <a:r>
              <a:rPr lang="en-US" altLang="zh-CN" sz="2000" dirty="0"/>
              <a:t>15</a:t>
            </a:r>
            <a:r>
              <a:rPr lang="zh-CN" altLang="zh-CN" sz="2000" dirty="0"/>
              <a:t>年后，另一个虫洞可能让人回到</a:t>
            </a:r>
            <a:r>
              <a:rPr lang="en-US" altLang="zh-CN" sz="2000" dirty="0"/>
              <a:t>42</a:t>
            </a:r>
            <a:r>
              <a:rPr lang="zh-CN" altLang="zh-CN" sz="2000" dirty="0"/>
              <a:t>年前。</a:t>
            </a:r>
            <a:r>
              <a:rPr lang="en-US" altLang="zh-CN" sz="2000" dirty="0"/>
              <a:t>    </a:t>
            </a:r>
            <a:endParaRPr lang="zh-CN" altLang="zh-CN" sz="2000" dirty="0"/>
          </a:p>
          <a:p>
            <a:r>
              <a:rPr lang="zh-CN" altLang="zh-CN" sz="2000" dirty="0"/>
              <a:t>一个科学家想通过虫洞研究宇宙诞生时的大爆炸，她准备通过虫洞实现，她希望到达一个虫洞环（虫洞环是一系列首尾相连的虫洞）并在环上走一圈后能让她回到过去，如此一来，她只要在环上通行足够多次，就能回到宇宙的开端，亲眼看到大爆炸。写一个程序帮助她找到这样的虫洞环。</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24621"/>
            <a:ext cx="9144000" cy="3416320"/>
          </a:xfrm>
          <a:prstGeom prst="rect">
            <a:avLst/>
          </a:prstGeom>
        </p:spPr>
        <p:txBody>
          <a:bodyPr wrap="square">
            <a:spAutoFit/>
          </a:bodyPr>
          <a:lstStyle/>
          <a:p>
            <a:pPr indent="276225" algn="just">
              <a:spcAft>
                <a:spcPts val="0"/>
              </a:spcAft>
            </a:pPr>
            <a:r>
              <a:rPr lang="zh-CN" altLang="zh-CN" sz="2400" kern="100" dirty="0">
                <a:latin typeface="Times New Roman" panose="02020603050405020304"/>
                <a:ea typeface="宋体" panose="02010600030101010101" pitchFamily="2" charset="-122"/>
              </a:rPr>
              <a:t>我们以星系为顶点，虫洞为边作图</a:t>
            </a:r>
            <a:r>
              <a:rPr lang="en-US" altLang="zh-CN" sz="2400" i="1" kern="100" dirty="0">
                <a:latin typeface="Times New Roman" panose="02020603050405020304"/>
                <a:ea typeface="宋体" panose="02010600030101010101" pitchFamily="2" charset="-122"/>
              </a:rPr>
              <a:t>G</a:t>
            </a:r>
            <a:r>
              <a:rPr lang="zh-CN" altLang="zh-CN" sz="2400" kern="100" dirty="0">
                <a:latin typeface="Times New Roman" panose="02020603050405020304"/>
                <a:ea typeface="宋体" panose="02010600030101010101" pitchFamily="2" charset="-122"/>
              </a:rPr>
              <a:t>，由于“虫洞是单向通道”，说明</a:t>
            </a:r>
            <a:r>
              <a:rPr lang="en-US" altLang="zh-CN" sz="2400" i="1" kern="100" dirty="0">
                <a:latin typeface="Times New Roman" panose="02020603050405020304"/>
                <a:ea typeface="宋体" panose="02010600030101010101" pitchFamily="2" charset="-122"/>
              </a:rPr>
              <a:t>G</a:t>
            </a:r>
            <a:r>
              <a:rPr lang="zh-CN" altLang="zh-CN" sz="2400" kern="100" dirty="0">
                <a:latin typeface="Times New Roman" panose="02020603050405020304"/>
                <a:ea typeface="宋体" panose="02010600030101010101" pitchFamily="2" charset="-122"/>
              </a:rPr>
              <a:t>为有向图；“从太阳系出发总是能通过一系列的虫洞到达任何星系”，说明从源点出发能到达任何其他顶点；“对于任何一对星系，其间每个方向上至多有一个虫洞”说明</a:t>
            </a:r>
            <a:r>
              <a:rPr lang="en-US" altLang="zh-CN" sz="2400" i="1" kern="100" dirty="0">
                <a:latin typeface="Times New Roman" panose="02020603050405020304"/>
                <a:ea typeface="宋体" panose="02010600030101010101" pitchFamily="2" charset="-122"/>
              </a:rPr>
              <a:t>G</a:t>
            </a:r>
            <a:r>
              <a:rPr lang="zh-CN" altLang="zh-CN" sz="2400" kern="100" dirty="0">
                <a:latin typeface="Times New Roman" panose="02020603050405020304"/>
                <a:ea typeface="宋体" panose="02010600030101010101" pitchFamily="2" charset="-122"/>
              </a:rPr>
              <a:t>不含平行边；“没有虫洞两个口都在一个星系里”，说明</a:t>
            </a:r>
            <a:r>
              <a:rPr lang="en-US" altLang="zh-CN" sz="2400" i="1" kern="100" dirty="0">
                <a:latin typeface="Times New Roman" panose="02020603050405020304"/>
                <a:ea typeface="宋体" panose="02010600030101010101" pitchFamily="2" charset="-122"/>
              </a:rPr>
              <a:t>G</a:t>
            </a:r>
            <a:r>
              <a:rPr lang="zh-CN" altLang="zh-CN" sz="2400" kern="100" dirty="0">
                <a:latin typeface="Times New Roman" panose="02020603050405020304"/>
                <a:ea typeface="宋体" panose="02010600030101010101" pitchFamily="2" charset="-122"/>
              </a:rPr>
              <a:t>不含自环。所以，</a:t>
            </a:r>
            <a:r>
              <a:rPr lang="en-US" altLang="zh-CN" sz="2400" i="1" kern="100" dirty="0">
                <a:latin typeface="Times New Roman" panose="02020603050405020304"/>
                <a:ea typeface="宋体" panose="02010600030101010101" pitchFamily="2" charset="-122"/>
              </a:rPr>
              <a:t>G</a:t>
            </a:r>
            <a:r>
              <a:rPr lang="zh-CN" altLang="zh-CN" sz="2400" kern="100" dirty="0">
                <a:latin typeface="Times New Roman" panose="02020603050405020304"/>
                <a:ea typeface="宋体" panose="02010600030101010101" pitchFamily="2" charset="-122"/>
              </a:rPr>
              <a:t>是一个带权简单有向图，且每个顶点是源点可到达的。</a:t>
            </a:r>
            <a:endParaRPr lang="zh-CN" altLang="zh-CN" sz="2000" kern="100" dirty="0">
              <a:latin typeface="Times New Roman" panose="02020603050405020304"/>
              <a:ea typeface="宋体" panose="02010600030101010101" pitchFamily="2" charset="-122"/>
            </a:endParaRPr>
          </a:p>
          <a:p>
            <a:pPr indent="276225" algn="just">
              <a:spcAft>
                <a:spcPts val="0"/>
              </a:spcAft>
            </a:pPr>
            <a:r>
              <a:rPr lang="zh-CN" altLang="zh-CN" sz="2400" kern="100" dirty="0">
                <a:latin typeface="Times New Roman" panose="02020603050405020304"/>
                <a:ea typeface="宋体" panose="02010600030101010101" pitchFamily="2" charset="-122"/>
              </a:rPr>
              <a:t>本题要求判断是否存在一个虫洞环，走上一圈后，能回到过去，实际即是求</a:t>
            </a:r>
            <a:r>
              <a:rPr lang="en-US" altLang="zh-CN" sz="2400" i="1" kern="100" dirty="0">
                <a:latin typeface="Times New Roman" panose="02020603050405020304"/>
                <a:ea typeface="宋体" panose="02010600030101010101" pitchFamily="2" charset="-122"/>
              </a:rPr>
              <a:t>G</a:t>
            </a:r>
            <a:r>
              <a:rPr lang="zh-CN" altLang="zh-CN" sz="2400" kern="100" dirty="0">
                <a:latin typeface="Times New Roman" panose="02020603050405020304"/>
                <a:ea typeface="宋体" panose="02010600030101010101" pitchFamily="2" charset="-122"/>
              </a:rPr>
              <a:t>的负权回路，如果存在负权回路，则通过反复通行该负权回路，即可回到无限的过去。</a:t>
            </a:r>
            <a:endParaRPr lang="zh-CN" altLang="zh-CN" sz="2000" kern="100" dirty="0">
              <a:effectLst/>
              <a:latin typeface="Times New Roman" panose="02020603050405020304"/>
              <a:ea typeface="宋体" panose="02010600030101010101"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535"/>
            <a:ext cx="3281989" cy="492443"/>
          </a:xfrm>
          <a:prstGeom prst="rect">
            <a:avLst/>
          </a:prstGeom>
        </p:spPr>
        <p:txBody>
          <a:bodyPr wrap="none">
            <a:spAutoFit/>
          </a:bodyPr>
          <a:lstStyle/>
          <a:p>
            <a:r>
              <a:rPr lang="en-US" altLang="zh-CN" b="1" dirty="0"/>
              <a:t>5.4.6 SPFA</a:t>
            </a:r>
            <a:r>
              <a:rPr lang="zh-CN" altLang="zh-CN" b="1" dirty="0"/>
              <a:t>算法及优化</a:t>
            </a:r>
          </a:p>
        </p:txBody>
      </p:sp>
      <p:sp>
        <p:nvSpPr>
          <p:cNvPr id="3" name="矩形 2"/>
          <p:cNvSpPr/>
          <p:nvPr/>
        </p:nvSpPr>
        <p:spPr>
          <a:xfrm>
            <a:off x="23565" y="657184"/>
            <a:ext cx="9045019" cy="4154984"/>
          </a:xfrm>
          <a:prstGeom prst="rect">
            <a:avLst/>
          </a:prstGeom>
        </p:spPr>
        <p:txBody>
          <a:bodyPr wrap="square">
            <a:spAutoFit/>
          </a:bodyPr>
          <a:lstStyle/>
          <a:p>
            <a:r>
              <a:rPr lang="en-US" altLang="zh-CN" sz="2400" dirty="0"/>
              <a:t>SPFA</a:t>
            </a:r>
            <a:r>
              <a:rPr lang="zh-CN" altLang="zh-CN" sz="2400" dirty="0"/>
              <a:t>（</a:t>
            </a:r>
            <a:r>
              <a:rPr lang="en-US" altLang="zh-CN" sz="2400" dirty="0"/>
              <a:t>Shortest Path Faster Algorithm</a:t>
            </a:r>
            <a:r>
              <a:rPr lang="zh-CN" altLang="zh-CN" sz="2400" dirty="0"/>
              <a:t>）是</a:t>
            </a:r>
            <a:r>
              <a:rPr lang="en-US" altLang="zh-CN" sz="2400" dirty="0"/>
              <a:t>Bellman-Ford</a:t>
            </a:r>
            <a:r>
              <a:rPr lang="zh-CN" altLang="zh-CN" sz="2400" dirty="0"/>
              <a:t>算法的进一步优化，其实质与</a:t>
            </a:r>
            <a:r>
              <a:rPr lang="en-US" altLang="zh-CN" sz="2400" dirty="0"/>
              <a:t>Bellman-Ford</a:t>
            </a:r>
            <a:r>
              <a:rPr lang="zh-CN" altLang="zh-CN" sz="2400" dirty="0"/>
              <a:t>算法一样，每次都要去更新最短路径的估计值。但</a:t>
            </a:r>
            <a:r>
              <a:rPr lang="en-US" altLang="zh-CN" sz="2400" dirty="0"/>
              <a:t>SPFA</a:t>
            </a:r>
            <a:r>
              <a:rPr lang="zh-CN" altLang="zh-CN" sz="2400" dirty="0"/>
              <a:t>对</a:t>
            </a:r>
            <a:r>
              <a:rPr lang="en-US" altLang="zh-CN" sz="2400" dirty="0"/>
              <a:t>Bellman-Ford</a:t>
            </a:r>
            <a:r>
              <a:rPr lang="zh-CN" altLang="zh-CN" sz="2400" dirty="0"/>
              <a:t>算法优化的关键之处在于意识到：只有那些在前一遍松弛中改变了距离估计值的点，才可能引起它们的邻接点的距离估计值的改变。</a:t>
            </a:r>
          </a:p>
          <a:p>
            <a:r>
              <a:rPr lang="zh-CN" altLang="zh-CN" sz="2400" dirty="0"/>
              <a:t>实际编写代码时，我们是通过队列来缩小搜索范围的。首先将各点距离估计值设为</a:t>
            </a:r>
            <a:r>
              <a:rPr lang="en-US" altLang="zh-CN" sz="2400" dirty="0"/>
              <a:t>+</a:t>
            </a:r>
            <a:r>
              <a:rPr lang="zh-CN" altLang="zh-CN" sz="2400" dirty="0"/>
              <a:t>∞，并将起始点加入队列。如果通过队列中的点</a:t>
            </a:r>
            <a:r>
              <a:rPr lang="en-US" altLang="zh-CN" sz="2400" i="1" dirty="0" err="1"/>
              <a:t>i</a:t>
            </a:r>
            <a:r>
              <a:rPr lang="zh-CN" altLang="zh-CN" sz="2400" dirty="0"/>
              <a:t>到相邻点</a:t>
            </a:r>
            <a:r>
              <a:rPr lang="en-US" altLang="zh-CN" sz="2400" i="1" dirty="0"/>
              <a:t>j</a:t>
            </a:r>
            <a:r>
              <a:rPr lang="zh-CN" altLang="zh-CN" sz="2400" dirty="0"/>
              <a:t>的距离小于原来到点</a:t>
            </a:r>
            <a:r>
              <a:rPr lang="en-US" altLang="zh-CN" sz="2400" i="1" dirty="0"/>
              <a:t>j</a:t>
            </a:r>
            <a:r>
              <a:rPr lang="zh-CN" altLang="zh-CN" sz="2400" dirty="0"/>
              <a:t>的距离，即</a:t>
            </a:r>
            <a:r>
              <a:rPr lang="en-US" altLang="zh-CN" sz="2400" dirty="0"/>
              <a:t>d[j]</a:t>
            </a:r>
            <a:r>
              <a:rPr lang="zh-CN" altLang="zh-CN" sz="2400" dirty="0"/>
              <a:t>＞</a:t>
            </a:r>
            <a:r>
              <a:rPr lang="en-US" altLang="zh-CN" sz="2400" dirty="0"/>
              <a:t>d[</a:t>
            </a:r>
            <a:r>
              <a:rPr lang="en-US" altLang="zh-CN" sz="2400" dirty="0" err="1"/>
              <a:t>i</a:t>
            </a:r>
            <a:r>
              <a:rPr lang="en-US" altLang="zh-CN" sz="2400" dirty="0"/>
              <a:t>]</a:t>
            </a:r>
            <a:r>
              <a:rPr lang="zh-CN" altLang="zh-CN" sz="2400" dirty="0"/>
              <a:t>＋</a:t>
            </a:r>
            <a:r>
              <a:rPr lang="en-US" altLang="zh-CN" sz="2400" dirty="0"/>
              <a:t>w[</a:t>
            </a:r>
            <a:r>
              <a:rPr lang="en-US" altLang="zh-CN" sz="2400" dirty="0" err="1"/>
              <a:t>i</a:t>
            </a:r>
            <a:r>
              <a:rPr lang="en-US" altLang="zh-CN" sz="2400" dirty="0"/>
              <a:t>][j]</a:t>
            </a:r>
            <a:r>
              <a:rPr lang="zh-CN" altLang="zh-CN" sz="2400" dirty="0"/>
              <a:t>，则</a:t>
            </a:r>
            <a:r>
              <a:rPr lang="en-US" altLang="zh-CN" sz="2400" dirty="0"/>
              <a:t>d[j]</a:t>
            </a:r>
            <a:r>
              <a:rPr lang="zh-CN" altLang="zh-CN" sz="2400" dirty="0"/>
              <a:t>＝</a:t>
            </a:r>
            <a:r>
              <a:rPr lang="en-US" altLang="zh-CN" sz="2400" dirty="0"/>
              <a:t>d[</a:t>
            </a:r>
            <a:r>
              <a:rPr lang="en-US" altLang="zh-CN" sz="2400" dirty="0" err="1"/>
              <a:t>i</a:t>
            </a:r>
            <a:r>
              <a:rPr lang="en-US" altLang="zh-CN" sz="2400" dirty="0"/>
              <a:t>]</a:t>
            </a:r>
            <a:r>
              <a:rPr lang="zh-CN" altLang="zh-CN" sz="2400" dirty="0"/>
              <a:t>＋</a:t>
            </a:r>
            <a:r>
              <a:rPr lang="en-US" altLang="zh-CN" sz="2400" dirty="0"/>
              <a:t>w[</a:t>
            </a:r>
            <a:r>
              <a:rPr lang="en-US" altLang="zh-CN" sz="2400" dirty="0" err="1"/>
              <a:t>i</a:t>
            </a:r>
            <a:r>
              <a:rPr lang="en-US" altLang="zh-CN" sz="2400" dirty="0"/>
              <a:t>][j]</a:t>
            </a:r>
            <a:r>
              <a:rPr lang="zh-CN" altLang="zh-CN" sz="2400" dirty="0"/>
              <a:t>，并将</a:t>
            </a:r>
            <a:r>
              <a:rPr lang="en-US" altLang="zh-CN" sz="2400" i="1" dirty="0"/>
              <a:t>j</a:t>
            </a:r>
            <a:r>
              <a:rPr lang="zh-CN" altLang="zh-CN" sz="2400" dirty="0"/>
              <a:t>点加入队列。当队列为空时，即已求出从起始点到任意点的最短距离。为了防止一个点多次同时出现在队列里，需要对该点作标记以确定该点是否存在于队列中。</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5986" y="44771"/>
            <a:ext cx="9078013" cy="892552"/>
          </a:xfrm>
          <a:prstGeom prst="rect">
            <a:avLst/>
          </a:prstGeom>
        </p:spPr>
        <p:txBody>
          <a:bodyPr wrap="square">
            <a:spAutoFit/>
          </a:bodyPr>
          <a:lstStyle/>
          <a:p>
            <a:r>
              <a:rPr lang="zh-CN" altLang="zh-CN" dirty="0"/>
              <a:t>以图为例，求</a:t>
            </a:r>
            <a:r>
              <a:rPr lang="en-US" altLang="zh-CN" dirty="0"/>
              <a:t>V</a:t>
            </a:r>
            <a:r>
              <a:rPr lang="en-US" altLang="zh-CN" baseline="-25000" dirty="0"/>
              <a:t>0</a:t>
            </a:r>
            <a:r>
              <a:rPr lang="zh-CN" altLang="zh-CN" dirty="0"/>
              <a:t>到各点的最短路的过程来说明</a:t>
            </a:r>
            <a:r>
              <a:rPr lang="en-US" altLang="zh-CN" dirty="0"/>
              <a:t>SPFA</a:t>
            </a:r>
            <a:r>
              <a:rPr lang="zh-CN" altLang="zh-CN" dirty="0"/>
              <a:t>算法的运行过程。</a:t>
            </a:r>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2843631" y="1095306"/>
            <a:ext cx="3161243" cy="1874137"/>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274" y="98711"/>
            <a:ext cx="9082726" cy="492443"/>
          </a:xfrm>
          <a:prstGeom prst="rect">
            <a:avLst/>
          </a:prstGeom>
        </p:spPr>
        <p:txBody>
          <a:bodyPr wrap="square">
            <a:spAutoFit/>
          </a:bodyPr>
          <a:lstStyle/>
          <a:p>
            <a:r>
              <a:rPr lang="zh-CN" altLang="zh-CN" dirty="0"/>
              <a:t>初始时</a:t>
            </a:r>
            <a:r>
              <a:rPr lang="en-US" altLang="zh-CN" dirty="0"/>
              <a:t>V</a:t>
            </a:r>
            <a:r>
              <a:rPr lang="en-US" altLang="zh-CN" baseline="-25000" dirty="0"/>
              <a:t>0</a:t>
            </a:r>
            <a:r>
              <a:rPr lang="zh-CN" altLang="zh-CN" dirty="0"/>
              <a:t>入队列，</a:t>
            </a:r>
            <a:r>
              <a:rPr lang="en-US" altLang="zh-CN" dirty="0"/>
              <a:t>dis[V</a:t>
            </a:r>
            <a:r>
              <a:rPr lang="en-US" altLang="zh-CN" baseline="-25000" dirty="0"/>
              <a:t>0</a:t>
            </a:r>
            <a:r>
              <a:rPr lang="en-US" altLang="zh-CN" dirty="0"/>
              <a:t>]</a:t>
            </a:r>
            <a:r>
              <a:rPr lang="zh-CN" altLang="zh-CN" dirty="0"/>
              <a:t>＝</a:t>
            </a:r>
            <a:r>
              <a:rPr lang="en-US" altLang="zh-CN" dirty="0"/>
              <a:t>0</a:t>
            </a:r>
            <a:r>
              <a:rPr lang="zh-CN" altLang="zh-CN" dirty="0"/>
              <a:t>，其余为无穷大，如图</a:t>
            </a:r>
            <a:endParaRPr lang="zh-CN" altLang="en-US"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1965992" y="1115703"/>
            <a:ext cx="5188951" cy="1321126"/>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1846" y="56421"/>
            <a:ext cx="9016739" cy="892552"/>
          </a:xfrm>
          <a:prstGeom prst="rect">
            <a:avLst/>
          </a:prstGeom>
        </p:spPr>
        <p:txBody>
          <a:bodyPr wrap="square">
            <a:spAutoFit/>
          </a:bodyPr>
          <a:lstStyle/>
          <a:p>
            <a:r>
              <a:rPr lang="en-US" altLang="zh-CN" dirty="0"/>
              <a:t>V</a:t>
            </a:r>
            <a:r>
              <a:rPr lang="en-US" altLang="zh-CN" baseline="-25000" dirty="0"/>
              <a:t>0</a:t>
            </a:r>
            <a:r>
              <a:rPr lang="zh-CN" altLang="zh-CN" dirty="0"/>
              <a:t>与</a:t>
            </a:r>
            <a:r>
              <a:rPr lang="en-US" altLang="zh-CN" dirty="0"/>
              <a:t>V</a:t>
            </a:r>
            <a:r>
              <a:rPr lang="en-US" altLang="zh-CN" baseline="-25000" dirty="0"/>
              <a:t>1</a:t>
            </a:r>
            <a:r>
              <a:rPr lang="zh-CN" altLang="zh-CN" dirty="0"/>
              <a:t>和</a:t>
            </a:r>
            <a:r>
              <a:rPr lang="en-US" altLang="zh-CN" dirty="0"/>
              <a:t>V</a:t>
            </a:r>
            <a:r>
              <a:rPr lang="en-US" altLang="zh-CN" baseline="-25000" dirty="0"/>
              <a:t>4</a:t>
            </a:r>
            <a:r>
              <a:rPr lang="zh-CN" altLang="zh-CN" dirty="0"/>
              <a:t>有路径且能改变路径为更小，则</a:t>
            </a:r>
            <a:r>
              <a:rPr lang="en-US" altLang="zh-CN" dirty="0"/>
              <a:t>V</a:t>
            </a:r>
            <a:r>
              <a:rPr lang="en-US" altLang="zh-CN" baseline="-25000" dirty="0"/>
              <a:t>0</a:t>
            </a:r>
            <a:r>
              <a:rPr lang="zh-CN" altLang="zh-CN" dirty="0"/>
              <a:t>出队，</a:t>
            </a:r>
            <a:r>
              <a:rPr lang="en-US" altLang="zh-CN" dirty="0"/>
              <a:t>V</a:t>
            </a:r>
            <a:r>
              <a:rPr lang="en-US" altLang="zh-CN" baseline="-25000" dirty="0"/>
              <a:t>1</a:t>
            </a:r>
            <a:r>
              <a:rPr lang="zh-CN" altLang="zh-CN" dirty="0"/>
              <a:t>和</a:t>
            </a:r>
            <a:r>
              <a:rPr lang="en-US" altLang="zh-CN" dirty="0"/>
              <a:t>V</a:t>
            </a:r>
            <a:r>
              <a:rPr lang="en-US" altLang="zh-CN" baseline="-25000" dirty="0"/>
              <a:t>4</a:t>
            </a:r>
            <a:r>
              <a:rPr lang="zh-CN" altLang="zh-CN" dirty="0"/>
              <a:t>入队，</a:t>
            </a:r>
            <a:r>
              <a:rPr lang="en-US" altLang="zh-CN" dirty="0"/>
              <a:t>dis[V</a:t>
            </a:r>
            <a:r>
              <a:rPr lang="en-US" altLang="zh-CN" baseline="-25000" dirty="0"/>
              <a:t>1</a:t>
            </a:r>
            <a:r>
              <a:rPr lang="en-US" altLang="zh-CN" dirty="0"/>
              <a:t>]</a:t>
            </a:r>
            <a:r>
              <a:rPr lang="zh-CN" altLang="zh-CN" dirty="0"/>
              <a:t>＝</a:t>
            </a:r>
            <a:r>
              <a:rPr lang="en-US" altLang="zh-CN" dirty="0"/>
              <a:t>1</a:t>
            </a:r>
            <a:r>
              <a:rPr lang="zh-CN" altLang="zh-CN" dirty="0"/>
              <a:t>，</a:t>
            </a:r>
            <a:r>
              <a:rPr lang="en-US" altLang="zh-CN" dirty="0"/>
              <a:t>dis[V</a:t>
            </a:r>
            <a:r>
              <a:rPr lang="en-US" altLang="zh-CN" baseline="-25000" dirty="0"/>
              <a:t>4</a:t>
            </a:r>
            <a:r>
              <a:rPr lang="en-US" altLang="zh-CN" dirty="0"/>
              <a:t>]</a:t>
            </a:r>
            <a:r>
              <a:rPr lang="zh-CN" altLang="zh-CN" dirty="0"/>
              <a:t>＝</a:t>
            </a:r>
            <a:r>
              <a:rPr lang="en-US" altLang="zh-CN" dirty="0"/>
              <a:t>9</a:t>
            </a:r>
            <a:r>
              <a:rPr lang="zh-CN" altLang="zh-CN" dirty="0"/>
              <a:t>，如图</a:t>
            </a:r>
            <a:endParaRPr lang="zh-CN" altLang="en-US"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2490866" y="1644705"/>
            <a:ext cx="4447262" cy="1442573"/>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0"/>
            <a:ext cx="9092153" cy="1692771"/>
          </a:xfrm>
          <a:prstGeom prst="rect">
            <a:avLst/>
          </a:prstGeom>
        </p:spPr>
        <p:txBody>
          <a:bodyPr wrap="square">
            <a:spAutoFit/>
          </a:bodyPr>
          <a:lstStyle/>
          <a:p>
            <a:r>
              <a:rPr lang="en-US" altLang="zh-CN" dirty="0"/>
              <a:t>V</a:t>
            </a:r>
            <a:r>
              <a:rPr lang="en-US" altLang="zh-CN" baseline="-25000" dirty="0"/>
              <a:t>1</a:t>
            </a:r>
            <a:r>
              <a:rPr lang="zh-CN" altLang="zh-CN" dirty="0"/>
              <a:t>与</a:t>
            </a:r>
            <a:r>
              <a:rPr lang="en-US" altLang="zh-CN" dirty="0"/>
              <a:t>V</a:t>
            </a:r>
            <a:r>
              <a:rPr lang="en-US" altLang="zh-CN" baseline="-25000" dirty="0"/>
              <a:t>2</a:t>
            </a:r>
            <a:r>
              <a:rPr lang="zh-CN" altLang="zh-CN" dirty="0"/>
              <a:t>和</a:t>
            </a:r>
            <a:r>
              <a:rPr lang="en-US" altLang="zh-CN" dirty="0"/>
              <a:t>V</a:t>
            </a:r>
            <a:r>
              <a:rPr lang="en-US" altLang="zh-CN" baseline="-25000" dirty="0"/>
              <a:t>4</a:t>
            </a:r>
            <a:r>
              <a:rPr lang="zh-CN" altLang="zh-CN" dirty="0"/>
              <a:t>有路径且能改变路径为更小，但</a:t>
            </a:r>
            <a:r>
              <a:rPr lang="en-US" altLang="zh-CN" dirty="0"/>
              <a:t>V</a:t>
            </a:r>
            <a:r>
              <a:rPr lang="en-US" altLang="zh-CN" baseline="-25000" dirty="0"/>
              <a:t>4</a:t>
            </a:r>
            <a:r>
              <a:rPr lang="zh-CN" altLang="zh-CN" dirty="0"/>
              <a:t>已在队列，所以</a:t>
            </a:r>
            <a:r>
              <a:rPr lang="en-US" altLang="zh-CN" dirty="0"/>
              <a:t>V</a:t>
            </a:r>
            <a:r>
              <a:rPr lang="en-US" altLang="zh-CN" baseline="-25000" dirty="0"/>
              <a:t>1</a:t>
            </a:r>
            <a:r>
              <a:rPr lang="zh-CN" altLang="zh-CN" dirty="0"/>
              <a:t>出队，</a:t>
            </a:r>
            <a:r>
              <a:rPr lang="en-US" altLang="zh-CN" dirty="0"/>
              <a:t>V</a:t>
            </a:r>
            <a:r>
              <a:rPr lang="en-US" altLang="zh-CN" baseline="-25000" dirty="0"/>
              <a:t>2</a:t>
            </a:r>
            <a:r>
              <a:rPr lang="zh-CN" altLang="zh-CN" dirty="0"/>
              <a:t>入队，此时：</a:t>
            </a:r>
          </a:p>
          <a:p>
            <a:r>
              <a:rPr lang="en-US" altLang="zh-CN" dirty="0"/>
              <a:t>dis[V</a:t>
            </a:r>
            <a:r>
              <a:rPr lang="en-US" altLang="zh-CN" baseline="-25000" dirty="0"/>
              <a:t>1</a:t>
            </a:r>
            <a:r>
              <a:rPr lang="en-US" altLang="zh-CN" dirty="0"/>
              <a:t> ]</a:t>
            </a:r>
            <a:r>
              <a:rPr lang="zh-CN" altLang="zh-CN" dirty="0"/>
              <a:t>＋</a:t>
            </a:r>
            <a:r>
              <a:rPr lang="en-US" altLang="zh-CN" dirty="0"/>
              <a:t>w[V</a:t>
            </a:r>
            <a:r>
              <a:rPr lang="en-US" altLang="zh-CN" baseline="-25000" dirty="0"/>
              <a:t>1</a:t>
            </a:r>
            <a:r>
              <a:rPr lang="en-US" altLang="zh-CN" dirty="0"/>
              <a:t>][V</a:t>
            </a:r>
            <a:r>
              <a:rPr lang="en-US" altLang="zh-CN" baseline="-25000" dirty="0"/>
              <a:t>2</a:t>
            </a:r>
            <a:r>
              <a:rPr lang="en-US" altLang="zh-CN" dirty="0"/>
              <a:t>]</a:t>
            </a:r>
            <a:r>
              <a:rPr lang="zh-CN" altLang="zh-CN" dirty="0"/>
              <a:t>＝</a:t>
            </a:r>
            <a:r>
              <a:rPr lang="en-US" altLang="zh-CN" dirty="0"/>
              <a:t>3</a:t>
            </a:r>
            <a:r>
              <a:rPr lang="zh-CN" altLang="zh-CN" dirty="0"/>
              <a:t>＜</a:t>
            </a:r>
            <a:r>
              <a:rPr lang="en-US" altLang="zh-CN" dirty="0"/>
              <a:t>dis[V</a:t>
            </a:r>
            <a:r>
              <a:rPr lang="en-US" altLang="zh-CN" baseline="-25000" dirty="0"/>
              <a:t>2</a:t>
            </a:r>
            <a:r>
              <a:rPr lang="en-US" altLang="zh-CN" dirty="0"/>
              <a:t>]</a:t>
            </a:r>
            <a:r>
              <a:rPr lang="zh-CN" altLang="zh-CN" dirty="0"/>
              <a:t>，更新</a:t>
            </a:r>
            <a:r>
              <a:rPr lang="en-US" altLang="zh-CN" dirty="0"/>
              <a:t>dis[V</a:t>
            </a:r>
            <a:r>
              <a:rPr lang="en-US" altLang="zh-CN" baseline="-25000" dirty="0"/>
              <a:t>2</a:t>
            </a:r>
            <a:r>
              <a:rPr lang="en-US" altLang="zh-CN" dirty="0"/>
              <a:t>]</a:t>
            </a:r>
            <a:r>
              <a:rPr lang="zh-CN" altLang="zh-CN" dirty="0"/>
              <a:t>的值为</a:t>
            </a:r>
            <a:r>
              <a:rPr lang="en-US" altLang="zh-CN" dirty="0"/>
              <a:t>3</a:t>
            </a:r>
            <a:r>
              <a:rPr lang="zh-CN" altLang="zh-CN" dirty="0"/>
              <a:t>。</a:t>
            </a:r>
          </a:p>
          <a:p>
            <a:r>
              <a:rPr lang="en-US" altLang="zh-CN" dirty="0"/>
              <a:t>dis[V</a:t>
            </a:r>
            <a:r>
              <a:rPr lang="en-US" altLang="zh-CN" baseline="-25000" dirty="0"/>
              <a:t>1</a:t>
            </a:r>
            <a:r>
              <a:rPr lang="en-US" altLang="zh-CN" dirty="0"/>
              <a:t>]</a:t>
            </a:r>
            <a:r>
              <a:rPr lang="zh-CN" altLang="zh-CN" dirty="0"/>
              <a:t>＋</a:t>
            </a:r>
            <a:r>
              <a:rPr lang="en-US" altLang="zh-CN" dirty="0"/>
              <a:t>w[V</a:t>
            </a:r>
            <a:r>
              <a:rPr lang="en-US" altLang="zh-CN" baseline="-25000" dirty="0"/>
              <a:t>1</a:t>
            </a:r>
            <a:r>
              <a:rPr lang="en-US" altLang="zh-CN" dirty="0"/>
              <a:t>][V</a:t>
            </a:r>
            <a:r>
              <a:rPr lang="en-US" altLang="zh-CN" baseline="-25000" dirty="0"/>
              <a:t>4</a:t>
            </a:r>
            <a:r>
              <a:rPr lang="en-US" altLang="zh-CN" dirty="0"/>
              <a:t>]</a:t>
            </a:r>
            <a:r>
              <a:rPr lang="zh-CN" altLang="zh-CN" dirty="0"/>
              <a:t>＝</a:t>
            </a:r>
            <a:r>
              <a:rPr lang="en-US" altLang="zh-CN" dirty="0"/>
              <a:t>7</a:t>
            </a:r>
            <a:r>
              <a:rPr lang="zh-CN" altLang="zh-CN" dirty="0"/>
              <a:t>＜</a:t>
            </a:r>
            <a:r>
              <a:rPr lang="en-US" altLang="zh-CN" dirty="0"/>
              <a:t>dis[V</a:t>
            </a:r>
            <a:r>
              <a:rPr lang="en-US" altLang="zh-CN" baseline="-25000" dirty="0"/>
              <a:t>4</a:t>
            </a:r>
            <a:r>
              <a:rPr lang="en-US" altLang="zh-CN" dirty="0"/>
              <a:t>]</a:t>
            </a:r>
            <a:r>
              <a:rPr lang="zh-CN" altLang="zh-CN" dirty="0"/>
              <a:t>，更新</a:t>
            </a:r>
            <a:r>
              <a:rPr lang="en-US" altLang="zh-CN" dirty="0"/>
              <a:t>dis[V</a:t>
            </a:r>
            <a:r>
              <a:rPr lang="en-US" altLang="zh-CN" baseline="-25000" dirty="0"/>
              <a:t>4</a:t>
            </a:r>
            <a:r>
              <a:rPr lang="en-US" altLang="zh-CN" dirty="0"/>
              <a:t>]</a:t>
            </a:r>
            <a:r>
              <a:rPr lang="zh-CN" altLang="zh-CN" dirty="0"/>
              <a:t>的值为</a:t>
            </a:r>
            <a:r>
              <a:rPr lang="en-US" altLang="zh-CN" dirty="0"/>
              <a:t>7</a:t>
            </a:r>
            <a:r>
              <a:rPr lang="zh-CN" altLang="zh-CN" dirty="0"/>
              <a:t>，如图</a:t>
            </a:r>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1836963" y="2391158"/>
            <a:ext cx="4615685" cy="1417272"/>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2547" y="51577"/>
            <a:ext cx="8950751" cy="492443"/>
          </a:xfrm>
          <a:prstGeom prst="rect">
            <a:avLst/>
          </a:prstGeom>
        </p:spPr>
        <p:txBody>
          <a:bodyPr wrap="square">
            <a:spAutoFit/>
          </a:bodyPr>
          <a:lstStyle/>
          <a:p>
            <a:r>
              <a:rPr lang="zh-CN" altLang="zh-CN" dirty="0"/>
              <a:t>队首的</a:t>
            </a:r>
            <a:r>
              <a:rPr lang="en-US" altLang="zh-CN" dirty="0"/>
              <a:t>V</a:t>
            </a:r>
            <a:r>
              <a:rPr lang="en-US" altLang="zh-CN" baseline="-25000" dirty="0"/>
              <a:t>4</a:t>
            </a:r>
            <a:r>
              <a:rPr lang="zh-CN" altLang="zh-CN" dirty="0"/>
              <a:t>与</a:t>
            </a:r>
            <a:r>
              <a:rPr lang="en-US" altLang="zh-CN" dirty="0"/>
              <a:t>V</a:t>
            </a:r>
            <a:r>
              <a:rPr lang="en-US" altLang="zh-CN" baseline="-25000" dirty="0"/>
              <a:t>2</a:t>
            </a:r>
            <a:r>
              <a:rPr lang="zh-CN" altLang="zh-CN" dirty="0"/>
              <a:t>有路径，但</a:t>
            </a:r>
            <a:r>
              <a:rPr lang="en-US" altLang="zh-CN" dirty="0"/>
              <a:t>V</a:t>
            </a:r>
            <a:r>
              <a:rPr lang="en-US" altLang="zh-CN" baseline="-25000" dirty="0"/>
              <a:t>2</a:t>
            </a:r>
            <a:r>
              <a:rPr lang="zh-CN" altLang="zh-CN" dirty="0"/>
              <a:t>已在队列，所以</a:t>
            </a:r>
            <a:r>
              <a:rPr lang="en-US" altLang="zh-CN" dirty="0"/>
              <a:t>V</a:t>
            </a:r>
            <a:r>
              <a:rPr lang="en-US" altLang="zh-CN" baseline="-25000" dirty="0"/>
              <a:t>4</a:t>
            </a:r>
            <a:r>
              <a:rPr lang="zh-CN" altLang="zh-CN" dirty="0"/>
              <a:t>出队如图</a:t>
            </a:r>
            <a:endParaRPr lang="zh-CN" altLang="en-US"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2159733" y="1177663"/>
            <a:ext cx="5065912" cy="152783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5988" y="59880"/>
            <a:ext cx="9012024" cy="830997"/>
          </a:xfrm>
          <a:prstGeom prst="rect">
            <a:avLst/>
          </a:prstGeom>
        </p:spPr>
        <p:txBody>
          <a:bodyPr wrap="square">
            <a:spAutoFit/>
          </a:bodyPr>
          <a:lstStyle/>
          <a:p>
            <a:r>
              <a:rPr lang="en-US" altLang="zh-CN" sz="2400" kern="100" dirty="0">
                <a:latin typeface="Times New Roman" panose="02020603050405020304"/>
                <a:ea typeface="宋体" panose="02010600030101010101" pitchFamily="2" charset="-122"/>
              </a:rPr>
              <a:t>V</a:t>
            </a:r>
            <a:r>
              <a:rPr lang="en-US" altLang="zh-CN" sz="2400" kern="100" baseline="-25000" dirty="0">
                <a:latin typeface="Times New Roman" panose="02020603050405020304"/>
                <a:ea typeface="宋体" panose="02010600030101010101" pitchFamily="2" charset="-122"/>
              </a:rPr>
              <a:t>2</a:t>
            </a:r>
            <a:r>
              <a:rPr lang="zh-CN" altLang="zh-CN" sz="2400" kern="100" dirty="0">
                <a:latin typeface="Times New Roman" panose="02020603050405020304"/>
                <a:ea typeface="宋体" panose="02010600030101010101" pitchFamily="2" charset="-122"/>
                <a:cs typeface="Times New Roman" panose="02020603050405020304"/>
              </a:rPr>
              <a:t>出队，</a:t>
            </a:r>
            <a:r>
              <a:rPr lang="en-US" altLang="zh-CN" sz="2400" kern="100" dirty="0">
                <a:latin typeface="Times New Roman" panose="02020603050405020304"/>
                <a:ea typeface="宋体" panose="02010600030101010101" pitchFamily="2" charset="-122"/>
              </a:rPr>
              <a:t>V</a:t>
            </a:r>
            <a:r>
              <a:rPr lang="en-US" altLang="zh-CN" sz="2400" kern="100" baseline="-25000" dirty="0">
                <a:latin typeface="Times New Roman" panose="02020603050405020304"/>
                <a:ea typeface="宋体" panose="02010600030101010101" pitchFamily="2" charset="-122"/>
              </a:rPr>
              <a:t>3</a:t>
            </a:r>
            <a:r>
              <a:rPr lang="zh-CN" altLang="zh-CN" sz="2400" kern="100" dirty="0">
                <a:latin typeface="Times New Roman" panose="02020603050405020304"/>
                <a:ea typeface="宋体" panose="02010600030101010101" pitchFamily="2" charset="-122"/>
                <a:cs typeface="Times New Roman" panose="02020603050405020304"/>
              </a:rPr>
              <a:t>入队，</a:t>
            </a:r>
            <a:r>
              <a:rPr lang="en-US" altLang="zh-CN" sz="2400" kern="100" dirty="0">
                <a:latin typeface="Times New Roman" panose="02020603050405020304"/>
                <a:ea typeface="宋体" panose="02010600030101010101" pitchFamily="2" charset="-122"/>
              </a:rPr>
              <a:t>dis[V</a:t>
            </a:r>
            <a:r>
              <a:rPr lang="en-US" altLang="zh-CN" sz="2400" kern="100" baseline="-25000" dirty="0">
                <a:latin typeface="Times New Roman" panose="02020603050405020304"/>
                <a:ea typeface="宋体" panose="02010600030101010101" pitchFamily="2" charset="-122"/>
              </a:rPr>
              <a:t>2</a:t>
            </a:r>
            <a:r>
              <a:rPr lang="en-US" altLang="zh-CN" sz="2400" kern="100" dirty="0">
                <a:latin typeface="Times New Roman" panose="02020603050405020304"/>
                <a:ea typeface="宋体" panose="02010600030101010101" pitchFamily="2" charset="-122"/>
              </a:rPr>
              <a:t>]</a:t>
            </a:r>
            <a:r>
              <a:rPr lang="zh-CN" altLang="zh-CN" sz="2400" kern="100" dirty="0">
                <a:latin typeface="Times New Roman" panose="02020603050405020304"/>
                <a:ea typeface="宋体" panose="02010600030101010101" pitchFamily="2" charset="-122"/>
                <a:cs typeface="Times New Roman" panose="02020603050405020304"/>
              </a:rPr>
              <a:t>＋</a:t>
            </a:r>
            <a:r>
              <a:rPr lang="en-US" altLang="zh-CN" sz="2400" kern="100" dirty="0">
                <a:latin typeface="Times New Roman" panose="02020603050405020304"/>
                <a:ea typeface="宋体" panose="02010600030101010101" pitchFamily="2" charset="-122"/>
              </a:rPr>
              <a:t>w[V</a:t>
            </a:r>
            <a:r>
              <a:rPr lang="en-US" altLang="zh-CN" sz="2400" kern="100" baseline="-25000" dirty="0">
                <a:latin typeface="Times New Roman" panose="02020603050405020304"/>
                <a:ea typeface="宋体" panose="02010600030101010101" pitchFamily="2" charset="-122"/>
              </a:rPr>
              <a:t>2</a:t>
            </a:r>
            <a:r>
              <a:rPr lang="en-US" altLang="zh-CN" sz="2400" kern="100" dirty="0">
                <a:latin typeface="Times New Roman" panose="02020603050405020304"/>
                <a:ea typeface="宋体" panose="02010600030101010101" pitchFamily="2" charset="-122"/>
              </a:rPr>
              <a:t>][V</a:t>
            </a:r>
            <a:r>
              <a:rPr lang="en-US" altLang="zh-CN" sz="2400" kern="100" baseline="-25000" dirty="0">
                <a:latin typeface="Times New Roman" panose="02020603050405020304"/>
                <a:ea typeface="宋体" panose="02010600030101010101" pitchFamily="2" charset="-122"/>
              </a:rPr>
              <a:t>3</a:t>
            </a:r>
            <a:r>
              <a:rPr lang="en-US" altLang="zh-CN" sz="2400" kern="100" dirty="0">
                <a:latin typeface="Times New Roman" panose="02020603050405020304"/>
                <a:ea typeface="宋体" panose="02010600030101010101" pitchFamily="2" charset="-122"/>
              </a:rPr>
              <a:t>]</a:t>
            </a:r>
            <a:r>
              <a:rPr lang="zh-CN" altLang="zh-CN" sz="2400" kern="100" dirty="0">
                <a:latin typeface="Times New Roman" panose="02020603050405020304"/>
                <a:ea typeface="宋体" panose="02010600030101010101" pitchFamily="2" charset="-122"/>
                <a:cs typeface="Times New Roman" panose="02020603050405020304"/>
              </a:rPr>
              <a:t>＝</a:t>
            </a:r>
            <a:r>
              <a:rPr lang="en-US" altLang="zh-CN" sz="2400" kern="100" dirty="0">
                <a:latin typeface="Times New Roman" panose="02020603050405020304"/>
                <a:ea typeface="宋体" panose="02010600030101010101" pitchFamily="2" charset="-122"/>
              </a:rPr>
              <a:t>6</a:t>
            </a:r>
            <a:r>
              <a:rPr lang="zh-CN" altLang="zh-CN" sz="2400" kern="100" dirty="0">
                <a:latin typeface="Times New Roman" panose="02020603050405020304"/>
                <a:ea typeface="宋体" panose="02010600030101010101" pitchFamily="2" charset="-122"/>
                <a:cs typeface="Times New Roman" panose="02020603050405020304"/>
              </a:rPr>
              <a:t>＜</a:t>
            </a:r>
            <a:r>
              <a:rPr lang="en-US" altLang="zh-CN" sz="2400" kern="100" dirty="0">
                <a:latin typeface="Times New Roman" panose="02020603050405020304"/>
                <a:ea typeface="宋体" panose="02010600030101010101" pitchFamily="2" charset="-122"/>
              </a:rPr>
              <a:t>dis[V</a:t>
            </a:r>
            <a:r>
              <a:rPr lang="en-US" altLang="zh-CN" sz="2400" kern="100" baseline="-25000" dirty="0">
                <a:latin typeface="Times New Roman" panose="02020603050405020304"/>
                <a:ea typeface="宋体" panose="02010600030101010101" pitchFamily="2" charset="-122"/>
              </a:rPr>
              <a:t>3</a:t>
            </a:r>
            <a:r>
              <a:rPr lang="en-US" altLang="zh-CN" sz="2400" kern="100" dirty="0">
                <a:latin typeface="Times New Roman" panose="02020603050405020304"/>
                <a:ea typeface="宋体" panose="02010600030101010101" pitchFamily="2" charset="-122"/>
              </a:rPr>
              <a:t>]</a:t>
            </a:r>
            <a:r>
              <a:rPr lang="zh-CN" altLang="zh-CN" sz="2400" kern="100" dirty="0">
                <a:latin typeface="Times New Roman" panose="02020603050405020304"/>
                <a:ea typeface="宋体" panose="02010600030101010101" pitchFamily="2" charset="-122"/>
                <a:cs typeface="Times New Roman" panose="02020603050405020304"/>
              </a:rPr>
              <a:t>，更新</a:t>
            </a:r>
            <a:r>
              <a:rPr lang="en-US" altLang="zh-CN" sz="2400" kern="100" dirty="0">
                <a:latin typeface="Times New Roman" panose="02020603050405020304"/>
                <a:ea typeface="宋体" panose="02010600030101010101" pitchFamily="2" charset="-122"/>
              </a:rPr>
              <a:t>dis[V</a:t>
            </a:r>
            <a:r>
              <a:rPr lang="en-US" altLang="zh-CN" sz="2400" kern="100" baseline="-25000" dirty="0">
                <a:latin typeface="Times New Roman" panose="02020603050405020304"/>
                <a:ea typeface="宋体" panose="02010600030101010101" pitchFamily="2" charset="-122"/>
              </a:rPr>
              <a:t>3</a:t>
            </a:r>
            <a:r>
              <a:rPr lang="en-US" altLang="zh-CN" sz="2400" kern="100" dirty="0">
                <a:latin typeface="Times New Roman" panose="02020603050405020304"/>
                <a:ea typeface="宋体" panose="02010600030101010101" pitchFamily="2" charset="-122"/>
              </a:rPr>
              <a:t>]</a:t>
            </a:r>
            <a:r>
              <a:rPr lang="zh-CN" altLang="zh-CN" sz="2400" kern="100" dirty="0">
                <a:latin typeface="Times New Roman" panose="02020603050405020304"/>
                <a:ea typeface="宋体" panose="02010600030101010101" pitchFamily="2" charset="-122"/>
                <a:cs typeface="Times New Roman" panose="02020603050405020304"/>
              </a:rPr>
              <a:t>值为</a:t>
            </a:r>
            <a:r>
              <a:rPr lang="en-US" altLang="zh-CN" sz="2400" kern="100" dirty="0">
                <a:latin typeface="Times New Roman" panose="02020603050405020304"/>
                <a:ea typeface="宋体" panose="02010600030101010101" pitchFamily="2" charset="-122"/>
              </a:rPr>
              <a:t>6</a:t>
            </a:r>
            <a:r>
              <a:rPr lang="zh-CN" altLang="zh-CN" sz="2400" kern="100" dirty="0">
                <a:latin typeface="Times New Roman" panose="02020603050405020304"/>
                <a:ea typeface="宋体" panose="02010600030101010101" pitchFamily="2" charset="-122"/>
                <a:cs typeface="Times New Roman" panose="02020603050405020304"/>
              </a:rPr>
              <a:t>，如图</a:t>
            </a:r>
            <a:endParaRPr lang="zh-CN" altLang="en-US" sz="2400"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1834974" y="1588095"/>
            <a:ext cx="5004172" cy="1428481"/>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74725"/>
            <a:ext cx="9111006" cy="5262979"/>
          </a:xfrm>
          <a:prstGeom prst="rect">
            <a:avLst/>
          </a:prstGeom>
        </p:spPr>
        <p:txBody>
          <a:bodyPr wrap="square">
            <a:spAutoFit/>
          </a:bodyPr>
          <a:lstStyle/>
          <a:p>
            <a:r>
              <a:rPr lang="en-US" altLang="zh-CN" sz="1600" kern="0" dirty="0">
                <a:solidFill>
                  <a:srgbClr val="8000FF"/>
                </a:solidFill>
                <a:latin typeface="YaHei Consolas Hybrid"/>
                <a:ea typeface="宋体" panose="02010600030101010101" pitchFamily="2" charset="-122"/>
                <a:cs typeface="Courier New" panose="02070309020205020404"/>
              </a:rPr>
              <a:t>void</a:t>
            </a:r>
            <a:r>
              <a:rPr lang="en-US" altLang="zh-CN" sz="1600" kern="0" dirty="0">
                <a:solidFill>
                  <a:srgbClr val="000000"/>
                </a:solidFill>
                <a:latin typeface="YaHei Consolas Hybrid"/>
                <a:ea typeface="宋体" panose="02010600030101010101" pitchFamily="2" charset="-122"/>
                <a:cs typeface="Courier New" panose="02070309020205020404"/>
              </a:rPr>
              <a:t> SPFA</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FF"/>
                </a:solidFill>
                <a:latin typeface="YaHei Consolas Hybrid"/>
                <a:ea typeface="宋体" panose="02010600030101010101" pitchFamily="2" charset="-122"/>
                <a:cs typeface="Courier New" panose="02070309020205020404"/>
              </a:rPr>
              <a:t>for</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8000FF"/>
                </a:solidFill>
                <a:latin typeface="YaHei Consolas Hybrid"/>
                <a:ea typeface="宋体" panose="02010600030101010101" pitchFamily="2" charset="-122"/>
                <a:cs typeface="Courier New" panose="02070309020205020404"/>
              </a:rPr>
              <a:t>int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FF8000"/>
                </a:solidFill>
                <a:latin typeface="YaHei Consolas Hybrid"/>
                <a:ea typeface="宋体" panose="02010600030101010101" pitchFamily="2" charset="-122"/>
                <a:cs typeface="Courier New" panose="02070309020205020404"/>
              </a:rPr>
              <a:t>1</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&lt;=</a:t>
            </a:r>
            <a:r>
              <a:rPr lang="en-US" altLang="zh-CN" sz="1600" kern="0" dirty="0">
                <a:solidFill>
                  <a:srgbClr val="000000"/>
                </a:solidFill>
                <a:latin typeface="YaHei Consolas Hybrid"/>
                <a:ea typeface="宋体" panose="02010600030101010101" pitchFamily="2" charset="-122"/>
                <a:cs typeface="Courier New" panose="02070309020205020404"/>
              </a:rPr>
              <a:t>n</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dis</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INF</a:t>
            </a:r>
            <a:r>
              <a:rPr lang="en-US" altLang="zh-CN" sz="1600" b="1" kern="0" dirty="0">
                <a:solidFill>
                  <a:srgbClr val="000080"/>
                </a:solidFill>
                <a:latin typeface="YaHei Consolas Hybrid"/>
                <a:ea typeface="宋体" panose="02010600030101010101" pitchFamily="2" charset="-122"/>
                <a:cs typeface="Courier New" panose="02070309020205020404"/>
              </a:rPr>
              <a:t>&gt;&gt;</a:t>
            </a:r>
            <a:r>
              <a:rPr lang="en-US" altLang="zh-CN" sz="1600" kern="0" dirty="0">
                <a:solidFill>
                  <a:srgbClr val="FF8000"/>
                </a:solidFill>
                <a:latin typeface="YaHei Consolas Hybrid"/>
                <a:ea typeface="宋体" panose="02010600030101010101" pitchFamily="2" charset="-122"/>
                <a:cs typeface="Courier New" panose="02070309020205020404"/>
              </a:rPr>
              <a:t>1</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q</a:t>
            </a:r>
            <a:r>
              <a:rPr lang="en-US" altLang="zh-CN" sz="1600" b="1" kern="0" dirty="0" err="1">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000000"/>
                </a:solidFill>
                <a:latin typeface="YaHei Consolas Hybrid"/>
                <a:ea typeface="宋体" panose="02010600030101010101" pitchFamily="2" charset="-122"/>
                <a:cs typeface="Courier New" panose="02070309020205020404"/>
              </a:rPr>
              <a:t>push</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s</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dis</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s</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FF8000"/>
                </a:solidFill>
                <a:latin typeface="YaHei Consolas Hybrid"/>
                <a:ea typeface="宋体" panose="02010600030101010101" pitchFamily="2" charset="-122"/>
                <a:cs typeface="Courier New" panose="02070309020205020404"/>
              </a:rPr>
              <a:t>0</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vis</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s</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FF8000"/>
                </a:solidFill>
                <a:latin typeface="YaHei Consolas Hybrid"/>
                <a:ea typeface="宋体" panose="02010600030101010101" pitchFamily="2" charset="-122"/>
                <a:cs typeface="Courier New" panose="02070309020205020404"/>
              </a:rPr>
              <a:t>1</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FF"/>
                </a:solidFill>
                <a:latin typeface="YaHei Consolas Hybrid"/>
                <a:ea typeface="宋体" panose="02010600030101010101" pitchFamily="2" charset="-122"/>
                <a:cs typeface="Courier New" panose="02070309020205020404"/>
              </a:rPr>
              <a:t>while</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000000"/>
                </a:solidFill>
                <a:latin typeface="YaHei Consolas Hybrid"/>
                <a:ea typeface="宋体" panose="02010600030101010101" pitchFamily="2" charset="-122"/>
                <a:cs typeface="Courier New" panose="02070309020205020404"/>
              </a:rPr>
              <a:t>q</a:t>
            </a:r>
            <a:r>
              <a:rPr lang="en-US" altLang="zh-CN" sz="1600" b="1" kern="0" dirty="0" err="1">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000000"/>
                </a:solidFill>
                <a:latin typeface="YaHei Consolas Hybrid"/>
                <a:ea typeface="宋体" panose="02010600030101010101" pitchFamily="2" charset="-122"/>
                <a:cs typeface="Courier New" panose="02070309020205020404"/>
              </a:rPr>
              <a:t>empty</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8000FF"/>
                </a:solidFill>
                <a:latin typeface="YaHei Consolas Hybrid"/>
                <a:ea typeface="宋体" panose="02010600030101010101" pitchFamily="2" charset="-122"/>
                <a:cs typeface="Courier New" panose="02070309020205020404"/>
              </a:rPr>
              <a:t>int</a:t>
            </a:r>
            <a:r>
              <a:rPr lang="en-US" altLang="zh-CN" sz="1600" kern="0" dirty="0">
                <a:solidFill>
                  <a:srgbClr val="000000"/>
                </a:solidFill>
                <a:latin typeface="YaHei Consolas Hybrid"/>
                <a:ea typeface="宋体" panose="02010600030101010101" pitchFamily="2" charset="-122"/>
                <a:cs typeface="Courier New" panose="02070309020205020404"/>
              </a:rPr>
              <a:t> u</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000000"/>
                </a:solidFill>
                <a:latin typeface="YaHei Consolas Hybrid"/>
                <a:ea typeface="宋体" panose="02010600030101010101" pitchFamily="2" charset="-122"/>
                <a:cs typeface="Courier New" panose="02070309020205020404"/>
              </a:rPr>
              <a:t>q</a:t>
            </a:r>
            <a:r>
              <a:rPr lang="en-US" altLang="zh-CN" sz="1600" b="1" kern="0" dirty="0" err="1">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000000"/>
                </a:solidFill>
                <a:latin typeface="YaHei Consolas Hybrid"/>
                <a:ea typeface="宋体" panose="02010600030101010101" pitchFamily="2" charset="-122"/>
                <a:cs typeface="Courier New" panose="02070309020205020404"/>
              </a:rPr>
              <a:t>front</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q</a:t>
            </a:r>
            <a:r>
              <a:rPr lang="en-US" altLang="zh-CN" sz="1600" b="1" kern="0" dirty="0" err="1">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000000"/>
                </a:solidFill>
                <a:latin typeface="YaHei Consolas Hybrid"/>
                <a:ea typeface="宋体" panose="02010600030101010101" pitchFamily="2" charset="-122"/>
                <a:cs typeface="Courier New" panose="02070309020205020404"/>
              </a:rPr>
              <a:t>pop</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vis</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u</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FF8000"/>
                </a:solidFill>
                <a:latin typeface="YaHei Consolas Hybrid"/>
                <a:ea typeface="宋体" panose="02010600030101010101" pitchFamily="2" charset="-122"/>
                <a:cs typeface="Courier New" panose="02070309020205020404"/>
              </a:rPr>
              <a:t>0</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a:solidFill>
                  <a:srgbClr val="008000"/>
                </a:solidFill>
                <a:latin typeface="YaHei Consolas Hybrid"/>
                <a:ea typeface="宋体" panose="02010600030101010101" pitchFamily="2" charset="-122"/>
                <a:cs typeface="Courier New" panose="02070309020205020404"/>
              </a:rPr>
              <a:t>//vis[]=0</a:t>
            </a:r>
            <a:r>
              <a:rPr lang="zh-CN" altLang="zh-CN" sz="1600" kern="0" dirty="0">
                <a:solidFill>
                  <a:srgbClr val="008000"/>
                </a:solidFill>
                <a:latin typeface="Times New Roman" panose="02020603050405020304"/>
                <a:ea typeface="YaHei Consolas Hybrid"/>
                <a:cs typeface="Courier New" panose="02070309020205020404"/>
              </a:rPr>
              <a:t>表示出队</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FF"/>
                </a:solidFill>
                <a:latin typeface="YaHei Consolas Hybrid"/>
                <a:ea typeface="宋体" panose="02010600030101010101" pitchFamily="2" charset="-122"/>
                <a:cs typeface="Courier New" panose="02070309020205020404"/>
              </a:rPr>
              <a:t>for</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8000FF"/>
                </a:solidFill>
                <a:latin typeface="YaHei Consolas Hybrid"/>
                <a:ea typeface="宋体" panose="02010600030101010101" pitchFamily="2" charset="-122"/>
                <a:cs typeface="Courier New" panose="02070309020205020404"/>
              </a:rPr>
              <a:t>int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head</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u</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h</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next</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80"/>
                </a:solidFill>
                <a:latin typeface="YaHei Consolas Hybrid"/>
                <a:ea typeface="宋体" panose="02010600030101010101" pitchFamily="2" charset="-122"/>
                <a:cs typeface="Courier New" panose="02070309020205020404"/>
              </a:rPr>
              <a:t>{ </a:t>
            </a:r>
            <a:r>
              <a:rPr lang="en-US" altLang="zh-CN" sz="1600" kern="0" dirty="0">
                <a:solidFill>
                  <a:srgbClr val="008000"/>
                </a:solidFill>
                <a:latin typeface="YaHei Consolas Hybrid"/>
                <a:ea typeface="宋体" panose="02010600030101010101" pitchFamily="2" charset="-122"/>
                <a:cs typeface="Courier New" panose="02070309020205020404"/>
              </a:rPr>
              <a:t>//</a:t>
            </a:r>
            <a:r>
              <a:rPr lang="zh-CN" altLang="zh-CN" sz="1600" kern="0" dirty="0">
                <a:solidFill>
                  <a:srgbClr val="008000"/>
                </a:solidFill>
                <a:latin typeface="Times New Roman" panose="02020603050405020304"/>
                <a:ea typeface="YaHei Consolas Hybrid"/>
                <a:cs typeface="Courier New" panose="02070309020205020404"/>
              </a:rPr>
              <a:t>寻找与</a:t>
            </a:r>
            <a:r>
              <a:rPr lang="en-US" altLang="zh-CN" sz="1600" kern="0" dirty="0">
                <a:solidFill>
                  <a:srgbClr val="008000"/>
                </a:solidFill>
                <a:latin typeface="Times New Roman" panose="02020603050405020304"/>
                <a:ea typeface="YaHei Consolas Hybrid"/>
                <a:cs typeface="Courier New" panose="02070309020205020404"/>
              </a:rPr>
              <a:t>u</a:t>
            </a:r>
            <a:r>
              <a:rPr lang="zh-CN" altLang="zh-CN" sz="1600" kern="0" dirty="0">
                <a:solidFill>
                  <a:srgbClr val="008000"/>
                </a:solidFill>
                <a:latin typeface="Times New Roman" panose="02020603050405020304"/>
                <a:ea typeface="YaHei Consolas Hybrid"/>
                <a:cs typeface="Courier New" panose="02070309020205020404"/>
              </a:rPr>
              <a:t>相连的边</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8000FF"/>
                </a:solidFill>
                <a:latin typeface="YaHei Consolas Hybrid"/>
                <a:ea typeface="宋体" panose="02010600030101010101" pitchFamily="2" charset="-122"/>
                <a:cs typeface="Courier New" panose="02070309020205020404"/>
              </a:rPr>
              <a:t>int</a:t>
            </a:r>
            <a:r>
              <a:rPr lang="en-US" altLang="zh-CN" sz="1600" kern="0" dirty="0">
                <a:solidFill>
                  <a:srgbClr val="000000"/>
                </a:solidFill>
                <a:latin typeface="YaHei Consolas Hybrid"/>
                <a:ea typeface="宋体" panose="02010600030101010101" pitchFamily="2" charset="-122"/>
                <a:cs typeface="Courier New" panose="02070309020205020404"/>
              </a:rPr>
              <a:t> v</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h</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to</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FF"/>
                </a:solidFill>
                <a:latin typeface="YaHei Consolas Hybrid"/>
                <a:ea typeface="宋体" panose="02010600030101010101" pitchFamily="2" charset="-122"/>
                <a:cs typeface="Courier New" panose="02070309020205020404"/>
              </a:rPr>
              <a:t>if</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dis</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v</a:t>
            </a:r>
            <a:r>
              <a:rPr lang="en-US" altLang="zh-CN" sz="1600" b="1" kern="0" dirty="0">
                <a:solidFill>
                  <a:srgbClr val="000080"/>
                </a:solidFill>
                <a:latin typeface="YaHei Consolas Hybrid"/>
                <a:ea typeface="宋体" panose="02010600030101010101" pitchFamily="2" charset="-122"/>
                <a:cs typeface="Courier New" panose="02070309020205020404"/>
              </a:rPr>
              <a:t>]&gt;</a:t>
            </a:r>
            <a:r>
              <a:rPr lang="en-US" altLang="zh-CN" sz="1600" kern="0" dirty="0">
                <a:solidFill>
                  <a:srgbClr val="000000"/>
                </a:solidFill>
                <a:latin typeface="YaHei Consolas Hybrid"/>
                <a:ea typeface="宋体" panose="02010600030101010101" pitchFamily="2" charset="-122"/>
                <a:cs typeface="Courier New" panose="02070309020205020404"/>
              </a:rPr>
              <a:t>dis</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u</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h</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w</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a:solidFill>
                  <a:srgbClr val="008000"/>
                </a:solidFill>
                <a:latin typeface="YaHei Consolas Hybrid"/>
                <a:ea typeface="宋体" panose="02010600030101010101" pitchFamily="2" charset="-122"/>
                <a:cs typeface="Courier New" panose="02070309020205020404"/>
              </a:rPr>
              <a:t>//</a:t>
            </a:r>
            <a:r>
              <a:rPr lang="zh-CN" altLang="zh-CN" sz="1600" kern="0" dirty="0">
                <a:solidFill>
                  <a:srgbClr val="008000"/>
                </a:solidFill>
                <a:latin typeface="Times New Roman" panose="02020603050405020304"/>
                <a:ea typeface="YaHei Consolas Hybrid"/>
                <a:cs typeface="Courier New" panose="02070309020205020404"/>
              </a:rPr>
              <a:t>如果能更改</a:t>
            </a:r>
            <a:r>
              <a:rPr lang="en-US" altLang="zh-CN" sz="1600" kern="0" dirty="0">
                <a:solidFill>
                  <a:srgbClr val="008000"/>
                </a:solidFill>
                <a:latin typeface="Times New Roman" panose="02020603050405020304"/>
                <a:ea typeface="YaHei Consolas Hybrid"/>
                <a:cs typeface="Courier New" panose="02070309020205020404"/>
              </a:rPr>
              <a:t>dis</a:t>
            </a:r>
            <a:r>
              <a:rPr lang="zh-CN" altLang="zh-CN" sz="1600" kern="0" dirty="0">
                <a:solidFill>
                  <a:srgbClr val="008000"/>
                </a:solidFill>
                <a:latin typeface="Times New Roman" panose="02020603050405020304"/>
                <a:ea typeface="YaHei Consolas Hybrid"/>
                <a:cs typeface="Courier New" panose="02070309020205020404"/>
              </a:rPr>
              <a:t>的值</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dis</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v</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dis</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u</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h</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000000"/>
                </a:solidFill>
                <a:latin typeface="YaHei Consolas Hybrid"/>
                <a:ea typeface="宋体" panose="02010600030101010101" pitchFamily="2" charset="-122"/>
                <a:cs typeface="Courier New" panose="02070309020205020404"/>
              </a:rPr>
              <a:t>i</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w</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FF"/>
                </a:solidFill>
                <a:latin typeface="YaHei Consolas Hybrid"/>
                <a:ea typeface="宋体" panose="02010600030101010101" pitchFamily="2" charset="-122"/>
                <a:cs typeface="Courier New" panose="02070309020205020404"/>
              </a:rPr>
              <a:t>if</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vis</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v</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a:solidFill>
                  <a:srgbClr val="008000"/>
                </a:solidFill>
                <a:latin typeface="YaHei Consolas Hybrid"/>
                <a:ea typeface="宋体" panose="02010600030101010101" pitchFamily="2" charset="-122"/>
                <a:cs typeface="Courier New" panose="02070309020205020404"/>
              </a:rPr>
              <a:t>//</a:t>
            </a:r>
            <a:r>
              <a:rPr lang="zh-CN" altLang="zh-CN" sz="1600" kern="0" dirty="0">
                <a:solidFill>
                  <a:srgbClr val="008000"/>
                </a:solidFill>
                <a:latin typeface="Times New Roman" panose="02020603050405020304"/>
                <a:ea typeface="YaHei Consolas Hybrid"/>
                <a:cs typeface="Courier New" panose="02070309020205020404"/>
              </a:rPr>
              <a:t>如果没有入队则入队</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vis</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v</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FF8000"/>
                </a:solidFill>
                <a:latin typeface="YaHei Consolas Hybrid"/>
                <a:ea typeface="宋体" panose="02010600030101010101" pitchFamily="2" charset="-122"/>
                <a:cs typeface="Courier New" panose="02070309020205020404"/>
              </a:rPr>
              <a:t>1</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kern="0" dirty="0" err="1">
                <a:solidFill>
                  <a:srgbClr val="000000"/>
                </a:solidFill>
                <a:latin typeface="YaHei Consolas Hybrid"/>
                <a:ea typeface="宋体" panose="02010600030101010101" pitchFamily="2" charset="-122"/>
                <a:cs typeface="Courier New" panose="02070309020205020404"/>
              </a:rPr>
              <a:t>q</a:t>
            </a:r>
            <a:r>
              <a:rPr lang="en-US" altLang="zh-CN" sz="1600" b="1" kern="0" dirty="0" err="1">
                <a:solidFill>
                  <a:srgbClr val="000080"/>
                </a:solidFill>
                <a:latin typeface="YaHei Consolas Hybrid"/>
                <a:ea typeface="宋体" panose="02010600030101010101" pitchFamily="2" charset="-122"/>
                <a:cs typeface="Courier New" panose="02070309020205020404"/>
              </a:rPr>
              <a:t>.</a:t>
            </a:r>
            <a:r>
              <a:rPr lang="en-US" altLang="zh-CN" sz="1600" kern="0" dirty="0" err="1">
                <a:solidFill>
                  <a:srgbClr val="000000"/>
                </a:solidFill>
                <a:latin typeface="YaHei Consolas Hybrid"/>
                <a:ea typeface="宋体" panose="02010600030101010101" pitchFamily="2" charset="-122"/>
                <a:cs typeface="Courier New" panose="02070309020205020404"/>
              </a:rPr>
              <a:t>push</a:t>
            </a:r>
            <a:r>
              <a:rPr lang="en-US" altLang="zh-CN" sz="1600" b="1" kern="0" dirty="0">
                <a:solidFill>
                  <a:srgbClr val="000080"/>
                </a:solidFill>
                <a:latin typeface="YaHei Consolas Hybrid"/>
                <a:ea typeface="宋体" panose="02010600030101010101" pitchFamily="2" charset="-122"/>
                <a:cs typeface="Courier New" panose="02070309020205020404"/>
              </a:rPr>
              <a:t>(</a:t>
            </a:r>
            <a:r>
              <a:rPr lang="en-US" altLang="zh-CN" sz="1600" kern="0" dirty="0">
                <a:solidFill>
                  <a:srgbClr val="000000"/>
                </a:solidFill>
                <a:latin typeface="YaHei Consolas Hybrid"/>
                <a:ea typeface="宋体" panose="02010600030101010101" pitchFamily="2" charset="-122"/>
                <a:cs typeface="Courier New" panose="02070309020205020404"/>
              </a:rPr>
              <a:t>v</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kern="0" dirty="0">
                <a:solidFill>
                  <a:srgbClr val="000000"/>
                </a:solidFill>
                <a:latin typeface="YaHei Consolas Hybrid"/>
                <a:ea typeface="宋体" panose="02010600030101010101" pitchFamily="2" charset="-122"/>
                <a:cs typeface="Courier New" panose="02070309020205020404"/>
              </a:rPr>
              <a:t>  </a:t>
            </a:r>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latin typeface="Times New Roman" panose="02020603050405020304"/>
              <a:ea typeface="宋体" panose="02010600030101010101" pitchFamily="2" charset="-122"/>
            </a:endParaRPr>
          </a:p>
          <a:p>
            <a:r>
              <a:rPr lang="en-US" altLang="zh-CN" sz="1600" b="1" kern="0" dirty="0">
                <a:solidFill>
                  <a:srgbClr val="000080"/>
                </a:solidFill>
                <a:latin typeface="YaHei Consolas Hybrid"/>
                <a:ea typeface="宋体" panose="02010600030101010101" pitchFamily="2" charset="-122"/>
                <a:cs typeface="Courier New" panose="02070309020205020404"/>
              </a:rPr>
              <a:t>}</a:t>
            </a:r>
            <a:endParaRPr lang="zh-CN" altLang="zh-CN" sz="1800" kern="100" dirty="0">
              <a:effectLst/>
              <a:latin typeface="Times New Roman" panose="02020603050405020304"/>
              <a:ea typeface="宋体" panose="02010600030101010101" pitchFamily="2"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356943"/>
            <a:ext cx="9144000" cy="3046988"/>
          </a:xfrm>
          <a:prstGeom prst="rect">
            <a:avLst/>
          </a:prstGeom>
        </p:spPr>
        <p:txBody>
          <a:bodyPr wrap="square">
            <a:spAutoFit/>
          </a:bodyPr>
          <a:lstStyle/>
          <a:p>
            <a:r>
              <a:rPr lang="en-US" altLang="zh-CN" sz="2400" dirty="0"/>
              <a:t>    </a:t>
            </a:r>
            <a:r>
              <a:rPr lang="zh-CN" altLang="zh-CN" sz="2400" dirty="0"/>
              <a:t>需要注意的是：仅当图不存在负权回路时，</a:t>
            </a:r>
            <a:r>
              <a:rPr lang="en-US" altLang="zh-CN" sz="2400" dirty="0"/>
              <a:t>SPFA</a:t>
            </a:r>
            <a:r>
              <a:rPr lang="zh-CN" altLang="zh-CN" sz="2400" dirty="0"/>
              <a:t>能正常工作。如果图存在负权回路，由于负权回路上的顶点无法收敛，总有顶点在入队和出队往返，队列无法为空，这种情况下</a:t>
            </a:r>
            <a:r>
              <a:rPr lang="en-US" altLang="zh-CN" sz="2400" dirty="0"/>
              <a:t>SPFA</a:t>
            </a:r>
            <a:r>
              <a:rPr lang="zh-CN" altLang="zh-CN" sz="2400" dirty="0"/>
              <a:t>无法正常结束。</a:t>
            </a:r>
          </a:p>
          <a:p>
            <a:r>
              <a:rPr lang="zh-CN" altLang="zh-CN" sz="2400" dirty="0"/>
              <a:t>判断负权回路的方案很多，常用的方法是记录每个结点进队次数，超过</a:t>
            </a:r>
            <a:r>
              <a:rPr lang="en-US" altLang="zh-CN" sz="2400" i="1" dirty="0"/>
              <a:t>n</a:t>
            </a:r>
            <a:r>
              <a:rPr lang="zh-CN" altLang="zh-CN" sz="2400" dirty="0"/>
              <a:t>次表示有负权。</a:t>
            </a:r>
          </a:p>
          <a:p>
            <a:r>
              <a:rPr lang="en-US" altLang="zh-CN" sz="2400" dirty="0"/>
              <a:t>    </a:t>
            </a:r>
            <a:r>
              <a:rPr lang="zh-CN" altLang="zh-CN" sz="2400" dirty="0"/>
              <a:t>还有种方法是记录这个结点在路径中所处的位置</a:t>
            </a:r>
            <a:r>
              <a:rPr lang="en-US" altLang="zh-CN" sz="2400" dirty="0" err="1"/>
              <a:t>ord</a:t>
            </a:r>
            <a:r>
              <a:rPr lang="en-US" altLang="zh-CN" sz="2400" dirty="0"/>
              <a:t>[</a:t>
            </a:r>
            <a:r>
              <a:rPr lang="en-US" altLang="zh-CN" sz="2400" dirty="0" err="1"/>
              <a:t>i</a:t>
            </a:r>
            <a:r>
              <a:rPr lang="en-US" altLang="zh-CN" sz="2400" dirty="0"/>
              <a:t>]</a:t>
            </a:r>
            <a:r>
              <a:rPr lang="zh-CN" altLang="zh-CN" sz="2400" dirty="0"/>
              <a:t>，每次更新的时候</a:t>
            </a:r>
            <a:r>
              <a:rPr lang="en-US" altLang="zh-CN" sz="2400" dirty="0" err="1"/>
              <a:t>ord</a:t>
            </a:r>
            <a:r>
              <a:rPr lang="en-US" altLang="zh-CN" sz="2400" dirty="0"/>
              <a:t>[</a:t>
            </a:r>
            <a:r>
              <a:rPr lang="en-US" altLang="zh-CN" sz="2400" dirty="0" err="1"/>
              <a:t>i</a:t>
            </a:r>
            <a:r>
              <a:rPr lang="en-US" altLang="zh-CN" sz="2400" dirty="0"/>
              <a:t>]</a:t>
            </a:r>
            <a:r>
              <a:rPr lang="zh-CN" altLang="zh-CN" sz="2400" dirty="0"/>
              <a:t>＝</a:t>
            </a:r>
            <a:r>
              <a:rPr lang="en-US" altLang="zh-CN" sz="2400" dirty="0" err="1"/>
              <a:t>ord</a:t>
            </a:r>
            <a:r>
              <a:rPr lang="en-US" altLang="zh-CN" sz="2400" dirty="0"/>
              <a:t>[x]</a:t>
            </a:r>
            <a:r>
              <a:rPr lang="zh-CN" altLang="zh-CN" sz="2400" dirty="0"/>
              <a:t>＋</a:t>
            </a:r>
            <a:r>
              <a:rPr lang="en-US" altLang="zh-CN" sz="2400" dirty="0"/>
              <a:t>1</a:t>
            </a:r>
            <a:r>
              <a:rPr lang="zh-CN" altLang="zh-CN" sz="2400" dirty="0"/>
              <a:t>，若超过</a:t>
            </a:r>
            <a:r>
              <a:rPr lang="en-US" altLang="zh-CN" sz="2400" i="1" dirty="0"/>
              <a:t>n</a:t>
            </a:r>
            <a:r>
              <a:rPr lang="zh-CN" altLang="zh-CN" sz="2400" dirty="0"/>
              <a:t>，则表示有负环。第二种方法速度要优于第一种方法。</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9063871" cy="3477875"/>
          </a:xfrm>
          <a:prstGeom prst="rect">
            <a:avLst/>
          </a:prstGeom>
        </p:spPr>
        <p:txBody>
          <a:bodyPr wrap="square">
            <a:spAutoFit/>
          </a:bodyPr>
          <a:lstStyle/>
          <a:p>
            <a:r>
              <a:rPr lang="zh-CN" altLang="zh-CN" sz="2000" dirty="0"/>
              <a:t>【题目描述】畅通工程（</a:t>
            </a:r>
            <a:r>
              <a:rPr lang="en-US" altLang="zh-CN" sz="2000" dirty="0"/>
              <a:t>path</a:t>
            </a:r>
            <a:r>
              <a:rPr lang="zh-CN" altLang="zh-CN" sz="2000" dirty="0"/>
              <a:t>）</a:t>
            </a:r>
            <a:r>
              <a:rPr lang="en-US" altLang="zh-CN" sz="2000" dirty="0" err="1"/>
              <a:t>laoj</a:t>
            </a:r>
            <a:r>
              <a:rPr lang="en-US" altLang="zh-CN" sz="2000" dirty="0"/>
              <a:t> 1138</a:t>
            </a:r>
            <a:endParaRPr lang="zh-CN" altLang="zh-CN" sz="2000" dirty="0"/>
          </a:p>
          <a:p>
            <a:r>
              <a:rPr lang="zh-CN" altLang="zh-CN" sz="2000" dirty="0"/>
              <a:t>某市的道路四通八达，不过路多了也不好，每次要从一个城镇到另一个城镇时，都有许多种道路方案可以选择，而某些方案要比另一些方案行走的距离要短很多，这让行人很困扰。 </a:t>
            </a:r>
          </a:p>
          <a:p>
            <a:r>
              <a:rPr lang="zh-CN" altLang="zh-CN" sz="2000" dirty="0"/>
              <a:t>现在已知起点和终点，请你计算出要从起点到终点，最短需要行走多少距离。</a:t>
            </a:r>
          </a:p>
          <a:p>
            <a:r>
              <a:rPr lang="zh-CN" altLang="zh-CN" sz="2000" dirty="0"/>
              <a:t>【输入格式】</a:t>
            </a:r>
          </a:p>
          <a:p>
            <a:r>
              <a:rPr lang="zh-CN" altLang="zh-CN" sz="2000" dirty="0"/>
              <a:t>第一行包含两个正整数</a:t>
            </a:r>
            <a:r>
              <a:rPr lang="en-US" altLang="zh-CN" sz="2000" i="1" dirty="0"/>
              <a:t>N</a:t>
            </a:r>
            <a:r>
              <a:rPr lang="zh-CN" altLang="zh-CN" sz="2000" dirty="0"/>
              <a:t>和</a:t>
            </a:r>
            <a:r>
              <a:rPr lang="en-US" altLang="zh-CN" sz="2000" i="1" dirty="0"/>
              <a:t>M</a:t>
            </a:r>
            <a:r>
              <a:rPr lang="zh-CN" altLang="zh-CN" sz="2000" dirty="0"/>
              <a:t>（</a:t>
            </a:r>
            <a:r>
              <a:rPr lang="en-US" altLang="zh-CN" sz="2000" dirty="0"/>
              <a:t>0</a:t>
            </a:r>
            <a:r>
              <a:rPr lang="zh-CN" altLang="zh-CN" sz="2000" dirty="0"/>
              <a:t>＜</a:t>
            </a:r>
            <a:r>
              <a:rPr lang="en-US" altLang="zh-CN" sz="2000" i="1" dirty="0"/>
              <a:t>N</a:t>
            </a:r>
            <a:r>
              <a:rPr lang="zh-CN" altLang="zh-CN" sz="2000" dirty="0"/>
              <a:t>＜</a:t>
            </a:r>
            <a:r>
              <a:rPr lang="en-US" altLang="zh-CN" sz="2000" dirty="0"/>
              <a:t>200</a:t>
            </a:r>
            <a:r>
              <a:rPr lang="zh-CN" altLang="zh-CN" sz="2000" dirty="0"/>
              <a:t>，</a:t>
            </a:r>
            <a:r>
              <a:rPr lang="en-US" altLang="zh-CN" sz="2000" dirty="0"/>
              <a:t>0</a:t>
            </a:r>
            <a:r>
              <a:rPr lang="zh-CN" altLang="zh-CN" sz="2000" dirty="0"/>
              <a:t>＜</a:t>
            </a:r>
            <a:r>
              <a:rPr lang="en-US" altLang="zh-CN" sz="2000" i="1" dirty="0"/>
              <a:t>M</a:t>
            </a:r>
            <a:r>
              <a:rPr lang="zh-CN" altLang="zh-CN" sz="2000" dirty="0"/>
              <a:t>＜</a:t>
            </a:r>
            <a:r>
              <a:rPr lang="en-US" altLang="zh-CN" sz="2000" dirty="0"/>
              <a:t>1 000</a:t>
            </a:r>
            <a:r>
              <a:rPr lang="zh-CN" altLang="zh-CN" sz="2000" dirty="0"/>
              <a:t>），分别代表现有城镇的数目和已修建的道路的数目。城镇分别以</a:t>
            </a:r>
            <a:r>
              <a:rPr lang="en-US" altLang="zh-CN" sz="2000" dirty="0"/>
              <a:t>0</a:t>
            </a:r>
            <a:r>
              <a:rPr lang="zh-CN" altLang="zh-CN" sz="2000" dirty="0"/>
              <a:t>～</a:t>
            </a:r>
            <a:r>
              <a:rPr lang="en-US" altLang="zh-CN" sz="2000" i="1" dirty="0"/>
              <a:t>N</a:t>
            </a:r>
            <a:r>
              <a:rPr lang="zh-CN" altLang="zh-CN" sz="2000" dirty="0"/>
              <a:t>－</a:t>
            </a:r>
            <a:r>
              <a:rPr lang="en-US" altLang="zh-CN" sz="2000" dirty="0"/>
              <a:t>1</a:t>
            </a:r>
            <a:r>
              <a:rPr lang="zh-CN" altLang="zh-CN" sz="2000" dirty="0"/>
              <a:t>编号。</a:t>
            </a:r>
          </a:p>
          <a:p>
            <a:r>
              <a:rPr lang="zh-CN" altLang="zh-CN" sz="2000" dirty="0"/>
              <a:t>接下来是</a:t>
            </a:r>
            <a:r>
              <a:rPr lang="en-US" altLang="zh-CN" sz="2000" i="1" dirty="0"/>
              <a:t>M</a:t>
            </a:r>
            <a:r>
              <a:rPr lang="zh-CN" altLang="zh-CN" sz="2000" dirty="0"/>
              <a:t>行道路信息。每一行有三个整数</a:t>
            </a:r>
            <a:r>
              <a:rPr lang="en-US" altLang="zh-CN" sz="2000" i="1" dirty="0"/>
              <a:t>A</a:t>
            </a:r>
            <a:r>
              <a:rPr lang="en-US" altLang="zh-CN" sz="2000" dirty="0"/>
              <a:t>,</a:t>
            </a:r>
            <a:r>
              <a:rPr lang="en-US" altLang="zh-CN" sz="2000" i="1" dirty="0"/>
              <a:t>B</a:t>
            </a:r>
            <a:r>
              <a:rPr lang="en-US" altLang="zh-CN" sz="2000" dirty="0"/>
              <a:t>,</a:t>
            </a:r>
            <a:r>
              <a:rPr lang="en-US" altLang="zh-CN" sz="2000" i="1" dirty="0"/>
              <a:t>X</a:t>
            </a:r>
            <a:r>
              <a:rPr lang="zh-CN" altLang="zh-CN" sz="2000" dirty="0"/>
              <a:t>（</a:t>
            </a:r>
            <a:r>
              <a:rPr lang="en-US" altLang="zh-CN" sz="2000" dirty="0"/>
              <a:t>0</a:t>
            </a:r>
            <a:r>
              <a:rPr lang="zh-CN" altLang="zh-CN" sz="2000" dirty="0"/>
              <a:t>≤</a:t>
            </a:r>
            <a:r>
              <a:rPr lang="en-US" altLang="zh-CN" sz="2000" i="1" dirty="0"/>
              <a:t>A</a:t>
            </a:r>
            <a:r>
              <a:rPr lang="en-US" altLang="zh-CN" sz="2000" dirty="0"/>
              <a:t>,</a:t>
            </a:r>
            <a:r>
              <a:rPr lang="en-US" altLang="zh-CN" sz="2000" i="1" dirty="0"/>
              <a:t>B</a:t>
            </a:r>
            <a:r>
              <a:rPr lang="zh-CN" altLang="zh-CN" sz="2000" dirty="0"/>
              <a:t>＜</a:t>
            </a:r>
            <a:r>
              <a:rPr lang="en-US" altLang="zh-CN" sz="2000" i="1" dirty="0"/>
              <a:t>N</a:t>
            </a:r>
            <a:r>
              <a:rPr lang="zh-CN" altLang="zh-CN" sz="2000" dirty="0"/>
              <a:t>，</a:t>
            </a:r>
            <a:r>
              <a:rPr lang="en-US" altLang="zh-CN" sz="2000" i="1" dirty="0"/>
              <a:t>A</a:t>
            </a:r>
            <a:r>
              <a:rPr lang="zh-CN" altLang="zh-CN" sz="2000" dirty="0"/>
              <a:t>≠</a:t>
            </a:r>
            <a:r>
              <a:rPr lang="en-US" altLang="zh-CN" sz="2000" i="1" dirty="0"/>
              <a:t>B</a:t>
            </a:r>
            <a:r>
              <a:rPr lang="zh-CN" altLang="zh-CN" sz="2000" dirty="0"/>
              <a:t>，</a:t>
            </a:r>
            <a:r>
              <a:rPr lang="en-US" altLang="zh-CN" sz="2000" dirty="0"/>
              <a:t>0</a:t>
            </a:r>
            <a:r>
              <a:rPr lang="zh-CN" altLang="zh-CN" sz="2000" dirty="0"/>
              <a:t>＜</a:t>
            </a:r>
            <a:r>
              <a:rPr lang="en-US" altLang="zh-CN" sz="2000" i="1" dirty="0"/>
              <a:t>X</a:t>
            </a:r>
            <a:r>
              <a:rPr lang="zh-CN" altLang="zh-CN" sz="2000" dirty="0"/>
              <a:t>＜</a:t>
            </a:r>
            <a:r>
              <a:rPr lang="en-US" altLang="zh-CN" sz="2000" dirty="0"/>
              <a:t>10 000</a:t>
            </a:r>
            <a:r>
              <a:rPr lang="zh-CN" altLang="zh-CN" sz="2000" dirty="0"/>
              <a:t>），表示城镇</a:t>
            </a:r>
            <a:r>
              <a:rPr lang="en-US" altLang="zh-CN" sz="2000" i="1" dirty="0"/>
              <a:t>A</a:t>
            </a:r>
            <a:r>
              <a:rPr lang="zh-CN" altLang="zh-CN" sz="2000" dirty="0"/>
              <a:t>和城镇</a:t>
            </a:r>
            <a:r>
              <a:rPr lang="en-US" altLang="zh-CN" sz="2000" i="1" dirty="0"/>
              <a:t>B</a:t>
            </a:r>
            <a:r>
              <a:rPr lang="zh-CN" altLang="zh-CN" sz="2000" dirty="0"/>
              <a:t>之间有一条长度为</a:t>
            </a:r>
            <a:r>
              <a:rPr lang="en-US" altLang="zh-CN" sz="2000" i="1" dirty="0"/>
              <a:t>X</a:t>
            </a:r>
            <a:r>
              <a:rPr lang="zh-CN" altLang="zh-CN" sz="2000" dirty="0"/>
              <a:t>的双向道路。 </a:t>
            </a:r>
          </a:p>
          <a:p>
            <a:r>
              <a:rPr lang="zh-CN" altLang="zh-CN" sz="2000" dirty="0"/>
              <a:t>再接下一行有两个整数</a:t>
            </a:r>
            <a:r>
              <a:rPr lang="en-US" altLang="zh-CN" sz="2000" i="1" dirty="0"/>
              <a:t>S</a:t>
            </a:r>
            <a:r>
              <a:rPr lang="zh-CN" altLang="zh-CN" sz="2000" i="1" dirty="0"/>
              <a:t>、</a:t>
            </a:r>
            <a:r>
              <a:rPr lang="en-US" altLang="zh-CN" sz="2000" i="1" dirty="0"/>
              <a:t>T</a:t>
            </a:r>
            <a:r>
              <a:rPr lang="zh-CN" altLang="zh-CN" sz="2000" dirty="0"/>
              <a:t>（</a:t>
            </a:r>
            <a:r>
              <a:rPr lang="en-US" altLang="zh-CN" sz="2000" dirty="0"/>
              <a:t>0</a:t>
            </a:r>
            <a:r>
              <a:rPr lang="zh-CN" altLang="zh-CN" sz="2000" dirty="0"/>
              <a:t>≤</a:t>
            </a:r>
            <a:r>
              <a:rPr lang="en-US" altLang="zh-CN" sz="2000" i="1" dirty="0"/>
              <a:t>S</a:t>
            </a:r>
            <a:r>
              <a:rPr lang="en-US" altLang="zh-CN" sz="2000" dirty="0"/>
              <a:t>,</a:t>
            </a:r>
            <a:r>
              <a:rPr lang="en-US" altLang="zh-CN" sz="2000" i="1" dirty="0"/>
              <a:t>T</a:t>
            </a:r>
            <a:r>
              <a:rPr lang="zh-CN" altLang="zh-CN" sz="2000" dirty="0"/>
              <a:t>＜</a:t>
            </a:r>
            <a:r>
              <a:rPr lang="en-US" altLang="zh-CN" sz="2000" i="1" dirty="0"/>
              <a:t>N</a:t>
            </a:r>
            <a:r>
              <a:rPr lang="zh-CN" altLang="zh-CN" sz="2000" dirty="0"/>
              <a:t>），分别代表起点和终点。</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7707" y="278377"/>
            <a:ext cx="8997885" cy="2893100"/>
          </a:xfrm>
          <a:prstGeom prst="rect">
            <a:avLst/>
          </a:prstGeom>
        </p:spPr>
        <p:txBody>
          <a:bodyPr wrap="square">
            <a:spAutoFit/>
          </a:bodyPr>
          <a:lstStyle/>
          <a:p>
            <a:r>
              <a:rPr lang="en-US" altLang="zh-CN" dirty="0"/>
              <a:t>    SLF</a:t>
            </a:r>
            <a:r>
              <a:rPr lang="zh-CN" altLang="zh-CN" dirty="0"/>
              <a:t>优化：对于一个要加入到队列中的点</a:t>
            </a:r>
            <a:r>
              <a:rPr lang="en-US" altLang="zh-CN" dirty="0"/>
              <a:t>j</a:t>
            </a:r>
            <a:r>
              <a:rPr lang="zh-CN" altLang="zh-CN" dirty="0"/>
              <a:t>，假如有</a:t>
            </a:r>
            <a:r>
              <a:rPr lang="en-US" altLang="zh-CN" dirty="0" err="1"/>
              <a:t>dist</a:t>
            </a:r>
            <a:r>
              <a:rPr lang="en-US" altLang="zh-CN" dirty="0"/>
              <a:t>[j]</a:t>
            </a:r>
            <a:r>
              <a:rPr lang="zh-CN" altLang="zh-CN" dirty="0"/>
              <a:t>＜</a:t>
            </a:r>
            <a:r>
              <a:rPr lang="en-US" altLang="zh-CN" dirty="0" err="1"/>
              <a:t>dist</a:t>
            </a:r>
            <a:r>
              <a:rPr lang="en-US" altLang="zh-CN" dirty="0"/>
              <a:t>[</a:t>
            </a:r>
            <a:r>
              <a:rPr lang="en-US" altLang="zh-CN" dirty="0" err="1"/>
              <a:t>i</a:t>
            </a:r>
            <a:r>
              <a:rPr lang="en-US" altLang="zh-CN" dirty="0"/>
              <a:t>]</a:t>
            </a:r>
            <a:r>
              <a:rPr lang="zh-CN" altLang="zh-CN" dirty="0"/>
              <a:t>（</a:t>
            </a:r>
            <a:r>
              <a:rPr lang="en-US" altLang="zh-CN" dirty="0" err="1"/>
              <a:t>i</a:t>
            </a:r>
            <a:r>
              <a:rPr lang="zh-CN" altLang="zh-CN" dirty="0"/>
              <a:t>表示队首元素），那么则把当前元素插入到队首，否则插入到队尾。</a:t>
            </a:r>
            <a:r>
              <a:rPr lang="en-US" altLang="zh-CN" dirty="0"/>
              <a:t> SLF </a:t>
            </a:r>
            <a:r>
              <a:rPr lang="zh-CN" altLang="zh-CN" dirty="0"/>
              <a:t>可使速度提高</a:t>
            </a:r>
            <a:r>
              <a:rPr lang="en-US" altLang="zh-CN" dirty="0"/>
              <a:t>15~20%</a:t>
            </a:r>
            <a:r>
              <a:rPr lang="zh-CN" altLang="zh-CN" dirty="0"/>
              <a:t>。</a:t>
            </a:r>
          </a:p>
          <a:p>
            <a:r>
              <a:rPr lang="en-US" altLang="zh-CN" dirty="0"/>
              <a:t>    LLL</a:t>
            </a:r>
            <a:r>
              <a:rPr lang="zh-CN" altLang="zh-CN" dirty="0"/>
              <a:t>优化：将当前队列中的所有元素的</a:t>
            </a:r>
            <a:r>
              <a:rPr lang="en-US" altLang="zh-CN" dirty="0" err="1"/>
              <a:t>dist</a:t>
            </a:r>
            <a:r>
              <a:rPr lang="zh-CN" altLang="zh-CN" dirty="0"/>
              <a:t>取个平均数</a:t>
            </a:r>
            <a:r>
              <a:rPr lang="en-US" altLang="zh-CN" i="1" dirty="0"/>
              <a:t>x</a:t>
            </a:r>
            <a:r>
              <a:rPr lang="zh-CN" altLang="zh-CN" dirty="0"/>
              <a:t>，假如当前取出的队首元素</a:t>
            </a:r>
            <a:r>
              <a:rPr lang="en-US" altLang="zh-CN" i="1" dirty="0" err="1"/>
              <a:t>i</a:t>
            </a:r>
            <a:r>
              <a:rPr lang="zh-CN" altLang="zh-CN" dirty="0"/>
              <a:t>的</a:t>
            </a:r>
            <a:r>
              <a:rPr lang="en-US" altLang="zh-CN" dirty="0" err="1"/>
              <a:t>dist</a:t>
            </a:r>
            <a:r>
              <a:rPr lang="en-US" altLang="zh-CN" dirty="0"/>
              <a:t>[</a:t>
            </a:r>
            <a:r>
              <a:rPr lang="en-US" altLang="zh-CN" dirty="0" err="1"/>
              <a:t>i</a:t>
            </a:r>
            <a:r>
              <a:rPr lang="en-US" altLang="zh-CN" dirty="0"/>
              <a:t>]</a:t>
            </a:r>
            <a:r>
              <a:rPr lang="zh-CN" altLang="zh-CN" dirty="0"/>
              <a:t>＞</a:t>
            </a:r>
            <a:r>
              <a:rPr lang="en-US" altLang="zh-CN" i="1" dirty="0"/>
              <a:t>x</a:t>
            </a:r>
            <a:r>
              <a:rPr lang="zh-CN" altLang="zh-CN" dirty="0"/>
              <a:t>，那么将</a:t>
            </a:r>
            <a:r>
              <a:rPr lang="en-US" altLang="zh-CN" i="1" dirty="0" err="1"/>
              <a:t>i</a:t>
            </a:r>
            <a:r>
              <a:rPr lang="zh-CN" altLang="zh-CN" dirty="0"/>
              <a:t>插入到队尾，继续查找下一元素，直到找到</a:t>
            </a:r>
            <a:r>
              <a:rPr lang="en-US" altLang="zh-CN" dirty="0" err="1"/>
              <a:t>dist</a:t>
            </a:r>
            <a:r>
              <a:rPr lang="en-US" altLang="zh-CN" dirty="0"/>
              <a:t>[</a:t>
            </a:r>
            <a:r>
              <a:rPr lang="en-US" altLang="zh-CN" dirty="0" err="1"/>
              <a:t>i</a:t>
            </a:r>
            <a:r>
              <a:rPr lang="en-US" altLang="zh-CN" dirty="0"/>
              <a:t>]</a:t>
            </a:r>
            <a:r>
              <a:rPr lang="zh-CN" altLang="zh-CN" dirty="0"/>
              <a:t>≤</a:t>
            </a:r>
            <a:r>
              <a:rPr lang="en-US" altLang="zh-CN" i="1" dirty="0"/>
              <a:t>x</a:t>
            </a:r>
            <a:r>
              <a:rPr lang="zh-CN" altLang="zh-CN" dirty="0"/>
              <a:t>，</a:t>
            </a:r>
            <a:r>
              <a:rPr lang="en-US" altLang="zh-CN" dirty="0"/>
              <a:t>SLF</a:t>
            </a:r>
            <a:r>
              <a:rPr lang="zh-CN" altLang="zh-CN" dirty="0"/>
              <a:t>＋</a:t>
            </a:r>
            <a:r>
              <a:rPr lang="en-US" altLang="zh-CN" dirty="0"/>
              <a:t>LLL</a:t>
            </a:r>
            <a:r>
              <a:rPr lang="zh-CN" altLang="zh-CN" dirty="0"/>
              <a:t>可提高速度约</a:t>
            </a:r>
            <a:r>
              <a:rPr lang="en-US" altLang="zh-CN" dirty="0"/>
              <a:t>50%</a:t>
            </a:r>
            <a:r>
              <a:rPr lang="zh-CN" altLang="zh-CN" dirty="0"/>
              <a:t>。</a:t>
            </a:r>
          </a:p>
        </p:txBody>
      </p:sp>
      <p:sp>
        <p:nvSpPr>
          <p:cNvPr id="3" name="矩形 2"/>
          <p:cNvSpPr/>
          <p:nvPr/>
        </p:nvSpPr>
        <p:spPr>
          <a:xfrm>
            <a:off x="37707" y="3176181"/>
            <a:ext cx="8908329" cy="1815882"/>
          </a:xfrm>
          <a:prstGeom prst="rect">
            <a:avLst/>
          </a:prstGeom>
        </p:spPr>
        <p:txBody>
          <a:bodyPr wrap="square">
            <a:spAutoFit/>
          </a:bodyPr>
          <a:lstStyle/>
          <a:p>
            <a:r>
              <a:rPr lang="en-US" altLang="zh-CN" sz="2800" kern="100" dirty="0">
                <a:solidFill>
                  <a:srgbClr val="FF0000"/>
                </a:solidFill>
                <a:ea typeface="楷体_GB2312"/>
                <a:cs typeface="Times New Roman" panose="02020603050405020304"/>
              </a:rPr>
              <a:t>    </a:t>
            </a:r>
            <a:r>
              <a:rPr lang="zh-CN" altLang="zh-CN" sz="2800" kern="100" dirty="0">
                <a:solidFill>
                  <a:srgbClr val="FF0000"/>
                </a:solidFill>
                <a:ea typeface="楷体_GB2312"/>
                <a:cs typeface="Times New Roman" panose="02020603050405020304"/>
              </a:rPr>
              <a:t>目前业界对</a:t>
            </a:r>
            <a:r>
              <a:rPr lang="en-US" altLang="zh-CN" sz="2800" kern="100" dirty="0">
                <a:solidFill>
                  <a:srgbClr val="FF0000"/>
                </a:solidFill>
                <a:ea typeface="楷体_GB2312"/>
                <a:cs typeface="Times New Roman" panose="02020603050405020304"/>
              </a:rPr>
              <a:t> SPFA</a:t>
            </a:r>
            <a:r>
              <a:rPr lang="zh-CN" altLang="zh-CN" sz="2800" kern="100" dirty="0">
                <a:solidFill>
                  <a:srgbClr val="FF0000"/>
                </a:solidFill>
                <a:ea typeface="楷体_GB2312"/>
                <a:cs typeface="Times New Roman" panose="02020603050405020304"/>
              </a:rPr>
              <a:t>算法存在着很多争议，主要集中在使用</a:t>
            </a:r>
            <a:r>
              <a:rPr lang="en-US" altLang="zh-CN" sz="2800" kern="100" dirty="0">
                <a:solidFill>
                  <a:srgbClr val="FF0000"/>
                </a:solidFill>
                <a:ea typeface="楷体_GB2312"/>
                <a:cs typeface="Times New Roman" panose="02020603050405020304"/>
              </a:rPr>
              <a:t>SPFA</a:t>
            </a:r>
            <a:r>
              <a:rPr lang="zh-CN" altLang="zh-CN" sz="2800" kern="100" dirty="0">
                <a:solidFill>
                  <a:srgbClr val="FF0000"/>
                </a:solidFill>
                <a:ea typeface="楷体_GB2312"/>
                <a:cs typeface="Times New Roman" panose="02020603050405020304"/>
              </a:rPr>
              <a:t>算法有可能因一些特殊数据而导致时间复杂度恶化，通过对</a:t>
            </a:r>
            <a:r>
              <a:rPr lang="en-US" altLang="zh-CN" sz="2800" kern="100" dirty="0">
                <a:solidFill>
                  <a:srgbClr val="FF0000"/>
                </a:solidFill>
                <a:ea typeface="楷体_GB2312"/>
                <a:cs typeface="Times New Roman" panose="02020603050405020304"/>
              </a:rPr>
              <a:t>SPFA</a:t>
            </a:r>
            <a:r>
              <a:rPr lang="zh-CN" altLang="zh-CN" sz="2800" kern="100" dirty="0">
                <a:solidFill>
                  <a:srgbClr val="FF0000"/>
                </a:solidFill>
                <a:ea typeface="楷体_GB2312"/>
                <a:cs typeface="Times New Roman" panose="02020603050405020304"/>
              </a:rPr>
              <a:t>的优化可以避免部分失分，一般情况下，建议使用</a:t>
            </a:r>
            <a:r>
              <a:rPr lang="en-US" altLang="zh-CN" sz="2800" kern="100" dirty="0">
                <a:solidFill>
                  <a:srgbClr val="FF0000"/>
                </a:solidFill>
                <a:ea typeface="楷体_GB2312"/>
                <a:cs typeface="Times New Roman" panose="02020603050405020304"/>
              </a:rPr>
              <a:t>Dijkstra</a:t>
            </a:r>
            <a:r>
              <a:rPr lang="zh-CN" altLang="zh-CN" sz="2800" kern="100" dirty="0">
                <a:solidFill>
                  <a:srgbClr val="FF0000"/>
                </a:solidFill>
                <a:ea typeface="楷体_GB2312"/>
                <a:cs typeface="Times New Roman" panose="02020603050405020304"/>
              </a:rPr>
              <a:t>优化算法。</a:t>
            </a:r>
            <a:endParaRPr lang="zh-CN" altLang="en-US" dirty="0">
              <a:solidFill>
                <a:srgbClr val="FF0000"/>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367"/>
            <a:ext cx="9082726" cy="1323439"/>
          </a:xfrm>
          <a:prstGeom prst="rect">
            <a:avLst/>
          </a:prstGeom>
        </p:spPr>
        <p:txBody>
          <a:bodyPr wrap="square">
            <a:spAutoFit/>
          </a:bodyPr>
          <a:lstStyle/>
          <a:p>
            <a:r>
              <a:rPr lang="en-US" altLang="zh-CN" sz="2000" dirty="0"/>
              <a:t>    </a:t>
            </a:r>
            <a:r>
              <a:rPr lang="zh-CN" altLang="zh-CN" sz="2000" dirty="0"/>
              <a:t>对</a:t>
            </a:r>
            <a:r>
              <a:rPr lang="en-US" altLang="zh-CN" sz="2000" dirty="0"/>
              <a:t>SPFA</a:t>
            </a:r>
            <a:r>
              <a:rPr lang="zh-CN" altLang="zh-CN" sz="2000" dirty="0"/>
              <a:t>算法的另一种优化方法是使用深度优先搜索（</a:t>
            </a:r>
            <a:r>
              <a:rPr lang="en-US" altLang="zh-CN" sz="2000" dirty="0"/>
              <a:t>DFS</a:t>
            </a:r>
            <a:r>
              <a:rPr lang="zh-CN" altLang="zh-CN" sz="2000" dirty="0"/>
              <a:t>），绝大多数情况下的时间复杂度为</a:t>
            </a:r>
            <a:r>
              <a:rPr lang="en-US" altLang="zh-CN" sz="2000" i="1" dirty="0"/>
              <a:t>O</a:t>
            </a:r>
            <a:r>
              <a:rPr lang="en-US" altLang="zh-CN" sz="2000" dirty="0"/>
              <a:t>(</a:t>
            </a:r>
            <a:r>
              <a:rPr lang="en-US" altLang="zh-CN" sz="2000" i="1" dirty="0"/>
              <a:t>m</a:t>
            </a:r>
            <a:r>
              <a:rPr lang="en-US" altLang="zh-CN" sz="2000" dirty="0"/>
              <a:t>)</a:t>
            </a:r>
            <a:r>
              <a:rPr lang="zh-CN" altLang="zh-CN" sz="2000" dirty="0"/>
              <a:t>级别。其核心思想为每次更新一个结点时，从该结点开始递归进行下一次迭代。相比队列，深度优先搜索有着先天优势：在环上走一圈，回到已遍历过的结点即有负环。</a:t>
            </a:r>
          </a:p>
        </p:txBody>
      </p:sp>
      <p:sp>
        <p:nvSpPr>
          <p:cNvPr id="4" name="矩形 3"/>
          <p:cNvSpPr/>
          <p:nvPr/>
        </p:nvSpPr>
        <p:spPr>
          <a:xfrm>
            <a:off x="174396" y="1448366"/>
            <a:ext cx="8847056" cy="3416320"/>
          </a:xfrm>
          <a:prstGeom prst="rect">
            <a:avLst/>
          </a:prstGeom>
        </p:spPr>
        <p:txBody>
          <a:bodyPr wrap="square">
            <a:spAutoFit/>
          </a:bodyPr>
          <a:lstStyle/>
          <a:p>
            <a:r>
              <a:rPr lang="en-US" altLang="zh-CN" sz="2400" kern="0" dirty="0">
                <a:solidFill>
                  <a:srgbClr val="8000FF"/>
                </a:solidFill>
                <a:latin typeface="YaHei Consolas Hybrid"/>
                <a:ea typeface="宋体" panose="02010600030101010101" pitchFamily="2" charset="-122"/>
                <a:cs typeface="Courier New" panose="02070309020205020404"/>
              </a:rPr>
              <a:t>void</a:t>
            </a:r>
            <a:r>
              <a:rPr lang="en-US" altLang="zh-CN" sz="2400" kern="0" dirty="0">
                <a:solidFill>
                  <a:srgbClr val="000000"/>
                </a:solidFill>
                <a:latin typeface="YaHei Consolas Hybrid"/>
                <a:ea typeface="宋体" panose="02010600030101010101" pitchFamily="2" charset="-122"/>
                <a:cs typeface="Courier New" panose="02070309020205020404"/>
              </a:rPr>
              <a:t> SPFA</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err="1">
                <a:solidFill>
                  <a:srgbClr val="8000FF"/>
                </a:solidFill>
                <a:latin typeface="YaHei Consolas Hybrid"/>
                <a:ea typeface="宋体" panose="02010600030101010101" pitchFamily="2" charset="-122"/>
                <a:cs typeface="Courier New" panose="02070309020205020404"/>
              </a:rPr>
              <a:t>int</a:t>
            </a:r>
            <a:r>
              <a:rPr lang="en-US" altLang="zh-CN" sz="2400" kern="0" dirty="0">
                <a:solidFill>
                  <a:srgbClr val="000000"/>
                </a:solidFill>
                <a:latin typeface="YaHei Consolas Hybrid"/>
                <a:ea typeface="宋体" panose="02010600030101010101" pitchFamily="2" charset="-122"/>
                <a:cs typeface="Courier New" panose="02070309020205020404"/>
              </a:rPr>
              <a:t> s</a:t>
            </a:r>
            <a:r>
              <a:rPr lang="en-US" altLang="zh-CN" sz="2400" b="1" kern="0" dirty="0">
                <a:solidFill>
                  <a:srgbClr val="000080"/>
                </a:solidFill>
                <a:latin typeface="YaHei Consolas Hybrid"/>
                <a:ea typeface="宋体" panose="02010600030101010101" pitchFamily="2" charset="-122"/>
                <a:cs typeface="Courier New" panose="02070309020205020404"/>
              </a:rPr>
              <a:t>)</a:t>
            </a:r>
            <a:endParaRPr lang="zh-CN" altLang="zh-CN" sz="2800" kern="100" dirty="0">
              <a:latin typeface="Times New Roman" panose="02020603050405020304"/>
              <a:ea typeface="宋体" panose="02010600030101010101" pitchFamily="2" charset="-122"/>
            </a:endParaRPr>
          </a:p>
          <a:p>
            <a:r>
              <a:rPr lang="en-US" altLang="zh-CN" sz="2400" b="1" kern="0" dirty="0">
                <a:solidFill>
                  <a:srgbClr val="000080"/>
                </a:solidFill>
                <a:latin typeface="YaHei Consolas Hybrid"/>
                <a:ea typeface="宋体" panose="02010600030101010101" pitchFamily="2" charset="-122"/>
                <a:cs typeface="Courier New" panose="02070309020205020404"/>
              </a:rPr>
              <a:t>{</a:t>
            </a:r>
            <a:endParaRPr lang="zh-CN" altLang="zh-CN" sz="2800" kern="100" dirty="0">
              <a:latin typeface="Times New Roman" panose="02020603050405020304"/>
              <a:ea typeface="宋体" panose="02010600030101010101" pitchFamily="2" charset="-122"/>
            </a:endParaRPr>
          </a:p>
          <a:p>
            <a:r>
              <a:rPr lang="en-US" altLang="zh-CN" sz="2400" kern="0" dirty="0">
                <a:solidFill>
                  <a:srgbClr val="000000"/>
                </a:solidFill>
                <a:latin typeface="YaHei Consolas Hybrid"/>
                <a:ea typeface="宋体" panose="02010600030101010101" pitchFamily="2" charset="-122"/>
                <a:cs typeface="Courier New" panose="02070309020205020404"/>
              </a:rPr>
              <a:t>  </a:t>
            </a:r>
            <a:r>
              <a:rPr lang="en-US" altLang="zh-CN" sz="2400" b="1" kern="0" dirty="0">
                <a:solidFill>
                  <a:srgbClr val="0000FF"/>
                </a:solidFill>
                <a:latin typeface="YaHei Consolas Hybrid"/>
                <a:ea typeface="宋体" panose="02010600030101010101" pitchFamily="2" charset="-122"/>
                <a:cs typeface="Courier New" panose="02070309020205020404"/>
              </a:rPr>
              <a:t>for</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err="1">
                <a:solidFill>
                  <a:srgbClr val="8000FF"/>
                </a:solidFill>
                <a:latin typeface="YaHei Consolas Hybrid"/>
                <a:ea typeface="宋体" panose="02010600030101010101" pitchFamily="2" charset="-122"/>
                <a:cs typeface="Courier New" panose="02070309020205020404"/>
              </a:rPr>
              <a:t>int</a:t>
            </a:r>
            <a:r>
              <a:rPr lang="en-US" altLang="zh-CN" sz="2400" kern="0" dirty="0">
                <a:solidFill>
                  <a:srgbClr val="000000"/>
                </a:solidFill>
                <a:latin typeface="YaHei Consolas Hybrid"/>
                <a:ea typeface="宋体" panose="02010600030101010101" pitchFamily="2" charset="-122"/>
                <a:cs typeface="Courier New" panose="02070309020205020404"/>
              </a:rPr>
              <a:t> </a:t>
            </a:r>
            <a:r>
              <a:rPr lang="en-US" altLang="zh-CN" sz="2400" kern="0" dirty="0" err="1">
                <a:solidFill>
                  <a:srgbClr val="000000"/>
                </a:solidFill>
                <a:latin typeface="YaHei Consolas Hybrid"/>
                <a:ea typeface="宋体" panose="02010600030101010101" pitchFamily="2" charset="-122"/>
                <a:cs typeface="Courier New" panose="02070309020205020404"/>
              </a:rPr>
              <a:t>i</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FF8000"/>
                </a:solidFill>
                <a:latin typeface="YaHei Consolas Hybrid"/>
                <a:ea typeface="宋体" panose="02010600030101010101" pitchFamily="2" charset="-122"/>
                <a:cs typeface="Courier New" panose="02070309020205020404"/>
              </a:rPr>
              <a:t>1</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 </a:t>
            </a:r>
            <a:r>
              <a:rPr lang="en-US" altLang="zh-CN" sz="2400" kern="0" dirty="0" err="1">
                <a:solidFill>
                  <a:srgbClr val="000000"/>
                </a:solidFill>
                <a:latin typeface="YaHei Consolas Hybrid"/>
                <a:ea typeface="宋体" panose="02010600030101010101" pitchFamily="2" charset="-122"/>
                <a:cs typeface="Courier New" panose="02070309020205020404"/>
              </a:rPr>
              <a:t>i</a:t>
            </a:r>
            <a:r>
              <a:rPr lang="en-US" altLang="zh-CN" sz="2400" b="1" kern="0" dirty="0">
                <a:solidFill>
                  <a:srgbClr val="000080"/>
                </a:solidFill>
                <a:latin typeface="YaHei Consolas Hybrid"/>
                <a:ea typeface="宋体" panose="02010600030101010101" pitchFamily="2" charset="-122"/>
                <a:cs typeface="Courier New" panose="02070309020205020404"/>
              </a:rPr>
              <a:t>&lt;=</a:t>
            </a:r>
            <a:r>
              <a:rPr lang="en-US" altLang="zh-CN" sz="2400" kern="0" dirty="0">
                <a:solidFill>
                  <a:srgbClr val="000000"/>
                </a:solidFill>
                <a:latin typeface="YaHei Consolas Hybrid"/>
                <a:ea typeface="宋体" panose="02010600030101010101" pitchFamily="2" charset="-122"/>
                <a:cs typeface="Courier New" panose="02070309020205020404"/>
              </a:rPr>
              <a:t>b</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s</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FF8000"/>
                </a:solidFill>
                <a:latin typeface="YaHei Consolas Hybrid"/>
                <a:ea typeface="宋体" panose="02010600030101010101" pitchFamily="2" charset="-122"/>
                <a:cs typeface="Courier New" panose="02070309020205020404"/>
              </a:rPr>
              <a:t>0</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 </a:t>
            </a:r>
            <a:r>
              <a:rPr lang="en-US" altLang="zh-CN" sz="2400" kern="0" dirty="0" err="1">
                <a:solidFill>
                  <a:srgbClr val="000000"/>
                </a:solidFill>
                <a:latin typeface="YaHei Consolas Hybrid"/>
                <a:ea typeface="宋体" panose="02010600030101010101" pitchFamily="2" charset="-122"/>
                <a:cs typeface="Courier New" panose="02070309020205020404"/>
              </a:rPr>
              <a:t>i</a:t>
            </a:r>
            <a:r>
              <a:rPr lang="en-US" altLang="zh-CN" sz="2400" b="1" kern="0" dirty="0">
                <a:solidFill>
                  <a:srgbClr val="000080"/>
                </a:solidFill>
                <a:latin typeface="YaHei Consolas Hybrid"/>
                <a:ea typeface="宋体" panose="02010600030101010101" pitchFamily="2" charset="-122"/>
                <a:cs typeface="Courier New" panose="02070309020205020404"/>
              </a:rPr>
              <a:t>++)</a:t>
            </a:r>
            <a:endParaRPr lang="zh-CN" altLang="zh-CN" sz="2800" kern="100" dirty="0">
              <a:latin typeface="Times New Roman" panose="02020603050405020304"/>
              <a:ea typeface="宋体" panose="02010600030101010101" pitchFamily="2" charset="-122"/>
            </a:endParaRPr>
          </a:p>
          <a:p>
            <a:r>
              <a:rPr lang="en-US" altLang="zh-CN" sz="2400" kern="0" dirty="0">
                <a:solidFill>
                  <a:srgbClr val="000000"/>
                </a:solidFill>
                <a:latin typeface="YaHei Consolas Hybrid"/>
                <a:ea typeface="宋体" panose="02010600030101010101" pitchFamily="2" charset="-122"/>
                <a:cs typeface="Courier New" panose="02070309020205020404"/>
              </a:rPr>
              <a:t>    </a:t>
            </a:r>
            <a:r>
              <a:rPr lang="en-US" altLang="zh-CN" sz="2400" b="1" kern="0" dirty="0">
                <a:solidFill>
                  <a:srgbClr val="0000FF"/>
                </a:solidFill>
                <a:latin typeface="YaHei Consolas Hybrid"/>
                <a:ea typeface="宋体" panose="02010600030101010101" pitchFamily="2" charset="-122"/>
                <a:cs typeface="Courier New" panose="02070309020205020404"/>
              </a:rPr>
              <a:t>if</a:t>
            </a:r>
            <a:r>
              <a:rPr lang="en-US" altLang="zh-CN" sz="2400" kern="0" dirty="0">
                <a:solidFill>
                  <a:srgbClr val="000000"/>
                </a:solidFill>
                <a:latin typeface="YaHei Consolas Hybrid"/>
                <a:ea typeface="宋体" panose="02010600030101010101" pitchFamily="2" charset="-122"/>
                <a:cs typeface="Courier New" panose="02070309020205020404"/>
              </a:rPr>
              <a:t> </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dis</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b</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s</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err="1">
                <a:solidFill>
                  <a:srgbClr val="000000"/>
                </a:solidFill>
                <a:latin typeface="YaHei Consolas Hybrid"/>
                <a:ea typeface="宋体" panose="02010600030101010101" pitchFamily="2" charset="-122"/>
                <a:cs typeface="Courier New" panose="02070309020205020404"/>
              </a:rPr>
              <a:t>i</a:t>
            </a:r>
            <a:r>
              <a:rPr lang="en-US" altLang="zh-CN" sz="2400" b="1" kern="0" dirty="0">
                <a:solidFill>
                  <a:srgbClr val="000080"/>
                </a:solidFill>
                <a:latin typeface="YaHei Consolas Hybrid"/>
                <a:ea typeface="宋体" panose="02010600030101010101" pitchFamily="2" charset="-122"/>
                <a:cs typeface="Courier New" panose="02070309020205020404"/>
              </a:rPr>
              <a:t>]]&gt;</a:t>
            </a:r>
            <a:r>
              <a:rPr lang="en-US" altLang="zh-CN" sz="2400" kern="0" dirty="0">
                <a:solidFill>
                  <a:srgbClr val="000000"/>
                </a:solidFill>
                <a:latin typeface="YaHei Consolas Hybrid"/>
                <a:ea typeface="宋体" panose="02010600030101010101" pitchFamily="2" charset="-122"/>
                <a:cs typeface="Courier New" panose="02070309020205020404"/>
              </a:rPr>
              <a:t>dis</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s</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w</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s</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b</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s</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err="1">
                <a:solidFill>
                  <a:srgbClr val="000000"/>
                </a:solidFill>
                <a:latin typeface="YaHei Consolas Hybrid"/>
                <a:ea typeface="宋体" panose="02010600030101010101" pitchFamily="2" charset="-122"/>
                <a:cs typeface="Courier New" panose="02070309020205020404"/>
              </a:rPr>
              <a:t>i</a:t>
            </a:r>
            <a:r>
              <a:rPr lang="en-US" altLang="zh-CN" sz="2400" b="1" kern="0" dirty="0">
                <a:solidFill>
                  <a:srgbClr val="000080"/>
                </a:solidFill>
                <a:latin typeface="YaHei Consolas Hybrid"/>
                <a:ea typeface="宋体" panose="02010600030101010101" pitchFamily="2" charset="-122"/>
                <a:cs typeface="Courier New" panose="02070309020205020404"/>
              </a:rPr>
              <a:t>]])</a:t>
            </a:r>
            <a:endParaRPr lang="zh-CN" altLang="zh-CN" sz="2800" kern="100" dirty="0">
              <a:latin typeface="Times New Roman" panose="02020603050405020304"/>
              <a:ea typeface="宋体" panose="02010600030101010101" pitchFamily="2" charset="-122"/>
            </a:endParaRPr>
          </a:p>
          <a:p>
            <a:r>
              <a:rPr lang="en-US" altLang="zh-CN" sz="2400" kern="0" dirty="0">
                <a:solidFill>
                  <a:srgbClr val="000000"/>
                </a:solidFill>
                <a:latin typeface="YaHei Consolas Hybrid"/>
                <a:ea typeface="宋体" panose="02010600030101010101" pitchFamily="2" charset="-122"/>
                <a:cs typeface="Courier New" panose="02070309020205020404"/>
              </a:rPr>
              <a:t>    </a:t>
            </a:r>
            <a:r>
              <a:rPr lang="en-US" altLang="zh-CN" sz="2400" b="1" kern="0" dirty="0">
                <a:solidFill>
                  <a:srgbClr val="000080"/>
                </a:solidFill>
                <a:latin typeface="YaHei Consolas Hybrid"/>
                <a:ea typeface="宋体" panose="02010600030101010101" pitchFamily="2" charset="-122"/>
                <a:cs typeface="Courier New" panose="02070309020205020404"/>
              </a:rPr>
              <a:t>{</a:t>
            </a:r>
            <a:endParaRPr lang="zh-CN" altLang="zh-CN" sz="2800" kern="100" dirty="0">
              <a:latin typeface="Times New Roman" panose="02020603050405020304"/>
              <a:ea typeface="宋体" panose="02010600030101010101" pitchFamily="2" charset="-122"/>
            </a:endParaRPr>
          </a:p>
          <a:p>
            <a:r>
              <a:rPr lang="en-US" altLang="zh-CN" sz="2400" kern="0" dirty="0">
                <a:solidFill>
                  <a:srgbClr val="000000"/>
                </a:solidFill>
                <a:latin typeface="YaHei Consolas Hybrid"/>
                <a:ea typeface="宋体" panose="02010600030101010101" pitchFamily="2" charset="-122"/>
                <a:cs typeface="Courier New" panose="02070309020205020404"/>
              </a:rPr>
              <a:t>      dis</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b</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s</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err="1">
                <a:solidFill>
                  <a:srgbClr val="000000"/>
                </a:solidFill>
                <a:latin typeface="YaHei Consolas Hybrid"/>
                <a:ea typeface="宋体" panose="02010600030101010101" pitchFamily="2" charset="-122"/>
                <a:cs typeface="Courier New" panose="02070309020205020404"/>
              </a:rPr>
              <a:t>i</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dis</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s</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w</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s</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b</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s</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err="1">
                <a:solidFill>
                  <a:srgbClr val="000000"/>
                </a:solidFill>
                <a:latin typeface="YaHei Consolas Hybrid"/>
                <a:ea typeface="宋体" panose="02010600030101010101" pitchFamily="2" charset="-122"/>
                <a:cs typeface="Courier New" panose="02070309020205020404"/>
              </a:rPr>
              <a:t>i</a:t>
            </a:r>
            <a:r>
              <a:rPr lang="en-US" altLang="zh-CN" sz="2400" b="1" kern="0" dirty="0">
                <a:solidFill>
                  <a:srgbClr val="000080"/>
                </a:solidFill>
                <a:latin typeface="YaHei Consolas Hybrid"/>
                <a:ea typeface="宋体" panose="02010600030101010101" pitchFamily="2" charset="-122"/>
                <a:cs typeface="Courier New" panose="02070309020205020404"/>
              </a:rPr>
              <a:t>]];</a:t>
            </a:r>
            <a:endParaRPr lang="zh-CN" altLang="zh-CN" sz="2800" kern="100" dirty="0">
              <a:latin typeface="Times New Roman" panose="02020603050405020304"/>
              <a:ea typeface="宋体" panose="02010600030101010101" pitchFamily="2" charset="-122"/>
            </a:endParaRPr>
          </a:p>
          <a:p>
            <a:r>
              <a:rPr lang="en-US" altLang="zh-CN" sz="2400" kern="0" dirty="0">
                <a:solidFill>
                  <a:srgbClr val="000000"/>
                </a:solidFill>
                <a:latin typeface="YaHei Consolas Hybrid"/>
                <a:ea typeface="宋体" panose="02010600030101010101" pitchFamily="2" charset="-122"/>
                <a:cs typeface="Courier New" panose="02070309020205020404"/>
              </a:rPr>
              <a:t>      SPFA</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b</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a:solidFill>
                  <a:srgbClr val="000000"/>
                </a:solidFill>
                <a:latin typeface="YaHei Consolas Hybrid"/>
                <a:ea typeface="宋体" panose="02010600030101010101" pitchFamily="2" charset="-122"/>
                <a:cs typeface="Courier New" panose="02070309020205020404"/>
              </a:rPr>
              <a:t>s</a:t>
            </a:r>
            <a:r>
              <a:rPr lang="en-US" altLang="zh-CN" sz="2400" b="1" kern="0" dirty="0">
                <a:solidFill>
                  <a:srgbClr val="000080"/>
                </a:solidFill>
                <a:latin typeface="YaHei Consolas Hybrid"/>
                <a:ea typeface="宋体" panose="02010600030101010101" pitchFamily="2" charset="-122"/>
                <a:cs typeface="Courier New" panose="02070309020205020404"/>
              </a:rPr>
              <a:t>][</a:t>
            </a:r>
            <a:r>
              <a:rPr lang="en-US" altLang="zh-CN" sz="2400" kern="0" dirty="0" err="1">
                <a:solidFill>
                  <a:srgbClr val="000000"/>
                </a:solidFill>
                <a:latin typeface="YaHei Consolas Hybrid"/>
                <a:ea typeface="宋体" panose="02010600030101010101" pitchFamily="2" charset="-122"/>
                <a:cs typeface="Courier New" panose="02070309020205020404"/>
              </a:rPr>
              <a:t>i</a:t>
            </a:r>
            <a:r>
              <a:rPr lang="en-US" altLang="zh-CN" sz="2400" b="1" kern="0" dirty="0">
                <a:solidFill>
                  <a:srgbClr val="000080"/>
                </a:solidFill>
                <a:latin typeface="YaHei Consolas Hybrid"/>
                <a:ea typeface="宋体" panose="02010600030101010101" pitchFamily="2" charset="-122"/>
                <a:cs typeface="Courier New" panose="02070309020205020404"/>
              </a:rPr>
              <a:t>]);</a:t>
            </a:r>
            <a:endParaRPr lang="zh-CN" altLang="zh-CN" sz="2800" kern="100" dirty="0">
              <a:latin typeface="Times New Roman" panose="02020603050405020304"/>
              <a:ea typeface="宋体" panose="02010600030101010101" pitchFamily="2" charset="-122"/>
            </a:endParaRPr>
          </a:p>
          <a:p>
            <a:r>
              <a:rPr lang="en-US" altLang="zh-CN" sz="2400" kern="0" dirty="0">
                <a:solidFill>
                  <a:srgbClr val="000000"/>
                </a:solidFill>
                <a:latin typeface="YaHei Consolas Hybrid"/>
                <a:ea typeface="宋体" panose="02010600030101010101" pitchFamily="2" charset="-122"/>
                <a:cs typeface="Courier New" panose="02070309020205020404"/>
              </a:rPr>
              <a:t>    </a:t>
            </a:r>
            <a:r>
              <a:rPr lang="en-US" altLang="zh-CN" sz="2400" b="1" kern="0" dirty="0">
                <a:solidFill>
                  <a:srgbClr val="000080"/>
                </a:solidFill>
                <a:latin typeface="YaHei Consolas Hybrid"/>
                <a:ea typeface="宋体" panose="02010600030101010101" pitchFamily="2" charset="-122"/>
                <a:cs typeface="Courier New" panose="02070309020205020404"/>
              </a:rPr>
              <a:t>}</a:t>
            </a:r>
            <a:endParaRPr lang="zh-CN" altLang="zh-CN" sz="2800" kern="100" dirty="0">
              <a:latin typeface="Times New Roman" panose="02020603050405020304"/>
              <a:ea typeface="宋体" panose="02010600030101010101" pitchFamily="2" charset="-122"/>
            </a:endParaRPr>
          </a:p>
          <a:p>
            <a:r>
              <a:rPr lang="en-US" altLang="zh-CN" sz="2400" b="1" kern="0" dirty="0">
                <a:solidFill>
                  <a:srgbClr val="000080"/>
                </a:solidFill>
                <a:latin typeface="YaHei Consolas Hybrid"/>
                <a:ea typeface="宋体" panose="02010600030101010101" pitchFamily="2" charset="-122"/>
                <a:cs typeface="Courier New" panose="02070309020205020404"/>
              </a:rPr>
              <a:t>}</a:t>
            </a:r>
            <a:endParaRPr lang="zh-CN" altLang="zh-CN" sz="2800" kern="100" dirty="0">
              <a:effectLst/>
              <a:latin typeface="Times New Roman" panose="02020603050405020304"/>
              <a:ea typeface="宋体" panose="02010600030101010101" pitchFamily="2"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249"/>
            <a:ext cx="2945037" cy="492443"/>
          </a:xfrm>
          <a:prstGeom prst="rect">
            <a:avLst/>
          </a:prstGeom>
        </p:spPr>
        <p:txBody>
          <a:bodyPr wrap="none">
            <a:spAutoFit/>
          </a:bodyPr>
          <a:lstStyle/>
          <a:p>
            <a:r>
              <a:rPr lang="en-US" altLang="zh-CN" b="1" dirty="0"/>
              <a:t>5.5.1 </a:t>
            </a:r>
            <a:r>
              <a:rPr lang="zh-CN" altLang="zh-CN" b="1" dirty="0"/>
              <a:t>拓扑排序介绍</a:t>
            </a:r>
          </a:p>
        </p:txBody>
      </p:sp>
      <p:sp>
        <p:nvSpPr>
          <p:cNvPr id="3" name="矩形 2"/>
          <p:cNvSpPr/>
          <p:nvPr/>
        </p:nvSpPr>
        <p:spPr>
          <a:xfrm>
            <a:off x="0" y="617779"/>
            <a:ext cx="9144000" cy="3908762"/>
          </a:xfrm>
          <a:prstGeom prst="rect">
            <a:avLst/>
          </a:prstGeom>
        </p:spPr>
        <p:txBody>
          <a:bodyPr wrap="square">
            <a:spAutoFit/>
          </a:bodyPr>
          <a:lstStyle/>
          <a:p>
            <a:pPr indent="276225" algn="just">
              <a:spcAft>
                <a:spcPts val="0"/>
              </a:spcAft>
            </a:pPr>
            <a:r>
              <a:rPr lang="zh-CN" altLang="zh-CN" sz="2400" kern="100" dirty="0">
                <a:latin typeface="Times New Roman" panose="02020603050405020304"/>
                <a:ea typeface="宋体" panose="02010600030101010101" pitchFamily="2" charset="-122"/>
              </a:rPr>
              <a:t>一项任务由若干个子任务组成，这些子任务之间存在一种先后关系，即某些子任务必须在其他一些任务完成之后才能开始，我们用一个有向图来表示任务间的关系，子任务为顶点，活动之间的先后关系为有向边，这种有向图称为顶点表示活动的网络，又称为</a:t>
            </a:r>
            <a:r>
              <a:rPr lang="en-US" altLang="zh-CN" sz="2400" kern="100" dirty="0">
                <a:latin typeface="Times New Roman" panose="02020603050405020304"/>
                <a:ea typeface="宋体" panose="02010600030101010101" pitchFamily="2" charset="-122"/>
              </a:rPr>
              <a:t>AOV</a:t>
            </a:r>
            <a:r>
              <a:rPr lang="zh-CN" altLang="zh-CN" sz="2400" kern="100" dirty="0">
                <a:latin typeface="Times New Roman" panose="02020603050405020304"/>
                <a:ea typeface="宋体" panose="02010600030101010101" pitchFamily="2" charset="-122"/>
              </a:rPr>
              <a:t>（</a:t>
            </a:r>
            <a:r>
              <a:rPr lang="en-US" altLang="zh-CN" sz="2400" kern="100" dirty="0">
                <a:latin typeface="Times New Roman" panose="02020603050405020304"/>
                <a:ea typeface="宋体" panose="02010600030101010101" pitchFamily="2" charset="-122"/>
              </a:rPr>
              <a:t>Activity On Vertex Network</a:t>
            </a:r>
            <a:r>
              <a:rPr lang="zh-CN" altLang="zh-CN" sz="2400" kern="100" dirty="0">
                <a:latin typeface="Times New Roman" panose="02020603050405020304"/>
                <a:ea typeface="宋体" panose="02010600030101010101" pitchFamily="2" charset="-122"/>
              </a:rPr>
              <a:t>）网。在</a:t>
            </a:r>
            <a:r>
              <a:rPr lang="en-US" altLang="zh-CN" sz="2400" kern="100" dirty="0">
                <a:latin typeface="Times New Roman" panose="02020603050405020304"/>
                <a:ea typeface="宋体" panose="02010600030101010101" pitchFamily="2" charset="-122"/>
              </a:rPr>
              <a:t>AOV</a:t>
            </a:r>
            <a:r>
              <a:rPr lang="zh-CN" altLang="zh-CN" sz="2400" kern="100" dirty="0">
                <a:latin typeface="Times New Roman" panose="02020603050405020304"/>
                <a:ea typeface="宋体" panose="02010600030101010101" pitchFamily="2" charset="-122"/>
              </a:rPr>
              <a:t>网中，如果有一条从顶点</a:t>
            </a:r>
            <a:r>
              <a:rPr lang="en-US" altLang="zh-CN" sz="2400" i="1" kern="100" dirty="0">
                <a:latin typeface="Times New Roman" panose="02020603050405020304"/>
                <a:ea typeface="宋体" panose="02010600030101010101" pitchFamily="2" charset="-122"/>
              </a:rPr>
              <a:t>V</a:t>
            </a:r>
            <a:r>
              <a:rPr lang="en-US" altLang="zh-CN" sz="2400" i="1" kern="100" baseline="-25000" dirty="0">
                <a:latin typeface="Times New Roman" panose="02020603050405020304"/>
                <a:ea typeface="宋体" panose="02010600030101010101" pitchFamily="2" charset="-122"/>
              </a:rPr>
              <a:t>i</a:t>
            </a:r>
            <a:r>
              <a:rPr lang="zh-CN" altLang="zh-CN" sz="2400" kern="100" dirty="0">
                <a:latin typeface="Times New Roman" panose="02020603050405020304"/>
                <a:ea typeface="宋体" panose="02010600030101010101" pitchFamily="2" charset="-122"/>
              </a:rPr>
              <a:t>到</a:t>
            </a:r>
            <a:r>
              <a:rPr lang="en-US" altLang="zh-CN" sz="2400" i="1" kern="100" dirty="0" err="1">
                <a:latin typeface="Times New Roman" panose="02020603050405020304"/>
                <a:ea typeface="宋体" panose="02010600030101010101" pitchFamily="2" charset="-122"/>
              </a:rPr>
              <a:t>V</a:t>
            </a:r>
            <a:r>
              <a:rPr lang="en-US" altLang="zh-CN" sz="2400" i="1" kern="100" baseline="-25000" dirty="0" err="1">
                <a:latin typeface="Times New Roman" panose="02020603050405020304"/>
                <a:ea typeface="宋体" panose="02010600030101010101" pitchFamily="2" charset="-122"/>
              </a:rPr>
              <a:t>j</a:t>
            </a:r>
            <a:r>
              <a:rPr lang="zh-CN" altLang="zh-CN" sz="2400" kern="100" dirty="0">
                <a:latin typeface="Times New Roman" panose="02020603050405020304"/>
                <a:ea typeface="宋体" panose="02010600030101010101" pitchFamily="2" charset="-122"/>
              </a:rPr>
              <a:t>的路径，则说</a:t>
            </a:r>
            <a:r>
              <a:rPr lang="en-US" altLang="zh-CN" sz="2400" i="1" kern="100" dirty="0">
                <a:latin typeface="Times New Roman" panose="02020603050405020304"/>
                <a:ea typeface="宋体" panose="02010600030101010101" pitchFamily="2" charset="-122"/>
              </a:rPr>
              <a:t>V</a:t>
            </a:r>
            <a:r>
              <a:rPr lang="en-US" altLang="zh-CN" sz="2400" i="1" kern="100" baseline="-25000" dirty="0">
                <a:latin typeface="Times New Roman" panose="02020603050405020304"/>
                <a:ea typeface="宋体" panose="02010600030101010101" pitchFamily="2" charset="-122"/>
              </a:rPr>
              <a:t>i</a:t>
            </a:r>
            <a:r>
              <a:rPr lang="zh-CN" altLang="zh-CN" sz="2400" kern="100" dirty="0">
                <a:latin typeface="Times New Roman" panose="02020603050405020304"/>
                <a:ea typeface="宋体" panose="02010600030101010101" pitchFamily="2" charset="-122"/>
              </a:rPr>
              <a:t>是</a:t>
            </a:r>
            <a:r>
              <a:rPr lang="en-US" altLang="zh-CN" sz="2400" i="1" kern="100" dirty="0" err="1">
                <a:latin typeface="Times New Roman" panose="02020603050405020304"/>
                <a:ea typeface="宋体" panose="02010600030101010101" pitchFamily="2" charset="-122"/>
              </a:rPr>
              <a:t>V</a:t>
            </a:r>
            <a:r>
              <a:rPr lang="en-US" altLang="zh-CN" sz="2400" i="1" kern="100" baseline="-25000" dirty="0" err="1">
                <a:latin typeface="Times New Roman" panose="02020603050405020304"/>
                <a:ea typeface="宋体" panose="02010600030101010101" pitchFamily="2" charset="-122"/>
              </a:rPr>
              <a:t>j</a:t>
            </a:r>
            <a:r>
              <a:rPr lang="zh-CN" altLang="zh-CN" sz="2400" kern="100" dirty="0">
                <a:latin typeface="Times New Roman" panose="02020603050405020304"/>
                <a:ea typeface="宋体" panose="02010600030101010101" pitchFamily="2" charset="-122"/>
              </a:rPr>
              <a:t>的前趋，</a:t>
            </a:r>
            <a:r>
              <a:rPr lang="en-US" altLang="zh-CN" sz="2400" i="1" kern="100" dirty="0" err="1">
                <a:latin typeface="Times New Roman" panose="02020603050405020304"/>
                <a:ea typeface="宋体" panose="02010600030101010101" pitchFamily="2" charset="-122"/>
              </a:rPr>
              <a:t>V</a:t>
            </a:r>
            <a:r>
              <a:rPr lang="en-US" altLang="zh-CN" sz="2400" i="1" kern="100" baseline="-25000" dirty="0" err="1">
                <a:latin typeface="Times New Roman" panose="02020603050405020304"/>
                <a:ea typeface="宋体" panose="02010600030101010101" pitchFamily="2" charset="-122"/>
              </a:rPr>
              <a:t>j</a:t>
            </a:r>
            <a:r>
              <a:rPr lang="zh-CN" altLang="zh-CN" sz="2400" kern="100" dirty="0">
                <a:latin typeface="Times New Roman" panose="02020603050405020304"/>
                <a:ea typeface="宋体" panose="02010600030101010101" pitchFamily="2" charset="-122"/>
              </a:rPr>
              <a:t>是</a:t>
            </a:r>
            <a:r>
              <a:rPr lang="en-US" altLang="zh-CN" sz="2400" i="1" kern="100" dirty="0">
                <a:latin typeface="Times New Roman" panose="02020603050405020304"/>
                <a:ea typeface="宋体" panose="02010600030101010101" pitchFamily="2" charset="-122"/>
              </a:rPr>
              <a:t>V</a:t>
            </a:r>
            <a:r>
              <a:rPr lang="en-US" altLang="zh-CN" sz="2400" i="1" kern="100" baseline="-25000" dirty="0">
                <a:latin typeface="Times New Roman" panose="02020603050405020304"/>
                <a:ea typeface="宋体" panose="02010600030101010101" pitchFamily="2" charset="-122"/>
              </a:rPr>
              <a:t>i</a:t>
            </a:r>
            <a:r>
              <a:rPr lang="zh-CN" altLang="zh-CN" sz="2400" kern="100" dirty="0">
                <a:latin typeface="Times New Roman" panose="02020603050405020304"/>
                <a:ea typeface="宋体" panose="02010600030101010101" pitchFamily="2" charset="-122"/>
              </a:rPr>
              <a:t>的后续。如果有连接顶点</a:t>
            </a:r>
            <a:r>
              <a:rPr lang="en-US" altLang="zh-CN" sz="2400" i="1" kern="100" dirty="0">
                <a:latin typeface="Times New Roman" panose="02020603050405020304"/>
                <a:ea typeface="宋体" panose="02010600030101010101" pitchFamily="2" charset="-122"/>
              </a:rPr>
              <a:t>V</a:t>
            </a:r>
            <a:r>
              <a:rPr lang="en-US" altLang="zh-CN" sz="2400" i="1" kern="100" baseline="-25000" dirty="0">
                <a:latin typeface="Times New Roman" panose="02020603050405020304"/>
                <a:ea typeface="宋体" panose="02010600030101010101" pitchFamily="2" charset="-122"/>
              </a:rPr>
              <a:t>i</a:t>
            </a:r>
            <a:r>
              <a:rPr lang="zh-CN" altLang="zh-CN" sz="2400" kern="100" dirty="0">
                <a:latin typeface="Times New Roman" panose="02020603050405020304"/>
                <a:ea typeface="宋体" panose="02010600030101010101" pitchFamily="2" charset="-122"/>
              </a:rPr>
              <a:t>到</a:t>
            </a:r>
            <a:r>
              <a:rPr lang="en-US" altLang="zh-CN" sz="2400" i="1" kern="100" dirty="0" err="1">
                <a:latin typeface="Times New Roman" panose="02020603050405020304"/>
                <a:ea typeface="宋体" panose="02010600030101010101" pitchFamily="2" charset="-122"/>
              </a:rPr>
              <a:t>V</a:t>
            </a:r>
            <a:r>
              <a:rPr lang="en-US" altLang="zh-CN" sz="2400" i="1" kern="100" baseline="-25000" dirty="0" err="1">
                <a:latin typeface="Times New Roman" panose="02020603050405020304"/>
                <a:ea typeface="宋体" panose="02010600030101010101" pitchFamily="2" charset="-122"/>
              </a:rPr>
              <a:t>j</a:t>
            </a:r>
            <a:r>
              <a:rPr lang="zh-CN" altLang="zh-CN" sz="2400" kern="100" dirty="0">
                <a:latin typeface="Times New Roman" panose="02020603050405020304"/>
                <a:ea typeface="宋体" panose="02010600030101010101" pitchFamily="2" charset="-122"/>
              </a:rPr>
              <a:t>的有向边即弧</a:t>
            </a:r>
            <a:r>
              <a:rPr lang="en-US" altLang="zh-CN" sz="2400" kern="100" dirty="0">
                <a:latin typeface="Times New Roman" panose="02020603050405020304"/>
                <a:ea typeface="宋体" panose="02010600030101010101" pitchFamily="2" charset="-122"/>
              </a:rPr>
              <a:t>(</a:t>
            </a:r>
            <a:r>
              <a:rPr lang="en-US" altLang="zh-CN" sz="2400" i="1" kern="100" dirty="0" err="1">
                <a:latin typeface="Times New Roman" panose="02020603050405020304"/>
                <a:ea typeface="宋体" panose="02010600030101010101" pitchFamily="2" charset="-122"/>
              </a:rPr>
              <a:t>V</a:t>
            </a:r>
            <a:r>
              <a:rPr lang="en-US" altLang="zh-CN" sz="2400" i="1" kern="100" baseline="-25000" dirty="0" err="1">
                <a:latin typeface="Times New Roman" panose="02020603050405020304"/>
                <a:ea typeface="宋体" panose="02010600030101010101" pitchFamily="2" charset="-122"/>
              </a:rPr>
              <a:t>i</a:t>
            </a:r>
            <a:r>
              <a:rPr lang="en-US" altLang="zh-CN" sz="2400" kern="100" dirty="0" err="1">
                <a:latin typeface="Times New Roman" panose="02020603050405020304"/>
                <a:ea typeface="宋体" panose="02010600030101010101" pitchFamily="2" charset="-122"/>
              </a:rPr>
              <a:t>,</a:t>
            </a:r>
            <a:r>
              <a:rPr lang="en-US" altLang="zh-CN" sz="2400" i="1" kern="100" dirty="0" err="1">
                <a:latin typeface="Times New Roman" panose="02020603050405020304"/>
                <a:ea typeface="宋体" panose="02010600030101010101" pitchFamily="2" charset="-122"/>
              </a:rPr>
              <a:t>V</a:t>
            </a:r>
            <a:r>
              <a:rPr lang="en-US" altLang="zh-CN" sz="2400" i="1" kern="100" baseline="-25000" dirty="0" err="1">
                <a:latin typeface="Times New Roman" panose="02020603050405020304"/>
                <a:ea typeface="宋体" panose="02010600030101010101" pitchFamily="2" charset="-122"/>
              </a:rPr>
              <a:t>j</a:t>
            </a:r>
            <a:r>
              <a:rPr lang="en-US" altLang="zh-CN" sz="2400" kern="100" dirty="0">
                <a:latin typeface="Times New Roman" panose="02020603050405020304"/>
                <a:ea typeface="宋体" panose="02010600030101010101" pitchFamily="2" charset="-122"/>
              </a:rPr>
              <a:t>)</a:t>
            </a:r>
            <a:r>
              <a:rPr lang="zh-CN" altLang="zh-CN" sz="2400" kern="100" dirty="0">
                <a:latin typeface="Times New Roman" panose="02020603050405020304"/>
                <a:ea typeface="宋体" panose="02010600030101010101" pitchFamily="2" charset="-122"/>
              </a:rPr>
              <a:t>，则称</a:t>
            </a:r>
            <a:r>
              <a:rPr lang="en-US" altLang="zh-CN" sz="2400" i="1" kern="100" dirty="0">
                <a:latin typeface="Times New Roman" panose="02020603050405020304"/>
                <a:ea typeface="宋体" panose="02010600030101010101" pitchFamily="2" charset="-122"/>
              </a:rPr>
              <a:t>V</a:t>
            </a:r>
            <a:r>
              <a:rPr lang="en-US" altLang="zh-CN" sz="2400" i="1" kern="100" baseline="-25000" dirty="0">
                <a:latin typeface="Times New Roman" panose="02020603050405020304"/>
                <a:ea typeface="宋体" panose="02010600030101010101" pitchFamily="2" charset="-122"/>
              </a:rPr>
              <a:t>i</a:t>
            </a:r>
            <a:r>
              <a:rPr lang="zh-CN" altLang="zh-CN" sz="2400" kern="100" dirty="0">
                <a:latin typeface="Times New Roman" panose="02020603050405020304"/>
                <a:ea typeface="宋体" panose="02010600030101010101" pitchFamily="2" charset="-122"/>
              </a:rPr>
              <a:t>是</a:t>
            </a:r>
            <a:r>
              <a:rPr lang="en-US" altLang="zh-CN" sz="2400" i="1" kern="100" dirty="0" err="1">
                <a:latin typeface="Times New Roman" panose="02020603050405020304"/>
                <a:ea typeface="宋体" panose="02010600030101010101" pitchFamily="2" charset="-122"/>
              </a:rPr>
              <a:t>V</a:t>
            </a:r>
            <a:r>
              <a:rPr lang="en-US" altLang="zh-CN" sz="2400" i="1" kern="100" baseline="-25000" dirty="0" err="1">
                <a:latin typeface="Times New Roman" panose="02020603050405020304"/>
                <a:ea typeface="宋体" panose="02010600030101010101" pitchFamily="2" charset="-122"/>
              </a:rPr>
              <a:t>j</a:t>
            </a:r>
            <a:r>
              <a:rPr lang="zh-CN" altLang="zh-CN" sz="2400" kern="100" dirty="0">
                <a:latin typeface="Times New Roman" panose="02020603050405020304"/>
                <a:ea typeface="宋体" panose="02010600030101010101" pitchFamily="2" charset="-122"/>
              </a:rPr>
              <a:t>的直接前趋，</a:t>
            </a:r>
            <a:r>
              <a:rPr lang="en-US" altLang="zh-CN" sz="2400" i="1" kern="100" dirty="0" err="1">
                <a:latin typeface="Times New Roman" panose="02020603050405020304"/>
                <a:ea typeface="宋体" panose="02010600030101010101" pitchFamily="2" charset="-122"/>
              </a:rPr>
              <a:t>V</a:t>
            </a:r>
            <a:r>
              <a:rPr lang="en-US" altLang="zh-CN" sz="2400" i="1" kern="100" baseline="-25000" dirty="0" err="1">
                <a:latin typeface="Times New Roman" panose="02020603050405020304"/>
                <a:ea typeface="宋体" panose="02010600030101010101" pitchFamily="2" charset="-122"/>
              </a:rPr>
              <a:t>j</a:t>
            </a:r>
            <a:r>
              <a:rPr lang="zh-CN" altLang="zh-CN" sz="2400" kern="100" dirty="0">
                <a:latin typeface="Times New Roman" panose="02020603050405020304"/>
                <a:ea typeface="宋体" panose="02010600030101010101" pitchFamily="2" charset="-122"/>
              </a:rPr>
              <a:t>是</a:t>
            </a:r>
            <a:r>
              <a:rPr lang="en-US" altLang="zh-CN" sz="2400" i="1" kern="100" dirty="0">
                <a:latin typeface="Times New Roman" panose="02020603050405020304"/>
                <a:ea typeface="宋体" panose="02010600030101010101" pitchFamily="2" charset="-122"/>
              </a:rPr>
              <a:t>V</a:t>
            </a:r>
            <a:r>
              <a:rPr lang="en-US" altLang="zh-CN" sz="2400" i="1" kern="100" baseline="-25000" dirty="0">
                <a:latin typeface="Times New Roman" panose="02020603050405020304"/>
                <a:ea typeface="宋体" panose="02010600030101010101" pitchFamily="2" charset="-122"/>
              </a:rPr>
              <a:t>i</a:t>
            </a:r>
            <a:r>
              <a:rPr lang="zh-CN" altLang="zh-CN" sz="2400" kern="100" dirty="0">
                <a:latin typeface="Times New Roman" panose="02020603050405020304"/>
                <a:ea typeface="宋体" panose="02010600030101010101" pitchFamily="2" charset="-122"/>
              </a:rPr>
              <a:t>的直接后续。</a:t>
            </a:r>
            <a:endParaRPr lang="zh-CN" altLang="zh-CN" sz="2000" kern="100" dirty="0">
              <a:latin typeface="Times New Roman" panose="02020603050405020304"/>
              <a:ea typeface="宋体" panose="02010600030101010101" pitchFamily="2" charset="-122"/>
            </a:endParaRPr>
          </a:p>
          <a:p>
            <a:r>
              <a:rPr lang="zh-CN" altLang="zh-CN" sz="2400" kern="100" dirty="0">
                <a:latin typeface="Times New Roman" panose="02020603050405020304"/>
                <a:ea typeface="宋体" panose="02010600030101010101" pitchFamily="2" charset="-122"/>
                <a:cs typeface="Times New Roman" panose="02020603050405020304"/>
              </a:rPr>
              <a:t>拓扑排序是把</a:t>
            </a:r>
            <a:r>
              <a:rPr lang="en-US" altLang="zh-CN" sz="2400" kern="100" dirty="0">
                <a:latin typeface="Times New Roman" panose="02020603050405020304"/>
                <a:ea typeface="宋体" panose="02010600030101010101" pitchFamily="2" charset="-122"/>
              </a:rPr>
              <a:t>AOV</a:t>
            </a:r>
            <a:r>
              <a:rPr lang="zh-CN" altLang="zh-CN" sz="2400" kern="100" dirty="0">
                <a:latin typeface="Times New Roman" panose="02020603050405020304"/>
                <a:ea typeface="宋体" panose="02010600030101010101" pitchFamily="2" charset="-122"/>
                <a:cs typeface="Times New Roman" panose="02020603050405020304"/>
              </a:rPr>
              <a:t>网中所有顶点排成一个线性序列，如果有弧</a:t>
            </a:r>
            <a:r>
              <a:rPr lang="en-US" altLang="zh-CN" sz="2400" kern="100" dirty="0">
                <a:latin typeface="Times New Roman" panose="02020603050405020304"/>
                <a:ea typeface="宋体" panose="02010600030101010101" pitchFamily="2" charset="-122"/>
              </a:rPr>
              <a:t>(</a:t>
            </a:r>
            <a:r>
              <a:rPr lang="en-US" altLang="zh-CN" sz="2400" i="1" kern="100" dirty="0" err="1">
                <a:latin typeface="Times New Roman" panose="02020603050405020304"/>
                <a:ea typeface="宋体" panose="02010600030101010101" pitchFamily="2" charset="-122"/>
              </a:rPr>
              <a:t>V</a:t>
            </a:r>
            <a:r>
              <a:rPr lang="en-US" altLang="zh-CN" sz="2400" i="1" kern="100" baseline="-25000" dirty="0" err="1">
                <a:latin typeface="Times New Roman" panose="02020603050405020304"/>
                <a:ea typeface="宋体" panose="02010600030101010101" pitchFamily="2" charset="-122"/>
              </a:rPr>
              <a:t>i</a:t>
            </a:r>
            <a:r>
              <a:rPr lang="en-US" altLang="zh-CN" sz="2400" kern="100" dirty="0" err="1">
                <a:latin typeface="Times New Roman" panose="02020603050405020304"/>
                <a:ea typeface="宋体" panose="02010600030101010101" pitchFamily="2" charset="-122"/>
              </a:rPr>
              <a:t>,</a:t>
            </a:r>
            <a:r>
              <a:rPr lang="en-US" altLang="zh-CN" sz="2400" i="1" kern="100" dirty="0" err="1">
                <a:latin typeface="Times New Roman" panose="02020603050405020304"/>
                <a:ea typeface="宋体" panose="02010600030101010101" pitchFamily="2" charset="-122"/>
              </a:rPr>
              <a:t>V</a:t>
            </a:r>
            <a:r>
              <a:rPr lang="en-US" altLang="zh-CN" sz="2400" i="1" kern="100" baseline="-25000" dirty="0" err="1">
                <a:latin typeface="Times New Roman" panose="02020603050405020304"/>
                <a:ea typeface="宋体" panose="02010600030101010101" pitchFamily="2" charset="-122"/>
              </a:rPr>
              <a:t>j</a:t>
            </a:r>
            <a:r>
              <a:rPr lang="en-US" altLang="zh-CN" sz="2400" kern="100" dirty="0">
                <a:latin typeface="Times New Roman" panose="02020603050405020304"/>
                <a:ea typeface="宋体" panose="02010600030101010101" pitchFamily="2" charset="-122"/>
              </a:rPr>
              <a:t>)</a:t>
            </a:r>
            <a:r>
              <a:rPr lang="zh-CN" altLang="zh-CN" sz="2400" kern="100" dirty="0">
                <a:latin typeface="Times New Roman" panose="02020603050405020304"/>
                <a:ea typeface="宋体" panose="02010600030101010101" pitchFamily="2" charset="-122"/>
                <a:cs typeface="Times New Roman" panose="02020603050405020304"/>
              </a:rPr>
              <a:t>，则序列中顶点</a:t>
            </a:r>
            <a:r>
              <a:rPr lang="en-US" altLang="zh-CN" sz="2400" i="1" kern="100" dirty="0">
                <a:latin typeface="Times New Roman" panose="02020603050405020304"/>
                <a:ea typeface="宋体" panose="02010600030101010101" pitchFamily="2" charset="-122"/>
              </a:rPr>
              <a:t>V</a:t>
            </a:r>
            <a:r>
              <a:rPr lang="en-US" altLang="zh-CN" sz="2400" i="1" kern="100" baseline="-25000" dirty="0">
                <a:latin typeface="Times New Roman" panose="02020603050405020304"/>
                <a:ea typeface="宋体" panose="02010600030101010101" pitchFamily="2" charset="-122"/>
              </a:rPr>
              <a:t>i</a:t>
            </a:r>
            <a:r>
              <a:rPr lang="zh-CN" altLang="zh-CN" sz="2400" kern="100" dirty="0">
                <a:latin typeface="Times New Roman" panose="02020603050405020304"/>
                <a:ea typeface="宋体" panose="02010600030101010101" pitchFamily="2" charset="-122"/>
                <a:cs typeface="Times New Roman" panose="02020603050405020304"/>
              </a:rPr>
              <a:t>在</a:t>
            </a:r>
            <a:r>
              <a:rPr lang="en-US" altLang="zh-CN" sz="2400" i="1" kern="100" dirty="0" err="1">
                <a:latin typeface="Times New Roman" panose="02020603050405020304"/>
                <a:ea typeface="宋体" panose="02010600030101010101" pitchFamily="2" charset="-122"/>
              </a:rPr>
              <a:t>V</a:t>
            </a:r>
            <a:r>
              <a:rPr lang="en-US" altLang="zh-CN" sz="2400" i="1" kern="100" baseline="-25000" dirty="0" err="1">
                <a:latin typeface="Times New Roman" panose="02020603050405020304"/>
                <a:ea typeface="宋体" panose="02010600030101010101" pitchFamily="2" charset="-122"/>
              </a:rPr>
              <a:t>j</a:t>
            </a:r>
            <a:r>
              <a:rPr lang="zh-CN" altLang="zh-CN" sz="2400" kern="100" dirty="0">
                <a:latin typeface="Times New Roman" panose="02020603050405020304"/>
                <a:ea typeface="宋体" panose="02010600030101010101" pitchFamily="2" charset="-122"/>
                <a:cs typeface="Times New Roman" panose="02020603050405020304"/>
              </a:rPr>
              <a:t>之前。</a:t>
            </a:r>
            <a:endParaRPr lang="zh-CN" altLang="en-US" sz="24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994" y="124927"/>
            <a:ext cx="9111006" cy="2739211"/>
          </a:xfrm>
          <a:prstGeom prst="rect">
            <a:avLst/>
          </a:prstGeom>
        </p:spPr>
        <p:txBody>
          <a:bodyPr wrap="square">
            <a:spAutoFit/>
          </a:bodyPr>
          <a:lstStyle/>
          <a:p>
            <a:r>
              <a:rPr lang="zh-CN" altLang="zh-CN" sz="2400" dirty="0"/>
              <a:t>现以实例来说明：</a:t>
            </a:r>
          </a:p>
          <a:p>
            <a:r>
              <a:rPr lang="zh-CN" altLang="zh-CN" sz="2400" dirty="0"/>
              <a:t>有</a:t>
            </a:r>
            <a:r>
              <a:rPr lang="en-US" altLang="zh-CN" sz="2400" i="1" dirty="0"/>
              <a:t>N</a:t>
            </a:r>
            <a:r>
              <a:rPr lang="zh-CN" altLang="zh-CN" sz="2400" dirty="0"/>
              <a:t>个学员（</a:t>
            </a:r>
            <a:r>
              <a:rPr lang="en-US" altLang="zh-CN" sz="2400" dirty="0"/>
              <a:t>1</a:t>
            </a:r>
            <a:r>
              <a:rPr lang="zh-CN" altLang="zh-CN" sz="2400" dirty="0"/>
              <a:t>≤</a:t>
            </a:r>
            <a:r>
              <a:rPr lang="en-US" altLang="zh-CN" sz="2400" i="1" dirty="0"/>
              <a:t>N</a:t>
            </a:r>
            <a:r>
              <a:rPr lang="zh-CN" altLang="zh-CN" sz="2400" dirty="0"/>
              <a:t>≤</a:t>
            </a:r>
            <a:r>
              <a:rPr lang="en-US" altLang="zh-CN" sz="2400" dirty="0"/>
              <a:t>26</a:t>
            </a:r>
            <a:r>
              <a:rPr lang="zh-CN" altLang="zh-CN" sz="2400" dirty="0"/>
              <a:t>），编号依次为</a:t>
            </a:r>
            <a:r>
              <a:rPr lang="en-US" altLang="zh-CN" sz="2400" dirty="0"/>
              <a:t>A,B,C,D,</a:t>
            </a:r>
            <a:r>
              <a:rPr lang="zh-CN" altLang="zh-CN" sz="2400" dirty="0"/>
              <a:t>…，队列训练时，老师要把一些学员从高到矮依次排成一行。但现在老师不能直接获得每个人的身高信息，只能获得“某某比某某高”这样的比较结果，例如</a:t>
            </a:r>
            <a:r>
              <a:rPr lang="en-US" altLang="zh-CN" sz="2400" dirty="0"/>
              <a:t>A</a:t>
            </a:r>
            <a:r>
              <a:rPr lang="zh-CN" altLang="zh-CN" sz="2400" dirty="0"/>
              <a:t>＞</a:t>
            </a:r>
            <a:r>
              <a:rPr lang="en-US" altLang="zh-CN" sz="2400" dirty="0"/>
              <a:t>B</a:t>
            </a:r>
            <a:r>
              <a:rPr lang="zh-CN" altLang="zh-CN" sz="2400" dirty="0"/>
              <a:t>，</a:t>
            </a:r>
            <a:r>
              <a:rPr lang="en-US" altLang="zh-CN" sz="2400" dirty="0"/>
              <a:t>B</a:t>
            </a:r>
            <a:r>
              <a:rPr lang="zh-CN" altLang="zh-CN" sz="2400" dirty="0"/>
              <a:t>＞</a:t>
            </a:r>
            <a:r>
              <a:rPr lang="en-US" altLang="zh-CN" sz="2400" dirty="0"/>
              <a:t>D</a:t>
            </a:r>
            <a:r>
              <a:rPr lang="zh-CN" altLang="zh-CN" sz="2400" dirty="0"/>
              <a:t>，</a:t>
            </a:r>
            <a:r>
              <a:rPr lang="en-US" altLang="zh-CN" sz="2400" dirty="0"/>
              <a:t>F</a:t>
            </a:r>
            <a:r>
              <a:rPr lang="zh-CN" altLang="zh-CN" sz="2400" dirty="0"/>
              <a:t>＞</a:t>
            </a:r>
            <a:r>
              <a:rPr lang="en-US" altLang="zh-CN" sz="2400" dirty="0"/>
              <a:t>D</a:t>
            </a:r>
            <a:r>
              <a:rPr lang="zh-CN" altLang="zh-CN" sz="2400" dirty="0"/>
              <a:t>等。</a:t>
            </a:r>
          </a:p>
          <a:p>
            <a:r>
              <a:rPr lang="zh-CN" altLang="zh-CN" sz="2400" dirty="0"/>
              <a:t>学员的身高关系对应一张有向图，图中的顶点对应一个学员，学员的身高关系图可如图</a:t>
            </a:r>
            <a:endParaRPr lang="zh-CN" altLang="en-US" sz="2400"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3191238" y="2826538"/>
            <a:ext cx="2620387" cy="208954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2421" y="50015"/>
            <a:ext cx="9002598" cy="830997"/>
          </a:xfrm>
          <a:prstGeom prst="rect">
            <a:avLst/>
          </a:prstGeom>
        </p:spPr>
        <p:txBody>
          <a:bodyPr wrap="square">
            <a:spAutoFit/>
          </a:bodyPr>
          <a:lstStyle/>
          <a:p>
            <a:r>
              <a:rPr lang="en-US" altLang="zh-CN" sz="2400" dirty="0"/>
              <a:t>    </a:t>
            </a:r>
            <a:r>
              <a:rPr lang="zh-CN" altLang="zh-CN" sz="2400" dirty="0"/>
              <a:t>我们需要将学员按照高矮排出一个线性的顺序关系，即对有向图的顶点进行拓扑排序。注意：有环图是不能拓扑排序的，如图</a:t>
            </a:r>
            <a:endParaRPr lang="zh-CN" altLang="en-US" sz="2400"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2962180" y="1528524"/>
            <a:ext cx="3014414" cy="2270478"/>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4841" y="58940"/>
            <a:ext cx="8974318" cy="2769989"/>
          </a:xfrm>
          <a:prstGeom prst="rect">
            <a:avLst/>
          </a:prstGeom>
        </p:spPr>
        <p:txBody>
          <a:bodyPr wrap="square">
            <a:spAutoFit/>
          </a:bodyPr>
          <a:lstStyle/>
          <a:p>
            <a:r>
              <a:rPr lang="zh-CN" altLang="zh-CN" sz="2400" dirty="0"/>
              <a:t>拓扑排序的计算方法如下。</a:t>
            </a:r>
          </a:p>
          <a:p>
            <a:r>
              <a:rPr lang="en-US" altLang="zh-CN" sz="2400" dirty="0"/>
              <a:t> </a:t>
            </a:r>
            <a:r>
              <a:rPr lang="zh-CN" altLang="zh-CN" sz="2400" dirty="0"/>
              <a:t>（</a:t>
            </a:r>
            <a:r>
              <a:rPr lang="en-US" altLang="zh-CN" sz="2400" dirty="0"/>
              <a:t>1</a:t>
            </a:r>
            <a:r>
              <a:rPr lang="zh-CN" altLang="zh-CN" sz="2400" dirty="0"/>
              <a:t>）从图中选择一个入度为</a:t>
            </a:r>
            <a:r>
              <a:rPr lang="en-US" altLang="zh-CN" sz="2400" dirty="0"/>
              <a:t>0</a:t>
            </a:r>
            <a:r>
              <a:rPr lang="zh-CN" altLang="zh-CN" sz="2400" dirty="0"/>
              <a:t>的顶点且输出。</a:t>
            </a:r>
          </a:p>
          <a:p>
            <a:r>
              <a:rPr lang="zh-CN" altLang="zh-CN" sz="2400" dirty="0"/>
              <a:t>（</a:t>
            </a:r>
            <a:r>
              <a:rPr lang="en-US" altLang="zh-CN" sz="2400" dirty="0"/>
              <a:t>2</a:t>
            </a:r>
            <a:r>
              <a:rPr lang="zh-CN" altLang="zh-CN" sz="2400" dirty="0"/>
              <a:t>）从图中删除该顶点及其所有出边（即与之相邻的所有顶点的入度减</a:t>
            </a:r>
            <a:r>
              <a:rPr lang="en-US" altLang="zh-CN" sz="2400" dirty="0"/>
              <a:t>1</a:t>
            </a:r>
            <a:r>
              <a:rPr lang="zh-CN" altLang="zh-CN" sz="2400" dirty="0"/>
              <a:t>）。</a:t>
            </a:r>
          </a:p>
          <a:p>
            <a:r>
              <a:rPr lang="en-US" altLang="zh-CN" sz="2400" dirty="0"/>
              <a:t> </a:t>
            </a:r>
            <a:r>
              <a:rPr lang="zh-CN" altLang="zh-CN" sz="2400" dirty="0"/>
              <a:t>（</a:t>
            </a:r>
            <a:r>
              <a:rPr lang="en-US" altLang="zh-CN" sz="2400" dirty="0"/>
              <a:t>3</a:t>
            </a:r>
            <a:r>
              <a:rPr lang="zh-CN" altLang="zh-CN" sz="2400" dirty="0"/>
              <a:t>）反复执行上面两个步骤，直到整个拓扑排序完成。若再没有入度为</a:t>
            </a:r>
            <a:r>
              <a:rPr lang="en-US" altLang="zh-CN" sz="2400" dirty="0"/>
              <a:t>0</a:t>
            </a:r>
            <a:r>
              <a:rPr lang="zh-CN" altLang="zh-CN" sz="2400" dirty="0"/>
              <a:t>的顶点，说明有环无解。</a:t>
            </a:r>
          </a:p>
          <a:p>
            <a:r>
              <a:rPr lang="zh-CN" altLang="zh-CN" sz="2400" dirty="0"/>
              <a:t>例如有图所示的学员身高关系图。</a:t>
            </a:r>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2679647" y="2911766"/>
            <a:ext cx="3716439" cy="1919471"/>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9144000" cy="1200329"/>
          </a:xfrm>
          <a:prstGeom prst="rect">
            <a:avLst/>
          </a:prstGeom>
        </p:spPr>
        <p:txBody>
          <a:bodyPr wrap="square">
            <a:spAutoFit/>
          </a:bodyPr>
          <a:lstStyle/>
          <a:p>
            <a:r>
              <a:rPr lang="en-US" altLang="zh-CN" sz="2400" dirty="0"/>
              <a:t>    </a:t>
            </a:r>
            <a:r>
              <a:rPr lang="zh-CN" altLang="zh-CN" sz="2400" dirty="0"/>
              <a:t>开始时，有</a:t>
            </a:r>
            <a:r>
              <a:rPr lang="en-US" altLang="zh-CN" sz="2400" dirty="0"/>
              <a:t>a</a:t>
            </a:r>
            <a:r>
              <a:rPr lang="zh-CN" altLang="zh-CN" sz="2400" dirty="0"/>
              <a:t>、</a:t>
            </a:r>
            <a:r>
              <a:rPr lang="en-US" altLang="zh-CN" sz="2400" dirty="0"/>
              <a:t>b</a:t>
            </a:r>
            <a:r>
              <a:rPr lang="zh-CN" altLang="zh-CN" sz="2400" dirty="0"/>
              <a:t>入度均为</a:t>
            </a:r>
            <a:r>
              <a:rPr lang="en-US" altLang="zh-CN" sz="2400" dirty="0"/>
              <a:t>0</a:t>
            </a:r>
            <a:r>
              <a:rPr lang="zh-CN" altLang="zh-CN" sz="2400" dirty="0"/>
              <a:t>，则任选一点例如</a:t>
            </a:r>
            <a:r>
              <a:rPr lang="en-US" altLang="zh-CN" sz="2400" dirty="0"/>
              <a:t>b</a:t>
            </a:r>
            <a:r>
              <a:rPr lang="zh-CN" altLang="zh-CN" sz="2400" dirty="0"/>
              <a:t>（由此可看出，拓扑排序的结果可能并非唯一），将</a:t>
            </a:r>
            <a:r>
              <a:rPr lang="en-US" altLang="zh-CN" sz="2400" dirty="0"/>
              <a:t>b</a:t>
            </a:r>
            <a:r>
              <a:rPr lang="zh-CN" altLang="zh-CN" sz="2400" dirty="0"/>
              <a:t>输出，并删除</a:t>
            </a:r>
            <a:r>
              <a:rPr lang="en-US" altLang="zh-CN" sz="2400" dirty="0"/>
              <a:t>b</a:t>
            </a:r>
            <a:r>
              <a:rPr lang="zh-CN" altLang="zh-CN" sz="2400" dirty="0"/>
              <a:t>顶点及其出边，如图</a:t>
            </a:r>
            <a:endParaRPr lang="zh-CN" altLang="en-US" sz="2400"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2470231" y="1555039"/>
            <a:ext cx="4081398" cy="2225109"/>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9167"/>
            <a:ext cx="9144000" cy="830997"/>
          </a:xfrm>
          <a:prstGeom prst="rect">
            <a:avLst/>
          </a:prstGeom>
        </p:spPr>
        <p:txBody>
          <a:bodyPr wrap="square">
            <a:spAutoFit/>
          </a:bodyPr>
          <a:lstStyle/>
          <a:p>
            <a:r>
              <a:rPr lang="en-US" altLang="zh-CN" sz="2400" dirty="0"/>
              <a:t>    </a:t>
            </a:r>
            <a:r>
              <a:rPr lang="zh-CN" altLang="zh-CN" sz="2400" dirty="0"/>
              <a:t>此时有</a:t>
            </a:r>
            <a:r>
              <a:rPr lang="en-US" altLang="zh-CN" sz="2400" dirty="0"/>
              <a:t>a</a:t>
            </a:r>
            <a:r>
              <a:rPr lang="zh-CN" altLang="zh-CN" sz="2400" dirty="0"/>
              <a:t>、</a:t>
            </a:r>
            <a:r>
              <a:rPr lang="en-US" altLang="zh-CN" sz="2400" dirty="0"/>
              <a:t>h</a:t>
            </a:r>
            <a:r>
              <a:rPr lang="zh-CN" altLang="zh-CN" sz="2400" dirty="0"/>
              <a:t>入度均为</a:t>
            </a:r>
            <a:r>
              <a:rPr lang="en-US" altLang="zh-CN" sz="2400" dirty="0"/>
              <a:t>0</a:t>
            </a:r>
            <a:r>
              <a:rPr lang="zh-CN" altLang="zh-CN" sz="2400" dirty="0"/>
              <a:t>，任选一点例如</a:t>
            </a:r>
            <a:r>
              <a:rPr lang="en-US" altLang="zh-CN" sz="2400" dirty="0"/>
              <a:t>h</a:t>
            </a:r>
            <a:r>
              <a:rPr lang="zh-CN" altLang="zh-CN" sz="2400" dirty="0"/>
              <a:t>，将</a:t>
            </a:r>
            <a:r>
              <a:rPr lang="en-US" altLang="zh-CN" sz="2400" dirty="0"/>
              <a:t>h</a:t>
            </a:r>
            <a:r>
              <a:rPr lang="zh-CN" altLang="zh-CN" sz="2400" dirty="0"/>
              <a:t>输出，并删除</a:t>
            </a:r>
            <a:r>
              <a:rPr lang="en-US" altLang="zh-CN" sz="2400" dirty="0"/>
              <a:t>h</a:t>
            </a:r>
            <a:r>
              <a:rPr lang="zh-CN" altLang="zh-CN" sz="2400" dirty="0"/>
              <a:t>顶点及其出边，如图所示。</a:t>
            </a:r>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1879559" y="893284"/>
            <a:ext cx="4257289" cy="2198708"/>
          </a:xfrm>
          <a:prstGeom prst="rect">
            <a:avLst/>
          </a:prstGeom>
          <a:noFill/>
          <a:ln>
            <a:noFill/>
          </a:ln>
        </p:spPr>
      </p:pic>
      <p:sp>
        <p:nvSpPr>
          <p:cNvPr id="4" name="矩形 3"/>
          <p:cNvSpPr/>
          <p:nvPr/>
        </p:nvSpPr>
        <p:spPr>
          <a:xfrm>
            <a:off x="0" y="3239459"/>
            <a:ext cx="9030877" cy="830997"/>
          </a:xfrm>
          <a:prstGeom prst="rect">
            <a:avLst/>
          </a:prstGeom>
        </p:spPr>
        <p:txBody>
          <a:bodyPr wrap="square">
            <a:spAutoFit/>
          </a:bodyPr>
          <a:lstStyle/>
          <a:p>
            <a:pPr indent="276225"/>
            <a:r>
              <a:rPr lang="zh-CN" altLang="zh-CN" sz="2400" kern="100" dirty="0">
                <a:latin typeface="Times New Roman" panose="02020603050405020304"/>
                <a:ea typeface="宋体" panose="02010600030101010101" pitchFamily="2" charset="-122"/>
              </a:rPr>
              <a:t>以此方法直到所有顶点均被删除，则原图按顶点输出顺序形成的一种拓扑排序为</a:t>
            </a:r>
            <a:r>
              <a:rPr lang="en-US" altLang="zh-CN" sz="2400" kern="100" dirty="0" err="1">
                <a:latin typeface="Times New Roman" panose="02020603050405020304"/>
                <a:ea typeface="宋体" panose="02010600030101010101" pitchFamily="2" charset="-122"/>
              </a:rPr>
              <a:t>bhacdgfe</a:t>
            </a:r>
            <a:r>
              <a:rPr lang="zh-CN" altLang="zh-CN" sz="2400" kern="100" dirty="0">
                <a:latin typeface="Times New Roman" panose="02020603050405020304"/>
                <a:ea typeface="宋体" panose="02010600030101010101" pitchFamily="2" charset="-122"/>
              </a:rPr>
              <a:t>（可能有多种拓扑排序）。</a:t>
            </a:r>
            <a:endParaRPr lang="zh-CN" altLang="zh-CN" sz="2000" kern="100" dirty="0">
              <a:effectLst/>
              <a:latin typeface="Times New Roman" panose="02020603050405020304"/>
              <a:ea typeface="宋体" panose="02010600030101010101" pitchFamily="2"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6561" y="65744"/>
            <a:ext cx="9045017" cy="2492990"/>
          </a:xfrm>
          <a:prstGeom prst="rect">
            <a:avLst/>
          </a:prstGeom>
        </p:spPr>
        <p:txBody>
          <a:bodyPr wrap="square">
            <a:spAutoFit/>
          </a:bodyPr>
          <a:lstStyle/>
          <a:p>
            <a:r>
              <a:rPr lang="en-US" altLang="zh-CN" dirty="0"/>
              <a:t>    </a:t>
            </a:r>
            <a:r>
              <a:rPr lang="zh-CN" altLang="zh-CN" dirty="0"/>
              <a:t>使用</a:t>
            </a:r>
            <a:r>
              <a:rPr lang="en-US" altLang="zh-CN" dirty="0"/>
              <a:t>BFS</a:t>
            </a:r>
            <a:r>
              <a:rPr lang="zh-CN" altLang="zh-CN" dirty="0"/>
              <a:t>或</a:t>
            </a:r>
            <a:r>
              <a:rPr lang="en-US" altLang="zh-CN" dirty="0"/>
              <a:t>DFS</a:t>
            </a:r>
            <a:r>
              <a:rPr lang="zh-CN" altLang="zh-CN" dirty="0"/>
              <a:t>算法也可以实现拓扑排序，其中</a:t>
            </a:r>
            <a:r>
              <a:rPr lang="en-US" altLang="zh-CN" dirty="0"/>
              <a:t>DFS</a:t>
            </a:r>
            <a:r>
              <a:rPr lang="zh-CN" altLang="zh-CN" dirty="0"/>
              <a:t>算法实现的原理是因为对图</a:t>
            </a:r>
            <a:r>
              <a:rPr lang="en-US" altLang="zh-CN" dirty="0"/>
              <a:t>DFS</a:t>
            </a:r>
            <a:r>
              <a:rPr lang="zh-CN" altLang="zh-CN" dirty="0"/>
              <a:t>遍历时结点的出栈顺序的反序即为拓扑排序的结果，这就是</a:t>
            </a:r>
            <a:r>
              <a:rPr lang="en-US" altLang="zh-CN" dirty="0" err="1"/>
              <a:t>Kosaraju</a:t>
            </a:r>
            <a:r>
              <a:rPr lang="zh-CN" altLang="zh-CN" dirty="0"/>
              <a:t>算法的另一个应用。但是</a:t>
            </a:r>
            <a:r>
              <a:rPr lang="en-US" altLang="zh-CN" dirty="0"/>
              <a:t>DFS</a:t>
            </a:r>
            <a:r>
              <a:rPr lang="zh-CN" altLang="zh-CN" dirty="0"/>
              <a:t>实现拓扑排序的写法，即使图中有环也依然会输出，如果要判环，需要添加其他的辅助数组。</a:t>
            </a:r>
          </a:p>
          <a:p>
            <a:r>
              <a:rPr lang="en-US" altLang="zh-CN" dirty="0"/>
              <a:t>    DFS</a:t>
            </a:r>
            <a:r>
              <a:rPr lang="zh-CN" altLang="zh-CN" dirty="0"/>
              <a:t>实现拓扑排序的伪代码为：</a:t>
            </a:r>
          </a:p>
        </p:txBody>
      </p:sp>
      <p:sp>
        <p:nvSpPr>
          <p:cNvPr id="5" name="矩形 4"/>
          <p:cNvSpPr/>
          <p:nvPr/>
        </p:nvSpPr>
        <p:spPr>
          <a:xfrm>
            <a:off x="183824" y="2545513"/>
            <a:ext cx="8960176" cy="2492990"/>
          </a:xfrm>
          <a:prstGeom prst="rect">
            <a:avLst/>
          </a:prstGeom>
        </p:spPr>
        <p:txBody>
          <a:bodyPr wrap="square">
            <a:spAutoFit/>
          </a:bodyPr>
          <a:lstStyle/>
          <a:p>
            <a:r>
              <a:rPr lang="en-US" altLang="zh-CN" dirty="0">
                <a:solidFill>
                  <a:srgbClr val="00B0F0"/>
                </a:solidFill>
              </a:rPr>
              <a:t>void </a:t>
            </a:r>
            <a:r>
              <a:rPr lang="en-US" altLang="zh-CN" dirty="0" err="1">
                <a:solidFill>
                  <a:srgbClr val="00B0F0"/>
                </a:solidFill>
              </a:rPr>
              <a:t>TopoSort</a:t>
            </a:r>
            <a:r>
              <a:rPr lang="en-US" altLang="zh-CN" dirty="0">
                <a:solidFill>
                  <a:srgbClr val="00B0F0"/>
                </a:solidFill>
              </a:rPr>
              <a:t>(G)</a:t>
            </a:r>
            <a:endParaRPr lang="zh-CN" altLang="zh-CN" dirty="0">
              <a:solidFill>
                <a:srgbClr val="00B0F0"/>
              </a:solidFill>
            </a:endParaRPr>
          </a:p>
          <a:p>
            <a:r>
              <a:rPr lang="en-US" altLang="zh-CN" dirty="0">
                <a:solidFill>
                  <a:srgbClr val="00B0F0"/>
                </a:solidFill>
              </a:rPr>
              <a:t>{</a:t>
            </a:r>
            <a:endParaRPr lang="zh-CN" altLang="zh-CN" dirty="0">
              <a:solidFill>
                <a:srgbClr val="00B0F0"/>
              </a:solidFill>
            </a:endParaRPr>
          </a:p>
          <a:p>
            <a:r>
              <a:rPr lang="en-US" altLang="zh-CN" dirty="0">
                <a:solidFill>
                  <a:srgbClr val="00B0F0"/>
                </a:solidFill>
              </a:rPr>
              <a:t> 1.</a:t>
            </a:r>
            <a:r>
              <a:rPr lang="zh-CN" altLang="zh-CN" dirty="0">
                <a:solidFill>
                  <a:srgbClr val="00B0F0"/>
                </a:solidFill>
              </a:rPr>
              <a:t>调用</a:t>
            </a:r>
            <a:r>
              <a:rPr lang="en-US" altLang="zh-CN" dirty="0">
                <a:solidFill>
                  <a:srgbClr val="00B0F0"/>
                </a:solidFill>
              </a:rPr>
              <a:t>DFS(G)</a:t>
            </a:r>
            <a:r>
              <a:rPr lang="zh-CN" altLang="zh-CN" dirty="0">
                <a:solidFill>
                  <a:srgbClr val="00B0F0"/>
                </a:solidFill>
              </a:rPr>
              <a:t>计算每个结点的完成时间</a:t>
            </a:r>
            <a:r>
              <a:rPr lang="en-US" altLang="zh-CN" dirty="0">
                <a:solidFill>
                  <a:srgbClr val="00B0F0"/>
                </a:solidFill>
              </a:rPr>
              <a:t>f[v];</a:t>
            </a:r>
            <a:endParaRPr lang="zh-CN" altLang="zh-CN" dirty="0">
              <a:solidFill>
                <a:srgbClr val="00B0F0"/>
              </a:solidFill>
            </a:endParaRPr>
          </a:p>
          <a:p>
            <a:r>
              <a:rPr lang="en-US" altLang="zh-CN" dirty="0">
                <a:solidFill>
                  <a:srgbClr val="00B0F0"/>
                </a:solidFill>
              </a:rPr>
              <a:t> 2.</a:t>
            </a:r>
            <a:r>
              <a:rPr lang="zh-CN" altLang="zh-CN" dirty="0">
                <a:solidFill>
                  <a:srgbClr val="00B0F0"/>
                </a:solidFill>
              </a:rPr>
              <a:t>当每个结点完成后，把它插入链表前端</a:t>
            </a:r>
            <a:r>
              <a:rPr lang="en-US" altLang="zh-CN" dirty="0">
                <a:solidFill>
                  <a:srgbClr val="00B0F0"/>
                </a:solidFill>
              </a:rPr>
              <a:t>;</a:t>
            </a:r>
            <a:endParaRPr lang="zh-CN" altLang="zh-CN" dirty="0">
              <a:solidFill>
                <a:srgbClr val="00B0F0"/>
              </a:solidFill>
            </a:endParaRPr>
          </a:p>
          <a:p>
            <a:r>
              <a:rPr lang="en-US" altLang="zh-CN" dirty="0">
                <a:solidFill>
                  <a:srgbClr val="00B0F0"/>
                </a:solidFill>
              </a:rPr>
              <a:t> 3.</a:t>
            </a:r>
            <a:r>
              <a:rPr lang="zh-CN" altLang="zh-CN" dirty="0">
                <a:solidFill>
                  <a:srgbClr val="00B0F0"/>
                </a:solidFill>
              </a:rPr>
              <a:t>返回由结点组成的链表</a:t>
            </a:r>
            <a:r>
              <a:rPr lang="en-US" altLang="zh-CN" dirty="0">
                <a:solidFill>
                  <a:srgbClr val="00B0F0"/>
                </a:solidFill>
              </a:rPr>
              <a:t>;</a:t>
            </a:r>
            <a:endParaRPr lang="zh-CN" altLang="zh-CN" dirty="0">
              <a:solidFill>
                <a:srgbClr val="00B0F0"/>
              </a:solidFill>
            </a:endParaRPr>
          </a:p>
          <a:p>
            <a:r>
              <a:rPr lang="en-US" altLang="zh-CN" dirty="0">
                <a:solidFill>
                  <a:srgbClr val="00B0F0"/>
                </a:solidFill>
              </a:rPr>
              <a:t>}</a:t>
            </a:r>
            <a:endParaRPr lang="zh-CN" altLang="en-US" dirty="0">
              <a:solidFill>
                <a:srgbClr val="00B0F0"/>
              </a:solidFil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274" y="78139"/>
            <a:ext cx="9082725" cy="1384995"/>
          </a:xfrm>
          <a:prstGeom prst="rect">
            <a:avLst/>
          </a:prstGeom>
        </p:spPr>
        <p:txBody>
          <a:bodyPr wrap="square">
            <a:spAutoFit/>
          </a:bodyPr>
          <a:lstStyle/>
          <a:p>
            <a:pPr indent="276225" algn="just">
              <a:spcAft>
                <a:spcPts val="0"/>
              </a:spcAft>
            </a:pPr>
            <a:r>
              <a:rPr lang="zh-CN" altLang="zh-CN" sz="2800" kern="100" dirty="0">
                <a:latin typeface="Times New Roman" panose="02020603050405020304"/>
                <a:ea typeface="宋体" panose="02010600030101010101" pitchFamily="2" charset="-122"/>
              </a:rPr>
              <a:t>例如对图所示的有向无环图利用深度优先搜索进行拓扑排序，退出</a:t>
            </a:r>
            <a:r>
              <a:rPr lang="en-US" altLang="zh-CN" sz="2800" kern="100" dirty="0">
                <a:latin typeface="Times New Roman" panose="02020603050405020304"/>
                <a:ea typeface="宋体" panose="02010600030101010101" pitchFamily="2" charset="-122"/>
              </a:rPr>
              <a:t>DFS</a:t>
            </a:r>
            <a:r>
              <a:rPr lang="zh-CN" altLang="zh-CN" sz="2800" kern="100" dirty="0">
                <a:latin typeface="Times New Roman" panose="02020603050405020304"/>
                <a:ea typeface="宋体" panose="02010600030101010101" pitchFamily="2" charset="-122"/>
              </a:rPr>
              <a:t>函数的顺序为</a:t>
            </a:r>
            <a:r>
              <a:rPr lang="en-US" altLang="zh-CN" sz="2800" kern="100" dirty="0">
                <a:latin typeface="Times New Roman" panose="02020603050405020304"/>
                <a:ea typeface="宋体" panose="02010600030101010101" pitchFamily="2" charset="-122"/>
              </a:rPr>
              <a:t>e f g d c a h b</a:t>
            </a:r>
            <a:r>
              <a:rPr lang="zh-CN" altLang="zh-CN" sz="2800" kern="100" dirty="0">
                <a:latin typeface="Times New Roman" panose="02020603050405020304"/>
                <a:ea typeface="宋体" panose="02010600030101010101" pitchFamily="2" charset="-122"/>
              </a:rPr>
              <a:t>，则此图的一个拓扑序为</a:t>
            </a:r>
            <a:r>
              <a:rPr lang="en-US" altLang="zh-CN" sz="2800" kern="100" dirty="0">
                <a:latin typeface="Times New Roman" panose="02020603050405020304"/>
                <a:ea typeface="宋体" panose="02010600030101010101" pitchFamily="2" charset="-122"/>
              </a:rPr>
              <a:t>b h a c d g f e</a:t>
            </a:r>
            <a:r>
              <a:rPr lang="zh-CN" altLang="zh-CN" sz="2800" kern="100" dirty="0">
                <a:latin typeface="Times New Roman" panose="02020603050405020304"/>
                <a:ea typeface="宋体" panose="02010600030101010101" pitchFamily="2" charset="-122"/>
              </a:rPr>
              <a:t>。</a:t>
            </a:r>
            <a:endParaRPr lang="zh-CN" altLang="zh-CN" sz="2400" kern="100" dirty="0">
              <a:effectLst/>
              <a:latin typeface="Times New Roman" panose="02020603050405020304"/>
              <a:ea typeface="宋体" panose="02010600030101010101" pitchFamily="2" charset="-122"/>
            </a:endParaRPr>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2685918" y="1785750"/>
            <a:ext cx="4695269" cy="2578859"/>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57200" y="224968"/>
            <a:ext cx="8305013" cy="4493538"/>
          </a:xfrm>
          <a:prstGeom prst="rect">
            <a:avLst/>
          </a:prstGeom>
        </p:spPr>
        <p:txBody>
          <a:bodyPr wrap="square">
            <a:spAutoFit/>
          </a:bodyPr>
          <a:lstStyle/>
          <a:p>
            <a:r>
              <a:rPr lang="zh-CN" altLang="en-US" dirty="0"/>
              <a:t>奖励（网站题目编号：</a:t>
            </a:r>
            <a:r>
              <a:rPr lang="en-US" altLang="zh-CN" dirty="0"/>
              <a:t>405016 </a:t>
            </a:r>
            <a:r>
              <a:rPr lang="zh-CN" altLang="en-US" dirty="0"/>
              <a:t>）</a:t>
            </a:r>
          </a:p>
          <a:p>
            <a:endParaRPr lang="zh-CN" altLang="en-US" dirty="0"/>
          </a:p>
          <a:p>
            <a:r>
              <a:rPr lang="zh-CN" altLang="en-US" dirty="0"/>
              <a:t>松鼠的计划（网站题目编号：</a:t>
            </a:r>
            <a:r>
              <a:rPr lang="en-US" altLang="zh-CN" dirty="0"/>
              <a:t>405017</a:t>
            </a:r>
            <a:r>
              <a:rPr lang="zh-CN" altLang="en-US" dirty="0"/>
              <a:t>）</a:t>
            </a:r>
          </a:p>
          <a:p>
            <a:endParaRPr lang="zh-CN" altLang="en-US" dirty="0"/>
          </a:p>
          <a:p>
            <a:r>
              <a:rPr lang="zh-CN" altLang="en-US" dirty="0"/>
              <a:t>车站分级（网站题目编号：</a:t>
            </a:r>
            <a:r>
              <a:rPr lang="en-US" altLang="zh-CN" dirty="0"/>
              <a:t>405018</a:t>
            </a:r>
            <a:r>
              <a:rPr lang="zh-CN" altLang="en-US" dirty="0"/>
              <a:t>）</a:t>
            </a:r>
          </a:p>
          <a:p>
            <a:endParaRPr lang="zh-CN" altLang="en-US" dirty="0"/>
          </a:p>
          <a:p>
            <a:r>
              <a:rPr lang="zh-CN" altLang="en-US" dirty="0"/>
              <a:t>破译密文（网站题目编号：</a:t>
            </a:r>
            <a:r>
              <a:rPr lang="en-US" altLang="zh-CN" dirty="0"/>
              <a:t>405019</a:t>
            </a:r>
            <a:r>
              <a:rPr lang="zh-CN" altLang="en-US" dirty="0"/>
              <a:t>）</a:t>
            </a:r>
          </a:p>
          <a:p>
            <a:endParaRPr lang="zh-CN" altLang="en-US" dirty="0"/>
          </a:p>
          <a:p>
            <a:r>
              <a:rPr lang="zh-CN" altLang="en-US" dirty="0"/>
              <a:t>神经网络（网站题目编号：</a:t>
            </a:r>
            <a:r>
              <a:rPr lang="en-US" altLang="zh-CN" dirty="0"/>
              <a:t>405020</a:t>
            </a:r>
            <a:r>
              <a:rPr lang="zh-CN" altLang="en-US" dirty="0"/>
              <a:t>）</a:t>
            </a:r>
          </a:p>
          <a:p>
            <a:endParaRPr lang="zh-CN" altLang="en-US" dirty="0"/>
          </a:p>
          <a:p>
            <a:r>
              <a:rPr lang="zh-CN" altLang="en-US" dirty="0"/>
              <a:t>框架堆叠（网站题目编号：</a:t>
            </a:r>
            <a:r>
              <a:rPr lang="en-US" altLang="zh-CN" dirty="0"/>
              <a:t>405020</a:t>
            </a:r>
            <a:r>
              <a:rPr lang="zh-CN" altLang="en-US" dirty="0"/>
              <a:t>）</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5962"/>
            <a:ext cx="2278188" cy="492443"/>
          </a:xfrm>
          <a:prstGeom prst="rect">
            <a:avLst/>
          </a:prstGeom>
        </p:spPr>
        <p:txBody>
          <a:bodyPr wrap="none">
            <a:spAutoFit/>
          </a:bodyPr>
          <a:lstStyle/>
          <a:p>
            <a:r>
              <a:rPr lang="en-US" altLang="zh-CN" b="1" dirty="0"/>
              <a:t>5.5.2 </a:t>
            </a:r>
            <a:r>
              <a:rPr lang="zh-CN" altLang="zh-CN" b="1" dirty="0"/>
              <a:t>关键路径</a:t>
            </a:r>
          </a:p>
        </p:txBody>
      </p:sp>
      <p:sp>
        <p:nvSpPr>
          <p:cNvPr id="3" name="矩形 2"/>
          <p:cNvSpPr/>
          <p:nvPr/>
        </p:nvSpPr>
        <p:spPr>
          <a:xfrm>
            <a:off x="1" y="457728"/>
            <a:ext cx="9092152" cy="2862322"/>
          </a:xfrm>
          <a:prstGeom prst="rect">
            <a:avLst/>
          </a:prstGeom>
        </p:spPr>
        <p:txBody>
          <a:bodyPr wrap="square">
            <a:spAutoFit/>
          </a:bodyPr>
          <a:lstStyle/>
          <a:p>
            <a:pPr indent="266700" algn="just">
              <a:spcAft>
                <a:spcPts val="0"/>
              </a:spcAft>
            </a:pPr>
            <a:r>
              <a:rPr lang="zh-CN" altLang="zh-CN" sz="2000" kern="100" dirty="0">
                <a:latin typeface="Times New Roman" panose="02020603050405020304"/>
                <a:ea typeface="宋体" panose="02010600030101010101" pitchFamily="2" charset="-122"/>
              </a:rPr>
              <a:t>拓扑排序应用的一个典型的例子就是关键路径（</a:t>
            </a:r>
            <a:r>
              <a:rPr lang="en-US" altLang="zh-CN" sz="2000" kern="100" dirty="0">
                <a:latin typeface="Times New Roman" panose="02020603050405020304"/>
                <a:ea typeface="宋体" panose="02010600030101010101" pitchFamily="2" charset="-122"/>
              </a:rPr>
              <a:t>Critical Path</a:t>
            </a:r>
            <a:r>
              <a:rPr lang="zh-CN" altLang="zh-CN" sz="2000" kern="100" dirty="0">
                <a:latin typeface="Times New Roman" panose="02020603050405020304"/>
                <a:ea typeface="宋体" panose="02010600030101010101" pitchFamily="2" charset="-122"/>
              </a:rPr>
              <a:t>）的计算。所谓关键路径可以这么理解，比如有一群人约好去某个地方，大家从同一个地方同一时间开始出发，有些人选择骑车，有些人选择走路，有些选择公交车……，那么最晚到达的那个人需要的时间就相当于关键路径。</a:t>
            </a:r>
            <a:endParaRPr lang="zh-CN" altLang="zh-CN" sz="1800" kern="100" dirty="0">
              <a:latin typeface="Times New Roman" panose="02020603050405020304"/>
              <a:ea typeface="宋体" panose="02010600030101010101" pitchFamily="2" charset="-122"/>
            </a:endParaRPr>
          </a:p>
          <a:p>
            <a:pPr indent="266700" algn="just">
              <a:spcAft>
                <a:spcPts val="0"/>
              </a:spcAft>
            </a:pPr>
            <a:r>
              <a:rPr lang="zh-CN" altLang="zh-CN" sz="2000" kern="100" dirty="0">
                <a:latin typeface="Times New Roman" panose="02020603050405020304"/>
                <a:ea typeface="宋体" panose="02010600030101010101" pitchFamily="2" charset="-122"/>
              </a:rPr>
              <a:t>又如某一项任务必须要完成</a:t>
            </a:r>
            <a:r>
              <a:rPr lang="en-US" altLang="zh-CN" sz="2000" i="1" kern="100" dirty="0">
                <a:latin typeface="Times New Roman" panose="02020603050405020304"/>
                <a:ea typeface="宋体" panose="02010600030101010101" pitchFamily="2" charset="-122"/>
              </a:rPr>
              <a:t>N</a:t>
            </a:r>
            <a:r>
              <a:rPr lang="zh-CN" altLang="zh-CN" sz="2000" kern="100" dirty="0">
                <a:latin typeface="Times New Roman" panose="02020603050405020304"/>
                <a:ea typeface="宋体" panose="02010600030101010101" pitchFamily="2" charset="-122"/>
              </a:rPr>
              <a:t>个子任务，每个子任务需要不同的时间，其中一些子任务必须以另一些子任务完成为基础，这种关系可以被表示成一个有向图，即</a:t>
            </a:r>
            <a:r>
              <a:rPr lang="en-US" altLang="zh-CN" sz="2000" kern="100" dirty="0">
                <a:latin typeface="Times New Roman" panose="02020603050405020304"/>
                <a:ea typeface="宋体" panose="02010600030101010101" pitchFamily="2" charset="-122"/>
              </a:rPr>
              <a:t>AOE</a:t>
            </a:r>
            <a:r>
              <a:rPr lang="zh-CN" altLang="zh-CN" sz="2000" kern="100" dirty="0">
                <a:latin typeface="Times New Roman" panose="02020603050405020304"/>
                <a:ea typeface="宋体" panose="02010600030101010101" pitchFamily="2" charset="-122"/>
              </a:rPr>
              <a:t>（</a:t>
            </a:r>
            <a:r>
              <a:rPr lang="en-US" altLang="zh-CN" sz="2000" kern="100" dirty="0">
                <a:latin typeface="Times New Roman" panose="02020603050405020304"/>
                <a:ea typeface="宋体" panose="02010600030101010101" pitchFamily="2" charset="-122"/>
              </a:rPr>
              <a:t>Activity On Edge Network</a:t>
            </a:r>
            <a:r>
              <a:rPr lang="zh-CN" altLang="zh-CN" sz="2000" kern="100" dirty="0">
                <a:latin typeface="Times New Roman" panose="02020603050405020304"/>
                <a:ea typeface="宋体" panose="02010600030101010101" pitchFamily="2" charset="-122"/>
              </a:rPr>
              <a:t>）。所谓</a:t>
            </a:r>
            <a:r>
              <a:rPr lang="en-US" altLang="zh-CN" sz="2000" kern="100" dirty="0">
                <a:latin typeface="Times New Roman" panose="02020603050405020304"/>
                <a:ea typeface="宋体" panose="02010600030101010101" pitchFamily="2" charset="-122"/>
              </a:rPr>
              <a:t>AOE</a:t>
            </a:r>
            <a:r>
              <a:rPr lang="zh-CN" altLang="zh-CN" sz="2000" kern="100" dirty="0">
                <a:latin typeface="Times New Roman" panose="02020603050405020304"/>
                <a:ea typeface="宋体" panose="02010600030101010101" pitchFamily="2" charset="-122"/>
              </a:rPr>
              <a:t>是指用顶点表示事件，弧表示活动，弧上的权值表示活动持续的时间的有向图，如图</a:t>
            </a:r>
            <a:r>
              <a:rPr lang="en-US" altLang="zh-CN" sz="2000" kern="100" dirty="0">
                <a:latin typeface="Times New Roman" panose="02020603050405020304"/>
                <a:ea typeface="宋体" panose="02010600030101010101" pitchFamily="2" charset="-122"/>
              </a:rPr>
              <a:t>5.81</a:t>
            </a:r>
            <a:r>
              <a:rPr lang="zh-CN" altLang="zh-CN" sz="2000" kern="100" dirty="0">
                <a:latin typeface="Times New Roman" panose="02020603050405020304"/>
                <a:ea typeface="宋体" panose="02010600030101010101" pitchFamily="2" charset="-122"/>
              </a:rPr>
              <a:t>所示的</a:t>
            </a:r>
            <a:r>
              <a:rPr lang="en-US" altLang="zh-CN" sz="2000" kern="100" dirty="0">
                <a:latin typeface="Times New Roman" panose="02020603050405020304"/>
                <a:ea typeface="宋体" panose="02010600030101010101" pitchFamily="2" charset="-122"/>
              </a:rPr>
              <a:t>AOE</a:t>
            </a:r>
            <a:r>
              <a:rPr lang="zh-CN" altLang="zh-CN" sz="2000" kern="100" dirty="0">
                <a:latin typeface="Times New Roman" panose="02020603050405020304"/>
                <a:ea typeface="宋体" panose="02010600030101010101" pitchFamily="2" charset="-122"/>
              </a:rPr>
              <a:t>包括</a:t>
            </a:r>
            <a:r>
              <a:rPr lang="en-US" altLang="zh-CN" sz="2000" kern="100" dirty="0">
                <a:latin typeface="Times New Roman" panose="02020603050405020304"/>
                <a:ea typeface="宋体" panose="02010600030101010101" pitchFamily="2" charset="-122"/>
              </a:rPr>
              <a:t>11</a:t>
            </a:r>
            <a:r>
              <a:rPr lang="zh-CN" altLang="zh-CN" sz="2000" kern="100" dirty="0">
                <a:latin typeface="Times New Roman" panose="02020603050405020304"/>
                <a:ea typeface="宋体" panose="02010600030101010101" pitchFamily="2" charset="-122"/>
              </a:rPr>
              <a:t>项活动、</a:t>
            </a:r>
            <a:r>
              <a:rPr lang="en-US" altLang="zh-CN" sz="2000" kern="100" dirty="0">
                <a:latin typeface="Times New Roman" panose="02020603050405020304"/>
                <a:ea typeface="宋体" panose="02010600030101010101" pitchFamily="2" charset="-122"/>
              </a:rPr>
              <a:t>9</a:t>
            </a:r>
            <a:r>
              <a:rPr lang="zh-CN" altLang="zh-CN" sz="2000" kern="100" dirty="0">
                <a:latin typeface="Times New Roman" panose="02020603050405020304"/>
                <a:ea typeface="宋体" panose="02010600030101010101" pitchFamily="2" charset="-122"/>
              </a:rPr>
              <a:t>个事件，每个事件都有所需的完成时间。</a:t>
            </a:r>
            <a:endParaRPr lang="zh-CN" altLang="zh-CN" sz="1800" kern="100" dirty="0">
              <a:effectLst/>
              <a:latin typeface="Times New Roman" panose="02020603050405020304"/>
              <a:ea typeface="宋体" panose="02010600030101010101" pitchFamily="2" charset="-122"/>
            </a:endParaRPr>
          </a:p>
        </p:txBody>
      </p:sp>
      <p:pic>
        <p:nvPicPr>
          <p:cNvPr id="4" name="图片 3"/>
          <p:cNvPicPr/>
          <p:nvPr/>
        </p:nvPicPr>
        <p:blipFill>
          <a:blip r:embed="rId2">
            <a:extLst>
              <a:ext uri="{28A0092B-C50C-407E-A947-70E740481C1C}">
                <a14:useLocalDpi xmlns:a14="http://schemas.microsoft.com/office/drawing/2010/main" val="0"/>
              </a:ext>
            </a:extLst>
          </a:blip>
          <a:srcRect/>
          <a:stretch>
            <a:fillRect/>
          </a:stretch>
        </p:blipFill>
        <p:spPr>
          <a:xfrm>
            <a:off x="2816979" y="3234362"/>
            <a:ext cx="3626242" cy="1909137"/>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9555" y="304565"/>
            <a:ext cx="9054445" cy="3539430"/>
          </a:xfrm>
          <a:prstGeom prst="rect">
            <a:avLst/>
          </a:prstGeom>
        </p:spPr>
        <p:txBody>
          <a:bodyPr wrap="square">
            <a:spAutoFit/>
          </a:bodyPr>
          <a:lstStyle/>
          <a:p>
            <a:r>
              <a:rPr lang="en-US" altLang="zh-CN" sz="2400" dirty="0"/>
              <a:t>AOE</a:t>
            </a:r>
            <a:r>
              <a:rPr lang="zh-CN" altLang="zh-CN" sz="2400" dirty="0"/>
              <a:t>的性质如下。</a:t>
            </a:r>
          </a:p>
          <a:p>
            <a:r>
              <a:rPr lang="zh-CN" altLang="zh-CN" sz="2400" dirty="0"/>
              <a:t>（</a:t>
            </a:r>
            <a:r>
              <a:rPr lang="en-US" altLang="zh-CN" sz="2400" dirty="0"/>
              <a:t>1</a:t>
            </a:r>
            <a:r>
              <a:rPr lang="zh-CN" altLang="zh-CN" sz="2400" dirty="0"/>
              <a:t>）只有在某顶点所代表的事件发生后，从该顶点出发的各有向边所代表的活动才能开始。 </a:t>
            </a:r>
          </a:p>
          <a:p>
            <a:r>
              <a:rPr lang="zh-CN" altLang="zh-CN" sz="2400" dirty="0"/>
              <a:t>（</a:t>
            </a:r>
            <a:r>
              <a:rPr lang="en-US" altLang="zh-CN" sz="2400" dirty="0"/>
              <a:t>2</a:t>
            </a:r>
            <a:r>
              <a:rPr lang="zh-CN" altLang="zh-CN" sz="2400" dirty="0"/>
              <a:t>）只有在进入某顶点的各有向边所代表的活动都已结束，该顶点所代表的事件才能发生。 </a:t>
            </a:r>
          </a:p>
          <a:p>
            <a:r>
              <a:rPr lang="zh-CN" altLang="zh-CN" sz="2400" dirty="0"/>
              <a:t>（</a:t>
            </a:r>
            <a:r>
              <a:rPr lang="en-US" altLang="zh-CN" sz="2400" dirty="0"/>
              <a:t>3</a:t>
            </a:r>
            <a:r>
              <a:rPr lang="zh-CN" altLang="zh-CN" sz="2400" dirty="0"/>
              <a:t>）由于实际任务只有一个开始点和一个结束点，因此</a:t>
            </a:r>
            <a:r>
              <a:rPr lang="en-US" altLang="zh-CN" sz="2400" dirty="0"/>
              <a:t>AOE</a:t>
            </a:r>
            <a:r>
              <a:rPr lang="zh-CN" altLang="zh-CN" sz="2400" dirty="0"/>
              <a:t>存在唯一的入度为</a:t>
            </a:r>
            <a:r>
              <a:rPr lang="en-US" altLang="zh-CN" sz="2400" dirty="0"/>
              <a:t>0</a:t>
            </a:r>
            <a:r>
              <a:rPr lang="zh-CN" altLang="zh-CN" sz="2400" dirty="0"/>
              <a:t>的开始点（又称源点）和唯一的出度为</a:t>
            </a:r>
            <a:r>
              <a:rPr lang="en-US" altLang="zh-CN" sz="2400" dirty="0"/>
              <a:t>0</a:t>
            </a:r>
            <a:r>
              <a:rPr lang="zh-CN" altLang="zh-CN" sz="2400" dirty="0"/>
              <a:t>的结束点（又称汇点）。</a:t>
            </a:r>
          </a:p>
          <a:p>
            <a:r>
              <a:rPr lang="zh-CN" altLang="zh-CN" sz="2400" dirty="0"/>
              <a:t>（</a:t>
            </a:r>
            <a:r>
              <a:rPr lang="en-US" altLang="zh-CN" sz="2400" dirty="0"/>
              <a:t>4</a:t>
            </a:r>
            <a:r>
              <a:rPr lang="zh-CN" altLang="zh-CN" sz="2400" dirty="0"/>
              <a:t>）</a:t>
            </a:r>
            <a:r>
              <a:rPr lang="en-US" altLang="zh-CN" sz="2400" dirty="0"/>
              <a:t>AOE</a:t>
            </a:r>
            <a:r>
              <a:rPr lang="zh-CN" altLang="zh-CN" sz="2400" dirty="0"/>
              <a:t>应当是无环的。</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7134" y="38464"/>
            <a:ext cx="9002598" cy="1815882"/>
          </a:xfrm>
          <a:prstGeom prst="rect">
            <a:avLst/>
          </a:prstGeom>
        </p:spPr>
        <p:txBody>
          <a:bodyPr wrap="square">
            <a:spAutoFit/>
          </a:bodyPr>
          <a:lstStyle/>
          <a:p>
            <a:pPr indent="276225" algn="just">
              <a:spcAft>
                <a:spcPts val="0"/>
              </a:spcAft>
            </a:pPr>
            <a:r>
              <a:rPr lang="zh-CN" altLang="zh-CN" sz="2800" kern="100" dirty="0">
                <a:latin typeface="Times New Roman" panose="02020603050405020304"/>
                <a:ea typeface="宋体" panose="02010600030101010101" pitchFamily="2" charset="-122"/>
              </a:rPr>
              <a:t>用</a:t>
            </a:r>
            <a:r>
              <a:rPr lang="en-US" altLang="zh-CN" sz="2800" i="1" kern="100" dirty="0">
                <a:latin typeface="Times New Roman" panose="02020603050405020304"/>
                <a:ea typeface="宋体" panose="02010600030101010101" pitchFamily="2" charset="-122"/>
              </a:rPr>
              <a:t>e(</a:t>
            </a:r>
            <a:r>
              <a:rPr lang="en-US" altLang="zh-CN" sz="2800" i="1" kern="100" dirty="0" err="1">
                <a:latin typeface="Times New Roman" panose="02020603050405020304"/>
                <a:ea typeface="宋体" panose="02010600030101010101" pitchFamily="2" charset="-122"/>
              </a:rPr>
              <a:t>i</a:t>
            </a:r>
            <a:r>
              <a:rPr lang="en-US" altLang="zh-CN" sz="2800" i="1" kern="100" dirty="0">
                <a:latin typeface="Times New Roman" panose="02020603050405020304"/>
                <a:ea typeface="宋体" panose="02010600030101010101" pitchFamily="2" charset="-122"/>
              </a:rPr>
              <a:t>)</a:t>
            </a:r>
            <a:r>
              <a:rPr lang="zh-CN" altLang="zh-CN" sz="2800" kern="100" dirty="0">
                <a:latin typeface="Times New Roman" panose="02020603050405020304"/>
                <a:ea typeface="宋体" panose="02010600030101010101" pitchFamily="2" charset="-122"/>
              </a:rPr>
              <a:t>表示活动最早开始时间，</a:t>
            </a:r>
            <a:r>
              <a:rPr lang="en-US" altLang="zh-CN" sz="2800" i="1" kern="100" dirty="0">
                <a:latin typeface="Times New Roman" panose="02020603050405020304"/>
                <a:ea typeface="宋体" panose="02010600030101010101" pitchFamily="2" charset="-122"/>
              </a:rPr>
              <a:t>l(</a:t>
            </a:r>
            <a:r>
              <a:rPr lang="en-US" altLang="zh-CN" sz="2800" i="1" kern="100" dirty="0" err="1">
                <a:latin typeface="Times New Roman" panose="02020603050405020304"/>
                <a:ea typeface="宋体" panose="02010600030101010101" pitchFamily="2" charset="-122"/>
              </a:rPr>
              <a:t>i</a:t>
            </a:r>
            <a:r>
              <a:rPr lang="en-US" altLang="zh-CN" sz="2800" i="1" kern="100" dirty="0">
                <a:latin typeface="Times New Roman" panose="02020603050405020304"/>
                <a:ea typeface="宋体" panose="02010600030101010101" pitchFamily="2" charset="-122"/>
              </a:rPr>
              <a:t>)</a:t>
            </a:r>
            <a:r>
              <a:rPr lang="zh-CN" altLang="zh-CN" sz="2800" kern="100" dirty="0">
                <a:latin typeface="Times New Roman" panose="02020603050405020304"/>
                <a:ea typeface="宋体" panose="02010600030101010101" pitchFamily="2" charset="-122"/>
              </a:rPr>
              <a:t>表示在不拖延整个工期的条件下，该活动允许的最迟开始时间，则</a:t>
            </a:r>
            <a:r>
              <a:rPr lang="en-US" altLang="zh-CN" sz="2800" i="1" kern="100" dirty="0">
                <a:latin typeface="Times New Roman" panose="02020603050405020304"/>
                <a:ea typeface="宋体" panose="02010600030101010101" pitchFamily="2" charset="-122"/>
              </a:rPr>
              <a:t>l(</a:t>
            </a:r>
            <a:r>
              <a:rPr lang="en-US" altLang="zh-CN" sz="2800" i="1" kern="100" dirty="0" err="1">
                <a:latin typeface="Times New Roman" panose="02020603050405020304"/>
                <a:ea typeface="宋体" panose="02010600030101010101" pitchFamily="2" charset="-122"/>
              </a:rPr>
              <a:t>i</a:t>
            </a:r>
            <a:r>
              <a:rPr lang="en-US" altLang="zh-CN" sz="2800" i="1" kern="100" dirty="0">
                <a:latin typeface="Times New Roman" panose="02020603050405020304"/>
                <a:ea typeface="宋体" panose="02010600030101010101" pitchFamily="2" charset="-122"/>
              </a:rPr>
              <a:t>)</a:t>
            </a:r>
            <a:r>
              <a:rPr lang="zh-CN" altLang="zh-CN" sz="2800" kern="100" dirty="0">
                <a:latin typeface="Times New Roman" panose="02020603050405020304"/>
                <a:ea typeface="宋体" panose="02010600030101010101" pitchFamily="2" charset="-122"/>
              </a:rPr>
              <a:t>－</a:t>
            </a:r>
            <a:r>
              <a:rPr lang="en-US" altLang="zh-CN" sz="2800" i="1" kern="100" dirty="0">
                <a:latin typeface="Times New Roman" panose="02020603050405020304"/>
                <a:ea typeface="宋体" panose="02010600030101010101" pitchFamily="2" charset="-122"/>
              </a:rPr>
              <a:t>e(</a:t>
            </a:r>
            <a:r>
              <a:rPr lang="en-US" altLang="zh-CN" sz="2800" i="1" kern="100" dirty="0" err="1">
                <a:latin typeface="Times New Roman" panose="02020603050405020304"/>
                <a:ea typeface="宋体" panose="02010600030101010101" pitchFamily="2" charset="-122"/>
              </a:rPr>
              <a:t>i</a:t>
            </a:r>
            <a:r>
              <a:rPr lang="en-US" altLang="zh-CN" sz="2800" i="1" kern="100" dirty="0">
                <a:latin typeface="Times New Roman" panose="02020603050405020304"/>
                <a:ea typeface="宋体" panose="02010600030101010101" pitchFamily="2" charset="-122"/>
              </a:rPr>
              <a:t>)</a:t>
            </a:r>
            <a:r>
              <a:rPr lang="zh-CN" altLang="zh-CN" sz="2800" kern="100" dirty="0">
                <a:latin typeface="Times New Roman" panose="02020603050405020304"/>
                <a:ea typeface="宋体" panose="02010600030101010101" pitchFamily="2" charset="-122"/>
              </a:rPr>
              <a:t>为完成该活动的时间余量。则根据图</a:t>
            </a:r>
            <a:r>
              <a:rPr lang="en-US" altLang="zh-CN" sz="2800" kern="100" dirty="0">
                <a:latin typeface="Times New Roman" panose="02020603050405020304"/>
                <a:ea typeface="宋体" panose="02010600030101010101" pitchFamily="2" charset="-122"/>
              </a:rPr>
              <a:t>5.81</a:t>
            </a:r>
            <a:r>
              <a:rPr lang="zh-CN" altLang="zh-CN" sz="2800" kern="100" dirty="0">
                <a:latin typeface="Times New Roman" panose="02020603050405020304"/>
                <a:ea typeface="宋体" panose="02010600030101010101" pitchFamily="2" charset="-122"/>
              </a:rPr>
              <a:t>所示的样例可如表</a:t>
            </a:r>
            <a:r>
              <a:rPr lang="en-US" altLang="zh-CN" sz="2800" kern="100" dirty="0">
                <a:latin typeface="Times New Roman" panose="02020603050405020304"/>
                <a:ea typeface="宋体" panose="02010600030101010101" pitchFamily="2" charset="-122"/>
              </a:rPr>
              <a:t>5.6</a:t>
            </a:r>
            <a:r>
              <a:rPr lang="zh-CN" altLang="zh-CN" sz="2800" kern="100" dirty="0">
                <a:latin typeface="Times New Roman" panose="02020603050405020304"/>
                <a:ea typeface="宋体" panose="02010600030101010101" pitchFamily="2" charset="-122"/>
              </a:rPr>
              <a:t>所示（计算过程见后面的分析）。</a:t>
            </a:r>
            <a:endParaRPr lang="zh-CN" altLang="zh-CN" sz="2400" kern="100" dirty="0">
              <a:effectLst/>
              <a:latin typeface="Times New Roman" panose="02020603050405020304"/>
              <a:ea typeface="宋体" panose="02010600030101010101" pitchFamily="2" charset="-122"/>
            </a:endParaRPr>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1011509" y="2114549"/>
            <a:ext cx="7067262" cy="1896555"/>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9555" y="53977"/>
            <a:ext cx="8917756" cy="1015663"/>
          </a:xfrm>
          <a:prstGeom prst="rect">
            <a:avLst/>
          </a:prstGeom>
        </p:spPr>
        <p:txBody>
          <a:bodyPr wrap="square">
            <a:spAutoFit/>
          </a:bodyPr>
          <a:lstStyle/>
          <a:p>
            <a:r>
              <a:rPr lang="en-US" altLang="zh-CN" sz="2000" kern="100" dirty="0">
                <a:latin typeface="Times New Roman" panose="02020603050405020304"/>
                <a:ea typeface="宋体" panose="02010600030101010101" pitchFamily="2" charset="-122"/>
                <a:cs typeface="Times New Roman" panose="02020603050405020304"/>
              </a:rPr>
              <a:t>    </a:t>
            </a:r>
            <a:r>
              <a:rPr lang="zh-CN" altLang="zh-CN" sz="2000" kern="100" dirty="0">
                <a:latin typeface="Times New Roman" panose="02020603050405020304"/>
                <a:ea typeface="宋体" panose="02010600030101010101" pitchFamily="2" charset="-122"/>
                <a:cs typeface="Times New Roman" panose="02020603050405020304"/>
              </a:rPr>
              <a:t>若</a:t>
            </a:r>
            <a:r>
              <a:rPr lang="en-US" altLang="zh-CN" sz="2000" i="1" kern="100" dirty="0">
                <a:latin typeface="Times New Roman" panose="02020603050405020304"/>
                <a:ea typeface="宋体" panose="02010600030101010101" pitchFamily="2" charset="-122"/>
              </a:rPr>
              <a:t>l</a:t>
            </a:r>
            <a:r>
              <a:rPr lang="en-US" altLang="zh-CN" sz="2000" kern="100" dirty="0">
                <a:latin typeface="Times New Roman" panose="02020603050405020304"/>
                <a:ea typeface="宋体" panose="02010600030101010101" pitchFamily="2" charset="-122"/>
              </a:rPr>
              <a:t>[</a:t>
            </a:r>
            <a:r>
              <a:rPr lang="en-US" altLang="zh-CN" sz="2000" i="1" kern="100" dirty="0">
                <a:latin typeface="Times New Roman" panose="02020603050405020304"/>
                <a:ea typeface="宋体" panose="02010600030101010101" pitchFamily="2" charset="-122"/>
              </a:rPr>
              <a:t>k</a:t>
            </a:r>
            <a:r>
              <a:rPr lang="en-US" altLang="zh-CN" sz="2000" kern="100" dirty="0">
                <a:latin typeface="Times New Roman" panose="02020603050405020304"/>
                <a:ea typeface="宋体" panose="02010600030101010101" pitchFamily="2" charset="-122"/>
              </a:rPr>
              <a:t>]</a:t>
            </a:r>
            <a:r>
              <a:rPr lang="zh-CN" altLang="zh-CN" sz="2000" kern="100" dirty="0">
                <a:latin typeface="Times New Roman" panose="02020603050405020304"/>
                <a:ea typeface="宋体" panose="02010600030101010101" pitchFamily="2" charset="-122"/>
                <a:cs typeface="Times New Roman" panose="02020603050405020304"/>
              </a:rPr>
              <a:t>＝</a:t>
            </a:r>
            <a:r>
              <a:rPr lang="en-US" altLang="zh-CN" sz="2000" i="1" kern="100" dirty="0">
                <a:latin typeface="Times New Roman" panose="02020603050405020304"/>
                <a:ea typeface="宋体" panose="02010600030101010101" pitchFamily="2" charset="-122"/>
              </a:rPr>
              <a:t>e</a:t>
            </a:r>
            <a:r>
              <a:rPr lang="en-US" altLang="zh-CN" sz="2000" kern="100" dirty="0">
                <a:latin typeface="Times New Roman" panose="02020603050405020304"/>
                <a:ea typeface="宋体" panose="02010600030101010101" pitchFamily="2" charset="-122"/>
              </a:rPr>
              <a:t>[</a:t>
            </a:r>
            <a:r>
              <a:rPr lang="en-US" altLang="zh-CN" sz="2000" i="1" kern="100" dirty="0">
                <a:latin typeface="Times New Roman" panose="02020603050405020304"/>
                <a:ea typeface="宋体" panose="02010600030101010101" pitchFamily="2" charset="-122"/>
              </a:rPr>
              <a:t>k</a:t>
            </a:r>
            <a:r>
              <a:rPr lang="en-US" altLang="zh-CN" sz="2000" kern="100" dirty="0">
                <a:latin typeface="Times New Roman" panose="02020603050405020304"/>
                <a:ea typeface="宋体" panose="02010600030101010101" pitchFamily="2" charset="-122"/>
              </a:rPr>
              <a:t>]</a:t>
            </a:r>
            <a:r>
              <a:rPr lang="zh-CN" altLang="zh-CN" sz="2000" kern="100" dirty="0">
                <a:latin typeface="Times New Roman" panose="02020603050405020304"/>
                <a:ea typeface="宋体" panose="02010600030101010101" pitchFamily="2" charset="-122"/>
                <a:cs typeface="Times New Roman" panose="02020603050405020304"/>
              </a:rPr>
              <a:t>（</a:t>
            </a:r>
            <a:r>
              <a:rPr lang="en-US" altLang="zh-CN" sz="2000" kern="100" dirty="0">
                <a:latin typeface="Times New Roman" panose="02020603050405020304"/>
                <a:ea typeface="宋体" panose="02010600030101010101" pitchFamily="2" charset="-122"/>
              </a:rPr>
              <a:t>0</a:t>
            </a:r>
            <a:r>
              <a:rPr lang="zh-CN" altLang="zh-CN" sz="2000" kern="100" dirty="0">
                <a:latin typeface="Times New Roman" panose="02020603050405020304"/>
                <a:ea typeface="宋体" panose="02010600030101010101" pitchFamily="2" charset="-122"/>
                <a:cs typeface="Times New Roman" panose="02020603050405020304"/>
              </a:rPr>
              <a:t>＜</a:t>
            </a:r>
            <a:r>
              <a:rPr lang="en-US" altLang="zh-CN" sz="2000" i="1" kern="100" dirty="0">
                <a:latin typeface="Times New Roman" panose="02020603050405020304"/>
                <a:ea typeface="宋体" panose="02010600030101010101" pitchFamily="2" charset="-122"/>
              </a:rPr>
              <a:t>k</a:t>
            </a:r>
            <a:r>
              <a:rPr lang="zh-CN" altLang="zh-CN" sz="2000" kern="100" dirty="0">
                <a:latin typeface="Times New Roman" panose="02020603050405020304"/>
                <a:ea typeface="宋体" panose="02010600030101010101" pitchFamily="2" charset="-122"/>
                <a:cs typeface="Times New Roman" panose="02020603050405020304"/>
              </a:rPr>
              <a:t>＜</a:t>
            </a:r>
            <a:r>
              <a:rPr lang="en-US" altLang="zh-CN" sz="2000" kern="100" dirty="0">
                <a:latin typeface="Times New Roman" panose="02020603050405020304"/>
                <a:ea typeface="宋体" panose="02010600030101010101" pitchFamily="2" charset="-122"/>
              </a:rPr>
              <a:t>12)</a:t>
            </a:r>
            <a:r>
              <a:rPr lang="zh-CN" altLang="zh-CN" sz="2000" kern="100" dirty="0">
                <a:latin typeface="Times New Roman" panose="02020603050405020304"/>
                <a:ea typeface="宋体" panose="02010600030101010101" pitchFamily="2" charset="-122"/>
                <a:cs typeface="Times New Roman" panose="02020603050405020304"/>
              </a:rPr>
              <a:t>，则</a:t>
            </a:r>
            <a:r>
              <a:rPr lang="en-US" altLang="zh-CN" sz="2000" i="1" kern="100" dirty="0" err="1">
                <a:latin typeface="Times New Roman" panose="02020603050405020304"/>
                <a:ea typeface="宋体" panose="02010600030101010101" pitchFamily="2" charset="-122"/>
              </a:rPr>
              <a:t>a</a:t>
            </a:r>
            <a:r>
              <a:rPr lang="en-US" altLang="zh-CN" sz="2000" i="1" kern="100" baseline="-25000" dirty="0" err="1">
                <a:latin typeface="Times New Roman" panose="02020603050405020304"/>
                <a:ea typeface="宋体" panose="02010600030101010101" pitchFamily="2" charset="-122"/>
              </a:rPr>
              <a:t>k</a:t>
            </a:r>
            <a:r>
              <a:rPr lang="zh-CN" altLang="zh-CN" sz="2000" kern="100" dirty="0">
                <a:latin typeface="Times New Roman" panose="02020603050405020304"/>
                <a:ea typeface="宋体" panose="02010600030101010101" pitchFamily="2" charset="-122"/>
                <a:cs typeface="Times New Roman" panose="02020603050405020304"/>
              </a:rPr>
              <a:t>活动就是关键活动，否则为非关键活动，显然，关键活动的延期，会使整个任务延期，但非关键活动只要它的延期量不超过它的最大可利用时间，就不会影响整个工期。由此可得关键路径如图</a:t>
            </a:r>
            <a:endParaRPr lang="zh-CN" altLang="en-US" sz="2000"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2181363" y="1280518"/>
            <a:ext cx="4068609" cy="1429690"/>
          </a:xfrm>
          <a:prstGeom prst="rect">
            <a:avLst/>
          </a:prstGeom>
          <a:noFill/>
          <a:ln>
            <a:noFill/>
          </a:ln>
        </p:spPr>
      </p:pic>
      <p:sp>
        <p:nvSpPr>
          <p:cNvPr id="4" name="矩形 3"/>
          <p:cNvSpPr/>
          <p:nvPr/>
        </p:nvSpPr>
        <p:spPr>
          <a:xfrm>
            <a:off x="42415" y="3273139"/>
            <a:ext cx="9030878" cy="1631216"/>
          </a:xfrm>
          <a:prstGeom prst="rect">
            <a:avLst/>
          </a:prstGeom>
        </p:spPr>
        <p:txBody>
          <a:bodyPr wrap="square">
            <a:spAutoFit/>
          </a:bodyPr>
          <a:lstStyle/>
          <a:p>
            <a:pPr indent="266700" algn="just">
              <a:spcAft>
                <a:spcPts val="0"/>
              </a:spcAft>
            </a:pPr>
            <a:r>
              <a:rPr lang="zh-CN" altLang="zh-CN" sz="2400" kern="100" dirty="0">
                <a:latin typeface="Times New Roman" panose="02020603050405020304"/>
                <a:ea typeface="楷体" panose="02010609060101010101" charset="-122"/>
              </a:rPr>
              <a:t>可以看出，源点和汇点的最晚时间和最早时间必定是相同的。</a:t>
            </a:r>
            <a:endParaRPr lang="zh-CN" altLang="zh-CN" sz="2000" kern="100" dirty="0">
              <a:latin typeface="Times New Roman" panose="02020603050405020304"/>
              <a:ea typeface="宋体" panose="02010600030101010101" pitchFamily="2" charset="-122"/>
            </a:endParaRPr>
          </a:p>
          <a:p>
            <a:pPr indent="266700" algn="just">
              <a:spcAft>
                <a:spcPts val="0"/>
              </a:spcAft>
            </a:pPr>
            <a:r>
              <a:rPr lang="zh-CN" altLang="zh-CN" sz="2400" kern="100" dirty="0">
                <a:latin typeface="Times New Roman" panose="02020603050405020304"/>
                <a:ea typeface="楷体" panose="02010609060101010101" charset="-122"/>
              </a:rPr>
              <a:t>一个</a:t>
            </a:r>
            <a:r>
              <a:rPr lang="en-US" altLang="zh-CN" sz="2400" kern="100" dirty="0">
                <a:latin typeface="Times New Roman" panose="02020603050405020304"/>
                <a:ea typeface="楷体" panose="02010609060101010101" charset="-122"/>
              </a:rPr>
              <a:t>AOE</a:t>
            </a:r>
            <a:r>
              <a:rPr lang="zh-CN" altLang="zh-CN" sz="2400" kern="100" dirty="0">
                <a:latin typeface="Times New Roman" panose="02020603050405020304"/>
                <a:ea typeface="楷体" panose="02010609060101010101" charset="-122"/>
              </a:rPr>
              <a:t>的关键路径可以不止一条，如图</a:t>
            </a:r>
            <a:r>
              <a:rPr lang="en-US" altLang="zh-CN" sz="2400" kern="100" dirty="0">
                <a:latin typeface="Times New Roman" panose="02020603050405020304"/>
                <a:ea typeface="楷体" panose="02010609060101010101" charset="-122"/>
              </a:rPr>
              <a:t>5.82</a:t>
            </a:r>
            <a:r>
              <a:rPr lang="zh-CN" altLang="zh-CN" sz="2400" kern="100" dirty="0">
                <a:latin typeface="Times New Roman" panose="02020603050405020304"/>
                <a:ea typeface="楷体" panose="02010609060101010101" charset="-122"/>
              </a:rPr>
              <a:t>的</a:t>
            </a:r>
            <a:r>
              <a:rPr lang="en-US" altLang="zh-CN" sz="2400" kern="100" dirty="0">
                <a:latin typeface="Times New Roman" panose="02020603050405020304"/>
                <a:ea typeface="楷体" panose="02010609060101010101" charset="-122"/>
              </a:rPr>
              <a:t>AOE</a:t>
            </a:r>
            <a:r>
              <a:rPr lang="zh-CN" altLang="zh-CN" sz="2400" kern="100" dirty="0">
                <a:latin typeface="Times New Roman" panose="02020603050405020304"/>
                <a:ea typeface="楷体" panose="02010609060101010101" charset="-122"/>
              </a:rPr>
              <a:t>中有两条关键路径，</a:t>
            </a:r>
            <a:r>
              <a:rPr lang="en-US" altLang="zh-CN" sz="2400" kern="100" dirty="0">
                <a:latin typeface="Times New Roman" panose="02020603050405020304"/>
                <a:ea typeface="楷体" panose="02010609060101010101" charset="-122"/>
              </a:rPr>
              <a:t>(</a:t>
            </a:r>
            <a:r>
              <a:rPr lang="en-US" altLang="zh-CN" sz="2400" i="1" kern="100" dirty="0">
                <a:latin typeface="Times New Roman" panose="02020603050405020304"/>
                <a:ea typeface="楷体" panose="02010609060101010101" charset="-122"/>
              </a:rPr>
              <a:t>v</a:t>
            </a:r>
            <a:r>
              <a:rPr lang="en-US" altLang="zh-CN" sz="2400" kern="100" baseline="-25000" dirty="0">
                <a:latin typeface="Times New Roman" panose="02020603050405020304"/>
                <a:ea typeface="楷体" panose="02010609060101010101" charset="-122"/>
              </a:rPr>
              <a:t>1</a:t>
            </a:r>
            <a:r>
              <a:rPr lang="en-US" altLang="zh-CN" sz="2400" kern="100" dirty="0">
                <a:latin typeface="Times New Roman" panose="02020603050405020304"/>
                <a:ea typeface="楷体" panose="02010609060101010101" charset="-122"/>
              </a:rPr>
              <a:t>,</a:t>
            </a:r>
            <a:r>
              <a:rPr lang="en-US" altLang="zh-CN" sz="2400" i="1" kern="100" dirty="0">
                <a:latin typeface="Times New Roman" panose="02020603050405020304"/>
                <a:ea typeface="楷体" panose="02010609060101010101" charset="-122"/>
              </a:rPr>
              <a:t>v</a:t>
            </a:r>
            <a:r>
              <a:rPr lang="en-US" altLang="zh-CN" sz="2400" kern="100" baseline="-25000" dirty="0">
                <a:latin typeface="Times New Roman" panose="02020603050405020304"/>
                <a:ea typeface="楷体" panose="02010609060101010101" charset="-122"/>
              </a:rPr>
              <a:t>2</a:t>
            </a:r>
            <a:r>
              <a:rPr lang="en-US" altLang="zh-CN" sz="2400" kern="100" dirty="0">
                <a:latin typeface="Times New Roman" panose="02020603050405020304"/>
                <a:ea typeface="楷体" panose="02010609060101010101" charset="-122"/>
              </a:rPr>
              <a:t>,</a:t>
            </a:r>
            <a:r>
              <a:rPr lang="en-US" altLang="zh-CN" sz="2400" i="1" kern="100" dirty="0">
                <a:latin typeface="Times New Roman" panose="02020603050405020304"/>
                <a:ea typeface="楷体" panose="02010609060101010101" charset="-122"/>
              </a:rPr>
              <a:t>v</a:t>
            </a:r>
            <a:r>
              <a:rPr lang="en-US" altLang="zh-CN" sz="2400" kern="100" baseline="-25000" dirty="0">
                <a:latin typeface="Times New Roman" panose="02020603050405020304"/>
                <a:ea typeface="楷体" panose="02010609060101010101" charset="-122"/>
              </a:rPr>
              <a:t>5</a:t>
            </a:r>
            <a:r>
              <a:rPr lang="en-US" altLang="zh-CN" sz="2400" kern="100" dirty="0">
                <a:latin typeface="Times New Roman" panose="02020603050405020304"/>
                <a:ea typeface="楷体" panose="02010609060101010101" charset="-122"/>
              </a:rPr>
              <a:t>,</a:t>
            </a:r>
            <a:r>
              <a:rPr lang="en-US" altLang="zh-CN" sz="2400" i="1" kern="100" dirty="0">
                <a:latin typeface="Times New Roman" panose="02020603050405020304"/>
                <a:ea typeface="楷体" panose="02010609060101010101" charset="-122"/>
              </a:rPr>
              <a:t>v</a:t>
            </a:r>
            <a:r>
              <a:rPr lang="en-US" altLang="zh-CN" sz="2400" kern="100" baseline="-25000" dirty="0">
                <a:latin typeface="Times New Roman" panose="02020603050405020304"/>
                <a:ea typeface="楷体" panose="02010609060101010101" charset="-122"/>
              </a:rPr>
              <a:t>7</a:t>
            </a:r>
            <a:r>
              <a:rPr lang="en-US" altLang="zh-CN" sz="2400" kern="100" dirty="0">
                <a:latin typeface="Times New Roman" panose="02020603050405020304"/>
                <a:ea typeface="楷体" panose="02010609060101010101" charset="-122"/>
              </a:rPr>
              <a:t>,</a:t>
            </a:r>
            <a:r>
              <a:rPr lang="en-US" altLang="zh-CN" sz="2400" i="1" kern="100" dirty="0">
                <a:latin typeface="Times New Roman" panose="02020603050405020304"/>
                <a:ea typeface="楷体" panose="02010609060101010101" charset="-122"/>
              </a:rPr>
              <a:t>v</a:t>
            </a:r>
            <a:r>
              <a:rPr lang="en-US" altLang="zh-CN" sz="2400" kern="100" baseline="-25000" dirty="0">
                <a:latin typeface="Times New Roman" panose="02020603050405020304"/>
                <a:ea typeface="楷体" panose="02010609060101010101" charset="-122"/>
              </a:rPr>
              <a:t>9</a:t>
            </a:r>
            <a:r>
              <a:rPr lang="en-US" altLang="zh-CN" sz="2400" kern="100" dirty="0">
                <a:latin typeface="Times New Roman" panose="02020603050405020304"/>
                <a:ea typeface="楷体" panose="02010609060101010101" charset="-122"/>
              </a:rPr>
              <a:t> )</a:t>
            </a:r>
            <a:r>
              <a:rPr lang="zh-CN" altLang="zh-CN" sz="2400" kern="100" dirty="0">
                <a:latin typeface="Times New Roman" panose="02020603050405020304"/>
                <a:ea typeface="楷体" panose="02010609060101010101" charset="-122"/>
              </a:rPr>
              <a:t>和</a:t>
            </a:r>
            <a:r>
              <a:rPr lang="en-US" altLang="zh-CN" sz="2400" kern="100" dirty="0">
                <a:latin typeface="Times New Roman" panose="02020603050405020304"/>
                <a:ea typeface="楷体" panose="02010609060101010101" charset="-122"/>
              </a:rPr>
              <a:t>(</a:t>
            </a:r>
            <a:r>
              <a:rPr lang="en-US" altLang="zh-CN" sz="2400" i="1" kern="100" dirty="0">
                <a:latin typeface="Times New Roman" panose="02020603050405020304"/>
                <a:ea typeface="楷体" panose="02010609060101010101" charset="-122"/>
              </a:rPr>
              <a:t>v</a:t>
            </a:r>
            <a:r>
              <a:rPr lang="en-US" altLang="zh-CN" sz="2400" kern="100" baseline="-25000" dirty="0">
                <a:latin typeface="Times New Roman" panose="02020603050405020304"/>
                <a:ea typeface="楷体" panose="02010609060101010101" charset="-122"/>
              </a:rPr>
              <a:t>1</a:t>
            </a:r>
            <a:r>
              <a:rPr lang="en-US" altLang="zh-CN" sz="2400" kern="100" dirty="0">
                <a:latin typeface="Times New Roman" panose="02020603050405020304"/>
                <a:ea typeface="楷体" panose="02010609060101010101" charset="-122"/>
              </a:rPr>
              <a:t>,</a:t>
            </a:r>
            <a:r>
              <a:rPr lang="en-US" altLang="zh-CN" sz="2400" i="1" kern="100" dirty="0">
                <a:latin typeface="Times New Roman" panose="02020603050405020304"/>
                <a:ea typeface="楷体" panose="02010609060101010101" charset="-122"/>
              </a:rPr>
              <a:t>v</a:t>
            </a:r>
            <a:r>
              <a:rPr lang="en-US" altLang="zh-CN" sz="2400" kern="100" baseline="-25000" dirty="0">
                <a:latin typeface="Times New Roman" panose="02020603050405020304"/>
                <a:ea typeface="楷体" panose="02010609060101010101" charset="-122"/>
              </a:rPr>
              <a:t>2</a:t>
            </a:r>
            <a:r>
              <a:rPr lang="en-US" altLang="zh-CN" sz="2400" kern="100" dirty="0">
                <a:latin typeface="Times New Roman" panose="02020603050405020304"/>
                <a:ea typeface="楷体" panose="02010609060101010101" charset="-122"/>
              </a:rPr>
              <a:t>,</a:t>
            </a:r>
            <a:r>
              <a:rPr lang="en-US" altLang="zh-CN" sz="2400" i="1" kern="100" dirty="0">
                <a:latin typeface="Times New Roman" panose="02020603050405020304"/>
                <a:ea typeface="楷体" panose="02010609060101010101" charset="-122"/>
              </a:rPr>
              <a:t>v</a:t>
            </a:r>
            <a:r>
              <a:rPr lang="en-US" altLang="zh-CN" sz="2400" kern="100" baseline="-25000" dirty="0">
                <a:latin typeface="Times New Roman" panose="02020603050405020304"/>
                <a:ea typeface="楷体" panose="02010609060101010101" charset="-122"/>
              </a:rPr>
              <a:t>5</a:t>
            </a:r>
            <a:r>
              <a:rPr lang="en-US" altLang="zh-CN" sz="2400" kern="100" dirty="0">
                <a:latin typeface="Times New Roman" panose="02020603050405020304"/>
                <a:ea typeface="楷体" panose="02010609060101010101" charset="-122"/>
              </a:rPr>
              <a:t>,</a:t>
            </a:r>
            <a:r>
              <a:rPr lang="en-US" altLang="zh-CN" sz="2400" i="1" kern="100" dirty="0">
                <a:latin typeface="Times New Roman" panose="02020603050405020304"/>
                <a:ea typeface="楷体" panose="02010609060101010101" charset="-122"/>
              </a:rPr>
              <a:t>v</a:t>
            </a:r>
            <a:r>
              <a:rPr lang="en-US" altLang="zh-CN" sz="2400" kern="100" baseline="-25000" dirty="0">
                <a:latin typeface="Times New Roman" panose="02020603050405020304"/>
                <a:ea typeface="楷体" panose="02010609060101010101" charset="-122"/>
              </a:rPr>
              <a:t>8</a:t>
            </a:r>
            <a:r>
              <a:rPr lang="en-US" altLang="zh-CN" sz="2400" kern="100" dirty="0">
                <a:latin typeface="Times New Roman" panose="02020603050405020304"/>
                <a:ea typeface="楷体" panose="02010609060101010101" charset="-122"/>
              </a:rPr>
              <a:t>,</a:t>
            </a:r>
            <a:r>
              <a:rPr lang="en-US" altLang="zh-CN" sz="2400" i="1" kern="100" dirty="0">
                <a:latin typeface="Times New Roman" panose="02020603050405020304"/>
                <a:ea typeface="楷体" panose="02010609060101010101" charset="-122"/>
              </a:rPr>
              <a:t>v</a:t>
            </a:r>
            <a:r>
              <a:rPr lang="en-US" altLang="zh-CN" sz="2400" kern="100" baseline="-25000" dirty="0">
                <a:latin typeface="Times New Roman" panose="02020603050405020304"/>
                <a:ea typeface="楷体" panose="02010609060101010101" charset="-122"/>
              </a:rPr>
              <a:t>9</a:t>
            </a:r>
            <a:r>
              <a:rPr lang="en-US" altLang="zh-CN" sz="2400" kern="100" dirty="0">
                <a:latin typeface="Times New Roman" panose="02020603050405020304"/>
                <a:ea typeface="楷体" panose="02010609060101010101" charset="-122"/>
              </a:rPr>
              <a:t>)</a:t>
            </a:r>
            <a:r>
              <a:rPr lang="zh-CN" altLang="zh-CN" sz="2400" kern="100" dirty="0">
                <a:latin typeface="Times New Roman" panose="02020603050405020304"/>
                <a:ea typeface="楷体" panose="02010609060101010101" charset="-122"/>
              </a:rPr>
              <a:t>，它们的路径长度都是</a:t>
            </a:r>
            <a:r>
              <a:rPr lang="en-US" altLang="zh-CN" sz="2400" kern="100" dirty="0">
                <a:latin typeface="Times New Roman" panose="02020603050405020304"/>
                <a:ea typeface="楷体" panose="02010609060101010101" charset="-122"/>
              </a:rPr>
              <a:t>18</a:t>
            </a:r>
            <a:r>
              <a:rPr lang="zh-CN" altLang="zh-CN" sz="2400" kern="100" dirty="0">
                <a:latin typeface="Times New Roman" panose="02020603050405020304"/>
                <a:ea typeface="楷体" panose="02010609060101010101" charset="-122"/>
              </a:rPr>
              <a:t>。</a:t>
            </a:r>
            <a:endParaRPr lang="zh-CN" altLang="zh-CN" sz="2000" kern="100" dirty="0">
              <a:latin typeface="Times New Roman" panose="02020603050405020304"/>
              <a:ea typeface="宋体" panose="02010600030101010101" pitchFamily="2" charset="-122"/>
            </a:endParaRPr>
          </a:p>
          <a:p>
            <a:r>
              <a:rPr lang="zh-CN" altLang="zh-CN" sz="2400" kern="100" dirty="0">
                <a:ea typeface="楷体" panose="02010609060101010101" charset="-122"/>
                <a:cs typeface="Times New Roman" panose="02020603050405020304"/>
              </a:rPr>
              <a:t>现在的问题是：如何求得</a:t>
            </a:r>
            <a:r>
              <a:rPr lang="en-US" altLang="zh-CN" sz="2400" kern="100" dirty="0">
                <a:ea typeface="楷体" panose="02010609060101010101" charset="-122"/>
                <a:cs typeface="Times New Roman" panose="02020603050405020304"/>
              </a:rPr>
              <a:t>l[k]</a:t>
            </a:r>
            <a:r>
              <a:rPr lang="zh-CN" altLang="zh-CN" sz="2400" kern="100" dirty="0">
                <a:ea typeface="楷体" panose="02010609060101010101" charset="-122"/>
                <a:cs typeface="Times New Roman" panose="02020603050405020304"/>
              </a:rPr>
              <a:t>和</a:t>
            </a:r>
            <a:r>
              <a:rPr lang="en-US" altLang="zh-CN" sz="2400" kern="100" dirty="0">
                <a:ea typeface="楷体" panose="02010609060101010101" charset="-122"/>
                <a:cs typeface="Times New Roman" panose="02020603050405020304"/>
              </a:rPr>
              <a:t>e[k]</a:t>
            </a:r>
            <a:r>
              <a:rPr lang="zh-CN" altLang="zh-CN" sz="2400" kern="100" dirty="0">
                <a:ea typeface="楷体" panose="02010609060101010101" charset="-122"/>
                <a:cs typeface="Times New Roman" panose="02020603050405020304"/>
              </a:rPr>
              <a:t>呢？ </a:t>
            </a:r>
            <a:endParaRPr lang="zh-CN" altLang="en-US" sz="24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 y="120515"/>
            <a:ext cx="8993171" cy="4401205"/>
          </a:xfrm>
          <a:prstGeom prst="rect">
            <a:avLst/>
          </a:prstGeom>
        </p:spPr>
        <p:txBody>
          <a:bodyPr wrap="square">
            <a:spAutoFit/>
          </a:bodyPr>
          <a:lstStyle/>
          <a:p>
            <a:pPr marL="266700" algn="just">
              <a:spcAft>
                <a:spcPts val="0"/>
              </a:spcAft>
            </a:pPr>
            <a:r>
              <a:rPr lang="zh-CN" altLang="zh-CN" sz="2000" kern="100" dirty="0">
                <a:latin typeface="Times New Roman" panose="02020603050405020304"/>
                <a:ea typeface="宋体" panose="02010600030101010101" pitchFamily="2" charset="-122"/>
              </a:rPr>
              <a:t>先进行如下定义。 </a:t>
            </a:r>
            <a:endParaRPr lang="zh-CN" altLang="zh-CN" sz="1800" kern="100" dirty="0">
              <a:latin typeface="Times New Roman" panose="02020603050405020304"/>
              <a:ea typeface="宋体" panose="02010600030101010101" pitchFamily="2" charset="-122"/>
            </a:endParaRPr>
          </a:p>
          <a:p>
            <a:pPr indent="266700" algn="just">
              <a:spcAft>
                <a:spcPts val="0"/>
              </a:spcAft>
            </a:pPr>
            <a:r>
              <a:rPr lang="zh-CN" altLang="zh-CN" sz="2000" kern="100" dirty="0">
                <a:latin typeface="Times New Roman" panose="02020603050405020304"/>
                <a:ea typeface="宋体" panose="02010600030101010101" pitchFamily="2" charset="-122"/>
              </a:rPr>
              <a:t>（</a:t>
            </a:r>
            <a:r>
              <a:rPr lang="en-US" altLang="zh-CN" sz="2000" kern="100" dirty="0">
                <a:latin typeface="Times New Roman" panose="02020603050405020304"/>
                <a:ea typeface="宋体" panose="02010600030101010101" pitchFamily="2" charset="-122"/>
              </a:rPr>
              <a:t>1</a:t>
            </a:r>
            <a:r>
              <a:rPr lang="zh-CN" altLang="zh-CN" sz="2000" kern="100" dirty="0">
                <a:latin typeface="Times New Roman" panose="02020603050405020304"/>
                <a:ea typeface="宋体" panose="02010600030101010101" pitchFamily="2" charset="-122"/>
              </a:rPr>
              <a:t>）设</a:t>
            </a:r>
            <a:r>
              <a:rPr lang="en-US" altLang="zh-CN" sz="2000" kern="100" dirty="0">
                <a:latin typeface="Times New Roman" panose="02020603050405020304"/>
                <a:ea typeface="宋体" panose="02010600030101010101" pitchFamily="2" charset="-122"/>
              </a:rPr>
              <a:t>AOE</a:t>
            </a:r>
            <a:r>
              <a:rPr lang="zh-CN" altLang="zh-CN" sz="2000" kern="100" dirty="0">
                <a:latin typeface="Times New Roman" panose="02020603050405020304"/>
                <a:ea typeface="宋体" panose="02010600030101010101" pitchFamily="2" charset="-122"/>
              </a:rPr>
              <a:t>的起点为</a:t>
            </a:r>
            <a:r>
              <a:rPr lang="en-US" altLang="zh-CN" sz="2000" i="1" kern="100" dirty="0">
                <a:latin typeface="Times New Roman" panose="02020603050405020304"/>
                <a:ea typeface="宋体" panose="02010600030101010101" pitchFamily="2" charset="-122"/>
              </a:rPr>
              <a:t>v</a:t>
            </a:r>
            <a:r>
              <a:rPr lang="en-US" altLang="zh-CN" sz="2000" kern="100" baseline="-25000" dirty="0">
                <a:latin typeface="Times New Roman" panose="02020603050405020304"/>
                <a:ea typeface="宋体" panose="02010600030101010101" pitchFamily="2" charset="-122"/>
              </a:rPr>
              <a:t>1</a:t>
            </a:r>
            <a:r>
              <a:rPr lang="zh-CN" altLang="zh-CN" sz="2000" kern="100" dirty="0">
                <a:latin typeface="Times New Roman" panose="02020603050405020304"/>
                <a:ea typeface="宋体" panose="02010600030101010101" pitchFamily="2" charset="-122"/>
              </a:rPr>
              <a:t>，终点为</a:t>
            </a:r>
            <a:r>
              <a:rPr lang="en-US" altLang="zh-CN" sz="2000" i="1" kern="100" dirty="0" err="1">
                <a:latin typeface="Times New Roman" panose="02020603050405020304"/>
                <a:ea typeface="宋体" panose="02010600030101010101" pitchFamily="2" charset="-122"/>
              </a:rPr>
              <a:t>v</a:t>
            </a:r>
            <a:r>
              <a:rPr lang="en-US" altLang="zh-CN" sz="2000" i="1" kern="100" baseline="-25000" dirty="0" err="1">
                <a:latin typeface="Times New Roman" panose="02020603050405020304"/>
                <a:ea typeface="宋体" panose="02010600030101010101" pitchFamily="2" charset="-122"/>
              </a:rPr>
              <a:t>n</a:t>
            </a:r>
            <a:r>
              <a:rPr lang="zh-CN" altLang="zh-CN" sz="2000" kern="100" dirty="0">
                <a:latin typeface="Times New Roman" panose="02020603050405020304"/>
                <a:ea typeface="宋体" panose="02010600030101010101" pitchFamily="2" charset="-122"/>
              </a:rPr>
              <a:t>。</a:t>
            </a:r>
            <a:endParaRPr lang="zh-CN" altLang="zh-CN" sz="1800" kern="100" dirty="0">
              <a:latin typeface="Times New Roman" panose="02020603050405020304"/>
              <a:ea typeface="宋体" panose="02010600030101010101" pitchFamily="2" charset="-122"/>
            </a:endParaRPr>
          </a:p>
          <a:p>
            <a:pPr indent="266700" algn="just">
              <a:spcAft>
                <a:spcPts val="0"/>
              </a:spcAft>
            </a:pPr>
            <a:r>
              <a:rPr lang="zh-CN" altLang="zh-CN" sz="2000" kern="100" dirty="0">
                <a:latin typeface="Times New Roman" panose="02020603050405020304"/>
                <a:ea typeface="宋体" panose="02010600030101010101" pitchFamily="2" charset="-122"/>
              </a:rPr>
              <a:t>（</a:t>
            </a:r>
            <a:r>
              <a:rPr lang="en-US" altLang="zh-CN" sz="2000" kern="100" dirty="0">
                <a:latin typeface="Times New Roman" panose="02020603050405020304"/>
                <a:ea typeface="宋体" panose="02010600030101010101" pitchFamily="2" charset="-122"/>
              </a:rPr>
              <a:t>2</a:t>
            </a:r>
            <a:r>
              <a:rPr lang="zh-CN" altLang="zh-CN" sz="2000" kern="100" dirty="0">
                <a:latin typeface="Times New Roman" panose="02020603050405020304"/>
                <a:ea typeface="宋体" panose="02010600030101010101" pitchFamily="2" charset="-122"/>
              </a:rPr>
              <a:t>）设</a:t>
            </a:r>
            <a:r>
              <a:rPr lang="en-US" altLang="zh-CN" sz="2000" kern="100" dirty="0">
                <a:latin typeface="Times New Roman" panose="02020603050405020304"/>
                <a:ea typeface="宋体" panose="02010600030101010101" pitchFamily="2" charset="-122"/>
              </a:rPr>
              <a:t>AOE</a:t>
            </a:r>
            <a:r>
              <a:rPr lang="zh-CN" altLang="zh-CN" sz="2000" kern="100" dirty="0">
                <a:latin typeface="Times New Roman" panose="02020603050405020304"/>
                <a:ea typeface="宋体" panose="02010600030101010101" pitchFamily="2" charset="-122"/>
              </a:rPr>
              <a:t>中，从事件</a:t>
            </a:r>
            <a:r>
              <a:rPr lang="en-US" altLang="zh-CN" sz="2000" i="1" kern="100" dirty="0" err="1">
                <a:latin typeface="Times New Roman" panose="02020603050405020304"/>
                <a:ea typeface="宋体" panose="02010600030101010101" pitchFamily="2" charset="-122"/>
              </a:rPr>
              <a:t>i</a:t>
            </a:r>
            <a:r>
              <a:rPr lang="zh-CN" altLang="zh-CN" sz="2000" kern="100" dirty="0">
                <a:latin typeface="Times New Roman" panose="02020603050405020304"/>
                <a:ea typeface="宋体" panose="02010600030101010101" pitchFamily="2" charset="-122"/>
              </a:rPr>
              <a:t>到</a:t>
            </a:r>
            <a:r>
              <a:rPr lang="en-US" altLang="zh-CN" sz="2000" i="1" kern="100" dirty="0">
                <a:latin typeface="Times New Roman" panose="02020603050405020304"/>
                <a:ea typeface="宋体" panose="02010600030101010101" pitchFamily="2" charset="-122"/>
              </a:rPr>
              <a:t>j</a:t>
            </a:r>
            <a:r>
              <a:rPr lang="zh-CN" altLang="zh-CN" sz="2000" kern="100" dirty="0">
                <a:latin typeface="Times New Roman" panose="02020603050405020304"/>
                <a:ea typeface="宋体" panose="02010600030101010101" pitchFamily="2" charset="-122"/>
              </a:rPr>
              <a:t>的路径中，活动时间最大者称为</a:t>
            </a:r>
            <a:r>
              <a:rPr lang="en-US" altLang="zh-CN" sz="2000" i="1" kern="100" dirty="0" err="1">
                <a:latin typeface="Times New Roman" panose="02020603050405020304"/>
                <a:ea typeface="宋体" panose="02010600030101010101" pitchFamily="2" charset="-122"/>
              </a:rPr>
              <a:t>i</a:t>
            </a:r>
            <a:r>
              <a:rPr lang="zh-CN" altLang="zh-CN" sz="2000" kern="100" dirty="0">
                <a:latin typeface="Times New Roman" panose="02020603050405020304"/>
                <a:ea typeface="宋体" panose="02010600030101010101" pitchFamily="2" charset="-122"/>
              </a:rPr>
              <a:t>到</a:t>
            </a:r>
            <a:r>
              <a:rPr lang="en-US" altLang="zh-CN" sz="2000" i="1" kern="100" dirty="0">
                <a:latin typeface="Times New Roman" panose="02020603050405020304"/>
                <a:ea typeface="宋体" panose="02010600030101010101" pitchFamily="2" charset="-122"/>
              </a:rPr>
              <a:t>j</a:t>
            </a:r>
            <a:r>
              <a:rPr lang="zh-CN" altLang="zh-CN" sz="2000" kern="100" dirty="0">
                <a:latin typeface="Times New Roman" panose="02020603050405020304"/>
                <a:ea typeface="宋体" panose="02010600030101010101" pitchFamily="2" charset="-122"/>
              </a:rPr>
              <a:t>的关键路径（</a:t>
            </a:r>
            <a:r>
              <a:rPr lang="en-US" altLang="zh-CN" sz="2000" kern="100" dirty="0">
                <a:latin typeface="Times New Roman" panose="02020603050405020304"/>
                <a:ea typeface="宋体" panose="02010600030101010101" pitchFamily="2" charset="-122"/>
              </a:rPr>
              <a:t>Critical Path</a:t>
            </a:r>
            <a:r>
              <a:rPr lang="zh-CN" altLang="zh-CN" sz="2000" kern="100" dirty="0">
                <a:latin typeface="Times New Roman" panose="02020603050405020304"/>
                <a:ea typeface="宋体" panose="02010600030101010101" pitchFamily="2" charset="-122"/>
              </a:rPr>
              <a:t>），记为</a:t>
            </a:r>
            <a:r>
              <a:rPr lang="en-US" altLang="zh-CN" sz="2000" i="1" kern="100" dirty="0" err="1">
                <a:latin typeface="Times New Roman" panose="02020603050405020304"/>
                <a:ea typeface="宋体" panose="02010600030101010101" pitchFamily="2" charset="-122"/>
              </a:rPr>
              <a:t>cp</a:t>
            </a:r>
            <a:r>
              <a:rPr lang="en-US" altLang="zh-CN" sz="2000" kern="100" dirty="0">
                <a:latin typeface="Times New Roman" panose="02020603050405020304"/>
                <a:ea typeface="宋体" panose="02010600030101010101" pitchFamily="2" charset="-122"/>
              </a:rPr>
              <a:t>(</a:t>
            </a:r>
            <a:r>
              <a:rPr lang="en-US" altLang="zh-CN" sz="2000" i="1" kern="100" dirty="0" err="1">
                <a:latin typeface="Times New Roman" panose="02020603050405020304"/>
                <a:ea typeface="宋体" panose="02010600030101010101" pitchFamily="2" charset="-122"/>
              </a:rPr>
              <a:t>i</a:t>
            </a:r>
            <a:r>
              <a:rPr lang="en-US" altLang="zh-CN" sz="2000" kern="100" dirty="0" err="1">
                <a:latin typeface="Times New Roman" panose="02020603050405020304"/>
                <a:ea typeface="宋体" panose="02010600030101010101" pitchFamily="2" charset="-122"/>
              </a:rPr>
              <a:t>,</a:t>
            </a:r>
            <a:r>
              <a:rPr lang="en-US" altLang="zh-CN" sz="2000" i="1" kern="100" dirty="0" err="1">
                <a:latin typeface="Times New Roman" panose="02020603050405020304"/>
                <a:ea typeface="宋体" panose="02010600030101010101" pitchFamily="2" charset="-122"/>
              </a:rPr>
              <a:t>j</a:t>
            </a:r>
            <a:r>
              <a:rPr lang="en-US" altLang="zh-CN" sz="2000" kern="100" dirty="0">
                <a:latin typeface="Times New Roman" panose="02020603050405020304"/>
                <a:ea typeface="宋体" panose="02010600030101010101" pitchFamily="2" charset="-122"/>
              </a:rPr>
              <a:t>)</a:t>
            </a:r>
            <a:r>
              <a:rPr lang="zh-CN" altLang="zh-CN" sz="2000" kern="100" dirty="0">
                <a:latin typeface="Times New Roman" panose="02020603050405020304"/>
                <a:ea typeface="宋体" panose="02010600030101010101" pitchFamily="2" charset="-122"/>
              </a:rPr>
              <a:t>。特别地，起点</a:t>
            </a:r>
            <a:r>
              <a:rPr lang="en-US" altLang="zh-CN" sz="2000" kern="100" dirty="0">
                <a:latin typeface="Times New Roman" panose="02020603050405020304"/>
                <a:ea typeface="宋体" panose="02010600030101010101" pitchFamily="2" charset="-122"/>
              </a:rPr>
              <a:t>0</a:t>
            </a:r>
            <a:r>
              <a:rPr lang="zh-CN" altLang="zh-CN" sz="2000" kern="100" dirty="0">
                <a:latin typeface="Times New Roman" panose="02020603050405020304"/>
                <a:ea typeface="宋体" panose="02010600030101010101" pitchFamily="2" charset="-122"/>
              </a:rPr>
              <a:t>到终点</a:t>
            </a:r>
            <a:r>
              <a:rPr lang="en-US" altLang="zh-CN" sz="2000" i="1" kern="100" dirty="0">
                <a:latin typeface="Times New Roman" panose="02020603050405020304"/>
                <a:ea typeface="宋体" panose="02010600030101010101" pitchFamily="2" charset="-122"/>
              </a:rPr>
              <a:t>n</a:t>
            </a:r>
            <a:r>
              <a:rPr lang="zh-CN" altLang="zh-CN" sz="2000" kern="100" dirty="0">
                <a:latin typeface="Times New Roman" panose="02020603050405020304"/>
                <a:ea typeface="宋体" panose="02010600030101010101" pitchFamily="2" charset="-122"/>
              </a:rPr>
              <a:t>的关键路径</a:t>
            </a:r>
            <a:r>
              <a:rPr lang="en-US" altLang="zh-CN" sz="2000" i="1" kern="100" dirty="0" err="1">
                <a:latin typeface="Times New Roman" panose="02020603050405020304"/>
                <a:ea typeface="宋体" panose="02010600030101010101" pitchFamily="2" charset="-122"/>
              </a:rPr>
              <a:t>cp</a:t>
            </a:r>
            <a:r>
              <a:rPr lang="en-US" altLang="zh-CN" sz="2000" kern="100" dirty="0">
                <a:latin typeface="Times New Roman" panose="02020603050405020304"/>
                <a:ea typeface="宋体" panose="02010600030101010101" pitchFamily="2" charset="-122"/>
              </a:rPr>
              <a:t>(0,</a:t>
            </a:r>
            <a:r>
              <a:rPr lang="en-US" altLang="zh-CN" sz="2000" i="1" kern="100" dirty="0">
                <a:latin typeface="Times New Roman" panose="02020603050405020304"/>
                <a:ea typeface="宋体" panose="02010600030101010101" pitchFamily="2" charset="-122"/>
              </a:rPr>
              <a:t>n</a:t>
            </a:r>
            <a:r>
              <a:rPr lang="en-US" altLang="zh-CN" sz="2000" kern="100" dirty="0">
                <a:latin typeface="Times New Roman" panose="02020603050405020304"/>
                <a:ea typeface="宋体" panose="02010600030101010101" pitchFamily="2" charset="-122"/>
              </a:rPr>
              <a:t>)</a:t>
            </a:r>
            <a:r>
              <a:rPr lang="zh-CN" altLang="zh-CN" sz="2000" kern="100" dirty="0">
                <a:latin typeface="Times New Roman" panose="02020603050405020304"/>
                <a:ea typeface="宋体" panose="02010600030101010101" pitchFamily="2" charset="-122"/>
              </a:rPr>
              <a:t>是整个</a:t>
            </a:r>
            <a:r>
              <a:rPr lang="en-US" altLang="zh-CN" sz="2000" kern="100" dirty="0">
                <a:latin typeface="Times New Roman" panose="02020603050405020304"/>
                <a:ea typeface="宋体" panose="02010600030101010101" pitchFamily="2" charset="-122"/>
              </a:rPr>
              <a:t>AOE</a:t>
            </a:r>
            <a:r>
              <a:rPr lang="zh-CN" altLang="zh-CN" sz="2000" kern="100" dirty="0">
                <a:latin typeface="Times New Roman" panose="02020603050405020304"/>
                <a:ea typeface="宋体" panose="02010600030101010101" pitchFamily="2" charset="-122"/>
              </a:rPr>
              <a:t>的关键路径。</a:t>
            </a:r>
            <a:endParaRPr lang="zh-CN" altLang="zh-CN" sz="1800" kern="100" dirty="0">
              <a:latin typeface="Times New Roman" panose="02020603050405020304"/>
              <a:ea typeface="宋体" panose="02010600030101010101" pitchFamily="2" charset="-122"/>
            </a:endParaRPr>
          </a:p>
          <a:p>
            <a:pPr indent="266700" algn="just">
              <a:spcAft>
                <a:spcPts val="0"/>
              </a:spcAft>
            </a:pPr>
            <a:r>
              <a:rPr lang="zh-CN" altLang="zh-CN" sz="2000" kern="100" dirty="0">
                <a:latin typeface="Times New Roman" panose="02020603050405020304"/>
                <a:ea typeface="宋体" panose="02010600030101010101" pitchFamily="2" charset="-122"/>
              </a:rPr>
              <a:t>（</a:t>
            </a:r>
            <a:r>
              <a:rPr lang="en-US" altLang="zh-CN" sz="2000" kern="100" dirty="0">
                <a:latin typeface="Times New Roman" panose="02020603050405020304"/>
                <a:ea typeface="宋体" panose="02010600030101010101" pitchFamily="2" charset="-122"/>
              </a:rPr>
              <a:t>3</a:t>
            </a:r>
            <a:r>
              <a:rPr lang="zh-CN" altLang="zh-CN" sz="2000" kern="100" dirty="0">
                <a:latin typeface="Times New Roman" panose="02020603050405020304"/>
                <a:ea typeface="宋体" panose="02010600030101010101" pitchFamily="2" charset="-122"/>
              </a:rPr>
              <a:t>）设事件</a:t>
            </a:r>
            <a:r>
              <a:rPr lang="en-US" altLang="zh-CN" sz="2000" i="1" kern="100" dirty="0">
                <a:latin typeface="Times New Roman" panose="02020603050405020304"/>
                <a:ea typeface="宋体" panose="02010600030101010101" pitchFamily="2" charset="-122"/>
              </a:rPr>
              <a:t>v</a:t>
            </a:r>
            <a:r>
              <a:rPr lang="en-US" altLang="zh-CN" sz="2000" i="1" kern="100" baseline="-25000" dirty="0">
                <a:latin typeface="Times New Roman" panose="02020603050405020304"/>
                <a:ea typeface="宋体" panose="02010600030101010101" pitchFamily="2" charset="-122"/>
              </a:rPr>
              <a:t>i</a:t>
            </a:r>
            <a:r>
              <a:rPr lang="zh-CN" altLang="zh-CN" sz="2000" kern="100" dirty="0">
                <a:latin typeface="Times New Roman" panose="02020603050405020304"/>
                <a:ea typeface="宋体" panose="02010600030101010101" pitchFamily="2" charset="-122"/>
              </a:rPr>
              <a:t>的最早发生时间</a:t>
            </a:r>
            <a:r>
              <a:rPr lang="en-US" altLang="zh-CN" sz="2000" i="1" kern="100" dirty="0" err="1">
                <a:latin typeface="Times New Roman" panose="02020603050405020304"/>
                <a:ea typeface="宋体" panose="02010600030101010101" pitchFamily="2" charset="-122"/>
              </a:rPr>
              <a:t>ve</a:t>
            </a:r>
            <a:r>
              <a:rPr lang="en-US" altLang="zh-CN" sz="2000" kern="100" dirty="0">
                <a:latin typeface="Times New Roman" panose="02020603050405020304"/>
                <a:ea typeface="宋体" panose="02010600030101010101" pitchFamily="2" charset="-122"/>
              </a:rPr>
              <a:t>(</a:t>
            </a:r>
            <a:r>
              <a:rPr lang="en-US" altLang="zh-CN" sz="2000" i="1" kern="100" dirty="0" err="1">
                <a:latin typeface="Times New Roman" panose="02020603050405020304"/>
                <a:ea typeface="宋体" panose="02010600030101010101" pitchFamily="2" charset="-122"/>
              </a:rPr>
              <a:t>i</a:t>
            </a:r>
            <a:r>
              <a:rPr lang="en-US" altLang="zh-CN" sz="2000" kern="100" dirty="0">
                <a:latin typeface="Times New Roman" panose="02020603050405020304"/>
                <a:ea typeface="宋体" panose="02010600030101010101" pitchFamily="2" charset="-122"/>
              </a:rPr>
              <a:t>)</a:t>
            </a:r>
            <a:r>
              <a:rPr lang="zh-CN" altLang="zh-CN" sz="2000" kern="100" dirty="0">
                <a:latin typeface="Times New Roman" panose="02020603050405020304"/>
                <a:ea typeface="宋体" panose="02010600030101010101" pitchFamily="2" charset="-122"/>
              </a:rPr>
              <a:t>定义为：从起点到</a:t>
            </a:r>
            <a:r>
              <a:rPr lang="en-US" altLang="zh-CN" sz="2000" i="1" kern="100" dirty="0">
                <a:latin typeface="Times New Roman" panose="02020603050405020304"/>
                <a:ea typeface="宋体" panose="02010600030101010101" pitchFamily="2" charset="-122"/>
              </a:rPr>
              <a:t>v</a:t>
            </a:r>
            <a:r>
              <a:rPr lang="en-US" altLang="zh-CN" sz="2000" i="1" kern="100" baseline="-25000" dirty="0">
                <a:latin typeface="Times New Roman" panose="02020603050405020304"/>
                <a:ea typeface="宋体" panose="02010600030101010101" pitchFamily="2" charset="-122"/>
              </a:rPr>
              <a:t>i</a:t>
            </a:r>
            <a:r>
              <a:rPr lang="zh-CN" altLang="zh-CN" sz="2000" kern="100" dirty="0">
                <a:latin typeface="Times New Roman" panose="02020603050405020304"/>
                <a:ea typeface="宋体" panose="02010600030101010101" pitchFamily="2" charset="-122"/>
              </a:rPr>
              <a:t>的最大活动时间长度，即</a:t>
            </a:r>
            <a:r>
              <a:rPr lang="en-US" altLang="zh-CN" sz="2000" i="1" kern="100" dirty="0" err="1">
                <a:latin typeface="Times New Roman" panose="02020603050405020304"/>
                <a:ea typeface="宋体" panose="02010600030101010101" pitchFamily="2" charset="-122"/>
              </a:rPr>
              <a:t>cp</a:t>
            </a:r>
            <a:r>
              <a:rPr lang="en-US" altLang="zh-CN" sz="2000" kern="100" dirty="0">
                <a:latin typeface="Times New Roman" panose="02020603050405020304"/>
                <a:ea typeface="宋体" panose="02010600030101010101" pitchFamily="2" charset="-122"/>
              </a:rPr>
              <a:t>(0</a:t>
            </a:r>
            <a:r>
              <a:rPr lang="zh-CN" altLang="zh-CN" sz="2000" kern="100" dirty="0">
                <a:latin typeface="Times New Roman" panose="02020603050405020304"/>
                <a:ea typeface="宋体" panose="02010600030101010101" pitchFamily="2" charset="-122"/>
              </a:rPr>
              <a:t>，</a:t>
            </a:r>
            <a:r>
              <a:rPr lang="en-US" altLang="zh-CN" sz="2000" i="1" kern="100" dirty="0" err="1">
                <a:latin typeface="Times New Roman" panose="02020603050405020304"/>
                <a:ea typeface="宋体" panose="02010600030101010101" pitchFamily="2" charset="-122"/>
              </a:rPr>
              <a:t>i</a:t>
            </a:r>
            <a:r>
              <a:rPr lang="en-US" altLang="zh-CN" sz="2000" kern="100" dirty="0">
                <a:latin typeface="Times New Roman" panose="02020603050405020304"/>
                <a:ea typeface="宋体" panose="02010600030101010101" pitchFamily="2" charset="-122"/>
              </a:rPr>
              <a:t>)</a:t>
            </a:r>
            <a:r>
              <a:rPr lang="zh-CN" altLang="zh-CN" sz="2000" kern="100" dirty="0">
                <a:latin typeface="Times New Roman" panose="02020603050405020304"/>
                <a:ea typeface="宋体" panose="02010600030101010101" pitchFamily="2" charset="-122"/>
              </a:rPr>
              <a:t>。</a:t>
            </a:r>
            <a:endParaRPr lang="zh-CN" altLang="zh-CN" sz="1800" kern="100" dirty="0">
              <a:latin typeface="Times New Roman" panose="02020603050405020304"/>
              <a:ea typeface="宋体" panose="02010600030101010101" pitchFamily="2" charset="-122"/>
            </a:endParaRPr>
          </a:p>
          <a:p>
            <a:pPr indent="266700" algn="just">
              <a:spcAft>
                <a:spcPts val="0"/>
              </a:spcAft>
            </a:pPr>
            <a:r>
              <a:rPr lang="zh-CN" altLang="zh-CN" sz="2000" kern="100" dirty="0">
                <a:latin typeface="Times New Roman" panose="02020603050405020304"/>
                <a:ea typeface="宋体" panose="02010600030101010101" pitchFamily="2" charset="-122"/>
              </a:rPr>
              <a:t>（</a:t>
            </a:r>
            <a:r>
              <a:rPr lang="en-US" altLang="zh-CN" sz="2000" kern="100" dirty="0">
                <a:latin typeface="Times New Roman" panose="02020603050405020304"/>
                <a:ea typeface="宋体" panose="02010600030101010101" pitchFamily="2" charset="-122"/>
              </a:rPr>
              <a:t>4</a:t>
            </a:r>
            <a:r>
              <a:rPr lang="zh-CN" altLang="zh-CN" sz="2000" kern="100" dirty="0">
                <a:latin typeface="Times New Roman" panose="02020603050405020304"/>
                <a:ea typeface="宋体" panose="02010600030101010101" pitchFamily="2" charset="-122"/>
              </a:rPr>
              <a:t>）设事件</a:t>
            </a:r>
            <a:r>
              <a:rPr lang="en-US" altLang="zh-CN" sz="2000" i="1" kern="100" dirty="0">
                <a:latin typeface="Times New Roman" panose="02020603050405020304"/>
                <a:ea typeface="宋体" panose="02010600030101010101" pitchFamily="2" charset="-122"/>
              </a:rPr>
              <a:t>v</a:t>
            </a:r>
            <a:r>
              <a:rPr lang="en-US" altLang="zh-CN" sz="2000" i="1" kern="100" baseline="-25000" dirty="0">
                <a:latin typeface="Times New Roman" panose="02020603050405020304"/>
                <a:ea typeface="宋体" panose="02010600030101010101" pitchFamily="2" charset="-122"/>
              </a:rPr>
              <a:t>i</a:t>
            </a:r>
            <a:r>
              <a:rPr lang="zh-CN" altLang="zh-CN" sz="2000" kern="100" dirty="0">
                <a:latin typeface="Times New Roman" panose="02020603050405020304"/>
                <a:ea typeface="宋体" panose="02010600030101010101" pitchFamily="2" charset="-122"/>
              </a:rPr>
              <a:t>的最晚发生时间</a:t>
            </a:r>
            <a:r>
              <a:rPr lang="en-US" altLang="zh-CN" sz="2000" i="1" kern="100" dirty="0" err="1">
                <a:latin typeface="Times New Roman" panose="02020603050405020304"/>
                <a:ea typeface="宋体" panose="02010600030101010101" pitchFamily="2" charset="-122"/>
              </a:rPr>
              <a:t>vl</a:t>
            </a:r>
            <a:r>
              <a:rPr lang="en-US" altLang="zh-CN" sz="2000" kern="100" dirty="0">
                <a:latin typeface="Times New Roman" panose="02020603050405020304"/>
                <a:ea typeface="宋体" panose="02010600030101010101" pitchFamily="2" charset="-122"/>
              </a:rPr>
              <a:t>(</a:t>
            </a:r>
            <a:r>
              <a:rPr lang="en-US" altLang="zh-CN" sz="2000" i="1" kern="100" dirty="0" err="1">
                <a:latin typeface="Times New Roman" panose="02020603050405020304"/>
                <a:ea typeface="宋体" panose="02010600030101010101" pitchFamily="2" charset="-122"/>
              </a:rPr>
              <a:t>i</a:t>
            </a:r>
            <a:r>
              <a:rPr lang="en-US" altLang="zh-CN" sz="2000" kern="100" dirty="0">
                <a:latin typeface="Times New Roman" panose="02020603050405020304"/>
                <a:ea typeface="宋体" panose="02010600030101010101" pitchFamily="2" charset="-122"/>
              </a:rPr>
              <a:t>)</a:t>
            </a:r>
            <a:r>
              <a:rPr lang="zh-CN" altLang="zh-CN" sz="2000" kern="100" dirty="0">
                <a:latin typeface="Times New Roman" panose="02020603050405020304"/>
                <a:ea typeface="宋体" panose="02010600030101010101" pitchFamily="2" charset="-122"/>
              </a:rPr>
              <a:t>定义为：在不拖延整个工期的条件下，</a:t>
            </a:r>
            <a:r>
              <a:rPr lang="en-US" altLang="zh-CN" sz="2000" i="1" kern="100" dirty="0">
                <a:latin typeface="Times New Roman" panose="02020603050405020304"/>
                <a:ea typeface="宋体" panose="02010600030101010101" pitchFamily="2" charset="-122"/>
              </a:rPr>
              <a:t>v</a:t>
            </a:r>
            <a:r>
              <a:rPr lang="en-US" altLang="zh-CN" sz="2000" i="1" kern="100" baseline="-25000" dirty="0">
                <a:latin typeface="Times New Roman" panose="02020603050405020304"/>
                <a:ea typeface="宋体" panose="02010600030101010101" pitchFamily="2" charset="-122"/>
              </a:rPr>
              <a:t>i</a:t>
            </a:r>
            <a:r>
              <a:rPr lang="zh-CN" altLang="zh-CN" sz="2000" kern="100" dirty="0">
                <a:latin typeface="Times New Roman" panose="02020603050405020304"/>
                <a:ea typeface="宋体" panose="02010600030101010101" pitchFamily="2" charset="-122"/>
              </a:rPr>
              <a:t>可能的最晚发生时间，即</a:t>
            </a:r>
            <a:r>
              <a:rPr lang="en-US" altLang="zh-CN" sz="2000" i="1" kern="100" dirty="0" err="1">
                <a:latin typeface="Times New Roman" panose="02020603050405020304"/>
                <a:ea typeface="宋体" panose="02010600030101010101" pitchFamily="2" charset="-122"/>
              </a:rPr>
              <a:t>vl</a:t>
            </a:r>
            <a:r>
              <a:rPr lang="en-US" altLang="zh-CN" sz="2000" kern="100" dirty="0">
                <a:latin typeface="Times New Roman" panose="02020603050405020304"/>
                <a:ea typeface="宋体" panose="02010600030101010101" pitchFamily="2" charset="-122"/>
              </a:rPr>
              <a:t>(</a:t>
            </a:r>
            <a:r>
              <a:rPr lang="en-US" altLang="zh-CN" sz="2000" i="1" kern="100" dirty="0" err="1">
                <a:latin typeface="Times New Roman" panose="02020603050405020304"/>
                <a:ea typeface="宋体" panose="02010600030101010101" pitchFamily="2" charset="-122"/>
              </a:rPr>
              <a:t>i</a:t>
            </a:r>
            <a:r>
              <a:rPr lang="en-US" altLang="zh-CN" sz="2000" kern="100" dirty="0">
                <a:latin typeface="Times New Roman" panose="02020603050405020304"/>
                <a:ea typeface="宋体" panose="02010600030101010101" pitchFamily="2" charset="-122"/>
              </a:rPr>
              <a:t>)</a:t>
            </a:r>
            <a:r>
              <a:rPr lang="zh-CN" altLang="zh-CN" sz="2000" kern="100" dirty="0">
                <a:latin typeface="Times New Roman" panose="02020603050405020304"/>
                <a:ea typeface="宋体" panose="02010600030101010101" pitchFamily="2" charset="-122"/>
              </a:rPr>
              <a:t>＝</a:t>
            </a:r>
            <a:r>
              <a:rPr lang="en-US" altLang="zh-CN" sz="2000" i="1" kern="100" dirty="0" err="1">
                <a:latin typeface="Times New Roman" panose="02020603050405020304"/>
                <a:ea typeface="宋体" panose="02010600030101010101" pitchFamily="2" charset="-122"/>
              </a:rPr>
              <a:t>ve</a:t>
            </a:r>
            <a:r>
              <a:rPr lang="en-US" altLang="zh-CN" sz="2000" kern="100" dirty="0">
                <a:latin typeface="Times New Roman" panose="02020603050405020304"/>
                <a:ea typeface="宋体" panose="02010600030101010101" pitchFamily="2" charset="-122"/>
              </a:rPr>
              <a:t>(</a:t>
            </a:r>
            <a:r>
              <a:rPr lang="en-US" altLang="zh-CN" sz="2000" i="1" kern="100" dirty="0">
                <a:latin typeface="Times New Roman" panose="02020603050405020304"/>
                <a:ea typeface="宋体" panose="02010600030101010101" pitchFamily="2" charset="-122"/>
              </a:rPr>
              <a:t>n</a:t>
            </a:r>
            <a:r>
              <a:rPr lang="en-US" altLang="zh-CN" sz="2000" kern="100" dirty="0">
                <a:latin typeface="Times New Roman" panose="02020603050405020304"/>
                <a:ea typeface="宋体" panose="02010600030101010101" pitchFamily="2" charset="-122"/>
              </a:rPr>
              <a:t>)</a:t>
            </a:r>
            <a:r>
              <a:rPr lang="zh-CN" altLang="zh-CN" sz="2000" kern="100" dirty="0">
                <a:latin typeface="Times New Roman" panose="02020603050405020304"/>
                <a:ea typeface="宋体" panose="02010600030101010101" pitchFamily="2" charset="-122"/>
              </a:rPr>
              <a:t>－</a:t>
            </a:r>
            <a:r>
              <a:rPr lang="en-US" altLang="zh-CN" sz="2000" i="1" kern="100" dirty="0" err="1">
                <a:latin typeface="Times New Roman" panose="02020603050405020304"/>
                <a:ea typeface="宋体" panose="02010600030101010101" pitchFamily="2" charset="-122"/>
              </a:rPr>
              <a:t>cp</a:t>
            </a:r>
            <a:r>
              <a:rPr lang="en-US" altLang="zh-CN" sz="2000" kern="100" dirty="0">
                <a:latin typeface="Times New Roman" panose="02020603050405020304"/>
                <a:ea typeface="宋体" panose="02010600030101010101" pitchFamily="2" charset="-122"/>
              </a:rPr>
              <a:t>(</a:t>
            </a:r>
            <a:r>
              <a:rPr lang="en-US" altLang="zh-CN" sz="2000" i="1" kern="100" dirty="0" err="1">
                <a:latin typeface="Times New Roman" panose="02020603050405020304"/>
                <a:ea typeface="宋体" panose="02010600030101010101" pitchFamily="2" charset="-122"/>
              </a:rPr>
              <a:t>i</a:t>
            </a:r>
            <a:r>
              <a:rPr lang="en-US" altLang="zh-CN" sz="2000" kern="100" dirty="0" err="1">
                <a:latin typeface="Times New Roman" panose="02020603050405020304"/>
                <a:ea typeface="宋体" panose="02010600030101010101" pitchFamily="2" charset="-122"/>
              </a:rPr>
              <a:t>,</a:t>
            </a:r>
            <a:r>
              <a:rPr lang="en-US" altLang="zh-CN" sz="2000" i="1" kern="100" dirty="0" err="1">
                <a:latin typeface="Times New Roman" panose="02020603050405020304"/>
                <a:ea typeface="宋体" panose="02010600030101010101" pitchFamily="2" charset="-122"/>
              </a:rPr>
              <a:t>n</a:t>
            </a:r>
            <a:r>
              <a:rPr lang="en-US" altLang="zh-CN" sz="2000" kern="100" dirty="0">
                <a:latin typeface="Times New Roman" panose="02020603050405020304"/>
                <a:ea typeface="宋体" panose="02010600030101010101" pitchFamily="2" charset="-122"/>
              </a:rPr>
              <a:t>)</a:t>
            </a:r>
            <a:r>
              <a:rPr lang="zh-CN" altLang="zh-CN" sz="2000" kern="100" dirty="0">
                <a:latin typeface="Times New Roman" panose="02020603050405020304"/>
                <a:ea typeface="宋体" panose="02010600030101010101" pitchFamily="2" charset="-122"/>
              </a:rPr>
              <a:t>。</a:t>
            </a:r>
            <a:endParaRPr lang="zh-CN" altLang="zh-CN" sz="1800" kern="100" dirty="0">
              <a:latin typeface="Times New Roman" panose="02020603050405020304"/>
              <a:ea typeface="宋体" panose="02010600030101010101" pitchFamily="2" charset="-122"/>
            </a:endParaRPr>
          </a:p>
          <a:p>
            <a:pPr indent="266700" algn="just">
              <a:spcAft>
                <a:spcPts val="0"/>
              </a:spcAft>
            </a:pPr>
            <a:r>
              <a:rPr lang="zh-CN" altLang="zh-CN" sz="2000" kern="100" dirty="0">
                <a:latin typeface="Times New Roman" panose="02020603050405020304"/>
                <a:ea typeface="宋体" panose="02010600030101010101" pitchFamily="2" charset="-122"/>
              </a:rPr>
              <a:t>（</a:t>
            </a:r>
            <a:r>
              <a:rPr lang="en-US" altLang="zh-CN" sz="2000" kern="100" dirty="0">
                <a:latin typeface="Times New Roman" panose="02020603050405020304"/>
                <a:ea typeface="宋体" panose="02010600030101010101" pitchFamily="2" charset="-122"/>
              </a:rPr>
              <a:t>5</a:t>
            </a:r>
            <a:r>
              <a:rPr lang="zh-CN" altLang="zh-CN" sz="2000" kern="100" dirty="0">
                <a:latin typeface="Times New Roman" panose="02020603050405020304"/>
                <a:ea typeface="宋体" panose="02010600030101010101" pitchFamily="2" charset="-122"/>
              </a:rPr>
              <a:t>）设弧</a:t>
            </a:r>
            <a:r>
              <a:rPr lang="en-US" altLang="zh-CN" sz="2000" kern="100" dirty="0">
                <a:latin typeface="Times New Roman" panose="02020603050405020304"/>
                <a:ea typeface="宋体" panose="02010600030101010101" pitchFamily="2" charset="-122"/>
              </a:rPr>
              <a:t>&lt;</a:t>
            </a:r>
            <a:r>
              <a:rPr lang="en-US" altLang="zh-CN" sz="2000" i="1" kern="100" dirty="0" err="1">
                <a:latin typeface="Times New Roman" panose="02020603050405020304"/>
                <a:ea typeface="宋体" panose="02010600030101010101" pitchFamily="2" charset="-122"/>
              </a:rPr>
              <a:t>v</a:t>
            </a:r>
            <a:r>
              <a:rPr lang="en-US" altLang="zh-CN" sz="2000" i="1" kern="100" baseline="-25000" dirty="0" err="1">
                <a:latin typeface="Times New Roman" panose="02020603050405020304"/>
                <a:ea typeface="宋体" panose="02010600030101010101" pitchFamily="2" charset="-122"/>
              </a:rPr>
              <a:t>i</a:t>
            </a:r>
            <a:r>
              <a:rPr lang="en-US" altLang="zh-CN" sz="2000" kern="100" dirty="0" err="1">
                <a:latin typeface="Times New Roman" panose="02020603050405020304"/>
                <a:ea typeface="宋体" panose="02010600030101010101" pitchFamily="2" charset="-122"/>
              </a:rPr>
              <a:t>,</a:t>
            </a:r>
            <a:r>
              <a:rPr lang="en-US" altLang="zh-CN" sz="2000" i="1" kern="100" dirty="0" err="1">
                <a:latin typeface="Times New Roman" panose="02020603050405020304"/>
                <a:ea typeface="宋体" panose="02010600030101010101" pitchFamily="2" charset="-122"/>
              </a:rPr>
              <a:t>v</a:t>
            </a:r>
            <a:r>
              <a:rPr lang="en-US" altLang="zh-CN" sz="2000" i="1" kern="100" baseline="-25000" dirty="0" err="1">
                <a:latin typeface="Times New Roman" panose="02020603050405020304"/>
                <a:ea typeface="宋体" panose="02010600030101010101" pitchFamily="2" charset="-122"/>
              </a:rPr>
              <a:t>j</a:t>
            </a:r>
            <a:r>
              <a:rPr lang="en-US" altLang="zh-CN" sz="2000" kern="100" dirty="0">
                <a:latin typeface="Times New Roman" panose="02020603050405020304"/>
                <a:ea typeface="宋体" panose="02010600030101010101" pitchFamily="2" charset="-122"/>
              </a:rPr>
              <a:t>&gt;</a:t>
            </a:r>
            <a:r>
              <a:rPr lang="zh-CN" altLang="zh-CN" sz="2000" kern="100" dirty="0">
                <a:latin typeface="Times New Roman" panose="02020603050405020304"/>
                <a:ea typeface="宋体" panose="02010600030101010101" pitchFamily="2" charset="-122"/>
              </a:rPr>
              <a:t>为活动</a:t>
            </a:r>
            <a:r>
              <a:rPr lang="en-US" altLang="zh-CN" sz="2000" i="1" kern="100" dirty="0" err="1">
                <a:latin typeface="Times New Roman" panose="02020603050405020304"/>
                <a:ea typeface="宋体" panose="02010600030101010101" pitchFamily="2" charset="-122"/>
              </a:rPr>
              <a:t>a</a:t>
            </a:r>
            <a:r>
              <a:rPr lang="en-US" altLang="zh-CN" sz="2000" i="1" kern="100" baseline="-25000" dirty="0" err="1">
                <a:latin typeface="Times New Roman" panose="02020603050405020304"/>
                <a:ea typeface="宋体" panose="02010600030101010101" pitchFamily="2" charset="-122"/>
              </a:rPr>
              <a:t>k</a:t>
            </a:r>
            <a:r>
              <a:rPr lang="zh-CN" altLang="zh-CN" sz="2000" kern="100" dirty="0">
                <a:latin typeface="Times New Roman" panose="02020603050405020304"/>
                <a:ea typeface="宋体" panose="02010600030101010101" pitchFamily="2" charset="-122"/>
              </a:rPr>
              <a:t>，则活动</a:t>
            </a:r>
            <a:r>
              <a:rPr lang="en-US" altLang="zh-CN" sz="2000" i="1" kern="100" dirty="0" err="1">
                <a:latin typeface="Times New Roman" panose="02020603050405020304"/>
                <a:ea typeface="宋体" panose="02010600030101010101" pitchFamily="2" charset="-122"/>
              </a:rPr>
              <a:t>a</a:t>
            </a:r>
            <a:r>
              <a:rPr lang="en-US" altLang="zh-CN" sz="2000" i="1" kern="100" baseline="-25000" dirty="0" err="1">
                <a:latin typeface="Times New Roman" panose="02020603050405020304"/>
                <a:ea typeface="宋体" panose="02010600030101010101" pitchFamily="2" charset="-122"/>
              </a:rPr>
              <a:t>k</a:t>
            </a:r>
            <a:r>
              <a:rPr lang="zh-CN" altLang="zh-CN" sz="2000" kern="100" dirty="0">
                <a:latin typeface="Times New Roman" panose="02020603050405020304"/>
                <a:ea typeface="宋体" panose="02010600030101010101" pitchFamily="2" charset="-122"/>
              </a:rPr>
              <a:t>的最早开始时间</a:t>
            </a:r>
            <a:r>
              <a:rPr lang="en-US" altLang="zh-CN" sz="2000" i="1" kern="100" dirty="0">
                <a:latin typeface="Times New Roman" panose="02020603050405020304"/>
                <a:ea typeface="宋体" panose="02010600030101010101" pitchFamily="2" charset="-122"/>
              </a:rPr>
              <a:t>e</a:t>
            </a:r>
            <a:r>
              <a:rPr lang="en-US" altLang="zh-CN" sz="2000" kern="100" dirty="0">
                <a:latin typeface="Times New Roman" panose="02020603050405020304"/>
                <a:ea typeface="宋体" panose="02010600030101010101" pitchFamily="2" charset="-122"/>
              </a:rPr>
              <a:t>(</a:t>
            </a:r>
            <a:r>
              <a:rPr lang="en-US" altLang="zh-CN" sz="2000" i="1" kern="100" dirty="0">
                <a:latin typeface="Times New Roman" panose="02020603050405020304"/>
                <a:ea typeface="宋体" panose="02010600030101010101" pitchFamily="2" charset="-122"/>
              </a:rPr>
              <a:t>k</a:t>
            </a:r>
            <a:r>
              <a:rPr lang="en-US" altLang="zh-CN" sz="2000" kern="100" dirty="0">
                <a:latin typeface="Times New Roman" panose="02020603050405020304"/>
                <a:ea typeface="宋体" panose="02010600030101010101" pitchFamily="2" charset="-122"/>
              </a:rPr>
              <a:t>)</a:t>
            </a:r>
            <a:r>
              <a:rPr lang="zh-CN" altLang="zh-CN" sz="2000" kern="100" dirty="0">
                <a:latin typeface="Times New Roman" panose="02020603050405020304"/>
                <a:ea typeface="宋体" panose="02010600030101010101" pitchFamily="2" charset="-122"/>
              </a:rPr>
              <a:t>等于事件</a:t>
            </a:r>
            <a:r>
              <a:rPr lang="en-US" altLang="zh-CN" sz="2000" i="1" kern="100" dirty="0">
                <a:latin typeface="Times New Roman" panose="02020603050405020304"/>
                <a:ea typeface="宋体" panose="02010600030101010101" pitchFamily="2" charset="-122"/>
              </a:rPr>
              <a:t>v</a:t>
            </a:r>
            <a:r>
              <a:rPr lang="en-US" altLang="zh-CN" sz="2000" i="1" kern="100" baseline="-25000" dirty="0">
                <a:latin typeface="Times New Roman" panose="02020603050405020304"/>
                <a:ea typeface="宋体" panose="02010600030101010101" pitchFamily="2" charset="-122"/>
              </a:rPr>
              <a:t>i</a:t>
            </a:r>
            <a:r>
              <a:rPr lang="zh-CN" altLang="zh-CN" sz="2000" kern="100" dirty="0">
                <a:latin typeface="Times New Roman" panose="02020603050405020304"/>
                <a:ea typeface="宋体" panose="02010600030101010101" pitchFamily="2" charset="-122"/>
              </a:rPr>
              <a:t>的最早发生时间，即</a:t>
            </a:r>
            <a:r>
              <a:rPr lang="en-US" altLang="zh-CN" sz="2000" i="1" kern="100" dirty="0">
                <a:latin typeface="Times New Roman" panose="02020603050405020304"/>
                <a:ea typeface="宋体" panose="02010600030101010101" pitchFamily="2" charset="-122"/>
              </a:rPr>
              <a:t>e</a:t>
            </a:r>
            <a:r>
              <a:rPr lang="en-US" altLang="zh-CN" sz="2000" kern="100" dirty="0">
                <a:latin typeface="Times New Roman" panose="02020603050405020304"/>
                <a:ea typeface="宋体" panose="02010600030101010101" pitchFamily="2" charset="-122"/>
              </a:rPr>
              <a:t>(</a:t>
            </a:r>
            <a:r>
              <a:rPr lang="en-US" altLang="zh-CN" sz="2000" i="1" kern="100" dirty="0">
                <a:latin typeface="Times New Roman" panose="02020603050405020304"/>
                <a:ea typeface="宋体" panose="02010600030101010101" pitchFamily="2" charset="-122"/>
              </a:rPr>
              <a:t>k</a:t>
            </a:r>
            <a:r>
              <a:rPr lang="en-US" altLang="zh-CN" sz="2000" kern="100" dirty="0">
                <a:latin typeface="Times New Roman" panose="02020603050405020304"/>
                <a:ea typeface="宋体" panose="02010600030101010101" pitchFamily="2" charset="-122"/>
              </a:rPr>
              <a:t>)</a:t>
            </a:r>
            <a:r>
              <a:rPr lang="zh-CN" altLang="zh-CN" sz="2000" kern="100" dirty="0">
                <a:latin typeface="Times New Roman" panose="02020603050405020304"/>
                <a:ea typeface="宋体" panose="02010600030101010101" pitchFamily="2" charset="-122"/>
              </a:rPr>
              <a:t>＝</a:t>
            </a:r>
            <a:r>
              <a:rPr lang="en-US" altLang="zh-CN" sz="2000" i="1" kern="100" dirty="0" err="1">
                <a:latin typeface="Times New Roman" panose="02020603050405020304"/>
                <a:ea typeface="宋体" panose="02010600030101010101" pitchFamily="2" charset="-122"/>
              </a:rPr>
              <a:t>ve</a:t>
            </a:r>
            <a:r>
              <a:rPr lang="en-US" altLang="zh-CN" sz="2000" kern="100" dirty="0">
                <a:latin typeface="Times New Roman" panose="02020603050405020304"/>
                <a:ea typeface="宋体" panose="02010600030101010101" pitchFamily="2" charset="-122"/>
              </a:rPr>
              <a:t>(</a:t>
            </a:r>
            <a:r>
              <a:rPr lang="en-US" altLang="zh-CN" sz="2000" i="1" kern="100" dirty="0" err="1">
                <a:latin typeface="Times New Roman" panose="02020603050405020304"/>
                <a:ea typeface="宋体" panose="02010600030101010101" pitchFamily="2" charset="-122"/>
              </a:rPr>
              <a:t>i</a:t>
            </a:r>
            <a:r>
              <a:rPr lang="en-US" altLang="zh-CN" sz="2000" kern="100" dirty="0">
                <a:latin typeface="Times New Roman" panose="02020603050405020304"/>
                <a:ea typeface="宋体" panose="02010600030101010101" pitchFamily="2" charset="-122"/>
              </a:rPr>
              <a:t>)</a:t>
            </a:r>
            <a:r>
              <a:rPr lang="zh-CN" altLang="zh-CN" sz="2000" kern="100" dirty="0">
                <a:latin typeface="Times New Roman" panose="02020603050405020304"/>
                <a:ea typeface="宋体" panose="02010600030101010101" pitchFamily="2" charset="-122"/>
              </a:rPr>
              <a:t>＝</a:t>
            </a:r>
            <a:r>
              <a:rPr lang="en-US" altLang="zh-CN" sz="2000" i="1" kern="100" dirty="0" err="1">
                <a:latin typeface="Times New Roman" panose="02020603050405020304"/>
                <a:ea typeface="宋体" panose="02010600030101010101" pitchFamily="2" charset="-122"/>
              </a:rPr>
              <a:t>cp</a:t>
            </a:r>
            <a:r>
              <a:rPr lang="en-US" altLang="zh-CN" sz="2000" kern="100" dirty="0">
                <a:latin typeface="Times New Roman" panose="02020603050405020304"/>
                <a:ea typeface="宋体" panose="02010600030101010101" pitchFamily="2" charset="-122"/>
              </a:rPr>
              <a:t>(0,</a:t>
            </a:r>
            <a:r>
              <a:rPr lang="en-US" altLang="zh-CN" sz="2000" i="1" kern="100" dirty="0">
                <a:latin typeface="Times New Roman" panose="02020603050405020304"/>
                <a:ea typeface="宋体" panose="02010600030101010101" pitchFamily="2" charset="-122"/>
              </a:rPr>
              <a:t>i</a:t>
            </a:r>
            <a:r>
              <a:rPr lang="en-US" altLang="zh-CN" sz="2000" kern="100" dirty="0">
                <a:latin typeface="Times New Roman" panose="02020603050405020304"/>
                <a:ea typeface="宋体" panose="02010600030101010101" pitchFamily="2" charset="-122"/>
              </a:rPr>
              <a:t>)</a:t>
            </a:r>
            <a:r>
              <a:rPr lang="zh-CN" altLang="zh-CN" sz="2000" kern="100" dirty="0">
                <a:latin typeface="Times New Roman" panose="02020603050405020304"/>
                <a:ea typeface="宋体" panose="02010600030101010101" pitchFamily="2" charset="-122"/>
              </a:rPr>
              <a:t>。</a:t>
            </a:r>
            <a:endParaRPr lang="zh-CN" altLang="zh-CN" sz="1800" kern="100" dirty="0">
              <a:latin typeface="Times New Roman" panose="02020603050405020304"/>
              <a:ea typeface="宋体" panose="02010600030101010101" pitchFamily="2" charset="-122"/>
            </a:endParaRPr>
          </a:p>
          <a:p>
            <a:pPr indent="266700" algn="just">
              <a:spcAft>
                <a:spcPts val="0"/>
              </a:spcAft>
            </a:pPr>
            <a:r>
              <a:rPr lang="zh-CN" altLang="zh-CN" sz="2000" kern="100" dirty="0">
                <a:latin typeface="Times New Roman" panose="02020603050405020304"/>
                <a:ea typeface="宋体" panose="02010600030101010101" pitchFamily="2" charset="-122"/>
              </a:rPr>
              <a:t>（</a:t>
            </a:r>
            <a:r>
              <a:rPr lang="en-US" altLang="zh-CN" sz="2000" kern="100" dirty="0">
                <a:latin typeface="Times New Roman" panose="02020603050405020304"/>
                <a:ea typeface="宋体" panose="02010600030101010101" pitchFamily="2" charset="-122"/>
              </a:rPr>
              <a:t>6</a:t>
            </a:r>
            <a:r>
              <a:rPr lang="zh-CN" altLang="zh-CN" sz="2000" kern="100" dirty="0">
                <a:latin typeface="Times New Roman" panose="02020603050405020304"/>
                <a:ea typeface="宋体" panose="02010600030101010101" pitchFamily="2" charset="-122"/>
              </a:rPr>
              <a:t>）设弧</a:t>
            </a:r>
            <a:r>
              <a:rPr lang="en-US" altLang="zh-CN" sz="2000" kern="100" dirty="0">
                <a:latin typeface="Times New Roman" panose="02020603050405020304"/>
                <a:ea typeface="宋体" panose="02010600030101010101" pitchFamily="2" charset="-122"/>
              </a:rPr>
              <a:t>&lt;</a:t>
            </a:r>
            <a:r>
              <a:rPr lang="en-US" altLang="zh-CN" sz="2000" i="1" kern="100" dirty="0" err="1">
                <a:latin typeface="Times New Roman" panose="02020603050405020304"/>
                <a:ea typeface="宋体" panose="02010600030101010101" pitchFamily="2" charset="-122"/>
              </a:rPr>
              <a:t>v</a:t>
            </a:r>
            <a:r>
              <a:rPr lang="en-US" altLang="zh-CN" sz="2000" i="1" kern="100" baseline="-25000" dirty="0" err="1">
                <a:latin typeface="Times New Roman" panose="02020603050405020304"/>
                <a:ea typeface="宋体" panose="02010600030101010101" pitchFamily="2" charset="-122"/>
              </a:rPr>
              <a:t>i</a:t>
            </a:r>
            <a:r>
              <a:rPr lang="en-US" altLang="zh-CN" sz="2000" kern="100" dirty="0" err="1">
                <a:latin typeface="Times New Roman" panose="02020603050405020304"/>
                <a:ea typeface="宋体" panose="02010600030101010101" pitchFamily="2" charset="-122"/>
              </a:rPr>
              <a:t>,</a:t>
            </a:r>
            <a:r>
              <a:rPr lang="en-US" altLang="zh-CN" sz="2000" i="1" kern="100" dirty="0" err="1">
                <a:latin typeface="Times New Roman" panose="02020603050405020304"/>
                <a:ea typeface="宋体" panose="02010600030101010101" pitchFamily="2" charset="-122"/>
              </a:rPr>
              <a:t>v</a:t>
            </a:r>
            <a:r>
              <a:rPr lang="en-US" altLang="zh-CN" sz="2000" i="1" kern="100" baseline="-25000" dirty="0" err="1">
                <a:latin typeface="Times New Roman" panose="02020603050405020304"/>
                <a:ea typeface="宋体" panose="02010600030101010101" pitchFamily="2" charset="-122"/>
              </a:rPr>
              <a:t>j</a:t>
            </a:r>
            <a:r>
              <a:rPr lang="en-US" altLang="zh-CN" sz="2000" kern="100" dirty="0">
                <a:latin typeface="Times New Roman" panose="02020603050405020304"/>
                <a:ea typeface="宋体" panose="02010600030101010101" pitchFamily="2" charset="-122"/>
              </a:rPr>
              <a:t>&gt;</a:t>
            </a:r>
            <a:r>
              <a:rPr lang="zh-CN" altLang="zh-CN" sz="2000" kern="100" dirty="0">
                <a:latin typeface="Times New Roman" panose="02020603050405020304"/>
                <a:ea typeface="宋体" panose="02010600030101010101" pitchFamily="2" charset="-122"/>
              </a:rPr>
              <a:t>为活动</a:t>
            </a:r>
            <a:r>
              <a:rPr lang="en-US" altLang="zh-CN" sz="2000" i="1" kern="100" dirty="0" err="1">
                <a:latin typeface="Times New Roman" panose="02020603050405020304"/>
                <a:ea typeface="宋体" panose="02010600030101010101" pitchFamily="2" charset="-122"/>
              </a:rPr>
              <a:t>a</a:t>
            </a:r>
            <a:r>
              <a:rPr lang="en-US" altLang="zh-CN" sz="2000" i="1" kern="100" baseline="-25000" dirty="0" err="1">
                <a:latin typeface="Times New Roman" panose="02020603050405020304"/>
                <a:ea typeface="宋体" panose="02010600030101010101" pitchFamily="2" charset="-122"/>
              </a:rPr>
              <a:t>k</a:t>
            </a:r>
            <a:r>
              <a:rPr lang="zh-CN" altLang="zh-CN" sz="2000" kern="100" dirty="0">
                <a:latin typeface="Times New Roman" panose="02020603050405020304"/>
                <a:ea typeface="宋体" panose="02010600030101010101" pitchFamily="2" charset="-122"/>
              </a:rPr>
              <a:t>，则活动</a:t>
            </a:r>
            <a:r>
              <a:rPr lang="en-US" altLang="zh-CN" sz="2000" i="1" kern="100" dirty="0" err="1">
                <a:latin typeface="Times New Roman" panose="02020603050405020304"/>
                <a:ea typeface="宋体" panose="02010600030101010101" pitchFamily="2" charset="-122"/>
              </a:rPr>
              <a:t>a</a:t>
            </a:r>
            <a:r>
              <a:rPr lang="en-US" altLang="zh-CN" sz="2000" i="1" kern="100" baseline="-25000" dirty="0" err="1">
                <a:latin typeface="Times New Roman" panose="02020603050405020304"/>
                <a:ea typeface="宋体" panose="02010600030101010101" pitchFamily="2" charset="-122"/>
              </a:rPr>
              <a:t>k</a:t>
            </a:r>
            <a:r>
              <a:rPr lang="zh-CN" altLang="zh-CN" sz="2000" kern="100" dirty="0">
                <a:latin typeface="Times New Roman" panose="02020603050405020304"/>
                <a:ea typeface="宋体" panose="02010600030101010101" pitchFamily="2" charset="-122"/>
              </a:rPr>
              <a:t>的最晚开始时间</a:t>
            </a:r>
            <a:r>
              <a:rPr lang="en-US" altLang="zh-CN" sz="2000" i="1" kern="100" dirty="0">
                <a:latin typeface="Times New Roman" panose="02020603050405020304"/>
                <a:ea typeface="宋体" panose="02010600030101010101" pitchFamily="2" charset="-122"/>
              </a:rPr>
              <a:t>l</a:t>
            </a:r>
            <a:r>
              <a:rPr lang="en-US" altLang="zh-CN" sz="2000" kern="100" dirty="0">
                <a:latin typeface="Times New Roman" panose="02020603050405020304"/>
                <a:ea typeface="宋体" panose="02010600030101010101" pitchFamily="2" charset="-122"/>
              </a:rPr>
              <a:t>(</a:t>
            </a:r>
            <a:r>
              <a:rPr lang="en-US" altLang="zh-CN" sz="2000" i="1" kern="100" dirty="0">
                <a:latin typeface="Times New Roman" panose="02020603050405020304"/>
                <a:ea typeface="宋体" panose="02010600030101010101" pitchFamily="2" charset="-122"/>
              </a:rPr>
              <a:t>k</a:t>
            </a:r>
            <a:r>
              <a:rPr lang="en-US" altLang="zh-CN" sz="2000" kern="100" dirty="0">
                <a:latin typeface="Times New Roman" panose="02020603050405020304"/>
                <a:ea typeface="宋体" panose="02010600030101010101" pitchFamily="2" charset="-122"/>
              </a:rPr>
              <a:t>)</a:t>
            </a:r>
            <a:r>
              <a:rPr lang="zh-CN" altLang="zh-CN" sz="2000" kern="100" dirty="0">
                <a:latin typeface="Times New Roman" panose="02020603050405020304"/>
                <a:ea typeface="宋体" panose="02010600030101010101" pitchFamily="2" charset="-122"/>
              </a:rPr>
              <a:t>定义为：在不拖延整个工期的条件下，该活动的允许的最迟开始时间，即</a:t>
            </a:r>
            <a:r>
              <a:rPr lang="en-US" altLang="zh-CN" sz="2000" i="1" kern="100" dirty="0">
                <a:latin typeface="Times New Roman" panose="02020603050405020304"/>
                <a:ea typeface="宋体" panose="02010600030101010101" pitchFamily="2" charset="-122"/>
              </a:rPr>
              <a:t>l</a:t>
            </a:r>
            <a:r>
              <a:rPr lang="en-US" altLang="zh-CN" sz="2000" kern="100" dirty="0">
                <a:latin typeface="Times New Roman" panose="02020603050405020304"/>
                <a:ea typeface="宋体" panose="02010600030101010101" pitchFamily="2" charset="-122"/>
              </a:rPr>
              <a:t>(</a:t>
            </a:r>
            <a:r>
              <a:rPr lang="en-US" altLang="zh-CN" sz="2000" i="1" kern="100" dirty="0">
                <a:latin typeface="Times New Roman" panose="02020603050405020304"/>
                <a:ea typeface="宋体" panose="02010600030101010101" pitchFamily="2" charset="-122"/>
              </a:rPr>
              <a:t>k</a:t>
            </a:r>
            <a:r>
              <a:rPr lang="en-US" altLang="zh-CN" sz="2000" kern="100" dirty="0">
                <a:latin typeface="Times New Roman" panose="02020603050405020304"/>
                <a:ea typeface="宋体" panose="02010600030101010101" pitchFamily="2" charset="-122"/>
              </a:rPr>
              <a:t>)</a:t>
            </a:r>
            <a:r>
              <a:rPr lang="zh-CN" altLang="zh-CN" sz="2000" kern="100" dirty="0">
                <a:latin typeface="Times New Roman" panose="02020603050405020304"/>
                <a:ea typeface="宋体" panose="02010600030101010101" pitchFamily="2" charset="-122"/>
              </a:rPr>
              <a:t>＝</a:t>
            </a:r>
            <a:r>
              <a:rPr lang="en-US" altLang="zh-CN" sz="2000" i="1" kern="100" dirty="0" err="1">
                <a:latin typeface="Times New Roman" panose="02020603050405020304"/>
                <a:ea typeface="宋体" panose="02010600030101010101" pitchFamily="2" charset="-122"/>
              </a:rPr>
              <a:t>vl</a:t>
            </a:r>
            <a:r>
              <a:rPr lang="en-US" altLang="zh-CN" sz="2000" kern="100" dirty="0">
                <a:latin typeface="Times New Roman" panose="02020603050405020304"/>
                <a:ea typeface="宋体" panose="02010600030101010101" pitchFamily="2" charset="-122"/>
              </a:rPr>
              <a:t>(</a:t>
            </a:r>
            <a:r>
              <a:rPr lang="en-US" altLang="zh-CN" sz="2000" i="1" kern="100" dirty="0">
                <a:latin typeface="Times New Roman" panose="02020603050405020304"/>
                <a:ea typeface="宋体" panose="02010600030101010101" pitchFamily="2" charset="-122"/>
              </a:rPr>
              <a:t>j</a:t>
            </a:r>
            <a:r>
              <a:rPr lang="en-US" altLang="zh-CN" sz="2000" kern="100" dirty="0">
                <a:latin typeface="Times New Roman" panose="02020603050405020304"/>
                <a:ea typeface="宋体" panose="02010600030101010101" pitchFamily="2" charset="-122"/>
              </a:rPr>
              <a:t>)</a:t>
            </a:r>
            <a:r>
              <a:rPr lang="zh-CN" altLang="zh-CN" sz="2000" kern="100" dirty="0">
                <a:latin typeface="Times New Roman" panose="02020603050405020304"/>
                <a:ea typeface="宋体" panose="02010600030101010101" pitchFamily="2" charset="-122"/>
              </a:rPr>
              <a:t>－</a:t>
            </a:r>
            <a:r>
              <a:rPr lang="en-US" altLang="zh-CN" sz="2000" i="1" kern="100" dirty="0" err="1">
                <a:latin typeface="Times New Roman" panose="02020603050405020304"/>
                <a:ea typeface="宋体" panose="02010600030101010101" pitchFamily="2" charset="-122"/>
              </a:rPr>
              <a:t>len</a:t>
            </a:r>
            <a:r>
              <a:rPr lang="en-US" altLang="zh-CN" sz="2000" kern="100" dirty="0">
                <a:latin typeface="Times New Roman" panose="02020603050405020304"/>
                <a:ea typeface="宋体" panose="02010600030101010101" pitchFamily="2" charset="-122"/>
              </a:rPr>
              <a:t>(</a:t>
            </a:r>
            <a:r>
              <a:rPr lang="en-US" altLang="zh-CN" sz="2000" i="1" kern="100" dirty="0" err="1">
                <a:latin typeface="Times New Roman" panose="02020603050405020304"/>
                <a:ea typeface="宋体" panose="02010600030101010101" pitchFamily="2" charset="-122"/>
              </a:rPr>
              <a:t>i</a:t>
            </a:r>
            <a:r>
              <a:rPr lang="en-US" altLang="zh-CN" sz="2000" kern="100" dirty="0" err="1">
                <a:latin typeface="Times New Roman" panose="02020603050405020304"/>
                <a:ea typeface="宋体" panose="02010600030101010101" pitchFamily="2" charset="-122"/>
              </a:rPr>
              <a:t>,</a:t>
            </a:r>
            <a:r>
              <a:rPr lang="en-US" altLang="zh-CN" sz="2000" i="1" kern="100" dirty="0" err="1">
                <a:latin typeface="Times New Roman" panose="02020603050405020304"/>
                <a:ea typeface="宋体" panose="02010600030101010101" pitchFamily="2" charset="-122"/>
              </a:rPr>
              <a:t>j</a:t>
            </a:r>
            <a:r>
              <a:rPr lang="en-US" altLang="zh-CN" sz="2000" kern="100" dirty="0">
                <a:latin typeface="Times New Roman" panose="02020603050405020304"/>
                <a:ea typeface="宋体" panose="02010600030101010101" pitchFamily="2" charset="-122"/>
              </a:rPr>
              <a:t>)</a:t>
            </a:r>
            <a:r>
              <a:rPr lang="zh-CN" altLang="zh-CN" sz="2000" kern="100" dirty="0">
                <a:latin typeface="Times New Roman" panose="02020603050405020304"/>
                <a:ea typeface="宋体" panose="02010600030101010101" pitchFamily="2" charset="-122"/>
              </a:rPr>
              <a:t>，其中</a:t>
            </a:r>
            <a:r>
              <a:rPr lang="en-US" altLang="zh-CN" sz="2000" i="1" kern="100" dirty="0" err="1">
                <a:latin typeface="Times New Roman" panose="02020603050405020304"/>
                <a:ea typeface="宋体" panose="02010600030101010101" pitchFamily="2" charset="-122"/>
              </a:rPr>
              <a:t>len</a:t>
            </a:r>
            <a:r>
              <a:rPr lang="en-US" altLang="zh-CN" sz="2000" kern="100" dirty="0">
                <a:latin typeface="Times New Roman" panose="02020603050405020304"/>
                <a:ea typeface="宋体" panose="02010600030101010101" pitchFamily="2" charset="-122"/>
              </a:rPr>
              <a:t>(</a:t>
            </a:r>
            <a:r>
              <a:rPr lang="en-US" altLang="zh-CN" sz="2000" i="1" kern="100" dirty="0" err="1">
                <a:latin typeface="Times New Roman" panose="02020603050405020304"/>
                <a:ea typeface="宋体" panose="02010600030101010101" pitchFamily="2" charset="-122"/>
              </a:rPr>
              <a:t>i</a:t>
            </a:r>
            <a:r>
              <a:rPr lang="en-US" altLang="zh-CN" sz="2000" kern="100" dirty="0" err="1">
                <a:latin typeface="Times New Roman" panose="02020603050405020304"/>
                <a:ea typeface="宋体" panose="02010600030101010101" pitchFamily="2" charset="-122"/>
              </a:rPr>
              <a:t>,</a:t>
            </a:r>
            <a:r>
              <a:rPr lang="en-US" altLang="zh-CN" sz="2000" i="1" kern="100" dirty="0" err="1">
                <a:latin typeface="Times New Roman" panose="02020603050405020304"/>
                <a:ea typeface="宋体" panose="02010600030101010101" pitchFamily="2" charset="-122"/>
              </a:rPr>
              <a:t>j</a:t>
            </a:r>
            <a:r>
              <a:rPr lang="en-US" altLang="zh-CN" sz="2000" kern="100" dirty="0">
                <a:latin typeface="Times New Roman" panose="02020603050405020304"/>
                <a:ea typeface="宋体" panose="02010600030101010101" pitchFamily="2" charset="-122"/>
              </a:rPr>
              <a:t>)</a:t>
            </a:r>
            <a:r>
              <a:rPr lang="zh-CN" altLang="zh-CN" sz="2000" kern="100" dirty="0">
                <a:latin typeface="Times New Roman" panose="02020603050405020304"/>
                <a:ea typeface="宋体" panose="02010600030101010101" pitchFamily="2" charset="-122"/>
              </a:rPr>
              <a:t>是</a:t>
            </a:r>
            <a:r>
              <a:rPr lang="en-US" altLang="zh-CN" sz="2000" i="1" kern="100" dirty="0" err="1">
                <a:latin typeface="Times New Roman" panose="02020603050405020304"/>
                <a:ea typeface="宋体" panose="02010600030101010101" pitchFamily="2" charset="-122"/>
              </a:rPr>
              <a:t>a</a:t>
            </a:r>
            <a:r>
              <a:rPr lang="en-US" altLang="zh-CN" sz="2000" i="1" kern="100" baseline="-25000" dirty="0" err="1">
                <a:latin typeface="Times New Roman" panose="02020603050405020304"/>
                <a:ea typeface="宋体" panose="02010600030101010101" pitchFamily="2" charset="-122"/>
              </a:rPr>
              <a:t>k</a:t>
            </a:r>
            <a:r>
              <a:rPr lang="zh-CN" altLang="zh-CN" sz="2000" kern="100" dirty="0">
                <a:latin typeface="Times New Roman" panose="02020603050405020304"/>
                <a:ea typeface="宋体" panose="02010600030101010101" pitchFamily="2" charset="-122"/>
              </a:rPr>
              <a:t>的权。</a:t>
            </a:r>
            <a:endParaRPr lang="zh-CN" altLang="zh-CN" sz="1800" kern="100" dirty="0">
              <a:effectLst/>
              <a:latin typeface="Times New Roman" panose="02020603050405020304"/>
              <a:ea typeface="宋体" panose="02010600030101010101" pitchFamily="2" charset="-122"/>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9153427" cy="2308324"/>
          </a:xfrm>
          <a:prstGeom prst="rect">
            <a:avLst/>
          </a:prstGeom>
        </p:spPr>
        <p:txBody>
          <a:bodyPr wrap="square">
            <a:spAutoFit/>
          </a:bodyPr>
          <a:lstStyle/>
          <a:p>
            <a:pPr indent="266700" algn="just">
              <a:spcAft>
                <a:spcPts val="0"/>
              </a:spcAft>
            </a:pPr>
            <a:r>
              <a:rPr lang="zh-CN" altLang="zh-CN" sz="2400" kern="100" dirty="0">
                <a:latin typeface="Times New Roman" panose="02020603050405020304"/>
                <a:ea typeface="宋体" panose="02010600030101010101" pitchFamily="2" charset="-122"/>
              </a:rPr>
              <a:t>由定义（</a:t>
            </a:r>
            <a:r>
              <a:rPr lang="en-US" altLang="zh-CN" sz="2400" kern="100" dirty="0">
                <a:latin typeface="Times New Roman" panose="02020603050405020304"/>
                <a:ea typeface="宋体" panose="02010600030101010101" pitchFamily="2" charset="-122"/>
              </a:rPr>
              <a:t>5</a:t>
            </a:r>
            <a:r>
              <a:rPr lang="zh-CN" altLang="zh-CN" sz="2400" kern="100" dirty="0">
                <a:latin typeface="Times New Roman" panose="02020603050405020304"/>
                <a:ea typeface="宋体" panose="02010600030101010101" pitchFamily="2" charset="-122"/>
              </a:rPr>
              <a:t>）中的</a:t>
            </a:r>
            <a:r>
              <a:rPr lang="en-US" altLang="zh-CN" sz="2400" i="1" kern="100" dirty="0">
                <a:latin typeface="Times New Roman" panose="02020603050405020304"/>
                <a:ea typeface="宋体" panose="02010600030101010101" pitchFamily="2" charset="-122"/>
              </a:rPr>
              <a:t>e</a:t>
            </a:r>
            <a:r>
              <a:rPr lang="en-US" altLang="zh-CN" sz="2400" kern="100" dirty="0">
                <a:latin typeface="Times New Roman" panose="02020603050405020304"/>
                <a:ea typeface="宋体" panose="02010600030101010101" pitchFamily="2" charset="-122"/>
              </a:rPr>
              <a:t>(</a:t>
            </a:r>
            <a:r>
              <a:rPr lang="en-US" altLang="zh-CN" sz="2400" i="1" kern="100" dirty="0">
                <a:latin typeface="Times New Roman" panose="02020603050405020304"/>
                <a:ea typeface="宋体" panose="02010600030101010101" pitchFamily="2" charset="-122"/>
              </a:rPr>
              <a:t>k</a:t>
            </a:r>
            <a:r>
              <a:rPr lang="en-US" altLang="zh-CN" sz="2400" kern="100" dirty="0">
                <a:latin typeface="Times New Roman" panose="02020603050405020304"/>
                <a:ea typeface="宋体" panose="02010600030101010101" pitchFamily="2" charset="-122"/>
              </a:rPr>
              <a:t>)</a:t>
            </a:r>
            <a:r>
              <a:rPr lang="zh-CN" altLang="zh-CN" sz="2400" kern="100" dirty="0">
                <a:latin typeface="Times New Roman" panose="02020603050405020304"/>
                <a:ea typeface="宋体" panose="02010600030101010101" pitchFamily="2" charset="-122"/>
              </a:rPr>
              <a:t>＝</a:t>
            </a:r>
            <a:r>
              <a:rPr lang="en-US" altLang="zh-CN" sz="2400" i="1" kern="100" dirty="0" err="1">
                <a:latin typeface="Times New Roman" panose="02020603050405020304"/>
                <a:ea typeface="宋体" panose="02010600030101010101" pitchFamily="2" charset="-122"/>
              </a:rPr>
              <a:t>ve</a:t>
            </a:r>
            <a:r>
              <a:rPr lang="en-US" altLang="zh-CN" sz="2400" kern="100" dirty="0">
                <a:latin typeface="Times New Roman" panose="02020603050405020304"/>
                <a:ea typeface="宋体" panose="02010600030101010101" pitchFamily="2" charset="-122"/>
              </a:rPr>
              <a:t>(</a:t>
            </a:r>
            <a:r>
              <a:rPr lang="en-US" altLang="zh-CN" sz="2400" i="1" kern="100" dirty="0" err="1">
                <a:latin typeface="Times New Roman" panose="02020603050405020304"/>
                <a:ea typeface="宋体" panose="02010600030101010101" pitchFamily="2" charset="-122"/>
              </a:rPr>
              <a:t>i</a:t>
            </a:r>
            <a:r>
              <a:rPr lang="en-US" altLang="zh-CN" sz="2400" kern="100" dirty="0">
                <a:latin typeface="Times New Roman" panose="02020603050405020304"/>
                <a:ea typeface="宋体" panose="02010600030101010101" pitchFamily="2" charset="-122"/>
              </a:rPr>
              <a:t>)</a:t>
            </a:r>
            <a:r>
              <a:rPr lang="zh-CN" altLang="zh-CN" sz="2400" kern="100" dirty="0">
                <a:latin typeface="Times New Roman" panose="02020603050405020304"/>
                <a:ea typeface="宋体" panose="02010600030101010101" pitchFamily="2" charset="-122"/>
              </a:rPr>
              <a:t>＝</a:t>
            </a:r>
            <a:r>
              <a:rPr lang="en-US" altLang="zh-CN" sz="2400" i="1" kern="100" dirty="0" err="1">
                <a:latin typeface="Times New Roman" panose="02020603050405020304"/>
                <a:ea typeface="宋体" panose="02010600030101010101" pitchFamily="2" charset="-122"/>
              </a:rPr>
              <a:t>cp</a:t>
            </a:r>
            <a:r>
              <a:rPr lang="en-US" altLang="zh-CN" sz="2400" kern="100" dirty="0">
                <a:latin typeface="Times New Roman" panose="02020603050405020304"/>
                <a:ea typeface="宋体" panose="02010600030101010101" pitchFamily="2" charset="-122"/>
              </a:rPr>
              <a:t>(0,</a:t>
            </a:r>
            <a:r>
              <a:rPr lang="en-US" altLang="zh-CN" sz="2400" i="1" kern="100" dirty="0">
                <a:latin typeface="Times New Roman" panose="02020603050405020304"/>
                <a:ea typeface="宋体" panose="02010600030101010101" pitchFamily="2" charset="-122"/>
              </a:rPr>
              <a:t>i</a:t>
            </a:r>
            <a:r>
              <a:rPr lang="en-US" altLang="zh-CN" sz="2400" kern="100" dirty="0">
                <a:latin typeface="Times New Roman" panose="02020603050405020304"/>
                <a:ea typeface="宋体" panose="02010600030101010101" pitchFamily="2" charset="-122"/>
              </a:rPr>
              <a:t>)</a:t>
            </a:r>
            <a:r>
              <a:rPr lang="zh-CN" altLang="zh-CN" sz="2400" kern="100" dirty="0">
                <a:latin typeface="Times New Roman" panose="02020603050405020304"/>
                <a:ea typeface="宋体" panose="02010600030101010101" pitchFamily="2" charset="-122"/>
              </a:rPr>
              <a:t>和定义（</a:t>
            </a:r>
            <a:r>
              <a:rPr lang="en-US" altLang="zh-CN" sz="2400" kern="100" dirty="0">
                <a:latin typeface="Times New Roman" panose="02020603050405020304"/>
                <a:ea typeface="宋体" panose="02010600030101010101" pitchFamily="2" charset="-122"/>
              </a:rPr>
              <a:t>6</a:t>
            </a:r>
            <a:r>
              <a:rPr lang="zh-CN" altLang="zh-CN" sz="2400" kern="100" dirty="0">
                <a:latin typeface="Times New Roman" panose="02020603050405020304"/>
                <a:ea typeface="宋体" panose="02010600030101010101" pitchFamily="2" charset="-122"/>
              </a:rPr>
              <a:t>）中的</a:t>
            </a:r>
            <a:r>
              <a:rPr lang="en-US" altLang="zh-CN" sz="2400" i="1" kern="100" dirty="0">
                <a:latin typeface="Times New Roman" panose="02020603050405020304"/>
                <a:ea typeface="宋体" panose="02010600030101010101" pitchFamily="2" charset="-122"/>
              </a:rPr>
              <a:t>l</a:t>
            </a:r>
            <a:r>
              <a:rPr lang="en-US" altLang="zh-CN" sz="2400" kern="100" dirty="0">
                <a:latin typeface="Times New Roman" panose="02020603050405020304"/>
                <a:ea typeface="宋体" panose="02010600030101010101" pitchFamily="2" charset="-122"/>
              </a:rPr>
              <a:t>(</a:t>
            </a:r>
            <a:r>
              <a:rPr lang="en-US" altLang="zh-CN" sz="2400" i="1" kern="100" dirty="0">
                <a:latin typeface="Times New Roman" panose="02020603050405020304"/>
                <a:ea typeface="宋体" panose="02010600030101010101" pitchFamily="2" charset="-122"/>
              </a:rPr>
              <a:t>k</a:t>
            </a:r>
            <a:r>
              <a:rPr lang="en-US" altLang="zh-CN" sz="2400" kern="100" dirty="0">
                <a:latin typeface="Times New Roman" panose="02020603050405020304"/>
                <a:ea typeface="宋体" panose="02010600030101010101" pitchFamily="2" charset="-122"/>
              </a:rPr>
              <a:t>)</a:t>
            </a:r>
            <a:r>
              <a:rPr lang="zh-CN" altLang="zh-CN" sz="2400" kern="100" dirty="0">
                <a:latin typeface="Times New Roman" panose="02020603050405020304"/>
                <a:ea typeface="宋体" panose="02010600030101010101" pitchFamily="2" charset="-122"/>
              </a:rPr>
              <a:t>＝</a:t>
            </a:r>
            <a:r>
              <a:rPr lang="en-US" altLang="zh-CN" sz="2400" i="1" kern="100" dirty="0" err="1">
                <a:latin typeface="Times New Roman" panose="02020603050405020304"/>
                <a:ea typeface="宋体" panose="02010600030101010101" pitchFamily="2" charset="-122"/>
              </a:rPr>
              <a:t>vl</a:t>
            </a:r>
            <a:r>
              <a:rPr lang="en-US" altLang="zh-CN" sz="2400" kern="100" dirty="0">
                <a:latin typeface="Times New Roman" panose="02020603050405020304"/>
                <a:ea typeface="宋体" panose="02010600030101010101" pitchFamily="2" charset="-122"/>
              </a:rPr>
              <a:t>(</a:t>
            </a:r>
            <a:r>
              <a:rPr lang="en-US" altLang="zh-CN" sz="2400" i="1" kern="100" dirty="0">
                <a:latin typeface="Times New Roman" panose="02020603050405020304"/>
                <a:ea typeface="宋体" panose="02010600030101010101" pitchFamily="2" charset="-122"/>
              </a:rPr>
              <a:t>j</a:t>
            </a:r>
            <a:r>
              <a:rPr lang="en-US" altLang="zh-CN" sz="2400" kern="100" dirty="0">
                <a:latin typeface="Times New Roman" panose="02020603050405020304"/>
                <a:ea typeface="宋体" panose="02010600030101010101" pitchFamily="2" charset="-122"/>
              </a:rPr>
              <a:t>)</a:t>
            </a:r>
            <a:r>
              <a:rPr lang="zh-CN" altLang="zh-CN" sz="2400" kern="100" dirty="0">
                <a:latin typeface="Times New Roman" panose="02020603050405020304"/>
                <a:ea typeface="宋体" panose="02010600030101010101" pitchFamily="2" charset="-122"/>
              </a:rPr>
              <a:t>－</a:t>
            </a:r>
            <a:r>
              <a:rPr lang="en-US" altLang="zh-CN" sz="2400" i="1" kern="100" dirty="0" err="1">
                <a:latin typeface="Times New Roman" panose="02020603050405020304"/>
                <a:ea typeface="宋体" panose="02010600030101010101" pitchFamily="2" charset="-122"/>
              </a:rPr>
              <a:t>len</a:t>
            </a:r>
            <a:r>
              <a:rPr lang="en-US" altLang="zh-CN" sz="2400" kern="100" dirty="0">
                <a:latin typeface="Times New Roman" panose="02020603050405020304"/>
                <a:ea typeface="宋体" panose="02010600030101010101" pitchFamily="2" charset="-122"/>
              </a:rPr>
              <a:t>(</a:t>
            </a:r>
            <a:r>
              <a:rPr lang="en-US" altLang="zh-CN" sz="2400" i="1" kern="100" dirty="0" err="1">
                <a:latin typeface="Times New Roman" panose="02020603050405020304"/>
                <a:ea typeface="宋体" panose="02010600030101010101" pitchFamily="2" charset="-122"/>
              </a:rPr>
              <a:t>i</a:t>
            </a:r>
            <a:r>
              <a:rPr lang="en-US" altLang="zh-CN" sz="2400" kern="100" dirty="0" err="1">
                <a:latin typeface="Times New Roman" panose="02020603050405020304"/>
                <a:ea typeface="宋体" panose="02010600030101010101" pitchFamily="2" charset="-122"/>
              </a:rPr>
              <a:t>,</a:t>
            </a:r>
            <a:r>
              <a:rPr lang="en-US" altLang="zh-CN" sz="2400" i="1" kern="100" dirty="0" err="1">
                <a:latin typeface="Times New Roman" panose="02020603050405020304"/>
                <a:ea typeface="宋体" panose="02010600030101010101" pitchFamily="2" charset="-122"/>
              </a:rPr>
              <a:t>j</a:t>
            </a:r>
            <a:r>
              <a:rPr lang="en-US" altLang="zh-CN" sz="2400" kern="100" dirty="0">
                <a:latin typeface="Times New Roman" panose="02020603050405020304"/>
                <a:ea typeface="宋体" panose="02010600030101010101" pitchFamily="2" charset="-122"/>
              </a:rPr>
              <a:t>)</a:t>
            </a:r>
            <a:r>
              <a:rPr lang="zh-CN" altLang="zh-CN" sz="2400" kern="100" dirty="0">
                <a:latin typeface="Times New Roman" panose="02020603050405020304"/>
                <a:ea typeface="宋体" panose="02010600030101010101" pitchFamily="2" charset="-122"/>
              </a:rPr>
              <a:t>可知，要求</a:t>
            </a:r>
            <a:r>
              <a:rPr lang="en-US" altLang="zh-CN" sz="2400" i="1" kern="100" dirty="0">
                <a:latin typeface="Times New Roman" panose="02020603050405020304"/>
                <a:ea typeface="宋体" panose="02010600030101010101" pitchFamily="2" charset="-122"/>
              </a:rPr>
              <a:t>e</a:t>
            </a:r>
            <a:r>
              <a:rPr lang="en-US" altLang="zh-CN" sz="2400" kern="100" dirty="0">
                <a:latin typeface="Times New Roman" panose="02020603050405020304"/>
                <a:ea typeface="宋体" panose="02010600030101010101" pitchFamily="2" charset="-122"/>
              </a:rPr>
              <a:t>(</a:t>
            </a:r>
            <a:r>
              <a:rPr lang="en-US" altLang="zh-CN" sz="2400" i="1" kern="100" dirty="0">
                <a:latin typeface="Times New Roman" panose="02020603050405020304"/>
                <a:ea typeface="宋体" panose="02010600030101010101" pitchFamily="2" charset="-122"/>
              </a:rPr>
              <a:t>k</a:t>
            </a:r>
            <a:r>
              <a:rPr lang="en-US" altLang="zh-CN" sz="2400" kern="100" dirty="0">
                <a:latin typeface="Times New Roman" panose="02020603050405020304"/>
                <a:ea typeface="宋体" panose="02010600030101010101" pitchFamily="2" charset="-122"/>
              </a:rPr>
              <a:t>)</a:t>
            </a:r>
            <a:r>
              <a:rPr lang="zh-CN" altLang="zh-CN" sz="2400" kern="100" dirty="0">
                <a:latin typeface="Times New Roman" panose="02020603050405020304"/>
                <a:ea typeface="宋体" panose="02010600030101010101" pitchFamily="2" charset="-122"/>
              </a:rPr>
              <a:t>和</a:t>
            </a:r>
            <a:r>
              <a:rPr lang="en-US" altLang="zh-CN" sz="2400" i="1" kern="100" dirty="0">
                <a:latin typeface="Times New Roman" panose="02020603050405020304"/>
                <a:ea typeface="宋体" panose="02010600030101010101" pitchFamily="2" charset="-122"/>
              </a:rPr>
              <a:t>l</a:t>
            </a:r>
            <a:r>
              <a:rPr lang="en-US" altLang="zh-CN" sz="2400" kern="100" dirty="0">
                <a:latin typeface="Times New Roman" panose="02020603050405020304"/>
                <a:ea typeface="宋体" panose="02010600030101010101" pitchFamily="2" charset="-122"/>
              </a:rPr>
              <a:t>(</a:t>
            </a:r>
            <a:r>
              <a:rPr lang="en-US" altLang="zh-CN" sz="2400" i="1" kern="100" dirty="0">
                <a:latin typeface="Times New Roman" panose="02020603050405020304"/>
                <a:ea typeface="宋体" panose="02010600030101010101" pitchFamily="2" charset="-122"/>
              </a:rPr>
              <a:t>k</a:t>
            </a:r>
            <a:r>
              <a:rPr lang="en-US" altLang="zh-CN" sz="2400" kern="100" dirty="0">
                <a:latin typeface="Times New Roman" panose="02020603050405020304"/>
                <a:ea typeface="宋体" panose="02010600030101010101" pitchFamily="2" charset="-122"/>
              </a:rPr>
              <a:t>)</a:t>
            </a:r>
            <a:r>
              <a:rPr lang="zh-CN" altLang="zh-CN" sz="2400" kern="100" dirty="0">
                <a:latin typeface="Times New Roman" panose="02020603050405020304"/>
                <a:ea typeface="宋体" panose="02010600030101010101" pitchFamily="2" charset="-122"/>
              </a:rPr>
              <a:t>的值，须先求出</a:t>
            </a:r>
            <a:r>
              <a:rPr lang="en-US" altLang="zh-CN" sz="2400" kern="100" dirty="0" err="1">
                <a:latin typeface="Times New Roman" panose="02020603050405020304"/>
                <a:ea typeface="宋体" panose="02010600030101010101" pitchFamily="2" charset="-122"/>
              </a:rPr>
              <a:t>ve</a:t>
            </a:r>
            <a:r>
              <a:rPr lang="en-US" altLang="zh-CN" sz="2400" kern="100" dirty="0">
                <a:latin typeface="Times New Roman" panose="02020603050405020304"/>
                <a:ea typeface="宋体" panose="02010600030101010101" pitchFamily="2" charset="-122"/>
              </a:rPr>
              <a:t>[</a:t>
            </a:r>
            <a:r>
              <a:rPr lang="en-US" altLang="zh-CN" sz="2400" kern="100" dirty="0" err="1">
                <a:latin typeface="Times New Roman" panose="02020603050405020304"/>
                <a:ea typeface="宋体" panose="02010600030101010101" pitchFamily="2" charset="-122"/>
              </a:rPr>
              <a:t>i</a:t>
            </a:r>
            <a:r>
              <a:rPr lang="en-US" altLang="zh-CN" sz="2400" kern="100" dirty="0">
                <a:latin typeface="Times New Roman" panose="02020603050405020304"/>
                <a:ea typeface="宋体" panose="02010600030101010101" pitchFamily="2" charset="-122"/>
              </a:rPr>
              <a:t>]</a:t>
            </a:r>
            <a:r>
              <a:rPr lang="zh-CN" altLang="zh-CN" sz="2400" kern="100" dirty="0">
                <a:latin typeface="Times New Roman" panose="02020603050405020304"/>
                <a:ea typeface="宋体" panose="02010600030101010101" pitchFamily="2" charset="-122"/>
              </a:rPr>
              <a:t>和</a:t>
            </a:r>
            <a:r>
              <a:rPr lang="en-US" altLang="zh-CN" sz="2400" kern="100" dirty="0" err="1">
                <a:latin typeface="Times New Roman" panose="02020603050405020304"/>
                <a:ea typeface="宋体" panose="02010600030101010101" pitchFamily="2" charset="-122"/>
              </a:rPr>
              <a:t>vl</a:t>
            </a:r>
            <a:r>
              <a:rPr lang="en-US" altLang="zh-CN" sz="2400" kern="100" dirty="0">
                <a:latin typeface="Times New Roman" panose="02020603050405020304"/>
                <a:ea typeface="宋体" panose="02010600030101010101" pitchFamily="2" charset="-122"/>
              </a:rPr>
              <a:t>[</a:t>
            </a:r>
            <a:r>
              <a:rPr lang="en-US" altLang="zh-CN" sz="2400" kern="100" dirty="0" err="1">
                <a:latin typeface="Times New Roman" panose="02020603050405020304"/>
                <a:ea typeface="宋体" panose="02010600030101010101" pitchFamily="2" charset="-122"/>
              </a:rPr>
              <a:t>i</a:t>
            </a:r>
            <a:r>
              <a:rPr lang="en-US" altLang="zh-CN" sz="2400" kern="100" dirty="0">
                <a:latin typeface="Times New Roman" panose="02020603050405020304"/>
                <a:ea typeface="宋体" panose="02010600030101010101" pitchFamily="2" charset="-122"/>
              </a:rPr>
              <a:t>]</a:t>
            </a:r>
            <a:r>
              <a:rPr lang="zh-CN" altLang="zh-CN" sz="2400" kern="100" dirty="0">
                <a:latin typeface="Times New Roman" panose="02020603050405020304"/>
                <a:ea typeface="宋体" panose="02010600030101010101" pitchFamily="2" charset="-122"/>
              </a:rPr>
              <a:t>的值：</a:t>
            </a:r>
            <a:endParaRPr lang="zh-CN" altLang="zh-CN" sz="2000" kern="100" dirty="0">
              <a:latin typeface="Times New Roman" panose="02020603050405020304"/>
              <a:ea typeface="宋体" panose="02010600030101010101" pitchFamily="2" charset="-122"/>
            </a:endParaRPr>
          </a:p>
          <a:p>
            <a:r>
              <a:rPr lang="zh-CN" altLang="zh-CN" sz="2400" kern="100" dirty="0">
                <a:latin typeface="Times New Roman" panose="02020603050405020304"/>
                <a:ea typeface="宋体" panose="02010600030101010101" pitchFamily="2" charset="-122"/>
                <a:cs typeface="Times New Roman" panose="02020603050405020304"/>
              </a:rPr>
              <a:t>（</a:t>
            </a:r>
            <a:r>
              <a:rPr lang="en-US" altLang="zh-CN" sz="2400" kern="100" dirty="0">
                <a:latin typeface="Times New Roman" panose="02020603050405020304"/>
                <a:ea typeface="宋体" panose="02010600030101010101" pitchFamily="2" charset="-122"/>
              </a:rPr>
              <a:t>1</a:t>
            </a:r>
            <a:r>
              <a:rPr lang="zh-CN" altLang="zh-CN" sz="2400" kern="100" dirty="0">
                <a:latin typeface="Times New Roman" panose="02020603050405020304"/>
                <a:ea typeface="宋体" panose="02010600030101010101" pitchFamily="2" charset="-122"/>
                <a:cs typeface="Times New Roman" panose="02020603050405020304"/>
              </a:rPr>
              <a:t>）求事件</a:t>
            </a:r>
            <a:r>
              <a:rPr lang="en-US" altLang="zh-CN" sz="2400" i="1" kern="100" dirty="0" err="1">
                <a:latin typeface="Times New Roman" panose="02020603050405020304"/>
                <a:ea typeface="宋体" panose="02010600030101010101" pitchFamily="2" charset="-122"/>
              </a:rPr>
              <a:t>v</a:t>
            </a:r>
            <a:r>
              <a:rPr lang="en-US" altLang="zh-CN" sz="2400" i="1" kern="100" baseline="-25000" dirty="0" err="1">
                <a:latin typeface="Times New Roman" panose="02020603050405020304"/>
                <a:ea typeface="宋体" panose="02010600030101010101" pitchFamily="2" charset="-122"/>
              </a:rPr>
              <a:t>j</a:t>
            </a:r>
            <a:r>
              <a:rPr lang="zh-CN" altLang="zh-CN" sz="2400" kern="100" dirty="0">
                <a:latin typeface="Times New Roman" panose="02020603050405020304"/>
                <a:ea typeface="宋体" panose="02010600030101010101" pitchFamily="2" charset="-122"/>
                <a:cs typeface="Times New Roman" panose="02020603050405020304"/>
              </a:rPr>
              <a:t>的最早发生时间</a:t>
            </a:r>
            <a:r>
              <a:rPr lang="en-US" altLang="zh-CN" sz="2400" i="1" kern="100" dirty="0" err="1">
                <a:latin typeface="Times New Roman" panose="02020603050405020304"/>
                <a:ea typeface="宋体" panose="02010600030101010101" pitchFamily="2" charset="-122"/>
              </a:rPr>
              <a:t>ve</a:t>
            </a:r>
            <a:r>
              <a:rPr lang="en-US" altLang="zh-CN" sz="2400" kern="100" dirty="0">
                <a:latin typeface="Times New Roman" panose="02020603050405020304"/>
                <a:ea typeface="宋体" panose="02010600030101010101" pitchFamily="2" charset="-122"/>
              </a:rPr>
              <a:t>(</a:t>
            </a:r>
            <a:r>
              <a:rPr lang="en-US" altLang="zh-CN" sz="2400" i="1" kern="100" dirty="0">
                <a:latin typeface="Times New Roman" panose="02020603050405020304"/>
                <a:ea typeface="宋体" panose="02010600030101010101" pitchFamily="2" charset="-122"/>
              </a:rPr>
              <a:t>j</a:t>
            </a:r>
            <a:r>
              <a:rPr lang="en-US" altLang="zh-CN" sz="2400" kern="100" dirty="0">
                <a:latin typeface="Times New Roman" panose="02020603050405020304"/>
                <a:ea typeface="宋体" panose="02010600030101010101" pitchFamily="2" charset="-122"/>
              </a:rPr>
              <a:t>)</a:t>
            </a:r>
            <a:r>
              <a:rPr lang="zh-CN" altLang="zh-CN" sz="2400" kern="100" dirty="0">
                <a:latin typeface="Times New Roman" panose="02020603050405020304"/>
                <a:ea typeface="宋体" panose="02010600030101010101" pitchFamily="2" charset="-122"/>
                <a:cs typeface="Times New Roman" panose="02020603050405020304"/>
              </a:rPr>
              <a:t>需按拓扑次序递推，即计算</a:t>
            </a:r>
            <a:r>
              <a:rPr lang="en-US" altLang="zh-CN" sz="2400" i="1" kern="100" dirty="0" err="1">
                <a:latin typeface="Times New Roman" panose="02020603050405020304"/>
                <a:ea typeface="宋体" panose="02010600030101010101" pitchFamily="2" charset="-122"/>
              </a:rPr>
              <a:t>ve</a:t>
            </a:r>
            <a:r>
              <a:rPr lang="en-US" altLang="zh-CN" sz="2400" kern="100" dirty="0">
                <a:latin typeface="Times New Roman" panose="02020603050405020304"/>
                <a:ea typeface="宋体" panose="02010600030101010101" pitchFamily="2" charset="-122"/>
              </a:rPr>
              <a:t>(</a:t>
            </a:r>
            <a:r>
              <a:rPr lang="en-US" altLang="zh-CN" sz="2400" i="1" kern="100" dirty="0">
                <a:latin typeface="Times New Roman" panose="02020603050405020304"/>
                <a:ea typeface="宋体" panose="02010600030101010101" pitchFamily="2" charset="-122"/>
              </a:rPr>
              <a:t>j</a:t>
            </a:r>
            <a:r>
              <a:rPr lang="en-US" altLang="zh-CN" sz="2400" kern="100" dirty="0">
                <a:latin typeface="Times New Roman" panose="02020603050405020304"/>
                <a:ea typeface="宋体" panose="02010600030101010101" pitchFamily="2" charset="-122"/>
              </a:rPr>
              <a:t>) </a:t>
            </a:r>
            <a:r>
              <a:rPr lang="zh-CN" altLang="zh-CN" sz="2400" kern="100" dirty="0">
                <a:latin typeface="Times New Roman" panose="02020603050405020304"/>
                <a:ea typeface="宋体" panose="02010600030101010101" pitchFamily="2" charset="-122"/>
                <a:cs typeface="Times New Roman" panose="02020603050405020304"/>
              </a:rPr>
              <a:t>前，应已求得</a:t>
            </a:r>
            <a:r>
              <a:rPr lang="en-US" altLang="zh-CN" sz="2400" i="1" kern="100" dirty="0">
                <a:latin typeface="Times New Roman" panose="02020603050405020304"/>
                <a:ea typeface="宋体" panose="02010600030101010101" pitchFamily="2" charset="-122"/>
              </a:rPr>
              <a:t>j</a:t>
            </a:r>
            <a:r>
              <a:rPr lang="zh-CN" altLang="zh-CN" sz="2400" kern="100" dirty="0">
                <a:latin typeface="Times New Roman" panose="02020603050405020304"/>
                <a:ea typeface="宋体" panose="02010600030101010101" pitchFamily="2" charset="-122"/>
                <a:cs typeface="Times New Roman" panose="02020603050405020304"/>
              </a:rPr>
              <a:t>的各前趋结点的</a:t>
            </a:r>
            <a:r>
              <a:rPr lang="en-US" altLang="zh-CN" sz="2400" i="1" kern="100" dirty="0" err="1">
                <a:latin typeface="Times New Roman" panose="02020603050405020304"/>
                <a:ea typeface="宋体" panose="02010600030101010101" pitchFamily="2" charset="-122"/>
              </a:rPr>
              <a:t>ve</a:t>
            </a:r>
            <a:r>
              <a:rPr lang="zh-CN" altLang="zh-CN" sz="2400" kern="100" dirty="0">
                <a:latin typeface="Times New Roman" panose="02020603050405020304"/>
                <a:ea typeface="宋体" panose="02010600030101010101" pitchFamily="2" charset="-122"/>
                <a:cs typeface="Times New Roman" panose="02020603050405020304"/>
              </a:rPr>
              <a:t>值。根据</a:t>
            </a:r>
            <a:r>
              <a:rPr lang="en-US" altLang="zh-CN" sz="2400" kern="100" dirty="0">
                <a:latin typeface="Times New Roman" panose="02020603050405020304"/>
                <a:ea typeface="宋体" panose="02010600030101010101" pitchFamily="2" charset="-122"/>
              </a:rPr>
              <a:t>AOE</a:t>
            </a:r>
            <a:r>
              <a:rPr lang="zh-CN" altLang="zh-CN" sz="2400" kern="100" dirty="0">
                <a:latin typeface="Times New Roman" panose="02020603050405020304"/>
                <a:ea typeface="宋体" panose="02010600030101010101" pitchFamily="2" charset="-122"/>
                <a:cs typeface="Times New Roman" panose="02020603050405020304"/>
              </a:rPr>
              <a:t>网的性质，只有进入</a:t>
            </a:r>
            <a:r>
              <a:rPr lang="en-US" altLang="zh-CN" sz="2400" i="1" kern="100" dirty="0" err="1">
                <a:latin typeface="Times New Roman" panose="02020603050405020304"/>
                <a:ea typeface="宋体" panose="02010600030101010101" pitchFamily="2" charset="-122"/>
              </a:rPr>
              <a:t>v</a:t>
            </a:r>
            <a:r>
              <a:rPr lang="en-US" altLang="zh-CN" sz="2400" i="1" kern="100" baseline="-25000" dirty="0" err="1">
                <a:latin typeface="Times New Roman" panose="02020603050405020304"/>
                <a:ea typeface="宋体" panose="02010600030101010101" pitchFamily="2" charset="-122"/>
              </a:rPr>
              <a:t>j</a:t>
            </a:r>
            <a:r>
              <a:rPr lang="zh-CN" altLang="zh-CN" sz="2400" kern="100" dirty="0">
                <a:latin typeface="Times New Roman" panose="02020603050405020304"/>
                <a:ea typeface="宋体" panose="02010600030101010101" pitchFamily="2" charset="-122"/>
                <a:cs typeface="Times New Roman" panose="02020603050405020304"/>
              </a:rPr>
              <a:t>的所有活动</a:t>
            </a:r>
            <a:r>
              <a:rPr lang="en-US" altLang="zh-CN" sz="2400" kern="100" dirty="0">
                <a:latin typeface="Times New Roman" panose="02020603050405020304"/>
                <a:ea typeface="宋体" panose="02010600030101010101" pitchFamily="2" charset="-122"/>
              </a:rPr>
              <a:t>&lt;</a:t>
            </a:r>
            <a:r>
              <a:rPr lang="en-US" altLang="zh-CN" sz="2400" i="1" kern="100" dirty="0" err="1">
                <a:latin typeface="Times New Roman" panose="02020603050405020304"/>
                <a:ea typeface="宋体" panose="02010600030101010101" pitchFamily="2" charset="-122"/>
              </a:rPr>
              <a:t>v</a:t>
            </a:r>
            <a:r>
              <a:rPr lang="en-US" altLang="zh-CN" sz="2400" i="1" kern="100" baseline="-25000" dirty="0" err="1">
                <a:latin typeface="Times New Roman" panose="02020603050405020304"/>
                <a:ea typeface="宋体" panose="02010600030101010101" pitchFamily="2" charset="-122"/>
              </a:rPr>
              <a:t>i</a:t>
            </a:r>
            <a:r>
              <a:rPr lang="en-US" altLang="zh-CN" sz="2400" kern="100" dirty="0" err="1">
                <a:latin typeface="Times New Roman" panose="02020603050405020304"/>
                <a:ea typeface="宋体" panose="02010600030101010101" pitchFamily="2" charset="-122"/>
              </a:rPr>
              <a:t>,</a:t>
            </a:r>
            <a:r>
              <a:rPr lang="en-US" altLang="zh-CN" sz="2400" i="1" kern="100" dirty="0" err="1">
                <a:latin typeface="Times New Roman" panose="02020603050405020304"/>
                <a:ea typeface="宋体" panose="02010600030101010101" pitchFamily="2" charset="-122"/>
              </a:rPr>
              <a:t>v</a:t>
            </a:r>
            <a:r>
              <a:rPr lang="en-US" altLang="zh-CN" sz="2400" i="1" kern="100" baseline="-25000" dirty="0" err="1">
                <a:latin typeface="Times New Roman" panose="02020603050405020304"/>
                <a:ea typeface="宋体" panose="02010600030101010101" pitchFamily="2" charset="-122"/>
              </a:rPr>
              <a:t>j</a:t>
            </a:r>
            <a:r>
              <a:rPr lang="en-US" altLang="zh-CN" sz="2400" kern="100" dirty="0">
                <a:latin typeface="Times New Roman" panose="02020603050405020304"/>
                <a:ea typeface="宋体" panose="02010600030101010101" pitchFamily="2" charset="-122"/>
              </a:rPr>
              <a:t>&gt;</a:t>
            </a:r>
            <a:r>
              <a:rPr lang="zh-CN" altLang="zh-CN" sz="2400" kern="100" dirty="0">
                <a:latin typeface="Times New Roman" panose="02020603050405020304"/>
                <a:ea typeface="宋体" panose="02010600030101010101" pitchFamily="2" charset="-122"/>
                <a:cs typeface="Times New Roman" panose="02020603050405020304"/>
              </a:rPr>
              <a:t>都结束，</a:t>
            </a:r>
            <a:r>
              <a:rPr lang="en-US" altLang="zh-CN" sz="2400" i="1" kern="100" dirty="0" err="1">
                <a:latin typeface="Times New Roman" panose="02020603050405020304"/>
                <a:ea typeface="宋体" panose="02010600030101010101" pitchFamily="2" charset="-122"/>
              </a:rPr>
              <a:t>v</a:t>
            </a:r>
            <a:r>
              <a:rPr lang="en-US" altLang="zh-CN" sz="2400" i="1" kern="100" baseline="-25000" dirty="0" err="1">
                <a:latin typeface="Times New Roman" panose="02020603050405020304"/>
                <a:ea typeface="宋体" panose="02010600030101010101" pitchFamily="2" charset="-122"/>
              </a:rPr>
              <a:t>j</a:t>
            </a:r>
            <a:r>
              <a:rPr lang="zh-CN" altLang="zh-CN" sz="2400" kern="100" dirty="0">
                <a:latin typeface="Times New Roman" panose="02020603050405020304"/>
                <a:ea typeface="宋体" panose="02010600030101010101" pitchFamily="2" charset="-122"/>
                <a:cs typeface="Times New Roman" panose="02020603050405020304"/>
              </a:rPr>
              <a:t>代表的事件才能发生，所以</a:t>
            </a:r>
            <a:r>
              <a:rPr lang="en-US" altLang="zh-CN" sz="2400" i="1" kern="100" dirty="0" err="1">
                <a:latin typeface="Times New Roman" panose="02020603050405020304"/>
                <a:ea typeface="宋体" panose="02010600030101010101" pitchFamily="2" charset="-122"/>
              </a:rPr>
              <a:t>ve</a:t>
            </a:r>
            <a:r>
              <a:rPr lang="en-US" altLang="zh-CN" sz="2400" i="1" kern="100" dirty="0">
                <a:latin typeface="Times New Roman" panose="02020603050405020304"/>
                <a:ea typeface="宋体" panose="02010600030101010101" pitchFamily="2" charset="-122"/>
              </a:rPr>
              <a:t>(j</a:t>
            </a:r>
            <a:r>
              <a:rPr lang="en-US" altLang="zh-CN" sz="2400" kern="100" dirty="0">
                <a:latin typeface="Times New Roman" panose="02020603050405020304"/>
                <a:ea typeface="宋体" panose="02010600030101010101" pitchFamily="2" charset="-122"/>
              </a:rPr>
              <a:t>)</a:t>
            </a:r>
            <a:r>
              <a:rPr lang="zh-CN" altLang="zh-CN" sz="2400" kern="100" dirty="0">
                <a:latin typeface="Times New Roman" panose="02020603050405020304"/>
                <a:ea typeface="宋体" panose="02010600030101010101" pitchFamily="2" charset="-122"/>
                <a:cs typeface="Times New Roman" panose="02020603050405020304"/>
              </a:rPr>
              <a:t>＝</a:t>
            </a:r>
            <a:r>
              <a:rPr lang="en-US" altLang="zh-CN" sz="2400" i="1" kern="100" dirty="0">
                <a:latin typeface="Times New Roman" panose="02020603050405020304"/>
                <a:ea typeface="宋体" panose="02010600030101010101" pitchFamily="2" charset="-122"/>
              </a:rPr>
              <a:t>max</a:t>
            </a:r>
            <a:r>
              <a:rPr lang="en-US" altLang="zh-CN" sz="2400" kern="100" dirty="0">
                <a:latin typeface="Times New Roman" panose="02020603050405020304"/>
                <a:ea typeface="宋体" panose="02010600030101010101" pitchFamily="2" charset="-122"/>
              </a:rPr>
              <a:t>{</a:t>
            </a:r>
            <a:r>
              <a:rPr lang="en-US" altLang="zh-CN" sz="2400" i="1" kern="100" dirty="0" err="1">
                <a:latin typeface="Times New Roman" panose="02020603050405020304"/>
                <a:ea typeface="宋体" panose="02010600030101010101" pitchFamily="2" charset="-122"/>
              </a:rPr>
              <a:t>ve</a:t>
            </a:r>
            <a:r>
              <a:rPr lang="en-US" altLang="zh-CN" sz="2400" kern="100" dirty="0">
                <a:latin typeface="Times New Roman" panose="02020603050405020304"/>
                <a:ea typeface="宋体" panose="02010600030101010101" pitchFamily="2" charset="-122"/>
              </a:rPr>
              <a:t>(</a:t>
            </a:r>
            <a:r>
              <a:rPr lang="en-US" altLang="zh-CN" sz="2400" i="1" kern="100" dirty="0" err="1">
                <a:latin typeface="Times New Roman" panose="02020603050405020304"/>
                <a:ea typeface="宋体" panose="02010600030101010101" pitchFamily="2" charset="-122"/>
              </a:rPr>
              <a:t>i</a:t>
            </a:r>
            <a:r>
              <a:rPr lang="en-US" altLang="zh-CN" sz="2400" kern="100" dirty="0">
                <a:latin typeface="Times New Roman" panose="02020603050405020304"/>
                <a:ea typeface="宋体" panose="02010600030101010101" pitchFamily="2" charset="-122"/>
              </a:rPr>
              <a:t>)</a:t>
            </a:r>
            <a:r>
              <a:rPr lang="zh-CN" altLang="zh-CN" sz="2400" kern="100" dirty="0">
                <a:latin typeface="Times New Roman" panose="02020603050405020304"/>
                <a:ea typeface="宋体" panose="02010600030101010101" pitchFamily="2" charset="-122"/>
                <a:cs typeface="Times New Roman" panose="02020603050405020304"/>
              </a:rPr>
              <a:t>＋</a:t>
            </a:r>
            <a:r>
              <a:rPr lang="en-US" altLang="zh-CN" sz="2400" i="1" kern="100" dirty="0" err="1">
                <a:latin typeface="Times New Roman" panose="02020603050405020304"/>
                <a:ea typeface="宋体" panose="02010600030101010101" pitchFamily="2" charset="-122"/>
              </a:rPr>
              <a:t>len</a:t>
            </a:r>
            <a:r>
              <a:rPr lang="en-US" altLang="zh-CN" sz="2400" kern="100" dirty="0">
                <a:latin typeface="Times New Roman" panose="02020603050405020304"/>
                <a:ea typeface="宋体" panose="02010600030101010101" pitchFamily="2" charset="-122"/>
              </a:rPr>
              <a:t>(</a:t>
            </a:r>
            <a:r>
              <a:rPr lang="en-US" altLang="zh-CN" sz="2400" i="1" kern="100" dirty="0" err="1">
                <a:latin typeface="Times New Roman" panose="02020603050405020304"/>
                <a:ea typeface="宋体" panose="02010600030101010101" pitchFamily="2" charset="-122"/>
              </a:rPr>
              <a:t>i</a:t>
            </a:r>
            <a:r>
              <a:rPr lang="en-US" altLang="zh-CN" sz="2400" kern="100" dirty="0" err="1">
                <a:latin typeface="Times New Roman" panose="02020603050405020304"/>
                <a:ea typeface="宋体" panose="02010600030101010101" pitchFamily="2" charset="-122"/>
              </a:rPr>
              <a:t>,</a:t>
            </a:r>
            <a:r>
              <a:rPr lang="en-US" altLang="zh-CN" sz="2400" i="1" kern="100" dirty="0" err="1">
                <a:latin typeface="Times New Roman" panose="02020603050405020304"/>
                <a:ea typeface="宋体" panose="02010600030101010101" pitchFamily="2" charset="-122"/>
              </a:rPr>
              <a:t>j</a:t>
            </a:r>
            <a:r>
              <a:rPr lang="en-US" altLang="zh-CN" sz="2400" kern="100" dirty="0">
                <a:latin typeface="Times New Roman" panose="02020603050405020304"/>
                <a:ea typeface="宋体" panose="02010600030101010101" pitchFamily="2" charset="-122"/>
              </a:rPr>
              <a:t>)},</a:t>
            </a:r>
            <a:r>
              <a:rPr lang="zh-CN" altLang="zh-CN" sz="2400" kern="100" dirty="0">
                <a:latin typeface="Times New Roman" panose="02020603050405020304"/>
                <a:ea typeface="宋体" panose="02010600030101010101" pitchFamily="2" charset="-122"/>
                <a:cs typeface="Times New Roman" panose="02020603050405020304"/>
              </a:rPr>
              <a:t>其中</a:t>
            </a:r>
            <a:r>
              <a:rPr lang="en-US" altLang="zh-CN" sz="2400" i="1" kern="100" dirty="0" err="1">
                <a:latin typeface="Times New Roman" panose="02020603050405020304"/>
                <a:ea typeface="宋体" panose="02010600030101010101" pitchFamily="2" charset="-122"/>
              </a:rPr>
              <a:t>len</a:t>
            </a:r>
            <a:r>
              <a:rPr lang="en-US" altLang="zh-CN" sz="2400" kern="100" dirty="0">
                <a:latin typeface="Times New Roman" panose="02020603050405020304"/>
                <a:ea typeface="宋体" panose="02010600030101010101" pitchFamily="2" charset="-122"/>
              </a:rPr>
              <a:t>(</a:t>
            </a:r>
            <a:r>
              <a:rPr lang="en-US" altLang="zh-CN" sz="2400" i="1" kern="100" dirty="0" err="1">
                <a:latin typeface="Times New Roman" panose="02020603050405020304"/>
                <a:ea typeface="宋体" panose="02010600030101010101" pitchFamily="2" charset="-122"/>
              </a:rPr>
              <a:t>i</a:t>
            </a:r>
            <a:r>
              <a:rPr lang="en-US" altLang="zh-CN" sz="2400" kern="100" dirty="0" err="1">
                <a:latin typeface="Times New Roman" panose="02020603050405020304"/>
                <a:ea typeface="宋体" panose="02010600030101010101" pitchFamily="2" charset="-122"/>
              </a:rPr>
              <a:t>,</a:t>
            </a:r>
            <a:r>
              <a:rPr lang="en-US" altLang="zh-CN" sz="2400" i="1" kern="100" dirty="0" err="1">
                <a:latin typeface="Times New Roman" panose="02020603050405020304"/>
                <a:ea typeface="宋体" panose="02010600030101010101" pitchFamily="2" charset="-122"/>
              </a:rPr>
              <a:t>j</a:t>
            </a:r>
            <a:r>
              <a:rPr lang="en-US" altLang="zh-CN" sz="2400" kern="100" dirty="0">
                <a:latin typeface="Times New Roman" panose="02020603050405020304"/>
                <a:ea typeface="宋体" panose="02010600030101010101" pitchFamily="2" charset="-122"/>
              </a:rPr>
              <a:t>)</a:t>
            </a:r>
            <a:r>
              <a:rPr lang="zh-CN" altLang="zh-CN" sz="2400" kern="100" dirty="0">
                <a:latin typeface="Times New Roman" panose="02020603050405020304"/>
                <a:ea typeface="宋体" panose="02010600030101010101" pitchFamily="2" charset="-122"/>
                <a:cs typeface="Times New Roman" panose="02020603050405020304"/>
              </a:rPr>
              <a:t>为所有到达</a:t>
            </a:r>
            <a:r>
              <a:rPr lang="en-US" altLang="zh-CN" sz="2400" i="1" kern="100" dirty="0" err="1">
                <a:latin typeface="Times New Roman" panose="02020603050405020304"/>
                <a:ea typeface="宋体" panose="02010600030101010101" pitchFamily="2" charset="-122"/>
              </a:rPr>
              <a:t>v</a:t>
            </a:r>
            <a:r>
              <a:rPr lang="en-US" altLang="zh-CN" sz="2400" i="1" kern="100" baseline="-25000" dirty="0" err="1">
                <a:latin typeface="Times New Roman" panose="02020603050405020304"/>
                <a:ea typeface="宋体" panose="02010600030101010101" pitchFamily="2" charset="-122"/>
              </a:rPr>
              <a:t>j</a:t>
            </a:r>
            <a:r>
              <a:rPr lang="zh-CN" altLang="zh-CN" sz="2400" kern="100" dirty="0">
                <a:latin typeface="Times New Roman" panose="02020603050405020304"/>
                <a:ea typeface="宋体" panose="02010600030101010101" pitchFamily="2" charset="-122"/>
                <a:cs typeface="Times New Roman" panose="02020603050405020304"/>
              </a:rPr>
              <a:t>的有向边集合，如图</a:t>
            </a:r>
            <a:endParaRPr lang="zh-CN" altLang="en-US" sz="2400"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522605" y="2590165"/>
            <a:ext cx="8098790" cy="1767205"/>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4268" y="78760"/>
            <a:ext cx="8922469" cy="1292662"/>
          </a:xfrm>
          <a:prstGeom prst="rect">
            <a:avLst/>
          </a:prstGeom>
        </p:spPr>
        <p:txBody>
          <a:bodyPr wrap="square">
            <a:spAutoFit/>
          </a:bodyPr>
          <a:lstStyle/>
          <a:p>
            <a:r>
              <a:rPr lang="zh-CN" altLang="zh-CN" dirty="0"/>
              <a:t>（</a:t>
            </a:r>
            <a:r>
              <a:rPr lang="en-US" altLang="zh-CN" dirty="0"/>
              <a:t>2</a:t>
            </a:r>
            <a:r>
              <a:rPr lang="zh-CN" altLang="zh-CN" dirty="0"/>
              <a:t>）求事件</a:t>
            </a:r>
            <a:r>
              <a:rPr lang="en-US" altLang="zh-CN" i="1" dirty="0" err="1"/>
              <a:t>v</a:t>
            </a:r>
            <a:r>
              <a:rPr lang="en-US" altLang="zh-CN" i="1" baseline="-25000" dirty="0" err="1"/>
              <a:t>j</a:t>
            </a:r>
            <a:r>
              <a:rPr lang="zh-CN" altLang="zh-CN" dirty="0"/>
              <a:t>的最晚发生时间</a:t>
            </a:r>
            <a:r>
              <a:rPr lang="en-US" altLang="zh-CN" i="1" dirty="0" err="1"/>
              <a:t>vl</a:t>
            </a:r>
            <a:r>
              <a:rPr lang="en-US" altLang="zh-CN" dirty="0"/>
              <a:t>(</a:t>
            </a:r>
            <a:r>
              <a:rPr lang="en-US" altLang="zh-CN" i="1" dirty="0"/>
              <a:t>j</a:t>
            </a:r>
            <a:r>
              <a:rPr lang="en-US" altLang="zh-CN" dirty="0"/>
              <a:t>)</a:t>
            </a:r>
            <a:r>
              <a:rPr lang="zh-CN" altLang="zh-CN" dirty="0"/>
              <a:t>需按逆拓扑次序递推，即计算</a:t>
            </a:r>
            <a:r>
              <a:rPr lang="en-US" altLang="zh-CN" i="1" dirty="0" err="1"/>
              <a:t>vl</a:t>
            </a:r>
            <a:r>
              <a:rPr lang="en-US" altLang="zh-CN" dirty="0"/>
              <a:t>(</a:t>
            </a:r>
            <a:r>
              <a:rPr lang="en-US" altLang="zh-CN" i="1" dirty="0" err="1"/>
              <a:t>i</a:t>
            </a:r>
            <a:r>
              <a:rPr lang="en-US" altLang="zh-CN" dirty="0"/>
              <a:t>)</a:t>
            </a:r>
            <a:r>
              <a:rPr lang="zh-CN" altLang="zh-CN" dirty="0"/>
              <a:t>前，应已求得</a:t>
            </a:r>
            <a:r>
              <a:rPr lang="en-US" altLang="zh-CN" i="1" dirty="0" err="1"/>
              <a:t>i</a:t>
            </a:r>
            <a:r>
              <a:rPr lang="zh-CN" altLang="zh-CN" dirty="0"/>
              <a:t>的各后继结点的</a:t>
            </a:r>
            <a:r>
              <a:rPr lang="en-US" altLang="zh-CN" i="1" dirty="0" err="1"/>
              <a:t>vl</a:t>
            </a:r>
            <a:r>
              <a:rPr lang="zh-CN" altLang="zh-CN" dirty="0"/>
              <a:t>值。可知为了不拖延</a:t>
            </a:r>
            <a:r>
              <a:rPr lang="en-US" altLang="zh-CN" i="1" dirty="0" err="1"/>
              <a:t>v</a:t>
            </a:r>
            <a:r>
              <a:rPr lang="en-US" altLang="zh-CN" i="1" baseline="-25000" dirty="0" err="1"/>
              <a:t>j</a:t>
            </a:r>
            <a:r>
              <a:rPr lang="zh-CN" altLang="zh-CN" dirty="0"/>
              <a:t>的最晚发生时间，</a:t>
            </a:r>
            <a:r>
              <a:rPr lang="en-US" altLang="zh-CN" i="1" dirty="0" err="1"/>
              <a:t>vl</a:t>
            </a:r>
            <a:r>
              <a:rPr lang="en-US" altLang="zh-CN" dirty="0"/>
              <a:t>(</a:t>
            </a:r>
            <a:r>
              <a:rPr lang="en-US" altLang="zh-CN" i="1" dirty="0" err="1"/>
              <a:t>i</a:t>
            </a:r>
            <a:r>
              <a:rPr lang="en-US" altLang="zh-CN" dirty="0"/>
              <a:t>)</a:t>
            </a:r>
            <a:r>
              <a:rPr lang="zh-CN" altLang="zh-CN" dirty="0"/>
              <a:t>＝</a:t>
            </a:r>
            <a:r>
              <a:rPr lang="en-US" altLang="zh-CN" i="1" dirty="0"/>
              <a:t>min</a:t>
            </a:r>
            <a:r>
              <a:rPr lang="en-US" altLang="zh-CN" dirty="0"/>
              <a:t>{</a:t>
            </a:r>
            <a:r>
              <a:rPr lang="en-US" altLang="zh-CN" i="1" dirty="0" err="1"/>
              <a:t>vl</a:t>
            </a:r>
            <a:r>
              <a:rPr lang="en-US" altLang="zh-CN" dirty="0"/>
              <a:t>(</a:t>
            </a:r>
            <a:r>
              <a:rPr lang="en-US" altLang="zh-CN" i="1" dirty="0"/>
              <a:t>j</a:t>
            </a:r>
            <a:r>
              <a:rPr lang="en-US" altLang="zh-CN" dirty="0"/>
              <a:t>)</a:t>
            </a:r>
            <a:r>
              <a:rPr lang="zh-CN" altLang="zh-CN" dirty="0"/>
              <a:t>－</a:t>
            </a:r>
            <a:r>
              <a:rPr lang="en-US" altLang="zh-CN" i="1" dirty="0" err="1"/>
              <a:t>len</a:t>
            </a:r>
            <a:r>
              <a:rPr lang="en-US" altLang="zh-CN" dirty="0"/>
              <a:t>(</a:t>
            </a:r>
            <a:r>
              <a:rPr lang="en-US" altLang="zh-CN" i="1" dirty="0" err="1"/>
              <a:t>i</a:t>
            </a:r>
            <a:r>
              <a:rPr lang="en-US" altLang="zh-CN" dirty="0" err="1"/>
              <a:t>,</a:t>
            </a:r>
            <a:r>
              <a:rPr lang="en-US" altLang="zh-CN" i="1" dirty="0" err="1"/>
              <a:t>j</a:t>
            </a:r>
            <a:r>
              <a:rPr lang="en-US" altLang="zh-CN" dirty="0"/>
              <a:t>)}</a:t>
            </a:r>
            <a:r>
              <a:rPr lang="zh-CN" altLang="zh-CN" dirty="0"/>
              <a:t>，如图</a:t>
            </a:r>
            <a:endParaRPr lang="zh-CN" altLang="en-US"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2179196" y="1985164"/>
            <a:ext cx="5357534" cy="1776131"/>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90193" y="164699"/>
            <a:ext cx="8125905" cy="492443"/>
          </a:xfrm>
          <a:prstGeom prst="rect">
            <a:avLst/>
          </a:prstGeom>
        </p:spPr>
        <p:txBody>
          <a:bodyPr wrap="square">
            <a:spAutoFit/>
          </a:bodyPr>
          <a:lstStyle/>
          <a:p>
            <a:r>
              <a:rPr lang="zh-CN" altLang="zh-CN" dirty="0"/>
              <a:t>根据样例，推出</a:t>
            </a:r>
            <a:r>
              <a:rPr lang="en-US" altLang="zh-CN" i="1" dirty="0" err="1"/>
              <a:t>ve</a:t>
            </a:r>
            <a:r>
              <a:rPr lang="en-US" altLang="zh-CN" dirty="0"/>
              <a:t>(</a:t>
            </a:r>
            <a:r>
              <a:rPr lang="en-US" altLang="zh-CN" i="1" dirty="0"/>
              <a:t>k</a:t>
            </a:r>
            <a:r>
              <a:rPr lang="en-US" altLang="zh-CN" dirty="0"/>
              <a:t>)</a:t>
            </a:r>
            <a:r>
              <a:rPr lang="zh-CN" altLang="zh-CN" dirty="0"/>
              <a:t>和</a:t>
            </a:r>
            <a:r>
              <a:rPr lang="en-US" altLang="zh-CN" i="1" dirty="0" err="1"/>
              <a:t>vl</a:t>
            </a:r>
            <a:r>
              <a:rPr lang="en-US" altLang="zh-CN" dirty="0"/>
              <a:t>(</a:t>
            </a:r>
            <a:r>
              <a:rPr lang="en-US" altLang="zh-CN" i="1" dirty="0"/>
              <a:t>k</a:t>
            </a:r>
            <a:r>
              <a:rPr lang="en-US" altLang="zh-CN" dirty="0"/>
              <a:t>)</a:t>
            </a:r>
            <a:r>
              <a:rPr lang="zh-CN" altLang="zh-CN" dirty="0"/>
              <a:t>的过程如图</a:t>
            </a:r>
            <a:endParaRPr lang="zh-CN" altLang="en-US"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765588" y="1556820"/>
            <a:ext cx="7497006" cy="1799122"/>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88536" y="145845"/>
            <a:ext cx="8672660" cy="492443"/>
          </a:xfrm>
          <a:prstGeom prst="rect">
            <a:avLst/>
          </a:prstGeom>
        </p:spPr>
        <p:txBody>
          <a:bodyPr wrap="square">
            <a:spAutoFit/>
          </a:bodyPr>
          <a:lstStyle/>
          <a:p>
            <a:r>
              <a:rPr lang="zh-CN" altLang="zh-CN" dirty="0"/>
              <a:t>根据</a:t>
            </a:r>
            <a:r>
              <a:rPr lang="en-US" altLang="zh-CN" i="1" dirty="0"/>
              <a:t>e</a:t>
            </a:r>
            <a:r>
              <a:rPr lang="en-US" altLang="zh-CN" dirty="0"/>
              <a:t>(</a:t>
            </a:r>
            <a:r>
              <a:rPr lang="en-US" altLang="zh-CN" i="1" dirty="0"/>
              <a:t>k</a:t>
            </a:r>
            <a:r>
              <a:rPr lang="en-US" altLang="zh-CN" dirty="0"/>
              <a:t>)</a:t>
            </a:r>
            <a:r>
              <a:rPr lang="zh-CN" altLang="zh-CN" dirty="0"/>
              <a:t>＝</a:t>
            </a:r>
            <a:r>
              <a:rPr lang="en-US" altLang="zh-CN" i="1" dirty="0" err="1"/>
              <a:t>ve</a:t>
            </a:r>
            <a:r>
              <a:rPr lang="en-US" altLang="zh-CN" dirty="0"/>
              <a:t>(</a:t>
            </a:r>
            <a:r>
              <a:rPr lang="en-US" altLang="zh-CN" i="1" dirty="0" err="1"/>
              <a:t>i</a:t>
            </a:r>
            <a:r>
              <a:rPr lang="en-US" altLang="zh-CN" dirty="0"/>
              <a:t>) </a:t>
            </a:r>
            <a:r>
              <a:rPr lang="zh-CN" altLang="zh-CN" dirty="0"/>
              <a:t>和</a:t>
            </a:r>
            <a:r>
              <a:rPr lang="en-US" altLang="zh-CN" i="1" dirty="0"/>
              <a:t>l</a:t>
            </a:r>
            <a:r>
              <a:rPr lang="en-US" altLang="zh-CN" dirty="0"/>
              <a:t>(</a:t>
            </a:r>
            <a:r>
              <a:rPr lang="en-US" altLang="zh-CN" i="1" dirty="0"/>
              <a:t>k</a:t>
            </a:r>
            <a:r>
              <a:rPr lang="en-US" altLang="zh-CN" dirty="0"/>
              <a:t>)</a:t>
            </a:r>
            <a:r>
              <a:rPr lang="zh-CN" altLang="zh-CN" dirty="0"/>
              <a:t>＝</a:t>
            </a:r>
            <a:r>
              <a:rPr lang="en-US" altLang="zh-CN" i="1" dirty="0" err="1"/>
              <a:t>vl</a:t>
            </a:r>
            <a:r>
              <a:rPr lang="en-US" altLang="zh-CN" dirty="0"/>
              <a:t>(</a:t>
            </a:r>
            <a:r>
              <a:rPr lang="en-US" altLang="zh-CN" i="1" dirty="0"/>
              <a:t>j</a:t>
            </a:r>
            <a:r>
              <a:rPr lang="en-US" altLang="zh-CN" dirty="0"/>
              <a:t>)</a:t>
            </a:r>
            <a:r>
              <a:rPr lang="zh-CN" altLang="zh-CN" dirty="0"/>
              <a:t>－</a:t>
            </a:r>
            <a:r>
              <a:rPr lang="en-US" altLang="zh-CN" i="1" dirty="0" err="1"/>
              <a:t>len</a:t>
            </a:r>
            <a:r>
              <a:rPr lang="en-US" altLang="zh-CN" dirty="0"/>
              <a:t>(</a:t>
            </a:r>
            <a:r>
              <a:rPr lang="en-US" altLang="zh-CN" i="1" dirty="0" err="1"/>
              <a:t>i</a:t>
            </a:r>
            <a:r>
              <a:rPr lang="en-US" altLang="zh-CN" dirty="0" err="1"/>
              <a:t>,</a:t>
            </a:r>
            <a:r>
              <a:rPr lang="en-US" altLang="zh-CN" i="1" dirty="0" err="1"/>
              <a:t>j</a:t>
            </a:r>
            <a:r>
              <a:rPr lang="en-US" altLang="zh-CN" dirty="0"/>
              <a:t>)</a:t>
            </a:r>
            <a:r>
              <a:rPr lang="zh-CN" altLang="zh-CN" dirty="0"/>
              <a:t>，推出</a:t>
            </a:r>
            <a:r>
              <a:rPr lang="en-US" altLang="zh-CN" i="1" dirty="0"/>
              <a:t>e</a:t>
            </a:r>
            <a:r>
              <a:rPr lang="en-US" altLang="zh-CN" dirty="0"/>
              <a:t>(</a:t>
            </a:r>
            <a:r>
              <a:rPr lang="en-US" altLang="zh-CN" i="1" dirty="0"/>
              <a:t>k</a:t>
            </a:r>
            <a:r>
              <a:rPr lang="en-US" altLang="zh-CN" dirty="0"/>
              <a:t>)</a:t>
            </a:r>
            <a:r>
              <a:rPr lang="zh-CN" altLang="zh-CN" dirty="0"/>
              <a:t>和</a:t>
            </a:r>
            <a:r>
              <a:rPr lang="en-US" altLang="zh-CN" i="1" dirty="0"/>
              <a:t>l</a:t>
            </a:r>
            <a:r>
              <a:rPr lang="en-US" altLang="zh-CN" dirty="0"/>
              <a:t>(</a:t>
            </a:r>
            <a:r>
              <a:rPr lang="en-US" altLang="zh-CN" i="1" dirty="0"/>
              <a:t>k</a:t>
            </a:r>
            <a:r>
              <a:rPr lang="en-US" altLang="zh-CN" dirty="0"/>
              <a:t>)</a:t>
            </a:r>
            <a:r>
              <a:rPr lang="zh-CN" altLang="zh-CN" dirty="0"/>
              <a:t>如图</a:t>
            </a:r>
            <a:endParaRPr lang="zh-CN" altLang="en-US"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802089" y="1722120"/>
            <a:ext cx="7639613" cy="1289744"/>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3069" y="20675"/>
            <a:ext cx="2299989" cy="492443"/>
          </a:xfrm>
          <a:prstGeom prst="rect">
            <a:avLst/>
          </a:prstGeom>
        </p:spPr>
        <p:txBody>
          <a:bodyPr wrap="none">
            <a:spAutoFit/>
          </a:bodyPr>
          <a:lstStyle/>
          <a:p>
            <a:r>
              <a:rPr lang="en-US" altLang="zh-CN" b="1" dirty="0"/>
              <a:t>5.6 DAG</a:t>
            </a:r>
            <a:r>
              <a:rPr lang="zh-CN" altLang="zh-CN" b="1" dirty="0"/>
              <a:t>最长路</a:t>
            </a:r>
          </a:p>
        </p:txBody>
      </p:sp>
      <p:sp>
        <p:nvSpPr>
          <p:cNvPr id="3" name="矩形 2"/>
          <p:cNvSpPr/>
          <p:nvPr/>
        </p:nvSpPr>
        <p:spPr>
          <a:xfrm>
            <a:off x="386498" y="513875"/>
            <a:ext cx="8568965" cy="2246769"/>
          </a:xfrm>
          <a:prstGeom prst="rect">
            <a:avLst/>
          </a:prstGeom>
        </p:spPr>
        <p:txBody>
          <a:bodyPr wrap="square">
            <a:spAutoFit/>
          </a:bodyPr>
          <a:lstStyle/>
          <a:p>
            <a:pPr indent="276225" algn="just">
              <a:spcAft>
                <a:spcPts val="0"/>
              </a:spcAft>
            </a:pPr>
            <a:r>
              <a:rPr lang="zh-CN" altLang="zh-CN" sz="2800" kern="100" dirty="0">
                <a:latin typeface="Times New Roman" panose="02020603050405020304"/>
                <a:ea typeface="宋体" panose="02010600030101010101" pitchFamily="2" charset="-122"/>
              </a:rPr>
              <a:t>在图论中，如果一个有向图无法从某个顶点出发经过若干条边回到该点，则这个图是一个有向无环图（</a:t>
            </a:r>
            <a:r>
              <a:rPr lang="en-US" altLang="zh-CN" sz="2800" kern="100" dirty="0">
                <a:latin typeface="Times New Roman" panose="02020603050405020304"/>
                <a:ea typeface="宋体" panose="02010600030101010101" pitchFamily="2" charset="-122"/>
              </a:rPr>
              <a:t>DAG</a:t>
            </a:r>
            <a:r>
              <a:rPr lang="zh-CN" altLang="zh-CN" sz="2800" kern="100" dirty="0">
                <a:latin typeface="Times New Roman" panose="02020603050405020304"/>
                <a:ea typeface="宋体" panose="02010600030101010101" pitchFamily="2" charset="-122"/>
              </a:rPr>
              <a:t>，</a:t>
            </a:r>
            <a:r>
              <a:rPr lang="en-US" altLang="zh-CN" sz="2800" kern="100" dirty="0">
                <a:latin typeface="Times New Roman" panose="02020603050405020304"/>
                <a:ea typeface="宋体" panose="02010600030101010101" pitchFamily="2" charset="-122"/>
              </a:rPr>
              <a:t>Directed Acyclic Graph</a:t>
            </a:r>
            <a:r>
              <a:rPr lang="zh-CN" altLang="zh-CN" sz="2800" kern="100" dirty="0">
                <a:latin typeface="Times New Roman" panose="02020603050405020304"/>
                <a:ea typeface="宋体" panose="02010600030101010101" pitchFamily="2" charset="-122"/>
              </a:rPr>
              <a:t>）。 </a:t>
            </a:r>
            <a:endParaRPr lang="zh-CN" altLang="zh-CN" sz="2400" kern="100" dirty="0">
              <a:latin typeface="Times New Roman" panose="02020603050405020304"/>
              <a:ea typeface="宋体" panose="02010600030101010101" pitchFamily="2" charset="-122"/>
            </a:endParaRPr>
          </a:p>
          <a:p>
            <a:pPr indent="276225" algn="just">
              <a:spcAft>
                <a:spcPts val="0"/>
              </a:spcAft>
            </a:pPr>
            <a:r>
              <a:rPr lang="zh-CN" altLang="zh-CN" sz="2800" kern="100" dirty="0">
                <a:latin typeface="Times New Roman" panose="02020603050405020304"/>
                <a:ea typeface="宋体" panose="02010600030101010101" pitchFamily="2" charset="-122"/>
              </a:rPr>
              <a:t>以图为例，给一个带权有向无环图</a:t>
            </a:r>
            <a:r>
              <a:rPr lang="en-US" altLang="zh-CN" sz="2800" i="1" kern="100" dirty="0">
                <a:latin typeface="Times New Roman" panose="02020603050405020304"/>
                <a:ea typeface="宋体" panose="02010600030101010101" pitchFamily="2" charset="-122"/>
              </a:rPr>
              <a:t>G</a:t>
            </a:r>
            <a:r>
              <a:rPr lang="zh-CN" altLang="zh-CN" sz="2800" kern="100" dirty="0">
                <a:latin typeface="Times New Roman" panose="02020603050405020304"/>
                <a:ea typeface="宋体" panose="02010600030101010101" pitchFamily="2" charset="-122"/>
              </a:rPr>
              <a:t>＝</a:t>
            </a:r>
            <a:r>
              <a:rPr lang="en-US" altLang="zh-CN" sz="2800" kern="100" dirty="0">
                <a:latin typeface="Times New Roman" panose="02020603050405020304"/>
                <a:ea typeface="宋体" panose="02010600030101010101" pitchFamily="2" charset="-122"/>
              </a:rPr>
              <a:t>(</a:t>
            </a:r>
            <a:r>
              <a:rPr lang="en-US" altLang="zh-CN" sz="2800" i="1" kern="100" dirty="0">
                <a:latin typeface="Times New Roman" panose="02020603050405020304"/>
                <a:ea typeface="宋体" panose="02010600030101010101" pitchFamily="2" charset="-122"/>
              </a:rPr>
              <a:t>V</a:t>
            </a:r>
            <a:r>
              <a:rPr lang="en-US" altLang="zh-CN" sz="2800" kern="100" dirty="0">
                <a:latin typeface="Times New Roman" panose="02020603050405020304"/>
                <a:ea typeface="宋体" panose="02010600030101010101" pitchFamily="2" charset="-122"/>
              </a:rPr>
              <a:t>,</a:t>
            </a:r>
            <a:r>
              <a:rPr lang="en-US" altLang="zh-CN" sz="2800" i="1" kern="100" dirty="0">
                <a:latin typeface="Times New Roman" panose="02020603050405020304"/>
                <a:ea typeface="宋体" panose="02010600030101010101" pitchFamily="2" charset="-122"/>
              </a:rPr>
              <a:t>E</a:t>
            </a:r>
            <a:r>
              <a:rPr lang="en-US" altLang="zh-CN" sz="2800" kern="100" dirty="0">
                <a:latin typeface="Times New Roman" panose="02020603050405020304"/>
                <a:ea typeface="宋体" panose="02010600030101010101" pitchFamily="2" charset="-122"/>
              </a:rPr>
              <a:t>)</a:t>
            </a:r>
            <a:r>
              <a:rPr lang="zh-CN" altLang="zh-CN" sz="2800" kern="100" dirty="0">
                <a:latin typeface="Times New Roman" panose="02020603050405020304"/>
                <a:ea typeface="宋体" panose="02010600030101010101" pitchFamily="2" charset="-122"/>
              </a:rPr>
              <a:t>，找出图中最长路径。</a:t>
            </a:r>
            <a:endParaRPr lang="zh-CN" altLang="zh-CN" sz="2400" kern="100" dirty="0">
              <a:effectLst/>
              <a:latin typeface="Times New Roman" panose="02020603050405020304"/>
              <a:ea typeface="宋体" panose="02010600030101010101" pitchFamily="2" charset="-122"/>
            </a:endParaRPr>
          </a:p>
        </p:txBody>
      </p:sp>
      <p:pic>
        <p:nvPicPr>
          <p:cNvPr id="4" name="图片 3"/>
          <p:cNvPicPr/>
          <p:nvPr/>
        </p:nvPicPr>
        <p:blipFill>
          <a:blip r:embed="rId2">
            <a:extLst>
              <a:ext uri="{28A0092B-C50C-407E-A947-70E740481C1C}">
                <a14:useLocalDpi xmlns:a14="http://schemas.microsoft.com/office/drawing/2010/main" val="0"/>
              </a:ext>
            </a:extLst>
          </a:blip>
          <a:srcRect/>
          <a:stretch>
            <a:fillRect/>
          </a:stretch>
        </p:blipFill>
        <p:spPr>
          <a:xfrm>
            <a:off x="2498757" y="2760644"/>
            <a:ext cx="4133000" cy="1806643"/>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994" y="0"/>
            <a:ext cx="9111006" cy="492443"/>
          </a:xfrm>
          <a:prstGeom prst="rect">
            <a:avLst/>
          </a:prstGeom>
        </p:spPr>
        <p:txBody>
          <a:bodyPr wrap="square">
            <a:spAutoFit/>
          </a:bodyPr>
          <a:lstStyle/>
          <a:p>
            <a:r>
              <a:rPr lang="zh-CN" altLang="zh-CN" dirty="0"/>
              <a:t>将图进行简单处理（一般需要拓扑排序）后，如图</a:t>
            </a:r>
            <a:endParaRPr lang="zh-CN" altLang="en-US"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1305877" y="862051"/>
            <a:ext cx="6221426" cy="1555924"/>
          </a:xfrm>
          <a:prstGeom prst="rect">
            <a:avLst/>
          </a:prstGeom>
          <a:noFill/>
          <a:ln>
            <a:noFill/>
          </a:ln>
        </p:spPr>
      </p:pic>
      <p:sp>
        <p:nvSpPr>
          <p:cNvPr id="4" name="矩形 3"/>
          <p:cNvSpPr/>
          <p:nvPr/>
        </p:nvSpPr>
        <p:spPr>
          <a:xfrm>
            <a:off x="212103" y="2750043"/>
            <a:ext cx="8752787" cy="2246769"/>
          </a:xfrm>
          <a:prstGeom prst="rect">
            <a:avLst/>
          </a:prstGeom>
        </p:spPr>
        <p:txBody>
          <a:bodyPr wrap="square">
            <a:spAutoFit/>
          </a:bodyPr>
          <a:lstStyle/>
          <a:p>
            <a:pPr algn="just">
              <a:spcAft>
                <a:spcPts val="0"/>
              </a:spcAft>
            </a:pPr>
            <a:r>
              <a:rPr lang="zh-CN" altLang="zh-CN" sz="2800" kern="100" dirty="0">
                <a:latin typeface="Times New Roman" panose="02020603050405020304"/>
                <a:ea typeface="宋体" panose="02010600030101010101" pitchFamily="2" charset="-122"/>
              </a:rPr>
              <a:t>设</a:t>
            </a:r>
            <a:r>
              <a:rPr lang="en-US" altLang="zh-CN" sz="2800" kern="100" dirty="0" err="1">
                <a:latin typeface="Times New Roman" panose="02020603050405020304"/>
                <a:ea typeface="宋体" panose="02010600030101010101" pitchFamily="2" charset="-122"/>
              </a:rPr>
              <a:t>dp</a:t>
            </a:r>
            <a:r>
              <a:rPr lang="en-US" altLang="zh-CN" sz="2800" kern="100" dirty="0">
                <a:latin typeface="Times New Roman" panose="02020603050405020304"/>
                <a:ea typeface="宋体" panose="02010600030101010101" pitchFamily="2" charset="-122"/>
              </a:rPr>
              <a:t>(v)</a:t>
            </a:r>
            <a:r>
              <a:rPr lang="zh-CN" altLang="zh-CN" sz="2800" kern="100" dirty="0">
                <a:latin typeface="Times New Roman" panose="02020603050405020304"/>
                <a:ea typeface="宋体" panose="02010600030101010101" pitchFamily="2" charset="-122"/>
              </a:rPr>
              <a:t>表示以点</a:t>
            </a:r>
            <a:r>
              <a:rPr lang="en-US" altLang="zh-CN" sz="2800" i="1" kern="100" dirty="0">
                <a:latin typeface="Times New Roman" panose="02020603050405020304"/>
                <a:ea typeface="宋体" panose="02010600030101010101" pitchFamily="2" charset="-122"/>
              </a:rPr>
              <a:t>v</a:t>
            </a:r>
            <a:r>
              <a:rPr lang="zh-CN" altLang="zh-CN" sz="2800" kern="100" dirty="0">
                <a:latin typeface="Times New Roman" panose="02020603050405020304"/>
                <a:ea typeface="宋体" panose="02010600030101010101" pitchFamily="2" charset="-122"/>
              </a:rPr>
              <a:t>结尾的最长路径，以</a:t>
            </a:r>
            <a:r>
              <a:rPr lang="en-US" altLang="zh-CN" sz="2800" kern="100" dirty="0" err="1">
                <a:latin typeface="Times New Roman" panose="02020603050405020304"/>
                <a:ea typeface="宋体" panose="02010600030101010101" pitchFamily="2" charset="-122"/>
              </a:rPr>
              <a:t>dp</a:t>
            </a:r>
            <a:r>
              <a:rPr lang="en-US" altLang="zh-CN" sz="2800" kern="100" dirty="0">
                <a:latin typeface="Times New Roman" panose="02020603050405020304"/>
                <a:ea typeface="宋体" panose="02010600030101010101" pitchFamily="2" charset="-122"/>
              </a:rPr>
              <a:t>(D)</a:t>
            </a:r>
            <a:r>
              <a:rPr lang="zh-CN" altLang="zh-CN" sz="2800" kern="100" dirty="0">
                <a:latin typeface="Times New Roman" panose="02020603050405020304"/>
                <a:ea typeface="宋体" panose="02010600030101010101" pitchFamily="2" charset="-122"/>
              </a:rPr>
              <a:t>为例，因为点</a:t>
            </a:r>
            <a:r>
              <a:rPr lang="en-US" altLang="zh-CN" sz="2800" kern="100" dirty="0">
                <a:latin typeface="Times New Roman" panose="02020603050405020304"/>
                <a:ea typeface="宋体" panose="02010600030101010101" pitchFamily="2" charset="-122"/>
              </a:rPr>
              <a:t>D</a:t>
            </a:r>
            <a:r>
              <a:rPr lang="zh-CN" altLang="zh-CN" sz="2800" kern="100" dirty="0">
                <a:latin typeface="Times New Roman" panose="02020603050405020304"/>
                <a:ea typeface="宋体" panose="02010600030101010101" pitchFamily="2" charset="-122"/>
              </a:rPr>
              <a:t>的入度边有</a:t>
            </a:r>
            <a:r>
              <a:rPr lang="en-US" altLang="zh-CN" sz="2800" kern="100" dirty="0">
                <a:latin typeface="Times New Roman" panose="02020603050405020304"/>
                <a:ea typeface="宋体" panose="02010600030101010101" pitchFamily="2" charset="-122"/>
              </a:rPr>
              <a:t>CD</a:t>
            </a:r>
            <a:r>
              <a:rPr lang="zh-CN" altLang="zh-CN" sz="2800" kern="100" dirty="0">
                <a:latin typeface="Times New Roman" panose="02020603050405020304"/>
                <a:ea typeface="宋体" panose="02010600030101010101" pitchFamily="2" charset="-122"/>
              </a:rPr>
              <a:t>和</a:t>
            </a:r>
            <a:r>
              <a:rPr lang="en-US" altLang="zh-CN" sz="2800" kern="100" dirty="0">
                <a:latin typeface="Times New Roman" panose="02020603050405020304"/>
                <a:ea typeface="宋体" panose="02010600030101010101" pitchFamily="2" charset="-122"/>
              </a:rPr>
              <a:t>BD</a:t>
            </a:r>
            <a:r>
              <a:rPr lang="zh-CN" altLang="zh-CN" sz="2800" kern="100" dirty="0">
                <a:latin typeface="Times New Roman" panose="02020603050405020304"/>
                <a:ea typeface="宋体" panose="02010600030101010101" pitchFamily="2" charset="-122"/>
              </a:rPr>
              <a:t>，则有：</a:t>
            </a:r>
            <a:endParaRPr lang="zh-CN" altLang="zh-CN" sz="2400" kern="100" dirty="0">
              <a:latin typeface="Times New Roman" panose="02020603050405020304"/>
              <a:ea typeface="宋体" panose="02010600030101010101" pitchFamily="2" charset="-122"/>
            </a:endParaRPr>
          </a:p>
          <a:p>
            <a:pPr indent="276225" algn="just">
              <a:spcAft>
                <a:spcPts val="0"/>
              </a:spcAft>
            </a:pPr>
            <a:r>
              <a:rPr lang="en-US" altLang="zh-CN" sz="2800" kern="100" dirty="0" err="1">
                <a:latin typeface="Times New Roman" panose="02020603050405020304"/>
                <a:ea typeface="宋体" panose="02010600030101010101" pitchFamily="2" charset="-122"/>
              </a:rPr>
              <a:t>dp</a:t>
            </a:r>
            <a:r>
              <a:rPr lang="en-US" altLang="zh-CN" sz="2800" kern="100" dirty="0">
                <a:latin typeface="Times New Roman" panose="02020603050405020304"/>
                <a:ea typeface="宋体" panose="02010600030101010101" pitchFamily="2" charset="-122"/>
              </a:rPr>
              <a:t>(D)</a:t>
            </a:r>
            <a:r>
              <a:rPr lang="zh-CN" altLang="zh-CN" sz="2800" kern="100" dirty="0">
                <a:latin typeface="Times New Roman" panose="02020603050405020304"/>
                <a:ea typeface="宋体" panose="02010600030101010101" pitchFamily="2" charset="-122"/>
              </a:rPr>
              <a:t>＝</a:t>
            </a:r>
            <a:r>
              <a:rPr lang="en-US" altLang="zh-CN" sz="2800" kern="100" dirty="0">
                <a:latin typeface="Times New Roman" panose="02020603050405020304"/>
                <a:ea typeface="宋体" panose="02010600030101010101" pitchFamily="2" charset="-122"/>
              </a:rPr>
              <a:t>max(</a:t>
            </a:r>
            <a:r>
              <a:rPr lang="en-US" altLang="zh-CN" sz="2800" kern="100" dirty="0" err="1">
                <a:latin typeface="Times New Roman" panose="02020603050405020304"/>
                <a:ea typeface="宋体" panose="02010600030101010101" pitchFamily="2" charset="-122"/>
              </a:rPr>
              <a:t>dp</a:t>
            </a:r>
            <a:r>
              <a:rPr lang="en-US" altLang="zh-CN" sz="2800" kern="100" dirty="0">
                <a:latin typeface="Times New Roman" panose="02020603050405020304"/>
                <a:ea typeface="宋体" panose="02010600030101010101" pitchFamily="2" charset="-122"/>
              </a:rPr>
              <a:t>(B)</a:t>
            </a:r>
            <a:r>
              <a:rPr lang="zh-CN" altLang="zh-CN" sz="2800" kern="100" dirty="0">
                <a:latin typeface="Times New Roman" panose="02020603050405020304"/>
                <a:ea typeface="宋体" panose="02010600030101010101" pitchFamily="2" charset="-122"/>
              </a:rPr>
              <a:t>＋</a:t>
            </a:r>
            <a:r>
              <a:rPr lang="en-US" altLang="zh-CN" sz="2800" kern="100" dirty="0">
                <a:latin typeface="Times New Roman" panose="02020603050405020304"/>
                <a:ea typeface="宋体" panose="02010600030101010101" pitchFamily="2" charset="-122"/>
              </a:rPr>
              <a:t>1,dp(C)</a:t>
            </a:r>
            <a:r>
              <a:rPr lang="zh-CN" altLang="zh-CN" sz="2800" kern="100" dirty="0">
                <a:latin typeface="Times New Roman" panose="02020603050405020304"/>
                <a:ea typeface="宋体" panose="02010600030101010101" pitchFamily="2" charset="-122"/>
              </a:rPr>
              <a:t>＋</a:t>
            </a:r>
            <a:r>
              <a:rPr lang="en-US" altLang="zh-CN" sz="2800" kern="100" dirty="0">
                <a:latin typeface="Times New Roman" panose="02020603050405020304"/>
                <a:ea typeface="宋体" panose="02010600030101010101" pitchFamily="2" charset="-122"/>
              </a:rPr>
              <a:t>3)</a:t>
            </a:r>
            <a:endParaRPr lang="zh-CN" altLang="zh-CN" sz="2400" kern="100" dirty="0">
              <a:latin typeface="Times New Roman" panose="02020603050405020304"/>
              <a:ea typeface="宋体" panose="02010600030101010101" pitchFamily="2" charset="-122"/>
            </a:endParaRPr>
          </a:p>
          <a:p>
            <a:pPr indent="276225" algn="just">
              <a:spcAft>
                <a:spcPts val="0"/>
              </a:spcAft>
            </a:pPr>
            <a:r>
              <a:rPr lang="zh-CN" altLang="zh-CN" sz="2800" kern="100" dirty="0">
                <a:latin typeface="Times New Roman" panose="02020603050405020304"/>
                <a:ea typeface="宋体" panose="02010600030101010101" pitchFamily="2" charset="-122"/>
              </a:rPr>
              <a:t>由此可知，</a:t>
            </a:r>
            <a:r>
              <a:rPr lang="en-US" altLang="zh-CN" sz="2800" kern="100" dirty="0">
                <a:latin typeface="Times New Roman" panose="02020603050405020304"/>
                <a:ea typeface="宋体" panose="02010600030101010101" pitchFamily="2" charset="-122"/>
              </a:rPr>
              <a:t>DAG</a:t>
            </a:r>
            <a:r>
              <a:rPr lang="zh-CN" altLang="zh-CN" sz="2800" kern="100" dirty="0">
                <a:latin typeface="Times New Roman" panose="02020603050405020304"/>
                <a:ea typeface="宋体" panose="02010600030101010101" pitchFamily="2" charset="-122"/>
              </a:rPr>
              <a:t>最长路问题实际上是拓扑排序后</a:t>
            </a:r>
            <a:r>
              <a:rPr lang="en-US" altLang="zh-CN" sz="2800" kern="100" dirty="0">
                <a:latin typeface="Times New Roman" panose="02020603050405020304"/>
                <a:ea typeface="宋体" panose="02010600030101010101" pitchFamily="2" charset="-122"/>
              </a:rPr>
              <a:t>DP</a:t>
            </a:r>
            <a:r>
              <a:rPr lang="zh-CN" altLang="zh-CN" sz="2800" kern="100" dirty="0">
                <a:latin typeface="Times New Roman" panose="02020603050405020304"/>
                <a:ea typeface="宋体" panose="02010600030101010101" pitchFamily="2" charset="-122"/>
              </a:rPr>
              <a:t>即可。</a:t>
            </a:r>
            <a:endParaRPr lang="zh-CN" altLang="zh-CN" sz="2400" kern="100" dirty="0">
              <a:effectLst/>
              <a:latin typeface="Times New Roman" panose="02020603050405020304"/>
              <a:ea typeface="宋体" panose="02010600030101010101" pitchFamily="2" charset="-122"/>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771750"/>
            <a:ext cx="9144000" cy="3785652"/>
          </a:xfrm>
          <a:prstGeom prst="rect">
            <a:avLst/>
          </a:prstGeom>
        </p:spPr>
        <p:txBody>
          <a:bodyPr wrap="square">
            <a:spAutoFit/>
          </a:bodyPr>
          <a:lstStyle/>
          <a:p>
            <a:r>
              <a:rPr lang="zh-CN" altLang="zh-CN" sz="2000" dirty="0"/>
              <a:t>【题目描述】最长滑雪道（</a:t>
            </a:r>
            <a:r>
              <a:rPr lang="en-US" altLang="zh-CN" sz="2000" dirty="0"/>
              <a:t>skiing</a:t>
            </a:r>
            <a:r>
              <a:rPr lang="zh-CN" altLang="zh-CN" sz="2000" dirty="0"/>
              <a:t>）</a:t>
            </a:r>
            <a:r>
              <a:rPr lang="en-US" altLang="zh-CN" sz="2000" dirty="0"/>
              <a:t>2017 ACM-ICPC </a:t>
            </a:r>
            <a:r>
              <a:rPr lang="zh-CN" altLang="zh-CN" sz="2000" dirty="0"/>
              <a:t>亚洲区（乌鲁木齐赛区）网络赛</a:t>
            </a:r>
          </a:p>
          <a:p>
            <a:r>
              <a:rPr lang="zh-CN" altLang="zh-CN" sz="2000" dirty="0"/>
              <a:t>山顶雪场有</a:t>
            </a:r>
            <a:r>
              <a:rPr lang="en-US" altLang="zh-CN" sz="2000" i="1" dirty="0"/>
              <a:t>m</a:t>
            </a:r>
            <a:r>
              <a:rPr lang="zh-CN" altLang="zh-CN" sz="2000" dirty="0"/>
              <a:t>条滑雪道和</a:t>
            </a:r>
            <a:r>
              <a:rPr lang="en-US" altLang="zh-CN" sz="2000" i="1" dirty="0"/>
              <a:t>n</a:t>
            </a:r>
            <a:r>
              <a:rPr lang="zh-CN" altLang="zh-CN" sz="2000" dirty="0"/>
              <a:t>个标志旗，每两个标志旗之间的路径长度不同，一条可用的滑雪道将从一面标志旗开始，穿过几面标志旗，到某一个标志旗结束。</a:t>
            </a:r>
          </a:p>
          <a:p>
            <a:r>
              <a:rPr lang="zh-CN" altLang="zh-CN" sz="2000" dirty="0"/>
              <a:t>每条滑雪道都严格遵循高度降低的原则，并且起点严格高于终点，小光想找出最长的滑雪道。</a:t>
            </a:r>
          </a:p>
          <a:p>
            <a:r>
              <a:rPr lang="zh-CN" altLang="zh-CN" sz="2000" dirty="0"/>
              <a:t>【输入格式】</a:t>
            </a:r>
          </a:p>
          <a:p>
            <a:r>
              <a:rPr lang="zh-CN" altLang="zh-CN" sz="2000" dirty="0"/>
              <a:t>输入第一行为一个整数</a:t>
            </a:r>
            <a:r>
              <a:rPr lang="en-US" altLang="zh-CN" sz="2000" i="1" dirty="0"/>
              <a:t>T</a:t>
            </a:r>
            <a:r>
              <a:rPr lang="zh-CN" altLang="zh-CN" sz="2000" dirty="0"/>
              <a:t>，表示有</a:t>
            </a:r>
            <a:r>
              <a:rPr lang="en-US" altLang="zh-CN" sz="2000" i="1" dirty="0"/>
              <a:t>T</a:t>
            </a:r>
            <a:r>
              <a:rPr lang="zh-CN" altLang="zh-CN" sz="2000" dirty="0"/>
              <a:t>组数据。</a:t>
            </a:r>
          </a:p>
          <a:p>
            <a:r>
              <a:rPr lang="zh-CN" altLang="zh-CN" sz="2000" dirty="0"/>
              <a:t>每组数据第一行有两个整数</a:t>
            </a:r>
            <a:r>
              <a:rPr lang="en-US" altLang="zh-CN" sz="2000" i="1" dirty="0"/>
              <a:t>n</a:t>
            </a:r>
            <a:r>
              <a:rPr lang="zh-CN" altLang="zh-CN" sz="2000" dirty="0"/>
              <a:t>和</a:t>
            </a:r>
            <a:r>
              <a:rPr lang="en-US" altLang="zh-CN" sz="2000" i="1" dirty="0"/>
              <a:t>m</a:t>
            </a:r>
            <a:r>
              <a:rPr lang="zh-CN" altLang="zh-CN" sz="2000" dirty="0"/>
              <a:t>（</a:t>
            </a:r>
            <a:r>
              <a:rPr lang="en-US" altLang="zh-CN" sz="2000" dirty="0"/>
              <a:t>0</a:t>
            </a:r>
            <a:r>
              <a:rPr lang="zh-CN" altLang="zh-CN" sz="2000" dirty="0"/>
              <a:t>＜</a:t>
            </a:r>
            <a:r>
              <a:rPr lang="en-US" altLang="zh-CN" sz="2000" i="1" dirty="0"/>
              <a:t>n</a:t>
            </a:r>
            <a:r>
              <a:rPr lang="zh-CN" altLang="zh-CN" sz="2000" dirty="0"/>
              <a:t>≤</a:t>
            </a:r>
            <a:r>
              <a:rPr lang="en-US" altLang="zh-CN" sz="2000" dirty="0"/>
              <a:t>10 000</a:t>
            </a:r>
            <a:r>
              <a:rPr lang="zh-CN" altLang="zh-CN" sz="2000" dirty="0"/>
              <a:t>，</a:t>
            </a:r>
            <a:r>
              <a:rPr lang="en-US" altLang="zh-CN" sz="2000" dirty="0"/>
              <a:t>0</a:t>
            </a:r>
            <a:r>
              <a:rPr lang="zh-CN" altLang="zh-CN" sz="2000" dirty="0"/>
              <a:t>＜</a:t>
            </a:r>
            <a:r>
              <a:rPr lang="en-US" altLang="zh-CN" sz="2000" i="1" dirty="0"/>
              <a:t>m</a:t>
            </a:r>
            <a:r>
              <a:rPr lang="zh-CN" altLang="zh-CN" sz="2000" dirty="0"/>
              <a:t>≤</a:t>
            </a:r>
            <a:r>
              <a:rPr lang="en-US" altLang="zh-CN" sz="2000" dirty="0"/>
              <a:t>100 000</a:t>
            </a:r>
            <a:r>
              <a:rPr lang="zh-CN" altLang="zh-CN" sz="2000" dirty="0"/>
              <a:t>），表示滑雪道数和标志旗数。随后</a:t>
            </a:r>
            <a:r>
              <a:rPr lang="en-US" altLang="zh-CN" sz="2000" i="1" dirty="0"/>
              <a:t>m</a:t>
            </a:r>
            <a:r>
              <a:rPr lang="zh-CN" altLang="zh-CN" sz="2000" dirty="0"/>
              <a:t>行，每行</a:t>
            </a:r>
            <a:r>
              <a:rPr lang="en-US" altLang="zh-CN" sz="2000" dirty="0"/>
              <a:t>3</a:t>
            </a:r>
            <a:r>
              <a:rPr lang="zh-CN" altLang="zh-CN" sz="2000" dirty="0"/>
              <a:t>个整数</a:t>
            </a:r>
            <a:r>
              <a:rPr lang="en-US" altLang="zh-CN" sz="2000" i="1" dirty="0"/>
              <a:t>S</a:t>
            </a:r>
            <a:r>
              <a:rPr lang="en-US" altLang="zh-CN" sz="2000" dirty="0"/>
              <a:t>,</a:t>
            </a:r>
            <a:r>
              <a:rPr lang="en-US" altLang="zh-CN" sz="2000" i="1" dirty="0"/>
              <a:t>T</a:t>
            </a:r>
            <a:r>
              <a:rPr lang="en-US" altLang="zh-CN" sz="2000" dirty="0"/>
              <a:t>,</a:t>
            </a:r>
            <a:r>
              <a:rPr lang="en-US" altLang="zh-CN" sz="2000" i="1" dirty="0"/>
              <a:t>L</a:t>
            </a:r>
            <a:r>
              <a:rPr lang="zh-CN" altLang="zh-CN" sz="2000" dirty="0"/>
              <a:t>，表示滑雪道的起点、终点和长度。</a:t>
            </a:r>
          </a:p>
          <a:p>
            <a:r>
              <a:rPr lang="zh-CN" altLang="zh-CN" sz="2000" dirty="0"/>
              <a:t>【输出格式】</a:t>
            </a:r>
          </a:p>
          <a:p>
            <a:r>
              <a:rPr lang="zh-CN" altLang="zh-CN" sz="2000" dirty="0"/>
              <a:t>每组数据输出一个整数，表示最长的滑雪道。</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48956"/>
            <a:ext cx="1944763" cy="492443"/>
          </a:xfrm>
          <a:prstGeom prst="rect">
            <a:avLst/>
          </a:prstGeom>
        </p:spPr>
        <p:txBody>
          <a:bodyPr wrap="none">
            <a:spAutoFit/>
          </a:bodyPr>
          <a:lstStyle/>
          <a:p>
            <a:r>
              <a:rPr lang="en-US" altLang="zh-CN" b="1" dirty="0"/>
              <a:t>5.7.1 </a:t>
            </a:r>
            <a:r>
              <a:rPr lang="zh-CN" altLang="zh-CN" b="1" dirty="0"/>
              <a:t>欧拉图</a:t>
            </a:r>
          </a:p>
        </p:txBody>
      </p:sp>
      <p:sp>
        <p:nvSpPr>
          <p:cNvPr id="3" name="矩形 2"/>
          <p:cNvSpPr/>
          <p:nvPr/>
        </p:nvSpPr>
        <p:spPr>
          <a:xfrm>
            <a:off x="0" y="622925"/>
            <a:ext cx="9063871" cy="1815882"/>
          </a:xfrm>
          <a:prstGeom prst="rect">
            <a:avLst/>
          </a:prstGeom>
        </p:spPr>
        <p:txBody>
          <a:bodyPr wrap="square">
            <a:spAutoFit/>
          </a:bodyPr>
          <a:lstStyle/>
          <a:p>
            <a:r>
              <a:rPr lang="en-US" altLang="zh-CN" sz="2800" dirty="0">
                <a:latin typeface="Times New Roman" panose="02020603050405020304"/>
                <a:ea typeface="宋体" panose="02010600030101010101" pitchFamily="2" charset="-122"/>
                <a:cs typeface="Times New Roman" panose="02020603050405020304"/>
              </a:rPr>
              <a:t>     </a:t>
            </a:r>
            <a:r>
              <a:rPr lang="zh-CN" altLang="zh-CN" sz="2800" dirty="0">
                <a:latin typeface="Times New Roman" panose="02020603050405020304"/>
                <a:ea typeface="宋体" panose="02010600030101010101" pitchFamily="2" charset="-122"/>
                <a:cs typeface="Times New Roman" panose="02020603050405020304"/>
              </a:rPr>
              <a:t>一笔画问题是指不能够走相同的路，而且必须把所有的路全走到。例如对于</a:t>
            </a:r>
            <a:r>
              <a:rPr lang="zh-CN" altLang="zh-CN" sz="2800" kern="100" dirty="0">
                <a:latin typeface="Times New Roman" panose="02020603050405020304"/>
                <a:ea typeface="宋体" panose="02010600030101010101" pitchFamily="2" charset="-122"/>
                <a:cs typeface="Times New Roman" panose="02020603050405020304"/>
              </a:rPr>
              <a:t>图给出的两个图形，是否能够一笔画画完呢？若能一笔画，请找出一笔画的先后顺序，若不能，则输出“</a:t>
            </a:r>
            <a:r>
              <a:rPr lang="en-US" altLang="zh-CN" sz="2800" kern="100" dirty="0">
                <a:latin typeface="Times New Roman" panose="02020603050405020304"/>
                <a:ea typeface="宋体" panose="02010600030101010101" pitchFamily="2" charset="-122"/>
              </a:rPr>
              <a:t>No solution</a:t>
            </a:r>
            <a:r>
              <a:rPr lang="zh-CN" altLang="zh-CN" sz="2800" kern="100" dirty="0">
                <a:latin typeface="Times New Roman" panose="02020603050405020304"/>
                <a:ea typeface="宋体" panose="02010600030101010101" pitchFamily="2" charset="-122"/>
                <a:cs typeface="Times New Roman" panose="02020603050405020304"/>
              </a:rPr>
              <a:t>”。</a:t>
            </a:r>
            <a:endParaRPr lang="zh-CN" altLang="en-US" dirty="0"/>
          </a:p>
        </p:txBody>
      </p:sp>
      <p:pic>
        <p:nvPicPr>
          <p:cNvPr id="4" name="图片 3"/>
          <p:cNvPicPr/>
          <p:nvPr/>
        </p:nvPicPr>
        <p:blipFill>
          <a:blip r:embed="rId2">
            <a:extLst>
              <a:ext uri="{28A0092B-C50C-407E-A947-70E740481C1C}">
                <a14:useLocalDpi xmlns:a14="http://schemas.microsoft.com/office/drawing/2010/main" val="0"/>
              </a:ext>
            </a:extLst>
          </a:blip>
          <a:srcRect/>
          <a:stretch>
            <a:fillRect/>
          </a:stretch>
        </p:blipFill>
        <p:spPr>
          <a:xfrm>
            <a:off x="2446821" y="2655536"/>
            <a:ext cx="4646849" cy="1742067"/>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274" y="84598"/>
            <a:ext cx="9007312" cy="2893100"/>
          </a:xfrm>
          <a:prstGeom prst="rect">
            <a:avLst/>
          </a:prstGeom>
        </p:spPr>
        <p:txBody>
          <a:bodyPr wrap="square">
            <a:spAutoFit/>
          </a:bodyPr>
          <a:lstStyle/>
          <a:p>
            <a:r>
              <a:rPr lang="zh-CN" altLang="zh-CN" dirty="0"/>
              <a:t>一笔画的算法步骤如下。</a:t>
            </a:r>
          </a:p>
          <a:p>
            <a:r>
              <a:rPr lang="zh-CN" altLang="zh-CN" dirty="0"/>
              <a:t>（</a:t>
            </a:r>
            <a:r>
              <a:rPr lang="en-US" altLang="zh-CN" dirty="0"/>
              <a:t>1</a:t>
            </a:r>
            <a:r>
              <a:rPr lang="zh-CN" altLang="zh-CN" dirty="0"/>
              <a:t>）建立邻接矩阵。</a:t>
            </a:r>
          </a:p>
          <a:p>
            <a:r>
              <a:rPr lang="zh-CN" altLang="zh-CN" dirty="0"/>
              <a:t>（</a:t>
            </a:r>
            <a:r>
              <a:rPr lang="en-US" altLang="zh-CN" dirty="0"/>
              <a:t>2</a:t>
            </a:r>
            <a:r>
              <a:rPr lang="zh-CN" altLang="zh-CN" dirty="0"/>
              <a:t>）算出每个顶点的度数，并统计顶点度数为奇数（奇点）的个数。</a:t>
            </a:r>
          </a:p>
          <a:p>
            <a:r>
              <a:rPr lang="zh-CN" altLang="zh-CN" dirty="0"/>
              <a:t>（</a:t>
            </a:r>
            <a:r>
              <a:rPr lang="en-US" altLang="zh-CN" dirty="0"/>
              <a:t>3</a:t>
            </a:r>
            <a:r>
              <a:rPr lang="zh-CN" altLang="zh-CN" dirty="0"/>
              <a:t>）若无奇点，则可从任意一点出发开始一笔画。</a:t>
            </a:r>
          </a:p>
          <a:p>
            <a:r>
              <a:rPr lang="zh-CN" altLang="zh-CN" dirty="0"/>
              <a:t>（</a:t>
            </a:r>
            <a:r>
              <a:rPr lang="en-US" altLang="zh-CN" dirty="0"/>
              <a:t>4</a:t>
            </a:r>
            <a:r>
              <a:rPr lang="zh-CN" altLang="zh-CN" dirty="0"/>
              <a:t>）若有两个奇点，则可从其中一个奇点出发开始一笔画。</a:t>
            </a:r>
          </a:p>
          <a:p>
            <a:r>
              <a:rPr lang="zh-CN" altLang="zh-CN" dirty="0"/>
              <a:t>（</a:t>
            </a:r>
            <a:r>
              <a:rPr lang="en-US" altLang="zh-CN" dirty="0"/>
              <a:t>5</a:t>
            </a:r>
            <a:r>
              <a:rPr lang="zh-CN" altLang="zh-CN" dirty="0"/>
              <a:t>）若奇点的个数超过两个，则不能一笔画。</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324478"/>
            <a:ext cx="9049731" cy="4093428"/>
          </a:xfrm>
          <a:prstGeom prst="rect">
            <a:avLst/>
          </a:prstGeom>
        </p:spPr>
        <p:txBody>
          <a:bodyPr wrap="square">
            <a:spAutoFit/>
          </a:bodyPr>
          <a:lstStyle/>
          <a:p>
            <a:r>
              <a:rPr lang="zh-CN" altLang="zh-CN" dirty="0"/>
              <a:t>实际上，能够一笔画完的图为欧拉图或半欧拉图，如果一个图能用一笔多起点开始，不重复通过同一条边而走遍全部边又回到起点，则为欧拉图。虽然不能回到起点，但能走遍所有边，则为半欧拉图。</a:t>
            </a:r>
          </a:p>
          <a:p>
            <a:r>
              <a:rPr lang="zh-CN" altLang="zh-CN" dirty="0"/>
              <a:t>如果一个连通图的所有顶点的度均是偶数，则一定是欧拉图，反之亦然。如果一个连通图只有两个度为奇数的顶点，则为半欧拉图。若一笔画完半欧拉图，则必须以这两个奇点为起始点和终止点。</a:t>
            </a:r>
          </a:p>
          <a:p>
            <a:r>
              <a:rPr lang="zh-CN" altLang="zh-CN" dirty="0"/>
              <a:t>另外，如果一个图有</a:t>
            </a:r>
            <a:r>
              <a:rPr lang="en-US" altLang="zh-CN" i="1" dirty="0"/>
              <a:t>N</a:t>
            </a:r>
            <a:r>
              <a:rPr lang="zh-CN" altLang="zh-CN" dirty="0"/>
              <a:t>对奇数顶点，则这个图必须要用</a:t>
            </a:r>
            <a:r>
              <a:rPr lang="en-US" altLang="zh-CN" i="1" dirty="0"/>
              <a:t>N</a:t>
            </a:r>
            <a:r>
              <a:rPr lang="zh-CN" altLang="zh-CN" dirty="0"/>
              <a:t>笔才能画成（没有一个图的奇点有奇数个）。</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349130"/>
            <a:ext cx="9144000" cy="4093428"/>
          </a:xfrm>
          <a:prstGeom prst="rect">
            <a:avLst/>
          </a:prstGeom>
        </p:spPr>
        <p:txBody>
          <a:bodyPr wrap="square">
            <a:spAutoFit/>
          </a:bodyPr>
          <a:lstStyle/>
          <a:p>
            <a:r>
              <a:rPr lang="zh-CN" altLang="zh-CN" sz="2000" dirty="0"/>
              <a:t>【题目描述】补天计划（</a:t>
            </a:r>
            <a:r>
              <a:rPr lang="en-US" altLang="zh-CN" sz="2000" dirty="0"/>
              <a:t>fence</a:t>
            </a:r>
            <a:r>
              <a:rPr lang="zh-CN" altLang="zh-CN" sz="2000" dirty="0"/>
              <a:t>）</a:t>
            </a:r>
            <a:r>
              <a:rPr lang="en-US" altLang="zh-CN" sz="2000" dirty="0"/>
              <a:t>USACO 3.3.1</a:t>
            </a:r>
            <a:endParaRPr lang="zh-CN" altLang="zh-CN" sz="2000" dirty="0"/>
          </a:p>
          <a:p>
            <a:r>
              <a:rPr lang="zh-CN" altLang="zh-CN" sz="2000" dirty="0"/>
              <a:t>“女娲号”飞船需要巡视以发现和修复破损的时空通道，这称为“补天计划”。</a:t>
            </a:r>
          </a:p>
          <a:p>
            <a:r>
              <a:rPr lang="zh-CN" altLang="zh-CN" sz="2000" dirty="0"/>
              <a:t>但是飞船从来不经过同一个时空通道两次。你必须编一个程序，读入时空通道的描述，并计算出一条巡视时空通道的路径，使每个时空通道都恰好被经过一次。飞船能从任何一个顶点（即两个结点的交点）开始出发，在任意一个顶点结束。 </a:t>
            </a:r>
          </a:p>
          <a:p>
            <a:r>
              <a:rPr lang="zh-CN" altLang="zh-CN" sz="2000" dirty="0"/>
              <a:t>每一个时空通道连接两个顶点，顶点用</a:t>
            </a:r>
            <a:r>
              <a:rPr lang="en-US" altLang="zh-CN" sz="2000" dirty="0"/>
              <a:t>1~500</a:t>
            </a:r>
            <a:r>
              <a:rPr lang="zh-CN" altLang="zh-CN" sz="2000" dirty="0"/>
              <a:t>标号（虽然有的时空并没有</a:t>
            </a:r>
            <a:r>
              <a:rPr lang="en-US" altLang="zh-CN" sz="2000" dirty="0"/>
              <a:t>500</a:t>
            </a:r>
            <a:r>
              <a:rPr lang="zh-CN" altLang="zh-CN" sz="2000" dirty="0"/>
              <a:t>个顶点）。一个顶点上可连接任意多（≥</a:t>
            </a:r>
            <a:r>
              <a:rPr lang="en-US" altLang="zh-CN" sz="2000" dirty="0"/>
              <a:t>1</a:t>
            </a:r>
            <a:r>
              <a:rPr lang="zh-CN" altLang="zh-CN" sz="2000" dirty="0"/>
              <a:t>）个时空通道。所有时空通道都是连通的（也就是你可以从任意一个顶点到达另外的所有时空通道）。 </a:t>
            </a:r>
          </a:p>
          <a:p>
            <a:r>
              <a:rPr lang="zh-CN" altLang="zh-CN" sz="2000" dirty="0"/>
              <a:t>你的程序必须输出飞船的路径（用路径上依次经过的顶点号码表示）。如果把输出的路径看成一个</a:t>
            </a:r>
            <a:r>
              <a:rPr lang="en-US" altLang="zh-CN" sz="2000" dirty="0"/>
              <a:t>500</a:t>
            </a:r>
            <a:r>
              <a:rPr lang="zh-CN" altLang="zh-CN" sz="2000" dirty="0"/>
              <a:t>进制的数，那么当存在多组解的情况下，输出</a:t>
            </a:r>
            <a:r>
              <a:rPr lang="en-US" altLang="zh-CN" sz="2000" dirty="0"/>
              <a:t>500</a:t>
            </a:r>
            <a:r>
              <a:rPr lang="zh-CN" altLang="zh-CN" sz="2000" dirty="0"/>
              <a:t>进制表示法中最小的一个 （也就是输出第一个数较小的，如果还有多组解，输出第二个数较小的……）。 </a:t>
            </a:r>
          </a:p>
          <a:p>
            <a:r>
              <a:rPr lang="zh-CN" altLang="zh-CN" sz="2000" dirty="0"/>
              <a:t>输入数据保证至少有一个解。</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8281" y="265323"/>
            <a:ext cx="9176994" cy="4524315"/>
          </a:xfrm>
          <a:prstGeom prst="rect">
            <a:avLst/>
          </a:prstGeom>
        </p:spPr>
        <p:txBody>
          <a:bodyPr wrap="square">
            <a:spAutoFit/>
          </a:bodyPr>
          <a:lstStyle/>
          <a:p>
            <a:r>
              <a:rPr lang="zh-CN" altLang="zh-CN" sz="2400" dirty="0"/>
              <a:t>这道题是要求我们求出一条欧拉路，所以我们要首先判断图中是否有欧拉路。对于一个无向图，如果它每个点的度都是偶数，那么它存在一条欧拉回路，欧拉回路就是从图上的一点出发，必须经过所有的边且只能一次，最终回到起点的路径；如果有且仅有</a:t>
            </a:r>
            <a:r>
              <a:rPr lang="en-US" altLang="zh-CN" sz="2400" dirty="0"/>
              <a:t>2</a:t>
            </a:r>
            <a:r>
              <a:rPr lang="zh-CN" altLang="zh-CN" sz="2400" dirty="0"/>
              <a:t>个点的度为奇数，那么它存在一条欧拉路；如果超过</a:t>
            </a:r>
            <a:r>
              <a:rPr lang="en-US" altLang="zh-CN" sz="2400" dirty="0"/>
              <a:t>2</a:t>
            </a:r>
            <a:r>
              <a:rPr lang="zh-CN" altLang="zh-CN" sz="2400" dirty="0"/>
              <a:t>个点的度为奇数，那么它就不存在欧拉路了。</a:t>
            </a:r>
          </a:p>
          <a:p>
            <a:r>
              <a:rPr lang="zh-CN" altLang="zh-CN" sz="2400" dirty="0"/>
              <a:t>由于题目中说数据保证至少有</a:t>
            </a:r>
            <a:r>
              <a:rPr lang="en-US" altLang="zh-CN" sz="2400" dirty="0"/>
              <a:t>1</a:t>
            </a:r>
            <a:r>
              <a:rPr lang="zh-CN" altLang="zh-CN" sz="2400" dirty="0"/>
              <a:t>个解，因此一定存在欧拉路了。但是我们还要选一个点作为起点。如果没有点的度为奇数，那么任何一个点都能做起点。如果有</a:t>
            </a:r>
            <a:r>
              <a:rPr lang="en-US" altLang="zh-CN" sz="2400" dirty="0"/>
              <a:t>2</a:t>
            </a:r>
            <a:r>
              <a:rPr lang="zh-CN" altLang="zh-CN" sz="2400" dirty="0"/>
              <a:t>个奇点，那么就只能以这两个点之一为起点，另一个为终点。但是我们要注意，题目要求我们输出的是进行进制转换之后最小的（也就是输出第一个数较小的，如果还有多组解，输出第二个数较小的……），所以我们要以最小的点做起点。</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2611612" cy="492443"/>
          </a:xfrm>
          <a:prstGeom prst="rect">
            <a:avLst/>
          </a:prstGeom>
        </p:spPr>
        <p:txBody>
          <a:bodyPr wrap="none">
            <a:spAutoFit/>
          </a:bodyPr>
          <a:lstStyle/>
          <a:p>
            <a:r>
              <a:rPr lang="en-US" altLang="zh-CN" b="1" dirty="0"/>
              <a:t>5.7.2 </a:t>
            </a:r>
            <a:r>
              <a:rPr lang="zh-CN" altLang="zh-CN" b="1" dirty="0"/>
              <a:t>哈密尔顿环</a:t>
            </a:r>
          </a:p>
        </p:txBody>
      </p:sp>
      <p:sp>
        <p:nvSpPr>
          <p:cNvPr id="3" name="矩形 2"/>
          <p:cNvSpPr/>
          <p:nvPr/>
        </p:nvSpPr>
        <p:spPr>
          <a:xfrm>
            <a:off x="-32994" y="730943"/>
            <a:ext cx="9144000" cy="4247317"/>
          </a:xfrm>
          <a:prstGeom prst="rect">
            <a:avLst/>
          </a:prstGeom>
        </p:spPr>
        <p:txBody>
          <a:bodyPr wrap="square">
            <a:spAutoFit/>
          </a:bodyPr>
          <a:lstStyle/>
          <a:p>
            <a:r>
              <a:rPr lang="en-US" altLang="zh-CN" sz="1800" dirty="0"/>
              <a:t>    </a:t>
            </a:r>
            <a:r>
              <a:rPr lang="zh-CN" altLang="zh-CN" sz="1800" dirty="0"/>
              <a:t>欧拉图讨论的是边的可行遍性问题，与欧拉图相似的是哈密尔顿图，但它讨论的是顶点，即能够从一个顶点出发，对每个顶点仅经过一次（不要求经过所有的边，但不会有边被经过两次），又回到起始顶点的图称其为哈密尔顿图。这样对图中每个顶点仅经历一次所形成的一个回路，称其为哈密尔顿环。</a:t>
            </a:r>
          </a:p>
          <a:p>
            <a:r>
              <a:rPr lang="en-US" altLang="zh-CN" sz="1800" dirty="0"/>
              <a:t>    </a:t>
            </a:r>
            <a:r>
              <a:rPr lang="zh-CN" altLang="zh-CN" sz="1800" dirty="0"/>
              <a:t>哈密尔顿图的判断是一个典型的</a:t>
            </a:r>
            <a:r>
              <a:rPr lang="en-US" altLang="zh-CN" sz="1800" dirty="0"/>
              <a:t>NP</a:t>
            </a:r>
            <a:r>
              <a:rPr lang="zh-CN" altLang="zh-CN" sz="1800" dirty="0"/>
              <a:t>（</a:t>
            </a:r>
            <a:r>
              <a:rPr lang="en-US" altLang="zh-CN" sz="1800" dirty="0"/>
              <a:t>Non-deterministic Polynomial</a:t>
            </a:r>
            <a:r>
              <a:rPr lang="zh-CN" altLang="zh-CN" sz="1800" dirty="0"/>
              <a:t>）完全问题，即多项式复杂程度的非确定性问题，数学界普遍认为此类问题不存在完整、精确、而又不是太慢的求解算法。 </a:t>
            </a:r>
          </a:p>
          <a:p>
            <a:r>
              <a:rPr lang="en-US" altLang="zh-CN" sz="1800" dirty="0"/>
              <a:t>    </a:t>
            </a:r>
            <a:r>
              <a:rPr lang="zh-CN" altLang="zh-CN" sz="1800" dirty="0"/>
              <a:t>哈密尔顿图的判断目前没有多项式时间内的解法，但有两个判定条件被证明是正确的。 </a:t>
            </a:r>
          </a:p>
          <a:p>
            <a:r>
              <a:rPr lang="zh-CN" altLang="zh-CN" sz="1800" dirty="0"/>
              <a:t>（</a:t>
            </a:r>
            <a:r>
              <a:rPr lang="en-US" altLang="zh-CN" sz="1800" dirty="0"/>
              <a:t>1</a:t>
            </a:r>
            <a:r>
              <a:rPr lang="zh-CN" altLang="zh-CN" sz="1800" dirty="0"/>
              <a:t>）</a:t>
            </a:r>
            <a:r>
              <a:rPr lang="en-US" altLang="zh-CN" sz="1800" dirty="0"/>
              <a:t>Dirac</a:t>
            </a:r>
            <a:r>
              <a:rPr lang="zh-CN" altLang="zh-CN" sz="1800" dirty="0"/>
              <a:t>定理：具有</a:t>
            </a:r>
            <a:r>
              <a:rPr lang="en-US" altLang="zh-CN" sz="1800" i="1" dirty="0"/>
              <a:t>n</a:t>
            </a:r>
            <a:r>
              <a:rPr lang="zh-CN" altLang="zh-CN" sz="1800" dirty="0"/>
              <a:t>个顶点的无向连通图</a:t>
            </a:r>
            <a:r>
              <a:rPr lang="en-US" altLang="zh-CN" sz="1800" dirty="0"/>
              <a:t>G</a:t>
            </a:r>
            <a:r>
              <a:rPr lang="zh-CN" altLang="zh-CN" sz="1800" dirty="0"/>
              <a:t>，如果</a:t>
            </a:r>
            <a:r>
              <a:rPr lang="en-US" altLang="zh-CN" sz="1800" dirty="0"/>
              <a:t>G</a:t>
            </a:r>
            <a:r>
              <a:rPr lang="zh-CN" altLang="zh-CN" sz="1800" dirty="0"/>
              <a:t>中任意两个不同顶点的度数之和大于等于</a:t>
            </a:r>
            <a:r>
              <a:rPr lang="en-US" altLang="zh-CN" sz="1800" i="1" dirty="0"/>
              <a:t>n</a:t>
            </a:r>
            <a:r>
              <a:rPr lang="zh-CN" altLang="zh-CN" sz="1800" dirty="0"/>
              <a:t>，则</a:t>
            </a:r>
            <a:r>
              <a:rPr lang="en-US" altLang="zh-CN" sz="1800" dirty="0"/>
              <a:t>G</a:t>
            </a:r>
            <a:r>
              <a:rPr lang="zh-CN" altLang="zh-CN" sz="1800" dirty="0"/>
              <a:t>具有哈密尔顿回路，图</a:t>
            </a:r>
            <a:r>
              <a:rPr lang="en-US" altLang="zh-CN" sz="1800" dirty="0"/>
              <a:t>G</a:t>
            </a:r>
            <a:r>
              <a:rPr lang="zh-CN" altLang="zh-CN" sz="1800" dirty="0"/>
              <a:t>是哈密尔顿图。但该判定条件只是充分条件，即不满足定理条件的也可能存在哈密尔顿回路。</a:t>
            </a:r>
          </a:p>
          <a:p>
            <a:r>
              <a:rPr lang="zh-CN" altLang="zh-CN" sz="1800" dirty="0"/>
              <a:t>（</a:t>
            </a:r>
            <a:r>
              <a:rPr lang="en-US" altLang="zh-CN" sz="1800" dirty="0"/>
              <a:t>2</a:t>
            </a:r>
            <a:r>
              <a:rPr lang="zh-CN" altLang="zh-CN" sz="1800" dirty="0"/>
              <a:t>）从哈密尔顿图</a:t>
            </a:r>
            <a:r>
              <a:rPr lang="en-US" altLang="zh-CN" sz="1800" dirty="0"/>
              <a:t>G</a:t>
            </a:r>
            <a:r>
              <a:rPr lang="zh-CN" altLang="zh-CN" sz="1800" dirty="0"/>
              <a:t>中取一个非空子集</a:t>
            </a:r>
            <a:r>
              <a:rPr lang="en-US" altLang="zh-CN" sz="1800" dirty="0"/>
              <a:t>S</a:t>
            </a:r>
            <a:r>
              <a:rPr lang="zh-CN" altLang="zh-CN" sz="1800" dirty="0"/>
              <a:t>，则从</a:t>
            </a:r>
            <a:r>
              <a:rPr lang="en-US" altLang="zh-CN" sz="1800" dirty="0"/>
              <a:t>G</a:t>
            </a:r>
            <a:r>
              <a:rPr lang="zh-CN" altLang="zh-CN" sz="1800" dirty="0"/>
              <a:t>中删除了</a:t>
            </a:r>
            <a:r>
              <a:rPr lang="en-US" altLang="zh-CN" sz="1800" dirty="0"/>
              <a:t>S</a:t>
            </a:r>
            <a:r>
              <a:rPr lang="zh-CN" altLang="zh-CN" sz="1800" dirty="0"/>
              <a:t>中的点以及这些点所关联的边后得到的子图中，其连通分支数小于或等于</a:t>
            </a:r>
            <a:r>
              <a:rPr lang="en-US" altLang="zh-CN" sz="1800" dirty="0"/>
              <a:t>S</a:t>
            </a:r>
            <a:r>
              <a:rPr lang="zh-CN" altLang="zh-CN" sz="1800" dirty="0"/>
              <a:t>中的元素个数。这个判定方法是必要条件，即如果不满足条件一定不是哈密尔顿图，但满足条件也不能说明这个图就是哈密尔顿图。</a:t>
            </a:r>
          </a:p>
          <a:p>
            <a:r>
              <a:rPr lang="zh-CN" altLang="zh-CN" sz="1800" dirty="0"/>
              <a:t>使用深度优先搜索，能够求出一张图中的所有哈密尔顿环。</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44383"/>
            <a:ext cx="9242981" cy="4801314"/>
          </a:xfrm>
          <a:prstGeom prst="rect">
            <a:avLst/>
          </a:prstGeom>
        </p:spPr>
        <p:txBody>
          <a:bodyPr wrap="square">
            <a:spAutoFit/>
          </a:bodyPr>
          <a:lstStyle/>
          <a:p>
            <a:r>
              <a:rPr lang="en-US" altLang="zh-CN" sz="1800" kern="0" dirty="0">
                <a:solidFill>
                  <a:srgbClr val="8000FF"/>
                </a:solidFill>
                <a:latin typeface="YaHei Consolas Hybrid"/>
                <a:ea typeface="宋体" panose="02010600030101010101" pitchFamily="2" charset="-122"/>
                <a:cs typeface="Courier New" panose="02070309020205020404"/>
              </a:rPr>
              <a:t>void</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err="1">
                <a:solidFill>
                  <a:srgbClr val="000000"/>
                </a:solidFill>
                <a:latin typeface="YaHei Consolas Hybrid"/>
                <a:ea typeface="宋体" panose="02010600030101010101" pitchFamily="2" charset="-122"/>
                <a:cs typeface="Courier New" panose="02070309020205020404"/>
              </a:rPr>
              <a:t>Dfs</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err="1">
                <a:solidFill>
                  <a:srgbClr val="8000FF"/>
                </a:solidFill>
                <a:latin typeface="YaHei Consolas Hybrid"/>
                <a:ea typeface="宋体" panose="02010600030101010101" pitchFamily="2" charset="-122"/>
                <a:cs typeface="Courier New" panose="02070309020205020404"/>
              </a:rPr>
              <a:t>int</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err="1">
                <a:solidFill>
                  <a:srgbClr val="000000"/>
                </a:solidFill>
                <a:latin typeface="YaHei Consolas Hybrid"/>
                <a:ea typeface="宋体" panose="02010600030101010101" pitchFamily="2" charset="-122"/>
                <a:cs typeface="Courier New" panose="02070309020205020404"/>
              </a:rPr>
              <a:t>last</a:t>
            </a:r>
            <a:r>
              <a:rPr lang="en-US" altLang="zh-CN" sz="1800" b="1" kern="0" dirty="0" err="1">
                <a:solidFill>
                  <a:srgbClr val="000080"/>
                </a:solidFill>
                <a:latin typeface="YaHei Consolas Hybrid"/>
                <a:ea typeface="宋体" panose="02010600030101010101" pitchFamily="2" charset="-122"/>
                <a:cs typeface="Courier New" panose="02070309020205020404"/>
              </a:rPr>
              <a:t>,</a:t>
            </a:r>
            <a:r>
              <a:rPr lang="en-US" altLang="zh-CN" sz="1800" kern="0" dirty="0" err="1">
                <a:solidFill>
                  <a:srgbClr val="8000FF"/>
                </a:solidFill>
                <a:latin typeface="YaHei Consolas Hybrid"/>
                <a:ea typeface="宋体" panose="02010600030101010101" pitchFamily="2" charset="-122"/>
                <a:cs typeface="Courier New" panose="02070309020205020404"/>
              </a:rPr>
              <a:t>int</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err="1">
                <a:solidFill>
                  <a:srgbClr val="000000"/>
                </a:solidFill>
                <a:latin typeface="YaHei Consolas Hybrid"/>
                <a:ea typeface="宋体" panose="02010600030101010101" pitchFamily="2" charset="-122"/>
                <a:cs typeface="Courier New" panose="02070309020205020404"/>
              </a:rPr>
              <a:t>cur</a:t>
            </a:r>
            <a:r>
              <a:rPr lang="en-US" altLang="zh-CN" sz="1800" b="1" kern="0" dirty="0" err="1">
                <a:solidFill>
                  <a:srgbClr val="000080"/>
                </a:solidFill>
                <a:latin typeface="YaHei Consolas Hybrid"/>
                <a:ea typeface="宋体" panose="02010600030101010101" pitchFamily="2" charset="-122"/>
                <a:cs typeface="Courier New" panose="02070309020205020404"/>
              </a:rPr>
              <a:t>,</a:t>
            </a:r>
            <a:r>
              <a:rPr lang="en-US" altLang="zh-CN" sz="1800" kern="0" dirty="0" err="1">
                <a:solidFill>
                  <a:srgbClr val="8000FF"/>
                </a:solidFill>
                <a:latin typeface="YaHei Consolas Hybrid"/>
                <a:ea typeface="宋体" panose="02010600030101010101" pitchFamily="2" charset="-122"/>
                <a:cs typeface="Courier New" panose="02070309020205020404"/>
              </a:rPr>
              <a:t>int</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err="1">
                <a:solidFill>
                  <a:srgbClr val="000000"/>
                </a:solidFill>
                <a:latin typeface="YaHei Consolas Hybrid"/>
                <a:ea typeface="宋体" panose="02010600030101010101" pitchFamily="2" charset="-122"/>
                <a:cs typeface="Courier New" panose="02070309020205020404"/>
              </a:rPr>
              <a:t>len</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8000"/>
                </a:solidFill>
                <a:latin typeface="YaHei Consolas Hybrid"/>
                <a:ea typeface="宋体" panose="02010600030101010101" pitchFamily="2" charset="-122"/>
                <a:cs typeface="Courier New" panose="02070309020205020404"/>
              </a:rPr>
              <a:t>//last</a:t>
            </a:r>
            <a:r>
              <a:rPr lang="zh-CN" altLang="en-US" sz="1800" kern="0" dirty="0">
                <a:solidFill>
                  <a:srgbClr val="008000"/>
                </a:solidFill>
                <a:latin typeface="YaHei Consolas Hybrid"/>
                <a:ea typeface="宋体" panose="02010600030101010101" pitchFamily="2" charset="-122"/>
                <a:cs typeface="Courier New" panose="02070309020205020404"/>
              </a:rPr>
              <a:t>：</a:t>
            </a:r>
            <a:r>
              <a:rPr lang="zh-CN" altLang="zh-CN" sz="1800" kern="0" dirty="0">
                <a:solidFill>
                  <a:srgbClr val="008000"/>
                </a:solidFill>
                <a:latin typeface="Times New Roman" panose="02020603050405020304"/>
                <a:ea typeface="YaHei Consolas Hybrid"/>
                <a:cs typeface="Courier New" panose="02070309020205020404"/>
              </a:rPr>
              <a:t>上次访问的点</a:t>
            </a:r>
            <a:r>
              <a:rPr lang="en-US" altLang="zh-CN" sz="1800" kern="0" dirty="0">
                <a:solidFill>
                  <a:srgbClr val="008000"/>
                </a:solidFill>
                <a:latin typeface="Times New Roman" panose="02020603050405020304"/>
                <a:ea typeface="YaHei Consolas Hybrid"/>
                <a:cs typeface="Courier New" panose="02070309020205020404"/>
              </a:rPr>
              <a:t>,cur:</a:t>
            </a:r>
            <a:r>
              <a:rPr lang="zh-CN" altLang="zh-CN" sz="1800" kern="0" dirty="0">
                <a:solidFill>
                  <a:srgbClr val="008000"/>
                </a:solidFill>
                <a:latin typeface="Times New Roman" panose="02020603050405020304"/>
                <a:ea typeface="YaHei Consolas Hybrid"/>
                <a:cs typeface="Courier New" panose="02070309020205020404"/>
              </a:rPr>
              <a:t>正访问的点</a:t>
            </a:r>
            <a:endParaRPr lang="zh-CN" altLang="zh-CN" sz="2000" kern="100" dirty="0">
              <a:latin typeface="Times New Roman" panose="02020603050405020304"/>
              <a:ea typeface="宋体" panose="02010600030101010101" pitchFamily="2" charset="-122"/>
            </a:endParaRPr>
          </a:p>
          <a:p>
            <a:r>
              <a:rPr lang="en-US" altLang="zh-CN" sz="1800" b="1" kern="0" dirty="0">
                <a:solidFill>
                  <a:srgbClr val="000080"/>
                </a:solidFill>
                <a:latin typeface="YaHei Consolas Hybrid"/>
                <a:ea typeface="宋体" panose="02010600030101010101" pitchFamily="2" charset="-122"/>
                <a:cs typeface="Courier New" panose="02070309020205020404"/>
              </a:rPr>
              <a:t>{</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visit</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cur</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b="1" kern="0" dirty="0">
                <a:solidFill>
                  <a:srgbClr val="0000FF"/>
                </a:solidFill>
                <a:latin typeface="YaHei Consolas Hybrid"/>
                <a:ea typeface="宋体" panose="02010600030101010101" pitchFamily="2" charset="-122"/>
                <a:cs typeface="Courier New" panose="02070309020205020404"/>
              </a:rPr>
              <a:t>true</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a:solidFill>
                  <a:srgbClr val="008000"/>
                </a:solidFill>
                <a:latin typeface="YaHei Consolas Hybrid"/>
                <a:ea typeface="宋体" panose="02010600030101010101" pitchFamily="2" charset="-122"/>
                <a:cs typeface="Courier New" panose="02070309020205020404"/>
              </a:rPr>
              <a:t>//</a:t>
            </a:r>
            <a:r>
              <a:rPr lang="zh-CN" altLang="zh-CN" sz="1800" kern="0" dirty="0">
                <a:solidFill>
                  <a:srgbClr val="008000"/>
                </a:solidFill>
                <a:latin typeface="Times New Roman" panose="02020603050405020304"/>
                <a:ea typeface="YaHei Consolas Hybrid"/>
                <a:cs typeface="Courier New" panose="02070309020205020404"/>
              </a:rPr>
              <a:t>当前点设置为已访问过</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err="1">
                <a:solidFill>
                  <a:srgbClr val="000000"/>
                </a:solidFill>
                <a:latin typeface="YaHei Consolas Hybrid"/>
                <a:ea typeface="宋体" panose="02010600030101010101" pitchFamily="2" charset="-122"/>
                <a:cs typeface="Courier New" panose="02070309020205020404"/>
              </a:rPr>
              <a:t>ans</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err="1">
                <a:solidFill>
                  <a:srgbClr val="000000"/>
                </a:solidFill>
                <a:latin typeface="YaHei Consolas Hybrid"/>
                <a:ea typeface="宋体" panose="02010600030101010101" pitchFamily="2" charset="-122"/>
                <a:cs typeface="Courier New" panose="02070309020205020404"/>
              </a:rPr>
              <a:t>len</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cur</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a:solidFill>
                  <a:srgbClr val="008000"/>
                </a:solidFill>
                <a:latin typeface="YaHei Consolas Hybrid"/>
                <a:ea typeface="宋体" panose="02010600030101010101" pitchFamily="2" charset="-122"/>
                <a:cs typeface="Courier New" panose="02070309020205020404"/>
              </a:rPr>
              <a:t>//</a:t>
            </a:r>
            <a:r>
              <a:rPr lang="zh-CN" altLang="zh-CN" sz="1800" kern="0" dirty="0">
                <a:solidFill>
                  <a:srgbClr val="008000"/>
                </a:solidFill>
                <a:latin typeface="Times New Roman" panose="02020603050405020304"/>
                <a:ea typeface="YaHei Consolas Hybrid"/>
                <a:cs typeface="Courier New" panose="02070309020205020404"/>
              </a:rPr>
              <a:t>将该点加到答案里</a:t>
            </a:r>
            <a:r>
              <a:rPr lang="en-US" altLang="zh-CN" sz="1800" kern="0" dirty="0">
                <a:solidFill>
                  <a:srgbClr val="008000"/>
                </a:solidFill>
                <a:latin typeface="Times New Roman" panose="02020603050405020304"/>
                <a:ea typeface="YaHei Consolas Hybrid"/>
                <a:cs typeface="Courier New" panose="02070309020205020404"/>
              </a:rPr>
              <a:t>,</a:t>
            </a:r>
            <a:r>
              <a:rPr lang="en-US" altLang="zh-CN" sz="1800" kern="0" dirty="0" err="1">
                <a:solidFill>
                  <a:srgbClr val="008000"/>
                </a:solidFill>
                <a:latin typeface="Times New Roman" panose="02020603050405020304"/>
                <a:ea typeface="YaHei Consolas Hybrid"/>
                <a:cs typeface="Courier New" panose="02070309020205020404"/>
              </a:rPr>
              <a:t>len</a:t>
            </a:r>
            <a:r>
              <a:rPr lang="zh-CN" altLang="zh-CN" sz="1800" kern="0" dirty="0">
                <a:solidFill>
                  <a:srgbClr val="008000"/>
                </a:solidFill>
                <a:latin typeface="Times New Roman" panose="02020603050405020304"/>
                <a:ea typeface="YaHei Consolas Hybrid"/>
                <a:cs typeface="Courier New" panose="02070309020205020404"/>
              </a:rPr>
              <a:t>为环的长度</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b="1" kern="0" dirty="0">
                <a:solidFill>
                  <a:srgbClr val="0000FF"/>
                </a:solidFill>
                <a:latin typeface="YaHei Consolas Hybrid"/>
                <a:ea typeface="宋体" panose="02010600030101010101" pitchFamily="2" charset="-122"/>
                <a:cs typeface="Courier New" panose="02070309020205020404"/>
              </a:rPr>
              <a:t>for</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err="1">
                <a:solidFill>
                  <a:srgbClr val="8000FF"/>
                </a:solidFill>
                <a:latin typeface="YaHei Consolas Hybrid"/>
                <a:ea typeface="宋体" panose="02010600030101010101" pitchFamily="2" charset="-122"/>
                <a:cs typeface="Courier New" panose="02070309020205020404"/>
              </a:rPr>
              <a:t>int</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err="1">
                <a:solidFill>
                  <a:srgbClr val="000000"/>
                </a:solidFill>
                <a:latin typeface="YaHei Consolas Hybrid"/>
                <a:ea typeface="宋体" panose="02010600030101010101" pitchFamily="2" charset="-122"/>
                <a:cs typeface="Courier New" panose="02070309020205020404"/>
              </a:rPr>
              <a:t>i</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FF8000"/>
                </a:solidFill>
                <a:latin typeface="YaHei Consolas Hybrid"/>
                <a:ea typeface="宋体" panose="02010600030101010101" pitchFamily="2" charset="-122"/>
                <a:cs typeface="Courier New" panose="02070309020205020404"/>
              </a:rPr>
              <a:t>1</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err="1">
                <a:solidFill>
                  <a:srgbClr val="000000"/>
                </a:solidFill>
                <a:latin typeface="YaHei Consolas Hybrid"/>
                <a:ea typeface="宋体" panose="02010600030101010101" pitchFamily="2" charset="-122"/>
                <a:cs typeface="Courier New" panose="02070309020205020404"/>
              </a:rPr>
              <a:t>i</a:t>
            </a:r>
            <a:r>
              <a:rPr lang="en-US" altLang="zh-CN" sz="1800" b="1" kern="0" dirty="0">
                <a:solidFill>
                  <a:srgbClr val="000080"/>
                </a:solidFill>
                <a:latin typeface="YaHei Consolas Hybrid"/>
                <a:ea typeface="宋体" panose="02010600030101010101" pitchFamily="2" charset="-122"/>
                <a:cs typeface="Courier New" panose="02070309020205020404"/>
              </a:rPr>
              <a:t>&lt;=</a:t>
            </a:r>
            <a:r>
              <a:rPr lang="en-US" altLang="zh-CN" sz="1800" kern="0" dirty="0" err="1">
                <a:solidFill>
                  <a:srgbClr val="000000"/>
                </a:solidFill>
                <a:latin typeface="YaHei Consolas Hybrid"/>
                <a:ea typeface="宋体" panose="02010600030101010101" pitchFamily="2" charset="-122"/>
                <a:cs typeface="Courier New" panose="02070309020205020404"/>
              </a:rPr>
              <a:t>num</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cur</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err="1">
                <a:solidFill>
                  <a:srgbClr val="000000"/>
                </a:solidFill>
                <a:latin typeface="YaHei Consolas Hybrid"/>
                <a:ea typeface="宋体" panose="02010600030101010101" pitchFamily="2" charset="-122"/>
                <a:cs typeface="Courier New" panose="02070309020205020404"/>
              </a:rPr>
              <a:t>i</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a:solidFill>
                  <a:srgbClr val="008000"/>
                </a:solidFill>
                <a:latin typeface="YaHei Consolas Hybrid"/>
                <a:ea typeface="宋体" panose="02010600030101010101" pitchFamily="2" charset="-122"/>
                <a:cs typeface="Courier New" panose="02070309020205020404"/>
              </a:rPr>
              <a:t>//</a:t>
            </a:r>
            <a:r>
              <a:rPr lang="zh-CN" altLang="zh-CN" sz="1800" kern="0" dirty="0">
                <a:solidFill>
                  <a:srgbClr val="008000"/>
                </a:solidFill>
                <a:latin typeface="Times New Roman" panose="02020603050405020304"/>
                <a:ea typeface="YaHei Consolas Hybrid"/>
                <a:cs typeface="Courier New" panose="02070309020205020404"/>
              </a:rPr>
              <a:t>寻找</a:t>
            </a:r>
            <a:r>
              <a:rPr lang="en-US" altLang="zh-CN" sz="1800" kern="0" dirty="0" err="1">
                <a:solidFill>
                  <a:srgbClr val="008000"/>
                </a:solidFill>
                <a:latin typeface="Times New Roman" panose="02020603050405020304"/>
                <a:ea typeface="YaHei Consolas Hybrid"/>
                <a:cs typeface="Courier New" panose="02070309020205020404"/>
              </a:rPr>
              <a:t>i</a:t>
            </a:r>
            <a:r>
              <a:rPr lang="zh-CN" altLang="zh-CN" sz="1800" kern="0" dirty="0">
                <a:solidFill>
                  <a:srgbClr val="008000"/>
                </a:solidFill>
                <a:latin typeface="Times New Roman" panose="02020603050405020304"/>
                <a:ea typeface="YaHei Consolas Hybrid"/>
                <a:cs typeface="Courier New" panose="02070309020205020404"/>
              </a:rPr>
              <a:t>点连接的所有边</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b="1" kern="0" dirty="0">
                <a:solidFill>
                  <a:srgbClr val="000080"/>
                </a:solidFill>
                <a:latin typeface="YaHei Consolas Hybrid"/>
                <a:ea typeface="宋体" panose="02010600030101010101" pitchFamily="2" charset="-122"/>
                <a:cs typeface="Courier New" panose="02070309020205020404"/>
              </a:rPr>
              <a:t>{</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b="1" kern="0" dirty="0">
                <a:solidFill>
                  <a:srgbClr val="0000FF"/>
                </a:solidFill>
                <a:latin typeface="YaHei Consolas Hybrid"/>
                <a:ea typeface="宋体" panose="02010600030101010101" pitchFamily="2" charset="-122"/>
                <a:cs typeface="Courier New" panose="02070309020205020404"/>
              </a:rPr>
              <a:t>if</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g</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cur</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err="1">
                <a:solidFill>
                  <a:srgbClr val="000000"/>
                </a:solidFill>
                <a:latin typeface="YaHei Consolas Hybrid"/>
                <a:ea typeface="宋体" panose="02010600030101010101" pitchFamily="2" charset="-122"/>
                <a:cs typeface="Courier New" panose="02070309020205020404"/>
              </a:rPr>
              <a:t>i</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start</a:t>
            </a:r>
            <a:r>
              <a:rPr lang="en-US" altLang="zh-CN" sz="1800" b="1" kern="0" dirty="0">
                <a:solidFill>
                  <a:srgbClr val="000080"/>
                </a:solidFill>
                <a:latin typeface="YaHei Consolas Hybrid"/>
                <a:ea typeface="宋体" panose="02010600030101010101" pitchFamily="2" charset="-122"/>
                <a:cs typeface="Courier New" panose="02070309020205020404"/>
              </a:rPr>
              <a:t>&amp;&amp;</a:t>
            </a:r>
            <a:r>
              <a:rPr lang="en-US" altLang="zh-CN" sz="1800" kern="0" dirty="0">
                <a:solidFill>
                  <a:srgbClr val="000000"/>
                </a:solidFill>
                <a:latin typeface="YaHei Consolas Hybrid"/>
                <a:ea typeface="宋体" panose="02010600030101010101" pitchFamily="2" charset="-122"/>
                <a:cs typeface="Courier New" panose="02070309020205020404"/>
              </a:rPr>
              <a:t> g</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cur</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err="1">
                <a:solidFill>
                  <a:srgbClr val="000000"/>
                </a:solidFill>
                <a:latin typeface="YaHei Consolas Hybrid"/>
                <a:ea typeface="宋体" panose="02010600030101010101" pitchFamily="2" charset="-122"/>
                <a:cs typeface="Courier New" panose="02070309020205020404"/>
              </a:rPr>
              <a:t>i</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last</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8000"/>
                </a:solidFill>
                <a:latin typeface="YaHei Consolas Hybrid"/>
                <a:ea typeface="宋体" panose="02010600030101010101" pitchFamily="2" charset="-122"/>
                <a:cs typeface="Courier New" panose="02070309020205020404"/>
              </a:rPr>
              <a:t>//</a:t>
            </a:r>
            <a:r>
              <a:rPr lang="zh-CN" altLang="zh-CN" sz="1800" kern="0" dirty="0">
                <a:solidFill>
                  <a:srgbClr val="008000"/>
                </a:solidFill>
                <a:latin typeface="Times New Roman" panose="02020603050405020304"/>
                <a:ea typeface="YaHei Consolas Hybrid"/>
                <a:cs typeface="Courier New" panose="02070309020205020404"/>
              </a:rPr>
              <a:t>回到起点且不是第二个点即是环</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b="1" kern="0" dirty="0">
                <a:solidFill>
                  <a:srgbClr val="000080"/>
                </a:solidFill>
                <a:latin typeface="YaHei Consolas Hybrid"/>
                <a:ea typeface="宋体" panose="02010600030101010101" pitchFamily="2" charset="-122"/>
                <a:cs typeface="Courier New" panose="02070309020205020404"/>
              </a:rPr>
              <a:t>{</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err="1">
                <a:solidFill>
                  <a:srgbClr val="000000"/>
                </a:solidFill>
                <a:latin typeface="YaHei Consolas Hybrid"/>
                <a:ea typeface="宋体" panose="02010600030101010101" pitchFamily="2" charset="-122"/>
                <a:cs typeface="Courier New" panose="02070309020205020404"/>
              </a:rPr>
              <a:t>ans</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err="1">
                <a:solidFill>
                  <a:srgbClr val="000000"/>
                </a:solidFill>
                <a:latin typeface="YaHei Consolas Hybrid"/>
                <a:ea typeface="宋体" panose="02010600030101010101" pitchFamily="2" charset="-122"/>
                <a:cs typeface="Courier New" panose="02070309020205020404"/>
              </a:rPr>
              <a:t>len</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g</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cur</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err="1">
                <a:solidFill>
                  <a:srgbClr val="000000"/>
                </a:solidFill>
                <a:latin typeface="YaHei Consolas Hybrid"/>
                <a:ea typeface="宋体" panose="02010600030101010101" pitchFamily="2" charset="-122"/>
                <a:cs typeface="Courier New" panose="02070309020205020404"/>
              </a:rPr>
              <a:t>i</a:t>
            </a:r>
            <a:r>
              <a:rPr lang="en-US" altLang="zh-CN" sz="1800" b="1" kern="0" dirty="0">
                <a:solidFill>
                  <a:srgbClr val="000080"/>
                </a:solidFill>
                <a:latin typeface="YaHei Consolas Hybrid"/>
                <a:ea typeface="宋体" panose="02010600030101010101" pitchFamily="2" charset="-122"/>
                <a:cs typeface="Courier New" panose="02070309020205020404"/>
              </a:rPr>
              <a:t>];</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Out</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err="1">
                <a:solidFill>
                  <a:srgbClr val="000000"/>
                </a:solidFill>
                <a:latin typeface="YaHei Consolas Hybrid"/>
                <a:ea typeface="宋体" panose="02010600030101010101" pitchFamily="2" charset="-122"/>
                <a:cs typeface="Courier New" panose="02070309020205020404"/>
              </a:rPr>
              <a:t>len</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a:solidFill>
                  <a:srgbClr val="008000"/>
                </a:solidFill>
                <a:latin typeface="YaHei Consolas Hybrid"/>
                <a:ea typeface="宋体" panose="02010600030101010101" pitchFamily="2" charset="-122"/>
                <a:cs typeface="Courier New" panose="02070309020205020404"/>
              </a:rPr>
              <a:t>//</a:t>
            </a:r>
            <a:r>
              <a:rPr lang="zh-CN" altLang="zh-CN" sz="1800" kern="0" dirty="0">
                <a:solidFill>
                  <a:srgbClr val="008000"/>
                </a:solidFill>
                <a:latin typeface="Times New Roman" panose="02020603050405020304"/>
                <a:ea typeface="YaHei Consolas Hybrid"/>
                <a:cs typeface="Courier New" panose="02070309020205020404"/>
              </a:rPr>
              <a:t>输出答案后</a:t>
            </a:r>
            <a:r>
              <a:rPr lang="en-US" altLang="zh-CN" sz="1800" kern="0" dirty="0" err="1">
                <a:solidFill>
                  <a:srgbClr val="008000"/>
                </a:solidFill>
                <a:latin typeface="Times New Roman" panose="02020603050405020304"/>
                <a:ea typeface="YaHei Consolas Hybrid"/>
                <a:cs typeface="Courier New" panose="02070309020205020404"/>
              </a:rPr>
              <a:t>len</a:t>
            </a:r>
            <a:r>
              <a:rPr lang="en-US" altLang="zh-CN" sz="1800" kern="0" dirty="0">
                <a:solidFill>
                  <a:srgbClr val="008000"/>
                </a:solidFill>
                <a:latin typeface="Times New Roman" panose="02020603050405020304"/>
                <a:ea typeface="YaHei Consolas Hybrid"/>
                <a:cs typeface="Courier New" panose="02070309020205020404"/>
              </a:rPr>
              <a:t>--</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a:solidFill>
                  <a:srgbClr val="008000"/>
                </a:solidFill>
                <a:latin typeface="YaHei Consolas Hybrid"/>
                <a:ea typeface="宋体" panose="02010600030101010101" pitchFamily="2" charset="-122"/>
                <a:cs typeface="Courier New" panose="02070309020205020404"/>
              </a:rPr>
              <a:t>//break;                        //</a:t>
            </a:r>
            <a:r>
              <a:rPr lang="zh-CN" altLang="zh-CN" sz="1800" kern="0" dirty="0">
                <a:solidFill>
                  <a:srgbClr val="008000"/>
                </a:solidFill>
                <a:latin typeface="Times New Roman" panose="02020603050405020304"/>
                <a:ea typeface="YaHei Consolas Hybrid"/>
                <a:cs typeface="Courier New" panose="02070309020205020404"/>
              </a:rPr>
              <a:t>此处不要</a:t>
            </a:r>
            <a:r>
              <a:rPr lang="en-US" altLang="zh-CN" sz="1800" kern="0" dirty="0">
                <a:solidFill>
                  <a:srgbClr val="008000"/>
                </a:solidFill>
                <a:latin typeface="Times New Roman" panose="02020603050405020304"/>
                <a:ea typeface="YaHei Consolas Hybrid"/>
                <a:cs typeface="Courier New" panose="02070309020205020404"/>
              </a:rPr>
              <a:t>break,</a:t>
            </a:r>
            <a:r>
              <a:rPr lang="zh-CN" altLang="zh-CN" sz="1800" kern="0" dirty="0">
                <a:solidFill>
                  <a:srgbClr val="008000"/>
                </a:solidFill>
                <a:latin typeface="Times New Roman" panose="02020603050405020304"/>
                <a:ea typeface="YaHei Consolas Hybrid"/>
                <a:cs typeface="Courier New" panose="02070309020205020404"/>
              </a:rPr>
              <a:t>因为要找所有环</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b="1" kern="0" dirty="0">
                <a:solidFill>
                  <a:srgbClr val="000080"/>
                </a:solidFill>
                <a:latin typeface="YaHei Consolas Hybrid"/>
                <a:ea typeface="宋体" panose="02010600030101010101" pitchFamily="2" charset="-122"/>
                <a:cs typeface="Courier New" panose="02070309020205020404"/>
              </a:rPr>
              <a:t>}</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b="1" kern="0" dirty="0">
                <a:solidFill>
                  <a:srgbClr val="0000FF"/>
                </a:solidFill>
                <a:latin typeface="YaHei Consolas Hybrid"/>
                <a:ea typeface="宋体" panose="02010600030101010101" pitchFamily="2" charset="-122"/>
                <a:cs typeface="Courier New" panose="02070309020205020404"/>
              </a:rPr>
              <a:t>if</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visit</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g</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cur</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err="1">
                <a:solidFill>
                  <a:srgbClr val="000000"/>
                </a:solidFill>
                <a:latin typeface="YaHei Consolas Hybrid"/>
                <a:ea typeface="宋体" panose="02010600030101010101" pitchFamily="2" charset="-122"/>
                <a:cs typeface="Courier New" panose="02070309020205020404"/>
              </a:rPr>
              <a:t>i</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b="1" kern="0" dirty="0">
                <a:solidFill>
                  <a:srgbClr val="000080"/>
                </a:solidFill>
                <a:latin typeface="YaHei Consolas Hybrid"/>
                <a:ea typeface="宋体" panose="02010600030101010101" pitchFamily="2" charset="-122"/>
                <a:cs typeface="Courier New" panose="02070309020205020404"/>
              </a:rPr>
              <a:t>&amp;&amp;</a:t>
            </a:r>
            <a:r>
              <a:rPr lang="en-US" altLang="zh-CN" sz="1800" kern="0" dirty="0">
                <a:solidFill>
                  <a:srgbClr val="000000"/>
                </a:solidFill>
                <a:latin typeface="YaHei Consolas Hybrid"/>
                <a:ea typeface="宋体" panose="02010600030101010101" pitchFamily="2" charset="-122"/>
                <a:cs typeface="Courier New" panose="02070309020205020404"/>
              </a:rPr>
              <a:t> g</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cur</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err="1">
                <a:solidFill>
                  <a:srgbClr val="000000"/>
                </a:solidFill>
                <a:latin typeface="YaHei Consolas Hybrid"/>
                <a:ea typeface="宋体" panose="02010600030101010101" pitchFamily="2" charset="-122"/>
                <a:cs typeface="Courier New" panose="02070309020205020404"/>
              </a:rPr>
              <a:t>i</a:t>
            </a:r>
            <a:r>
              <a:rPr lang="en-US" altLang="zh-CN" sz="1800" b="1" kern="0" dirty="0">
                <a:solidFill>
                  <a:srgbClr val="000080"/>
                </a:solidFill>
                <a:latin typeface="YaHei Consolas Hybrid"/>
                <a:ea typeface="宋体" panose="02010600030101010101" pitchFamily="2" charset="-122"/>
                <a:cs typeface="Courier New" panose="02070309020205020404"/>
              </a:rPr>
              <a:t>]&gt;</a:t>
            </a:r>
            <a:r>
              <a:rPr lang="en-US" altLang="zh-CN" sz="1800" kern="0" dirty="0">
                <a:solidFill>
                  <a:srgbClr val="000000"/>
                </a:solidFill>
                <a:latin typeface="YaHei Consolas Hybrid"/>
                <a:ea typeface="宋体" panose="02010600030101010101" pitchFamily="2" charset="-122"/>
                <a:cs typeface="Courier New" panose="02070309020205020404"/>
              </a:rPr>
              <a:t>cur</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8000"/>
                </a:solidFill>
                <a:latin typeface="YaHei Consolas Hybrid"/>
                <a:ea typeface="宋体" panose="02010600030101010101" pitchFamily="2" charset="-122"/>
                <a:cs typeface="Courier New" panose="02070309020205020404"/>
              </a:rPr>
              <a:t>//</a:t>
            </a:r>
            <a:r>
              <a:rPr lang="zh-CN" altLang="zh-CN" sz="1800" kern="0" dirty="0">
                <a:solidFill>
                  <a:srgbClr val="008000"/>
                </a:solidFill>
                <a:latin typeface="Times New Roman" panose="02020603050405020304"/>
                <a:ea typeface="YaHei Consolas Hybrid"/>
                <a:cs typeface="Courier New" panose="02070309020205020404"/>
              </a:rPr>
              <a:t>遍历与</a:t>
            </a:r>
            <a:r>
              <a:rPr lang="en-US" altLang="zh-CN" sz="1800" kern="0" dirty="0" err="1">
                <a:solidFill>
                  <a:srgbClr val="008000"/>
                </a:solidFill>
                <a:latin typeface="Times New Roman" panose="02020603050405020304"/>
                <a:ea typeface="YaHei Consolas Hybrid"/>
                <a:cs typeface="Courier New" panose="02070309020205020404"/>
              </a:rPr>
              <a:t>i</a:t>
            </a:r>
            <a:r>
              <a:rPr lang="zh-CN" altLang="zh-CN" sz="1800" kern="0" dirty="0">
                <a:solidFill>
                  <a:srgbClr val="008000"/>
                </a:solidFill>
                <a:latin typeface="Times New Roman" panose="02020603050405020304"/>
                <a:ea typeface="YaHei Consolas Hybrid"/>
                <a:cs typeface="Courier New" panose="02070309020205020404"/>
              </a:rPr>
              <a:t>关联的未访问点</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err="1">
                <a:solidFill>
                  <a:srgbClr val="000000"/>
                </a:solidFill>
                <a:latin typeface="YaHei Consolas Hybrid"/>
                <a:ea typeface="宋体" panose="02010600030101010101" pitchFamily="2" charset="-122"/>
                <a:cs typeface="Courier New" panose="02070309020205020404"/>
              </a:rPr>
              <a:t>Dfs</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err="1">
                <a:solidFill>
                  <a:srgbClr val="000000"/>
                </a:solidFill>
                <a:latin typeface="YaHei Consolas Hybrid"/>
                <a:ea typeface="宋体" panose="02010600030101010101" pitchFamily="2" charset="-122"/>
                <a:cs typeface="Courier New" panose="02070309020205020404"/>
              </a:rPr>
              <a:t>cur</a:t>
            </a:r>
            <a:r>
              <a:rPr lang="en-US" altLang="zh-CN" sz="1800" b="1" kern="0" dirty="0" err="1">
                <a:solidFill>
                  <a:srgbClr val="000080"/>
                </a:solidFill>
                <a:latin typeface="YaHei Consolas Hybrid"/>
                <a:ea typeface="宋体" panose="02010600030101010101" pitchFamily="2" charset="-122"/>
                <a:cs typeface="Courier New" panose="02070309020205020404"/>
              </a:rPr>
              <a:t>,</a:t>
            </a:r>
            <a:r>
              <a:rPr lang="en-US" altLang="zh-CN" sz="1800" kern="0" dirty="0" err="1">
                <a:solidFill>
                  <a:srgbClr val="000000"/>
                </a:solidFill>
                <a:latin typeface="YaHei Consolas Hybrid"/>
                <a:ea typeface="宋体" panose="02010600030101010101" pitchFamily="2" charset="-122"/>
                <a:cs typeface="Courier New" panose="02070309020205020404"/>
              </a:rPr>
              <a:t>g</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cur</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err="1">
                <a:solidFill>
                  <a:srgbClr val="000000"/>
                </a:solidFill>
                <a:latin typeface="YaHei Consolas Hybrid"/>
                <a:ea typeface="宋体" panose="02010600030101010101" pitchFamily="2" charset="-122"/>
                <a:cs typeface="Courier New" panose="02070309020205020404"/>
              </a:rPr>
              <a:t>i</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err="1">
                <a:solidFill>
                  <a:srgbClr val="000000"/>
                </a:solidFill>
                <a:latin typeface="YaHei Consolas Hybrid"/>
                <a:ea typeface="宋体" panose="02010600030101010101" pitchFamily="2" charset="-122"/>
                <a:cs typeface="Courier New" panose="02070309020205020404"/>
              </a:rPr>
              <a:t>len</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8000"/>
                </a:solidFill>
                <a:latin typeface="YaHei Consolas Hybrid"/>
                <a:ea typeface="宋体" panose="02010600030101010101" pitchFamily="2" charset="-122"/>
                <a:cs typeface="Courier New" panose="02070309020205020404"/>
              </a:rPr>
              <a:t>//g[cur][</a:t>
            </a:r>
            <a:r>
              <a:rPr lang="en-US" altLang="zh-CN" sz="1800" kern="0" dirty="0" err="1">
                <a:solidFill>
                  <a:srgbClr val="008000"/>
                </a:solidFill>
                <a:latin typeface="YaHei Consolas Hybrid"/>
                <a:ea typeface="宋体" panose="02010600030101010101" pitchFamily="2" charset="-122"/>
                <a:cs typeface="Courier New" panose="02070309020205020404"/>
              </a:rPr>
              <a:t>i</a:t>
            </a:r>
            <a:r>
              <a:rPr lang="en-US" altLang="zh-CN" sz="1800" kern="0" dirty="0">
                <a:solidFill>
                  <a:srgbClr val="008000"/>
                </a:solidFill>
                <a:latin typeface="YaHei Consolas Hybrid"/>
                <a:ea typeface="宋体" panose="02010600030101010101" pitchFamily="2" charset="-122"/>
                <a:cs typeface="Courier New" panose="02070309020205020404"/>
              </a:rPr>
              <a:t>]&gt;cur</a:t>
            </a:r>
            <a:r>
              <a:rPr lang="zh-CN" altLang="zh-CN" sz="1800" kern="0" dirty="0">
                <a:solidFill>
                  <a:srgbClr val="008000"/>
                </a:solidFill>
                <a:latin typeface="Times New Roman" panose="02020603050405020304"/>
                <a:ea typeface="YaHei Consolas Hybrid"/>
                <a:cs typeface="Courier New" panose="02070309020205020404"/>
              </a:rPr>
              <a:t>保证后面数字大于前面才不重复</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b="1" kern="0" dirty="0">
                <a:solidFill>
                  <a:srgbClr val="000080"/>
                </a:solidFill>
                <a:latin typeface="YaHei Consolas Hybrid"/>
                <a:ea typeface="宋体" panose="02010600030101010101" pitchFamily="2" charset="-122"/>
                <a:cs typeface="Courier New" panose="02070309020205020404"/>
              </a:rPr>
              <a:t>}</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visit</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cur</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b="1" kern="0" dirty="0">
                <a:solidFill>
                  <a:srgbClr val="0000FF"/>
                </a:solidFill>
                <a:latin typeface="YaHei Consolas Hybrid"/>
                <a:ea typeface="宋体" panose="02010600030101010101" pitchFamily="2" charset="-122"/>
                <a:cs typeface="Courier New" panose="02070309020205020404"/>
              </a:rPr>
              <a:t>false</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a:solidFill>
                  <a:srgbClr val="008000"/>
                </a:solidFill>
                <a:latin typeface="YaHei Consolas Hybrid"/>
                <a:ea typeface="宋体" panose="02010600030101010101" pitchFamily="2" charset="-122"/>
                <a:cs typeface="Courier New" panose="02070309020205020404"/>
              </a:rPr>
              <a:t>//</a:t>
            </a:r>
            <a:r>
              <a:rPr lang="zh-CN" altLang="zh-CN" sz="1800" kern="0" dirty="0">
                <a:solidFill>
                  <a:srgbClr val="008000"/>
                </a:solidFill>
                <a:latin typeface="Times New Roman" panose="02020603050405020304"/>
                <a:ea typeface="YaHei Consolas Hybrid"/>
                <a:cs typeface="Courier New" panose="02070309020205020404"/>
              </a:rPr>
              <a:t>回溯</a:t>
            </a:r>
            <a:endParaRPr lang="zh-CN" altLang="zh-CN" sz="2000" kern="100" dirty="0">
              <a:latin typeface="Times New Roman" panose="02020603050405020304"/>
              <a:ea typeface="宋体" panose="02010600030101010101" pitchFamily="2" charset="-122"/>
            </a:endParaRPr>
          </a:p>
          <a:p>
            <a:r>
              <a:rPr lang="en-US" altLang="zh-CN" sz="1800" b="1" kern="0" dirty="0">
                <a:solidFill>
                  <a:srgbClr val="000080"/>
                </a:solidFill>
                <a:latin typeface="YaHei Consolas Hybrid"/>
                <a:ea typeface="宋体" panose="02010600030101010101" pitchFamily="2" charset="-122"/>
                <a:cs typeface="Courier New" panose="02070309020205020404"/>
              </a:rPr>
              <a:t>}</a:t>
            </a:r>
            <a:endParaRPr lang="zh-CN" altLang="zh-CN" sz="2000" kern="100" dirty="0">
              <a:effectLst/>
              <a:latin typeface="Times New Roman" panose="02020603050405020304"/>
              <a:ea typeface="宋体" panose="02010600030101010101" pitchFamily="2" charset="-122"/>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441664"/>
            <a:ext cx="9144000" cy="4401205"/>
          </a:xfrm>
          <a:prstGeom prst="rect">
            <a:avLst/>
          </a:prstGeom>
        </p:spPr>
        <p:txBody>
          <a:bodyPr wrap="square">
            <a:spAutoFit/>
          </a:bodyPr>
          <a:lstStyle/>
          <a:p>
            <a:r>
              <a:rPr lang="zh-CN" altLang="zh-CN" sz="2000" dirty="0"/>
              <a:t>【题目描述】圆桌会议（</a:t>
            </a:r>
            <a:r>
              <a:rPr lang="en-US" altLang="zh-CN" sz="2000" dirty="0"/>
              <a:t>meeting</a:t>
            </a:r>
            <a:r>
              <a:rPr lang="zh-CN" altLang="zh-CN" sz="2000" dirty="0"/>
              <a:t>）</a:t>
            </a:r>
            <a:r>
              <a:rPr lang="en-US" altLang="zh-CN" sz="2000" dirty="0"/>
              <a:t>POJ 2438</a:t>
            </a:r>
            <a:endParaRPr lang="zh-CN" altLang="zh-CN" sz="2000" dirty="0"/>
          </a:p>
          <a:p>
            <a:r>
              <a:rPr lang="zh-CN" altLang="zh-CN" sz="2000" dirty="0"/>
              <a:t>魔法师们总是为了各种问题争吵不休，这让院长很头疼，比如开圆桌会议时，两个关系不是很好的魔法师如果坐在一起可能会吵架，请问如何安排一个座次，使得相邻的两个魔法师都不会吵架？</a:t>
            </a:r>
          </a:p>
          <a:p>
            <a:r>
              <a:rPr lang="zh-CN" altLang="zh-CN" sz="2000" dirty="0"/>
              <a:t>已知一共有</a:t>
            </a:r>
            <a:r>
              <a:rPr lang="en-US" altLang="zh-CN" sz="2000" dirty="0"/>
              <a:t>2</a:t>
            </a:r>
            <a:r>
              <a:rPr lang="en-US" altLang="zh-CN" sz="2000" i="1" dirty="0"/>
              <a:t>n</a:t>
            </a:r>
            <a:r>
              <a:rPr lang="zh-CN" altLang="zh-CN" sz="2000" dirty="0"/>
              <a:t>个魔法师，并且每个魔法师最多有</a:t>
            </a:r>
            <a:r>
              <a:rPr lang="en-US" altLang="zh-CN" sz="2000" i="1" dirty="0"/>
              <a:t>n</a:t>
            </a:r>
            <a:r>
              <a:rPr lang="zh-CN" altLang="zh-CN" sz="2000" dirty="0"/>
              <a:t>－</a:t>
            </a:r>
            <a:r>
              <a:rPr lang="en-US" altLang="zh-CN" sz="2000" dirty="0"/>
              <a:t>1</a:t>
            </a:r>
            <a:r>
              <a:rPr lang="zh-CN" altLang="zh-CN" sz="2000" dirty="0"/>
              <a:t>个“敌人”。</a:t>
            </a:r>
          </a:p>
          <a:p>
            <a:r>
              <a:rPr lang="zh-CN" altLang="zh-CN" sz="2000" dirty="0"/>
              <a:t>【输入格式】</a:t>
            </a:r>
          </a:p>
          <a:p>
            <a:r>
              <a:rPr lang="zh-CN" altLang="zh-CN" sz="2000" dirty="0"/>
              <a:t>输入包含多组数据，每组数据第一行为两个整数</a:t>
            </a:r>
            <a:r>
              <a:rPr lang="en-US" altLang="zh-CN" sz="2000" i="1" dirty="0"/>
              <a:t>n</a:t>
            </a:r>
            <a:r>
              <a:rPr lang="zh-CN" altLang="zh-CN" sz="2000" dirty="0"/>
              <a:t>和</a:t>
            </a:r>
            <a:r>
              <a:rPr lang="en-US" altLang="zh-CN" sz="2000" i="1" dirty="0"/>
              <a:t>m</a:t>
            </a:r>
            <a:r>
              <a:rPr lang="zh-CN" altLang="zh-CN" sz="2000" dirty="0"/>
              <a:t>（</a:t>
            </a:r>
            <a:r>
              <a:rPr lang="en-US" altLang="zh-CN" sz="2000" dirty="0"/>
              <a:t>1</a:t>
            </a:r>
            <a:r>
              <a:rPr lang="zh-CN" altLang="zh-CN" sz="2000" dirty="0"/>
              <a:t>≤</a:t>
            </a:r>
            <a:r>
              <a:rPr lang="en-US" altLang="zh-CN" sz="2000" i="1" dirty="0"/>
              <a:t>n</a:t>
            </a:r>
            <a:r>
              <a:rPr lang="zh-CN" altLang="zh-CN" sz="2000" dirty="0"/>
              <a:t>≤</a:t>
            </a:r>
            <a:r>
              <a:rPr lang="en-US" altLang="zh-CN" sz="2000" dirty="0"/>
              <a:t>200</a:t>
            </a:r>
            <a:r>
              <a:rPr lang="zh-CN" altLang="zh-CN" sz="2000" dirty="0"/>
              <a:t>，</a:t>
            </a:r>
            <a:r>
              <a:rPr lang="en-US" altLang="zh-CN" sz="2000" dirty="0"/>
              <a:t>0</a:t>
            </a:r>
            <a:r>
              <a:rPr lang="zh-CN" altLang="zh-CN" sz="2000" dirty="0"/>
              <a:t>≤</a:t>
            </a:r>
            <a:r>
              <a:rPr lang="en-US" altLang="zh-CN" sz="2000" i="1" dirty="0"/>
              <a:t>m</a:t>
            </a:r>
            <a:r>
              <a:rPr lang="zh-CN" altLang="zh-CN" sz="2000" dirty="0"/>
              <a:t>≤</a:t>
            </a:r>
            <a:r>
              <a:rPr lang="en-US" altLang="zh-CN" sz="2000" i="1" dirty="0"/>
              <a:t>n</a:t>
            </a:r>
            <a:r>
              <a:rPr lang="en-US" altLang="zh-CN" sz="2000" dirty="0"/>
              <a:t>(n</a:t>
            </a:r>
            <a:r>
              <a:rPr lang="zh-CN" altLang="zh-CN" sz="2000" dirty="0"/>
              <a:t>－</a:t>
            </a:r>
            <a:r>
              <a:rPr lang="en-US" altLang="zh-CN" sz="2000" dirty="0"/>
              <a:t>1)</a:t>
            </a:r>
            <a:r>
              <a:rPr lang="zh-CN" altLang="zh-CN" sz="2000" dirty="0"/>
              <a:t>）。随后</a:t>
            </a:r>
            <a:r>
              <a:rPr lang="en-US" altLang="zh-CN" sz="2000" i="1" dirty="0"/>
              <a:t>m</a:t>
            </a:r>
            <a:r>
              <a:rPr lang="zh-CN" altLang="zh-CN" sz="2000" dirty="0"/>
              <a:t>行中每行两个整数，表示第</a:t>
            </a:r>
            <a:r>
              <a:rPr lang="en-US" altLang="zh-CN" sz="2000" i="1" dirty="0" err="1"/>
              <a:t>i</a:t>
            </a:r>
            <a:r>
              <a:rPr lang="zh-CN" altLang="zh-CN" sz="2000" dirty="0"/>
              <a:t>个魔法师和第</a:t>
            </a:r>
            <a:r>
              <a:rPr lang="en-US" altLang="zh-CN" sz="2000" i="1" dirty="0"/>
              <a:t>j</a:t>
            </a:r>
            <a:r>
              <a:rPr lang="zh-CN" altLang="zh-CN" sz="2000" dirty="0"/>
              <a:t>个魔法师的关系不是很好。输入数据中，如果已经给了第</a:t>
            </a:r>
            <a:r>
              <a:rPr lang="en-US" altLang="zh-CN" sz="2000" i="1" dirty="0" err="1"/>
              <a:t>i</a:t>
            </a:r>
            <a:r>
              <a:rPr lang="zh-CN" altLang="zh-CN" sz="2000" dirty="0"/>
              <a:t>个魔法师和第</a:t>
            </a:r>
            <a:r>
              <a:rPr lang="en-US" altLang="zh-CN" sz="2000" i="1" dirty="0"/>
              <a:t>j</a:t>
            </a:r>
            <a:r>
              <a:rPr lang="zh-CN" altLang="zh-CN" sz="2000" dirty="0"/>
              <a:t>个魔法师的关系，就不会再给第</a:t>
            </a:r>
            <a:r>
              <a:rPr lang="en-US" altLang="zh-CN" sz="2000" i="1" dirty="0"/>
              <a:t>j</a:t>
            </a:r>
            <a:r>
              <a:rPr lang="zh-CN" altLang="zh-CN" sz="2000" dirty="0"/>
              <a:t>个魔法师和第</a:t>
            </a:r>
            <a:r>
              <a:rPr lang="en-US" altLang="zh-CN" sz="2000" i="1" dirty="0" err="1"/>
              <a:t>i</a:t>
            </a:r>
            <a:r>
              <a:rPr lang="zh-CN" altLang="zh-CN" sz="2000" dirty="0"/>
              <a:t>个魔法师的关系。</a:t>
            </a:r>
          </a:p>
          <a:p>
            <a:r>
              <a:rPr lang="zh-CN" altLang="zh-CN" sz="2000" dirty="0"/>
              <a:t>两组数据间有一个空行，当</a:t>
            </a:r>
            <a:r>
              <a:rPr lang="en-US" altLang="zh-CN" sz="2000" i="1" dirty="0"/>
              <a:t>n</a:t>
            </a:r>
            <a:r>
              <a:rPr lang="zh-CN" altLang="zh-CN" sz="2000" dirty="0"/>
              <a:t>和</a:t>
            </a:r>
            <a:r>
              <a:rPr lang="en-US" altLang="zh-CN" sz="2000" i="1" dirty="0"/>
              <a:t>m</a:t>
            </a:r>
            <a:r>
              <a:rPr lang="zh-CN" altLang="zh-CN" sz="2000" dirty="0"/>
              <a:t>均为</a:t>
            </a:r>
            <a:r>
              <a:rPr lang="en-US" altLang="zh-CN" sz="2000" dirty="0"/>
              <a:t>0</a:t>
            </a:r>
            <a:r>
              <a:rPr lang="zh-CN" altLang="zh-CN" sz="2000" dirty="0"/>
              <a:t>时结束全部输入。</a:t>
            </a:r>
          </a:p>
          <a:p>
            <a:r>
              <a:rPr lang="zh-CN" altLang="zh-CN" sz="2000" dirty="0"/>
              <a:t>【输出格式】</a:t>
            </a:r>
          </a:p>
          <a:p>
            <a:r>
              <a:rPr lang="zh-CN" altLang="zh-CN" sz="2000" dirty="0"/>
              <a:t>对于每组输入，如果可以安排，则在一行内输出座次序列。否则输出“</a:t>
            </a:r>
            <a:r>
              <a:rPr lang="en-US" altLang="zh-CN" sz="2000" dirty="0"/>
              <a:t>No solution!</a:t>
            </a:r>
            <a:r>
              <a:rPr lang="zh-CN" altLang="zh-CN" sz="2000" dirty="0"/>
              <a:t>”。</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9144000" cy="4154984"/>
          </a:xfrm>
          <a:prstGeom prst="rect">
            <a:avLst/>
          </a:prstGeom>
        </p:spPr>
        <p:txBody>
          <a:bodyPr wrap="square">
            <a:spAutoFit/>
          </a:bodyPr>
          <a:lstStyle/>
          <a:p>
            <a:r>
              <a:rPr lang="en-US" altLang="zh-CN" sz="2400" dirty="0"/>
              <a:t>    </a:t>
            </a:r>
            <a:r>
              <a:rPr lang="zh-CN" altLang="zh-CN" sz="2400" dirty="0"/>
              <a:t>因为一共有</a:t>
            </a:r>
            <a:r>
              <a:rPr lang="en-US" altLang="zh-CN" sz="2400" dirty="0"/>
              <a:t>2</a:t>
            </a:r>
            <a:r>
              <a:rPr lang="en-US" altLang="zh-CN" sz="2400" i="1" dirty="0"/>
              <a:t>n</a:t>
            </a:r>
            <a:r>
              <a:rPr lang="zh-CN" altLang="zh-CN" sz="2400" dirty="0"/>
              <a:t>个魔法师，每个人最多有</a:t>
            </a:r>
            <a:r>
              <a:rPr lang="en-US" altLang="zh-CN" sz="2400" i="1" dirty="0"/>
              <a:t>n</a:t>
            </a:r>
            <a:r>
              <a:rPr lang="zh-CN" altLang="zh-CN" sz="2400" dirty="0"/>
              <a:t>－</a:t>
            </a:r>
            <a:r>
              <a:rPr lang="en-US" altLang="zh-CN" sz="2400" dirty="0"/>
              <a:t>1</a:t>
            </a:r>
            <a:r>
              <a:rPr lang="zh-CN" altLang="zh-CN" sz="2400" dirty="0"/>
              <a:t>个“敌人”，所以每个魔法师可选择的人数肯定大于</a:t>
            </a:r>
            <a:r>
              <a:rPr lang="en-US" altLang="zh-CN" sz="2400" i="1" dirty="0"/>
              <a:t>n</a:t>
            </a:r>
            <a:r>
              <a:rPr lang="zh-CN" altLang="zh-CN" sz="2400" dirty="0"/>
              <a:t>＋</a:t>
            </a:r>
            <a:r>
              <a:rPr lang="en-US" altLang="zh-CN" sz="2400" dirty="0"/>
              <a:t>1</a:t>
            </a:r>
            <a:r>
              <a:rPr lang="zh-CN" altLang="zh-CN" sz="2400" dirty="0"/>
              <a:t>，就说明建图后每个点的度数大于</a:t>
            </a:r>
            <a:r>
              <a:rPr lang="en-US" altLang="zh-CN" sz="2400" i="1" dirty="0"/>
              <a:t>n</a:t>
            </a:r>
            <a:r>
              <a:rPr lang="zh-CN" altLang="zh-CN" sz="2400" dirty="0"/>
              <a:t>＋</a:t>
            </a:r>
            <a:r>
              <a:rPr lang="en-US" altLang="zh-CN" sz="2400" dirty="0"/>
              <a:t>1</a:t>
            </a:r>
            <a:r>
              <a:rPr lang="zh-CN" altLang="zh-CN" sz="2400" dirty="0"/>
              <a:t>，因此任意两个点的度数之和大于</a:t>
            </a:r>
            <a:r>
              <a:rPr lang="en-US" altLang="zh-CN" sz="2400" dirty="0"/>
              <a:t>2</a:t>
            </a:r>
            <a:r>
              <a:rPr lang="en-US" altLang="zh-CN" sz="2400" i="1" dirty="0"/>
              <a:t>n</a:t>
            </a:r>
            <a:r>
              <a:rPr lang="zh-CN" altLang="zh-CN" sz="2400" dirty="0"/>
              <a:t>，满足哈密顿图的充分条件，所以一定存在哈密尔顿图。</a:t>
            </a:r>
          </a:p>
          <a:p>
            <a:r>
              <a:rPr lang="en-US" altLang="zh-CN" sz="2400" dirty="0"/>
              <a:t>    </a:t>
            </a:r>
            <a:r>
              <a:rPr lang="zh-CN" altLang="zh-CN" sz="2400" dirty="0"/>
              <a:t>如果直接建图，每个点表示一个魔法师，两个魔法师之间有敌对关系以一条边连接是不符合题意的，所以应该是将没有敌对关系的魔法师连边，这实际上是在该图的反图上求解一个哈密尔顿环，使得该环包含所有的点。</a:t>
            </a:r>
          </a:p>
          <a:p>
            <a:r>
              <a:rPr lang="en-US" altLang="zh-CN" sz="2400" dirty="0"/>
              <a:t>    </a:t>
            </a:r>
            <a:r>
              <a:rPr lang="zh-CN" altLang="zh-CN" sz="2400" dirty="0"/>
              <a:t>设</a:t>
            </a:r>
            <a:r>
              <a:rPr lang="en-US" altLang="zh-CN" sz="2400" dirty="0" err="1"/>
              <a:t>ans</a:t>
            </a:r>
            <a:r>
              <a:rPr lang="en-US" altLang="zh-CN" sz="2400" dirty="0"/>
              <a:t>[]</a:t>
            </a:r>
            <a:r>
              <a:rPr lang="zh-CN" altLang="zh-CN" sz="2400" dirty="0"/>
              <a:t>保存所有哈密尔顿环的元素，从某一点例如</a:t>
            </a:r>
            <a:r>
              <a:rPr lang="en-US" altLang="zh-CN" sz="2400" dirty="0"/>
              <a:t>1</a:t>
            </a:r>
            <a:r>
              <a:rPr lang="zh-CN" altLang="zh-CN" sz="2400" dirty="0"/>
              <a:t>点开始，设该点为起始点</a:t>
            </a:r>
            <a:r>
              <a:rPr lang="en-US" altLang="zh-CN" sz="2400" i="1" dirty="0"/>
              <a:t>s</a:t>
            </a:r>
            <a:r>
              <a:rPr lang="zh-CN" altLang="zh-CN" sz="2400" dirty="0"/>
              <a:t>，从</a:t>
            </a:r>
            <a:r>
              <a:rPr lang="en-US" altLang="zh-CN" sz="2400" i="1" dirty="0"/>
              <a:t>s</a:t>
            </a:r>
            <a:r>
              <a:rPr lang="zh-CN" altLang="zh-CN" sz="2400" dirty="0"/>
              <a:t>点开始寻找连边向外扩展并存入</a:t>
            </a:r>
            <a:r>
              <a:rPr lang="en-US" altLang="zh-CN" sz="2400" dirty="0" err="1"/>
              <a:t>ans</a:t>
            </a:r>
            <a:r>
              <a:rPr lang="en-US" altLang="zh-CN" sz="2400" dirty="0"/>
              <a:t>[]</a:t>
            </a:r>
            <a:r>
              <a:rPr lang="zh-CN" altLang="zh-CN" sz="2400" dirty="0"/>
              <a:t>中</a:t>
            </a:r>
            <a:r>
              <a:rPr lang="en-US" altLang="zh-CN" sz="2400" dirty="0"/>
              <a:t>……</a:t>
            </a:r>
            <a:r>
              <a:rPr lang="zh-CN" altLang="zh-CN" sz="2400" dirty="0"/>
              <a:t>设最终扩展的终点为</a:t>
            </a:r>
            <a:r>
              <a:rPr lang="en-US" altLang="zh-CN" sz="2400" i="1" dirty="0"/>
              <a:t>t</a:t>
            </a:r>
            <a:r>
              <a:rPr lang="zh-CN" altLang="zh-CN" sz="2400" dirty="0"/>
              <a:t>点，如图</a:t>
            </a:r>
            <a:endParaRPr lang="zh-CN" altLang="en-US" sz="2400"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3408153" y="3945024"/>
            <a:ext cx="3478128" cy="1121881"/>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275" y="9156"/>
            <a:ext cx="8804634" cy="492443"/>
          </a:xfrm>
          <a:prstGeom prst="rect">
            <a:avLst/>
          </a:prstGeom>
        </p:spPr>
        <p:txBody>
          <a:bodyPr wrap="square">
            <a:spAutoFit/>
          </a:bodyPr>
          <a:lstStyle/>
          <a:p>
            <a:r>
              <a:rPr lang="zh-CN" altLang="zh-CN" dirty="0"/>
              <a:t>从</a:t>
            </a:r>
            <a:r>
              <a:rPr lang="en-US" altLang="zh-CN" i="1" dirty="0"/>
              <a:t>s</a:t>
            </a:r>
            <a:r>
              <a:rPr lang="zh-CN" altLang="zh-CN" dirty="0"/>
              <a:t>处反向扩展，继续寻找连边向外扩展</a:t>
            </a:r>
            <a:r>
              <a:rPr lang="en-US" altLang="zh-CN" dirty="0"/>
              <a:t>……</a:t>
            </a:r>
            <a:r>
              <a:rPr lang="zh-CN" altLang="zh-CN" dirty="0"/>
              <a:t>如图</a:t>
            </a:r>
            <a:endParaRPr lang="zh-CN" altLang="en-US"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2274089" y="817005"/>
            <a:ext cx="3919321" cy="893960"/>
          </a:xfrm>
          <a:prstGeom prst="rect">
            <a:avLst/>
          </a:prstGeom>
          <a:noFill/>
          <a:ln>
            <a:noFill/>
          </a:ln>
        </p:spPr>
      </p:pic>
      <p:sp>
        <p:nvSpPr>
          <p:cNvPr id="4" name="矩形 3"/>
          <p:cNvSpPr/>
          <p:nvPr/>
        </p:nvSpPr>
        <p:spPr>
          <a:xfrm>
            <a:off x="56561" y="1880908"/>
            <a:ext cx="9030877" cy="892552"/>
          </a:xfrm>
          <a:prstGeom prst="rect">
            <a:avLst/>
          </a:prstGeom>
        </p:spPr>
        <p:txBody>
          <a:bodyPr wrap="square">
            <a:spAutoFit/>
          </a:bodyPr>
          <a:lstStyle/>
          <a:p>
            <a:r>
              <a:rPr lang="zh-CN" altLang="zh-CN" dirty="0"/>
              <a:t>程序具体实现时是倒置</a:t>
            </a:r>
            <a:r>
              <a:rPr lang="en-US" altLang="zh-CN" dirty="0" err="1"/>
              <a:t>ans</a:t>
            </a:r>
            <a:r>
              <a:rPr lang="en-US" altLang="zh-CN" dirty="0"/>
              <a:t>[]</a:t>
            </a:r>
            <a:r>
              <a:rPr lang="zh-CN" altLang="zh-CN" dirty="0"/>
              <a:t>中的所有元素，所以实际</a:t>
            </a:r>
            <a:r>
              <a:rPr lang="en-US" altLang="zh-CN" dirty="0" err="1"/>
              <a:t>ans</a:t>
            </a:r>
            <a:r>
              <a:rPr lang="en-US" altLang="zh-CN" dirty="0"/>
              <a:t>[]</a:t>
            </a:r>
            <a:r>
              <a:rPr lang="zh-CN" altLang="zh-CN" dirty="0"/>
              <a:t>的元素存储时，</a:t>
            </a:r>
            <a:r>
              <a:rPr lang="en-US" altLang="zh-CN" i="1" dirty="0"/>
              <a:t>s</a:t>
            </a:r>
            <a:r>
              <a:rPr lang="zh-CN" altLang="zh-CN" dirty="0"/>
              <a:t>和</a:t>
            </a:r>
            <a:r>
              <a:rPr lang="en-US" altLang="zh-CN" i="1" dirty="0"/>
              <a:t>t</a:t>
            </a:r>
            <a:r>
              <a:rPr lang="zh-CN" altLang="zh-CN" dirty="0"/>
              <a:t>的位置仍如图</a:t>
            </a:r>
            <a:endParaRPr lang="zh-CN" altLang="en-US" dirty="0"/>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a:xfrm>
            <a:off x="2128700" y="3292867"/>
            <a:ext cx="5087519" cy="968047"/>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35875"/>
            <a:ext cx="9026165" cy="1292662"/>
          </a:xfrm>
          <a:prstGeom prst="rect">
            <a:avLst/>
          </a:prstGeom>
        </p:spPr>
        <p:txBody>
          <a:bodyPr wrap="square">
            <a:spAutoFit/>
          </a:bodyPr>
          <a:lstStyle/>
          <a:p>
            <a:r>
              <a:rPr lang="zh-CN" altLang="zh-CN" dirty="0"/>
              <a:t>此时如果起始点</a:t>
            </a:r>
            <a:r>
              <a:rPr lang="en-US" altLang="zh-CN" i="1" dirty="0"/>
              <a:t>s</a:t>
            </a:r>
            <a:r>
              <a:rPr lang="zh-CN" altLang="zh-CN" dirty="0"/>
              <a:t>和终点</a:t>
            </a:r>
            <a:r>
              <a:rPr lang="en-US" altLang="zh-CN" i="1" dirty="0"/>
              <a:t>t</a:t>
            </a:r>
            <a:r>
              <a:rPr lang="zh-CN" altLang="zh-CN" dirty="0"/>
              <a:t>无法相连即形成回路，则调整</a:t>
            </a:r>
            <a:r>
              <a:rPr lang="en-US" altLang="zh-CN" dirty="0" err="1"/>
              <a:t>ans</a:t>
            </a:r>
            <a:r>
              <a:rPr lang="en-US" altLang="zh-CN" dirty="0"/>
              <a:t>[]</a:t>
            </a:r>
            <a:r>
              <a:rPr lang="zh-CN" altLang="zh-CN" dirty="0"/>
              <a:t>中的元素。调整方法是在</a:t>
            </a:r>
            <a:r>
              <a:rPr lang="en-US" altLang="zh-CN" dirty="0" err="1"/>
              <a:t>ans</a:t>
            </a:r>
            <a:r>
              <a:rPr lang="en-US" altLang="zh-CN" dirty="0"/>
              <a:t>[]</a:t>
            </a:r>
            <a:r>
              <a:rPr lang="zh-CN" altLang="zh-CN" dirty="0"/>
              <a:t>中找到使得</a:t>
            </a:r>
            <a:r>
              <a:rPr lang="en-US" altLang="zh-CN" dirty="0" err="1"/>
              <a:t>ans</a:t>
            </a:r>
            <a:r>
              <a:rPr lang="en-US" altLang="zh-CN" dirty="0"/>
              <a:t>[</a:t>
            </a:r>
            <a:r>
              <a:rPr lang="en-US" altLang="zh-CN" i="1" dirty="0" err="1"/>
              <a:t>i</a:t>
            </a:r>
            <a:r>
              <a:rPr lang="en-US" altLang="zh-CN" dirty="0"/>
              <a:t>]</a:t>
            </a:r>
            <a:r>
              <a:rPr lang="zh-CN" altLang="zh-CN" dirty="0"/>
              <a:t>与</a:t>
            </a:r>
            <a:r>
              <a:rPr lang="en-US" altLang="zh-CN" i="1" dirty="0"/>
              <a:t>t</a:t>
            </a:r>
            <a:r>
              <a:rPr lang="zh-CN" altLang="zh-CN" dirty="0"/>
              <a:t>相连，</a:t>
            </a:r>
            <a:r>
              <a:rPr lang="en-US" altLang="zh-CN" dirty="0" err="1"/>
              <a:t>ans</a:t>
            </a:r>
            <a:r>
              <a:rPr lang="en-US" altLang="zh-CN" dirty="0"/>
              <a:t>[</a:t>
            </a:r>
            <a:r>
              <a:rPr lang="en-US" altLang="zh-CN" i="1" dirty="0" err="1"/>
              <a:t>i</a:t>
            </a:r>
            <a:r>
              <a:rPr lang="zh-CN" altLang="zh-CN" dirty="0"/>
              <a:t>＋</a:t>
            </a:r>
            <a:r>
              <a:rPr lang="en-US" altLang="zh-CN" dirty="0"/>
              <a:t>1]</a:t>
            </a:r>
            <a:r>
              <a:rPr lang="zh-CN" altLang="zh-CN" dirty="0"/>
              <a:t>与</a:t>
            </a:r>
            <a:r>
              <a:rPr lang="en-US" altLang="zh-CN" dirty="0"/>
              <a:t>s</a:t>
            </a:r>
            <a:r>
              <a:rPr lang="zh-CN" altLang="zh-CN" dirty="0"/>
              <a:t>相连的点</a:t>
            </a:r>
            <a:r>
              <a:rPr lang="en-US" altLang="zh-CN" i="1" dirty="0" err="1"/>
              <a:t>i</a:t>
            </a:r>
            <a:r>
              <a:rPr lang="zh-CN" altLang="zh-CN" dirty="0"/>
              <a:t>如图</a:t>
            </a:r>
            <a:endParaRPr lang="zh-CN" altLang="en-US"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1697864" y="1446225"/>
            <a:ext cx="5490073" cy="1292262"/>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1846" y="136949"/>
            <a:ext cx="9092153" cy="892552"/>
          </a:xfrm>
          <a:prstGeom prst="rect">
            <a:avLst/>
          </a:prstGeom>
        </p:spPr>
        <p:txBody>
          <a:bodyPr wrap="square">
            <a:spAutoFit/>
          </a:bodyPr>
          <a:lstStyle/>
          <a:p>
            <a:r>
              <a:rPr lang="zh-CN" altLang="zh-CN" dirty="0"/>
              <a:t>将</a:t>
            </a:r>
            <a:r>
              <a:rPr lang="en-US" altLang="zh-CN" dirty="0" err="1"/>
              <a:t>ans</a:t>
            </a:r>
            <a:r>
              <a:rPr lang="en-US" altLang="zh-CN" dirty="0"/>
              <a:t>[</a:t>
            </a:r>
            <a:r>
              <a:rPr lang="en-US" altLang="zh-CN" i="1" dirty="0" err="1"/>
              <a:t>i</a:t>
            </a:r>
            <a:r>
              <a:rPr lang="zh-CN" altLang="zh-CN" dirty="0"/>
              <a:t>＋</a:t>
            </a:r>
            <a:r>
              <a:rPr lang="en-US" altLang="zh-CN" dirty="0"/>
              <a:t>1]</a:t>
            </a:r>
            <a:r>
              <a:rPr lang="zh-CN" altLang="zh-CN" dirty="0"/>
              <a:t>到</a:t>
            </a:r>
            <a:r>
              <a:rPr lang="en-US" altLang="zh-CN" i="1" dirty="0"/>
              <a:t>t</a:t>
            </a:r>
            <a:r>
              <a:rPr lang="zh-CN" altLang="zh-CN" dirty="0"/>
              <a:t>部分的元素倒置如图</a:t>
            </a:r>
            <a:r>
              <a:rPr lang="en-US" altLang="zh-CN" dirty="0"/>
              <a:t>5.94</a:t>
            </a:r>
            <a:r>
              <a:rPr lang="zh-CN" altLang="zh-CN" dirty="0"/>
              <a:t>所示，显然此时</a:t>
            </a:r>
            <a:r>
              <a:rPr lang="en-US" altLang="zh-CN" dirty="0" err="1"/>
              <a:t>ans</a:t>
            </a:r>
            <a:r>
              <a:rPr lang="en-US" altLang="zh-CN" dirty="0"/>
              <a:t>[]</a:t>
            </a:r>
            <a:r>
              <a:rPr lang="zh-CN" altLang="zh-CN" dirty="0"/>
              <a:t>内的所有元素已经形成了一个回路。</a:t>
            </a:r>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1618202" y="1884457"/>
            <a:ext cx="5866680" cy="1084986"/>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5502"/>
            <a:ext cx="9087439" cy="1292662"/>
          </a:xfrm>
          <a:prstGeom prst="rect">
            <a:avLst/>
          </a:prstGeom>
        </p:spPr>
        <p:txBody>
          <a:bodyPr wrap="square">
            <a:spAutoFit/>
          </a:bodyPr>
          <a:lstStyle/>
          <a:p>
            <a:r>
              <a:rPr lang="zh-CN" altLang="zh-CN" dirty="0"/>
              <a:t>此时若</a:t>
            </a:r>
            <a:r>
              <a:rPr lang="en-US" altLang="zh-CN" dirty="0" err="1"/>
              <a:t>ans</a:t>
            </a:r>
            <a:r>
              <a:rPr lang="en-US" altLang="zh-CN" dirty="0"/>
              <a:t>[]</a:t>
            </a:r>
            <a:r>
              <a:rPr lang="zh-CN" altLang="zh-CN" dirty="0"/>
              <a:t>的元素个数等于</a:t>
            </a:r>
            <a:r>
              <a:rPr lang="en-US" altLang="zh-CN" i="1" dirty="0"/>
              <a:t>n</a:t>
            </a:r>
            <a:r>
              <a:rPr lang="zh-CN" altLang="zh-CN" dirty="0"/>
              <a:t>，则算法结束，否则需要继续添加元素到</a:t>
            </a:r>
            <a:r>
              <a:rPr lang="en-US" altLang="zh-CN" dirty="0" err="1"/>
              <a:t>ans</a:t>
            </a:r>
            <a:r>
              <a:rPr lang="en-US" altLang="zh-CN" dirty="0"/>
              <a:t>[]</a:t>
            </a:r>
            <a:r>
              <a:rPr lang="zh-CN" altLang="zh-CN" dirty="0"/>
              <a:t>的环里，解决方法是遍历</a:t>
            </a:r>
            <a:r>
              <a:rPr lang="en-US" altLang="zh-CN" dirty="0" err="1"/>
              <a:t>ans</a:t>
            </a:r>
            <a:r>
              <a:rPr lang="en-US" altLang="zh-CN" dirty="0"/>
              <a:t>[]</a:t>
            </a:r>
            <a:r>
              <a:rPr lang="zh-CN" altLang="zh-CN" dirty="0"/>
              <a:t>，寻找点</a:t>
            </a:r>
            <a:r>
              <a:rPr lang="en-US" altLang="zh-CN" dirty="0" err="1"/>
              <a:t>ans</a:t>
            </a:r>
            <a:r>
              <a:rPr lang="en-US" altLang="zh-CN" dirty="0"/>
              <a:t>[</a:t>
            </a:r>
            <a:r>
              <a:rPr lang="en-US" altLang="zh-CN" i="1" dirty="0" err="1"/>
              <a:t>i</a:t>
            </a:r>
            <a:r>
              <a:rPr lang="en-US" altLang="zh-CN" dirty="0"/>
              <a:t>]</a:t>
            </a:r>
            <a:r>
              <a:rPr lang="zh-CN" altLang="zh-CN" dirty="0"/>
              <a:t>，使得</a:t>
            </a:r>
            <a:r>
              <a:rPr lang="en-US" altLang="zh-CN" dirty="0" err="1"/>
              <a:t>ans</a:t>
            </a:r>
            <a:r>
              <a:rPr lang="en-US" altLang="zh-CN" dirty="0"/>
              <a:t>[</a:t>
            </a:r>
            <a:r>
              <a:rPr lang="en-US" altLang="zh-CN" i="1" dirty="0" err="1"/>
              <a:t>i</a:t>
            </a:r>
            <a:r>
              <a:rPr lang="en-US" altLang="zh-CN" dirty="0"/>
              <a:t>]</a:t>
            </a:r>
            <a:r>
              <a:rPr lang="zh-CN" altLang="zh-CN" dirty="0"/>
              <a:t>与</a:t>
            </a:r>
            <a:r>
              <a:rPr lang="en-US" altLang="zh-CN" dirty="0" err="1"/>
              <a:t>ans</a:t>
            </a:r>
            <a:r>
              <a:rPr lang="en-US" altLang="zh-CN" dirty="0"/>
              <a:t>[]</a:t>
            </a:r>
            <a:r>
              <a:rPr lang="zh-CN" altLang="zh-CN" dirty="0"/>
              <a:t>外的点</a:t>
            </a:r>
            <a:r>
              <a:rPr lang="en-US" altLang="zh-CN" i="1" dirty="0"/>
              <a:t>j</a:t>
            </a:r>
            <a:r>
              <a:rPr lang="zh-CN" altLang="zh-CN" dirty="0"/>
              <a:t>相连，如图</a:t>
            </a:r>
            <a:endParaRPr lang="zh-CN" altLang="en-US"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1603391" y="1762881"/>
            <a:ext cx="5980473" cy="1296117"/>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0127" y="42150"/>
            <a:ext cx="9021451" cy="492443"/>
          </a:xfrm>
          <a:prstGeom prst="rect">
            <a:avLst/>
          </a:prstGeom>
        </p:spPr>
        <p:txBody>
          <a:bodyPr wrap="square">
            <a:spAutoFit/>
          </a:bodyPr>
          <a:lstStyle/>
          <a:p>
            <a:r>
              <a:rPr lang="zh-CN" altLang="zh-CN" dirty="0"/>
              <a:t>断开</a:t>
            </a:r>
            <a:r>
              <a:rPr lang="en-US" altLang="zh-CN" dirty="0" err="1"/>
              <a:t>ans</a:t>
            </a:r>
            <a:r>
              <a:rPr lang="en-US" altLang="zh-CN" dirty="0"/>
              <a:t>[</a:t>
            </a:r>
            <a:r>
              <a:rPr lang="en-US" altLang="zh-CN" i="1" dirty="0" err="1"/>
              <a:t>i</a:t>
            </a:r>
            <a:r>
              <a:rPr lang="zh-CN" altLang="zh-CN" dirty="0"/>
              <a:t>－</a:t>
            </a:r>
            <a:r>
              <a:rPr lang="en-US" altLang="zh-CN" dirty="0"/>
              <a:t>1]</a:t>
            </a:r>
            <a:r>
              <a:rPr lang="zh-CN" altLang="zh-CN" dirty="0"/>
              <a:t>与</a:t>
            </a:r>
            <a:r>
              <a:rPr lang="en-US" altLang="zh-CN" dirty="0" err="1"/>
              <a:t>ans</a:t>
            </a:r>
            <a:r>
              <a:rPr lang="en-US" altLang="zh-CN" dirty="0"/>
              <a:t>[</a:t>
            </a:r>
            <a:r>
              <a:rPr lang="en-US" altLang="zh-CN" i="1" dirty="0" err="1"/>
              <a:t>i</a:t>
            </a:r>
            <a:r>
              <a:rPr lang="en-US" altLang="zh-CN" dirty="0"/>
              <a:t>]</a:t>
            </a:r>
            <a:r>
              <a:rPr lang="zh-CN" altLang="zh-CN" dirty="0"/>
              <a:t>的连线，则</a:t>
            </a:r>
            <a:r>
              <a:rPr lang="en-US" altLang="zh-CN" dirty="0" err="1"/>
              <a:t>ans</a:t>
            </a:r>
            <a:r>
              <a:rPr lang="en-US" altLang="zh-CN" dirty="0"/>
              <a:t>[]</a:t>
            </a:r>
            <a:r>
              <a:rPr lang="zh-CN" altLang="zh-CN" dirty="0"/>
              <a:t>分为两部分如图</a:t>
            </a:r>
            <a:endParaRPr lang="zh-CN" altLang="en-US"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1945030" y="1458437"/>
            <a:ext cx="5389023" cy="1430877"/>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8409" y="75144"/>
            <a:ext cx="8776354" cy="492443"/>
          </a:xfrm>
          <a:prstGeom prst="rect">
            <a:avLst/>
          </a:prstGeom>
        </p:spPr>
        <p:txBody>
          <a:bodyPr wrap="square">
            <a:spAutoFit/>
          </a:bodyPr>
          <a:lstStyle/>
          <a:p>
            <a:r>
              <a:rPr lang="zh-CN" altLang="zh-CN" dirty="0"/>
              <a:t>将这两部分倒置后再相连后即形成新的回路如图</a:t>
            </a:r>
            <a:endParaRPr lang="zh-CN" altLang="en-US"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1086985" y="1001538"/>
            <a:ext cx="6595860" cy="1374015"/>
          </a:xfrm>
          <a:prstGeom prst="rect">
            <a:avLst/>
          </a:prstGeom>
          <a:noFill/>
          <a:ln>
            <a:noFill/>
          </a:ln>
        </p:spPr>
      </p:pic>
      <p:sp>
        <p:nvSpPr>
          <p:cNvPr id="4" name="矩形 3"/>
          <p:cNvSpPr/>
          <p:nvPr/>
        </p:nvSpPr>
        <p:spPr>
          <a:xfrm>
            <a:off x="282805" y="3311159"/>
            <a:ext cx="8634952" cy="892552"/>
          </a:xfrm>
          <a:prstGeom prst="rect">
            <a:avLst/>
          </a:prstGeom>
        </p:spPr>
        <p:txBody>
          <a:bodyPr wrap="square">
            <a:spAutoFit/>
          </a:bodyPr>
          <a:lstStyle/>
          <a:p>
            <a:r>
              <a:rPr lang="zh-CN" altLang="zh-CN" dirty="0"/>
              <a:t>如果</a:t>
            </a:r>
            <a:r>
              <a:rPr lang="en-US" altLang="zh-CN" dirty="0" err="1"/>
              <a:t>ans</a:t>
            </a:r>
            <a:r>
              <a:rPr lang="en-US" altLang="zh-CN" dirty="0"/>
              <a:t>[]</a:t>
            </a:r>
            <a:r>
              <a:rPr lang="zh-CN" altLang="zh-CN" dirty="0"/>
              <a:t>内的元素不等于</a:t>
            </a:r>
            <a:r>
              <a:rPr lang="en-US" altLang="zh-CN" i="1" dirty="0"/>
              <a:t>n</a:t>
            </a:r>
            <a:r>
              <a:rPr lang="zh-CN" altLang="zh-CN" dirty="0"/>
              <a:t>，则按之前的方法继续从</a:t>
            </a:r>
            <a:r>
              <a:rPr lang="en-US" altLang="zh-CN" i="1" dirty="0"/>
              <a:t>t</a:t>
            </a:r>
            <a:r>
              <a:rPr lang="zh-CN" altLang="zh-CN" dirty="0"/>
              <a:t>点扩展操作即可。</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34815"/>
            <a:ext cx="2611612" cy="492443"/>
          </a:xfrm>
          <a:prstGeom prst="rect">
            <a:avLst/>
          </a:prstGeom>
        </p:spPr>
        <p:txBody>
          <a:bodyPr wrap="none">
            <a:spAutoFit/>
          </a:bodyPr>
          <a:lstStyle/>
          <a:p>
            <a:r>
              <a:rPr lang="en-US" altLang="zh-CN" b="1" dirty="0"/>
              <a:t>5.8.1 </a:t>
            </a:r>
            <a:r>
              <a:rPr lang="zh-CN" altLang="zh-CN" b="1" dirty="0"/>
              <a:t>最大团问题</a:t>
            </a:r>
          </a:p>
        </p:txBody>
      </p:sp>
      <p:sp>
        <p:nvSpPr>
          <p:cNvPr id="3" name="矩形 2"/>
          <p:cNvSpPr/>
          <p:nvPr/>
        </p:nvSpPr>
        <p:spPr>
          <a:xfrm>
            <a:off x="117834" y="534853"/>
            <a:ext cx="8931897" cy="1200329"/>
          </a:xfrm>
          <a:prstGeom prst="rect">
            <a:avLst/>
          </a:prstGeom>
        </p:spPr>
        <p:txBody>
          <a:bodyPr wrap="square">
            <a:spAutoFit/>
          </a:bodyPr>
          <a:lstStyle/>
          <a:p>
            <a:r>
              <a:rPr lang="zh-CN" altLang="zh-CN" sz="2400" dirty="0"/>
              <a:t>对于图</a:t>
            </a:r>
            <a:r>
              <a:rPr lang="en-US" altLang="zh-CN" sz="2400" dirty="0"/>
              <a:t>G(V</a:t>
            </a:r>
            <a:r>
              <a:rPr lang="zh-CN" altLang="zh-CN" sz="2400" dirty="0"/>
              <a:t>，</a:t>
            </a:r>
            <a:r>
              <a:rPr lang="en-US" altLang="zh-CN" sz="2400" dirty="0"/>
              <a:t>E)</a:t>
            </a:r>
            <a:r>
              <a:rPr lang="zh-CN" altLang="zh-CN" sz="2400" dirty="0"/>
              <a:t>，从中选出</a:t>
            </a:r>
            <a:r>
              <a:rPr lang="en-US" altLang="zh-CN" sz="2400" i="1" dirty="0"/>
              <a:t>k</a:t>
            </a:r>
            <a:r>
              <a:rPr lang="zh-CN" altLang="zh-CN" sz="2400" dirty="0"/>
              <a:t>个顶点构成一个完全图（所有结点之间均有连线），在所有集合中含结点数最多的集合即为无向图的最大团。</a:t>
            </a:r>
            <a:endParaRPr lang="zh-CN" altLang="en-US" sz="2400" dirty="0"/>
          </a:p>
        </p:txBody>
      </p:sp>
      <p:pic>
        <p:nvPicPr>
          <p:cNvPr id="4" name="图片 3"/>
          <p:cNvPicPr/>
          <p:nvPr/>
        </p:nvPicPr>
        <p:blipFill>
          <a:blip r:embed="rId2">
            <a:extLst>
              <a:ext uri="{28A0092B-C50C-407E-A947-70E740481C1C}">
                <a14:useLocalDpi xmlns:a14="http://schemas.microsoft.com/office/drawing/2010/main" val="0"/>
              </a:ext>
            </a:extLst>
          </a:blip>
          <a:srcRect/>
          <a:stretch>
            <a:fillRect/>
          </a:stretch>
        </p:blipFill>
        <p:spPr>
          <a:xfrm>
            <a:off x="3343222" y="1407349"/>
            <a:ext cx="1869801" cy="1265150"/>
          </a:xfrm>
          <a:prstGeom prst="rect">
            <a:avLst/>
          </a:prstGeom>
          <a:noFill/>
          <a:ln>
            <a:noFill/>
          </a:ln>
        </p:spPr>
      </p:pic>
      <p:sp>
        <p:nvSpPr>
          <p:cNvPr id="5" name="矩形 4"/>
          <p:cNvSpPr/>
          <p:nvPr/>
        </p:nvSpPr>
        <p:spPr>
          <a:xfrm>
            <a:off x="117833" y="2825679"/>
            <a:ext cx="8931897" cy="892552"/>
          </a:xfrm>
          <a:prstGeom prst="rect">
            <a:avLst/>
          </a:prstGeom>
        </p:spPr>
        <p:txBody>
          <a:bodyPr wrap="square">
            <a:spAutoFit/>
          </a:bodyPr>
          <a:lstStyle/>
          <a:p>
            <a:r>
              <a:rPr lang="zh-CN" altLang="zh-CN" dirty="0"/>
              <a:t>其部分完全子图如图所示，其最大团为图中的</a:t>
            </a:r>
            <a:r>
              <a:rPr lang="en-US" altLang="zh-CN" i="1" dirty="0"/>
              <a:t>d</a:t>
            </a:r>
            <a:r>
              <a:rPr lang="zh-CN" altLang="zh-CN" dirty="0"/>
              <a:t>，因为它包含有最多的结点。</a:t>
            </a:r>
          </a:p>
        </p:txBody>
      </p:sp>
      <p:pic>
        <p:nvPicPr>
          <p:cNvPr id="6" name="图片 5"/>
          <p:cNvPicPr/>
          <p:nvPr/>
        </p:nvPicPr>
        <p:blipFill>
          <a:blip r:embed="rId3">
            <a:extLst>
              <a:ext uri="{28A0092B-C50C-407E-A947-70E740481C1C}">
                <a14:useLocalDpi xmlns:a14="http://schemas.microsoft.com/office/drawing/2010/main" val="0"/>
              </a:ext>
            </a:extLst>
          </a:blip>
          <a:srcRect/>
          <a:stretch>
            <a:fillRect/>
          </a:stretch>
        </p:blipFill>
        <p:spPr>
          <a:xfrm>
            <a:off x="2224977" y="3777231"/>
            <a:ext cx="4666017" cy="1190695"/>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9144000" cy="1569660"/>
          </a:xfrm>
          <a:prstGeom prst="rect">
            <a:avLst/>
          </a:prstGeom>
        </p:spPr>
        <p:txBody>
          <a:bodyPr wrap="square">
            <a:spAutoFit/>
          </a:bodyPr>
          <a:lstStyle/>
          <a:p>
            <a:r>
              <a:rPr lang="zh-CN" altLang="zh-CN" sz="2400" dirty="0"/>
              <a:t>【题目描述】黑白涂色（</a:t>
            </a:r>
            <a:r>
              <a:rPr lang="en-US" altLang="zh-CN" sz="2400" dirty="0"/>
              <a:t>color</a:t>
            </a:r>
            <a:r>
              <a:rPr lang="zh-CN" altLang="zh-CN" sz="2400" dirty="0"/>
              <a:t>）</a:t>
            </a:r>
            <a:r>
              <a:rPr lang="en-US" altLang="zh-CN" sz="2400" dirty="0"/>
              <a:t>POJ 1419</a:t>
            </a:r>
            <a:endParaRPr lang="zh-CN" altLang="zh-CN" sz="2400" dirty="0"/>
          </a:p>
          <a:p>
            <a:r>
              <a:rPr lang="zh-CN" altLang="zh-CN" sz="2400" dirty="0"/>
              <a:t>给一个图上色，要求相邻的结点不能够涂上同样的颜色，一共只有黑色和白色两种颜色，问最多能涂多少黑色结点。例如图中最多能够涂</a:t>
            </a:r>
            <a:r>
              <a:rPr lang="en-US" altLang="zh-CN" sz="2400" dirty="0"/>
              <a:t>3</a:t>
            </a:r>
            <a:r>
              <a:rPr lang="zh-CN" altLang="zh-CN" sz="2400" dirty="0"/>
              <a:t>个黑色结点。</a:t>
            </a:r>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3130654" y="1360402"/>
            <a:ext cx="2275617" cy="1505346"/>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140" y="27816"/>
            <a:ext cx="9129860" cy="1692771"/>
          </a:xfrm>
          <a:prstGeom prst="rect">
            <a:avLst/>
          </a:prstGeom>
        </p:spPr>
        <p:txBody>
          <a:bodyPr wrap="square">
            <a:spAutoFit/>
          </a:bodyPr>
          <a:lstStyle/>
          <a:p>
            <a:r>
              <a:rPr lang="zh-CN" altLang="zh-CN" dirty="0"/>
              <a:t>进一步分析可以发现本题是求解无向图的最大独立集。首先介绍如下定理：</a:t>
            </a:r>
          </a:p>
          <a:p>
            <a:r>
              <a:rPr lang="zh-CN" altLang="zh-CN" dirty="0"/>
              <a:t>（</a:t>
            </a:r>
            <a:r>
              <a:rPr lang="en-US" altLang="zh-CN" dirty="0"/>
              <a:t>1</a:t>
            </a:r>
            <a:r>
              <a:rPr lang="zh-CN" altLang="zh-CN" dirty="0"/>
              <a:t>）最大独立集＝补图的最大团</a:t>
            </a:r>
          </a:p>
          <a:p>
            <a:r>
              <a:rPr lang="zh-CN" altLang="zh-CN" dirty="0"/>
              <a:t>（</a:t>
            </a:r>
            <a:r>
              <a:rPr lang="en-US" altLang="zh-CN" dirty="0"/>
              <a:t>2</a:t>
            </a:r>
            <a:r>
              <a:rPr lang="zh-CN" altLang="zh-CN" dirty="0"/>
              <a:t>）最大团＝补图的最大独立集</a:t>
            </a:r>
          </a:p>
        </p:txBody>
      </p:sp>
      <p:sp>
        <p:nvSpPr>
          <p:cNvPr id="3" name="矩形 2"/>
          <p:cNvSpPr/>
          <p:nvPr/>
        </p:nvSpPr>
        <p:spPr>
          <a:xfrm>
            <a:off x="0" y="2162148"/>
            <a:ext cx="9144000" cy="1692771"/>
          </a:xfrm>
          <a:prstGeom prst="rect">
            <a:avLst/>
          </a:prstGeom>
        </p:spPr>
        <p:txBody>
          <a:bodyPr wrap="square">
            <a:spAutoFit/>
          </a:bodyPr>
          <a:lstStyle/>
          <a:p>
            <a:r>
              <a:rPr lang="zh-CN" altLang="zh-CN" dirty="0"/>
              <a:t>本题可以先将原图转为补图，再用最大团算法求解即可。其算法过程是使用</a:t>
            </a:r>
            <a:r>
              <a:rPr lang="en-US" altLang="zh-CN" dirty="0"/>
              <a:t>DFS</a:t>
            </a:r>
            <a:r>
              <a:rPr lang="zh-CN" altLang="zh-CN" dirty="0"/>
              <a:t>深度优先搜索每一个结点，发现该结点和已经加入最大团集合的每一个结点有边即将该结点加入最大团集合。</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822"/>
            <a:ext cx="3611886" cy="492443"/>
          </a:xfrm>
          <a:prstGeom prst="rect">
            <a:avLst/>
          </a:prstGeom>
        </p:spPr>
        <p:txBody>
          <a:bodyPr wrap="none">
            <a:spAutoFit/>
          </a:bodyPr>
          <a:lstStyle/>
          <a:p>
            <a:r>
              <a:rPr lang="en-US" altLang="zh-CN" b="1" dirty="0"/>
              <a:t>5.8.2 </a:t>
            </a:r>
            <a:r>
              <a:rPr lang="zh-CN" altLang="zh-CN" b="1" dirty="0"/>
              <a:t>无向图的割顶和桥</a:t>
            </a:r>
          </a:p>
        </p:txBody>
      </p:sp>
      <p:sp>
        <p:nvSpPr>
          <p:cNvPr id="3" name="矩形 2"/>
          <p:cNvSpPr/>
          <p:nvPr/>
        </p:nvSpPr>
        <p:spPr>
          <a:xfrm>
            <a:off x="0" y="435481"/>
            <a:ext cx="9144000" cy="2092881"/>
          </a:xfrm>
          <a:prstGeom prst="rect">
            <a:avLst/>
          </a:prstGeom>
        </p:spPr>
        <p:txBody>
          <a:bodyPr wrap="square">
            <a:spAutoFit/>
          </a:bodyPr>
          <a:lstStyle/>
          <a:p>
            <a:r>
              <a:rPr lang="zh-CN" altLang="zh-CN" dirty="0"/>
              <a:t>对于无向图</a:t>
            </a:r>
            <a:r>
              <a:rPr lang="en-US" altLang="zh-CN" dirty="0"/>
              <a:t>G</a:t>
            </a:r>
            <a:r>
              <a:rPr lang="zh-CN" altLang="zh-CN" dirty="0"/>
              <a:t>，如果删除某个点</a:t>
            </a:r>
            <a:r>
              <a:rPr lang="en-US" altLang="zh-CN" i="1" dirty="0"/>
              <a:t>u</a:t>
            </a:r>
            <a:r>
              <a:rPr lang="zh-CN" altLang="zh-CN" dirty="0"/>
              <a:t>后，连通分量的数目增加，则称</a:t>
            </a:r>
            <a:r>
              <a:rPr lang="en-US" altLang="zh-CN" i="1" dirty="0"/>
              <a:t>u</a:t>
            </a:r>
            <a:r>
              <a:rPr lang="zh-CN" altLang="zh-CN" dirty="0"/>
              <a:t>为图的关节点（</a:t>
            </a:r>
            <a:r>
              <a:rPr lang="en-US" altLang="zh-CN" dirty="0"/>
              <a:t>articulation vertex</a:t>
            </a:r>
            <a:r>
              <a:rPr lang="zh-CN" altLang="zh-CN" dirty="0"/>
              <a:t>）或割顶（</a:t>
            </a:r>
            <a:r>
              <a:rPr lang="en-US" altLang="zh-CN" dirty="0"/>
              <a:t>cut vertex</a:t>
            </a:r>
            <a:r>
              <a:rPr lang="zh-CN" altLang="zh-CN" dirty="0"/>
              <a:t>）。对于连通图来说，割顶就是删除之后使图不再连通的点。例如在图所示的连通图</a:t>
            </a:r>
            <a:r>
              <a:rPr lang="en-US" altLang="zh-CN" dirty="0"/>
              <a:t>G</a:t>
            </a:r>
            <a:r>
              <a:rPr lang="zh-CN" altLang="zh-CN" dirty="0"/>
              <a:t>中，结点</a:t>
            </a:r>
            <a:r>
              <a:rPr lang="en-US" altLang="zh-CN" dirty="0"/>
              <a:t>C</a:t>
            </a:r>
            <a:r>
              <a:rPr lang="zh-CN" altLang="zh-CN" dirty="0"/>
              <a:t>是割顶，因为删除</a:t>
            </a:r>
            <a:r>
              <a:rPr lang="en-US" altLang="zh-CN" dirty="0"/>
              <a:t>C</a:t>
            </a:r>
            <a:r>
              <a:rPr lang="zh-CN" altLang="zh-CN" dirty="0"/>
              <a:t>结点后，图</a:t>
            </a:r>
            <a:r>
              <a:rPr lang="en-US" altLang="zh-CN" dirty="0"/>
              <a:t>G</a:t>
            </a:r>
            <a:r>
              <a:rPr lang="zh-CN" altLang="zh-CN" dirty="0"/>
              <a:t>不再连通。</a:t>
            </a:r>
          </a:p>
        </p:txBody>
      </p:sp>
      <p:pic>
        <p:nvPicPr>
          <p:cNvPr id="4" name="图片 3"/>
          <p:cNvPicPr/>
          <p:nvPr/>
        </p:nvPicPr>
        <p:blipFill>
          <a:blip r:embed="rId2">
            <a:extLst>
              <a:ext uri="{28A0092B-C50C-407E-A947-70E740481C1C}">
                <a14:useLocalDpi xmlns:a14="http://schemas.microsoft.com/office/drawing/2010/main" val="0"/>
              </a:ext>
            </a:extLst>
          </a:blip>
          <a:srcRect/>
          <a:stretch>
            <a:fillRect/>
          </a:stretch>
        </p:blipFill>
        <p:spPr>
          <a:xfrm>
            <a:off x="2636337" y="2867475"/>
            <a:ext cx="3029172" cy="1836499"/>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274" y="261642"/>
            <a:ext cx="9016738" cy="4216539"/>
          </a:xfrm>
          <a:prstGeom prst="rect">
            <a:avLst/>
          </a:prstGeom>
        </p:spPr>
        <p:txBody>
          <a:bodyPr wrap="square">
            <a:spAutoFit/>
          </a:bodyPr>
          <a:lstStyle/>
          <a:p>
            <a:r>
              <a:rPr lang="zh-CN" altLang="zh-CN" sz="2400" dirty="0"/>
              <a:t>【题目描述】通信网络（</a:t>
            </a:r>
            <a:r>
              <a:rPr lang="en-US" altLang="zh-CN" sz="2400" dirty="0"/>
              <a:t>Network</a:t>
            </a:r>
            <a:r>
              <a:rPr lang="zh-CN" altLang="zh-CN" sz="2400" dirty="0"/>
              <a:t>） </a:t>
            </a:r>
            <a:r>
              <a:rPr lang="en-US" altLang="zh-CN" sz="2400" dirty="0"/>
              <a:t>POJ 1144</a:t>
            </a:r>
            <a:endParaRPr lang="zh-CN" altLang="zh-CN" sz="2400" dirty="0"/>
          </a:p>
          <a:p>
            <a:r>
              <a:rPr lang="zh-CN" altLang="zh-CN" sz="2400" dirty="0"/>
              <a:t>电信公司正在建设一个新的通信网络，网络连通的地区以整数</a:t>
            </a:r>
            <a:r>
              <a:rPr lang="en-US" altLang="zh-CN" sz="2400" dirty="0"/>
              <a:t>1~</a:t>
            </a:r>
            <a:r>
              <a:rPr lang="en-US" altLang="zh-CN" sz="2400" i="1" dirty="0"/>
              <a:t>N</a:t>
            </a:r>
            <a:r>
              <a:rPr lang="zh-CN" altLang="zh-CN" sz="2400" dirty="0"/>
              <a:t>代表，如果有的地区的连接结点出现问题，会导致整个网络无法完全连通，这种结点称为危险结点。请找出所有的危险结点。</a:t>
            </a:r>
          </a:p>
          <a:p>
            <a:r>
              <a:rPr lang="zh-CN" altLang="zh-CN" sz="2400" dirty="0"/>
              <a:t>【输入格式】</a:t>
            </a:r>
          </a:p>
          <a:p>
            <a:r>
              <a:rPr lang="zh-CN" altLang="zh-CN" sz="2400" dirty="0"/>
              <a:t>输入包括多组数据，每一组数据描述一个网络，每组数据的第一行是地区数</a:t>
            </a:r>
            <a:r>
              <a:rPr lang="en-US" altLang="zh-CN" sz="2400" i="1" dirty="0"/>
              <a:t>N</a:t>
            </a:r>
            <a:r>
              <a:rPr lang="zh-CN" altLang="zh-CN" sz="2400" dirty="0"/>
              <a:t>（</a:t>
            </a:r>
            <a:r>
              <a:rPr lang="en-US" altLang="zh-CN" sz="2400" i="1" dirty="0"/>
              <a:t>N</a:t>
            </a:r>
            <a:r>
              <a:rPr lang="zh-CN" altLang="zh-CN" sz="2400" dirty="0"/>
              <a:t>＜</a:t>
            </a:r>
            <a:r>
              <a:rPr lang="en-US" altLang="zh-CN" sz="2400" dirty="0"/>
              <a:t>100</a:t>
            </a:r>
            <a:r>
              <a:rPr lang="zh-CN" altLang="zh-CN" sz="2400" dirty="0"/>
              <a:t>），随后最多</a:t>
            </a:r>
            <a:r>
              <a:rPr lang="en-US" altLang="zh-CN" sz="2400" i="1" dirty="0"/>
              <a:t>N</a:t>
            </a:r>
            <a:r>
              <a:rPr lang="zh-CN" altLang="zh-CN" sz="2400" dirty="0"/>
              <a:t>行表示各地区的连接情况，每行包括一个数字表示一个地区标号及与它相连接的地区标号，最后以</a:t>
            </a:r>
            <a:r>
              <a:rPr lang="en-US" altLang="zh-CN" sz="2400" dirty="0"/>
              <a:t>0</a:t>
            </a:r>
            <a:r>
              <a:rPr lang="zh-CN" altLang="zh-CN" sz="2400" dirty="0"/>
              <a:t>结束。当所有组数据描述完毕后，以</a:t>
            </a:r>
            <a:r>
              <a:rPr lang="en-US" altLang="zh-CN" sz="2400" dirty="0"/>
              <a:t>0</a:t>
            </a:r>
            <a:r>
              <a:rPr lang="zh-CN" altLang="zh-CN" sz="2400" dirty="0"/>
              <a:t>表示结束。</a:t>
            </a:r>
          </a:p>
          <a:p>
            <a:r>
              <a:rPr lang="zh-CN" altLang="zh-CN" sz="2400" dirty="0"/>
              <a:t>【输出格式】</a:t>
            </a:r>
          </a:p>
          <a:p>
            <a:r>
              <a:rPr lang="zh-CN" altLang="zh-CN" sz="2400" dirty="0"/>
              <a:t>输出每组数据的危险结点个数。</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7134" y="57880"/>
            <a:ext cx="9096866" cy="2092881"/>
          </a:xfrm>
          <a:prstGeom prst="rect">
            <a:avLst/>
          </a:prstGeom>
        </p:spPr>
        <p:txBody>
          <a:bodyPr wrap="square">
            <a:spAutoFit/>
          </a:bodyPr>
          <a:lstStyle/>
          <a:p>
            <a:r>
              <a:rPr lang="zh-CN" altLang="zh-CN" dirty="0"/>
              <a:t>首先讨论树根的情况，如果结点</a:t>
            </a:r>
            <a:r>
              <a:rPr lang="en-US" altLang="zh-CN" i="1" dirty="0"/>
              <a:t>u</a:t>
            </a:r>
            <a:r>
              <a:rPr lang="zh-CN" altLang="zh-CN" dirty="0"/>
              <a:t>为树根，显然当</a:t>
            </a:r>
            <a:r>
              <a:rPr lang="en-US" altLang="zh-CN" i="1" dirty="0"/>
              <a:t>u</a:t>
            </a:r>
            <a:r>
              <a:rPr lang="zh-CN" altLang="zh-CN" dirty="0"/>
              <a:t>有两个及以上的子树的时候，</a:t>
            </a:r>
            <a:r>
              <a:rPr lang="en-US" altLang="zh-CN" i="1" dirty="0"/>
              <a:t>u</a:t>
            </a:r>
            <a:r>
              <a:rPr lang="zh-CN" altLang="zh-CN" dirty="0"/>
              <a:t>才是割顶。因为如果去掉</a:t>
            </a:r>
            <a:r>
              <a:rPr lang="en-US" altLang="zh-CN" i="1" dirty="0"/>
              <a:t>u</a:t>
            </a:r>
            <a:r>
              <a:rPr lang="zh-CN" altLang="zh-CN" dirty="0"/>
              <a:t>点，它的子树就不能互相到达。</a:t>
            </a:r>
          </a:p>
          <a:p>
            <a:r>
              <a:rPr lang="zh-CN" altLang="zh-CN" dirty="0"/>
              <a:t>那么非树根的情况呢？我们首先需要了解</a:t>
            </a:r>
            <a:r>
              <a:rPr lang="en-US" altLang="zh-CN" dirty="0"/>
              <a:t>DFS</a:t>
            </a:r>
            <a:r>
              <a:rPr lang="zh-CN" altLang="zh-CN" dirty="0"/>
              <a:t>树的概念，以图为例。</a:t>
            </a:r>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3059106" y="2150761"/>
            <a:ext cx="3308700" cy="2237416"/>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3410"/>
            <a:ext cx="9144000" cy="1292662"/>
          </a:xfrm>
          <a:prstGeom prst="rect">
            <a:avLst/>
          </a:prstGeom>
        </p:spPr>
        <p:txBody>
          <a:bodyPr wrap="square">
            <a:spAutoFit/>
          </a:bodyPr>
          <a:lstStyle/>
          <a:p>
            <a:r>
              <a:rPr lang="zh-CN" altLang="zh-CN" dirty="0"/>
              <a:t>从点</a:t>
            </a:r>
            <a:r>
              <a:rPr lang="en-US" altLang="zh-CN" dirty="0"/>
              <a:t>1</a:t>
            </a:r>
            <a:r>
              <a:rPr lang="zh-CN" altLang="zh-CN" dirty="0"/>
              <a:t>开始</a:t>
            </a:r>
            <a:r>
              <a:rPr lang="en-US" altLang="zh-CN" dirty="0"/>
              <a:t>DFS</a:t>
            </a:r>
            <a:r>
              <a:rPr lang="zh-CN" altLang="zh-CN" dirty="0"/>
              <a:t>搜索整个图，对于每个点相邻的结点，按照结点编号从小到大搜索（也可以按其他顺序）。因此图（</a:t>
            </a:r>
            <a:r>
              <a:rPr lang="en-US" altLang="zh-CN" dirty="0"/>
              <a:t>a</a:t>
            </a:r>
            <a:r>
              <a:rPr lang="zh-CN" altLang="zh-CN" dirty="0"/>
              <a:t>）中的</a:t>
            </a:r>
            <a:r>
              <a:rPr lang="en-US" altLang="zh-CN" dirty="0"/>
              <a:t>DFS</a:t>
            </a:r>
            <a:r>
              <a:rPr lang="zh-CN" altLang="zh-CN" dirty="0"/>
              <a:t>搜索顺序（标记为时间戳）如图（</a:t>
            </a:r>
            <a:r>
              <a:rPr lang="en-US" altLang="zh-CN" dirty="0"/>
              <a:t>b</a:t>
            </a:r>
            <a:r>
              <a:rPr lang="zh-CN" altLang="zh-CN" dirty="0"/>
              <a:t>）所示。</a:t>
            </a:r>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1870913" y="1791459"/>
            <a:ext cx="5675244" cy="2521303"/>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95084"/>
            <a:ext cx="9101578" cy="2893100"/>
          </a:xfrm>
          <a:prstGeom prst="rect">
            <a:avLst/>
          </a:prstGeom>
        </p:spPr>
        <p:txBody>
          <a:bodyPr wrap="square">
            <a:spAutoFit/>
          </a:bodyPr>
          <a:lstStyle/>
          <a:p>
            <a:r>
              <a:rPr lang="zh-CN" altLang="zh-CN" dirty="0"/>
              <a:t>我们将图</a:t>
            </a:r>
            <a:r>
              <a:rPr lang="en-US" altLang="zh-CN" dirty="0"/>
              <a:t>b</a:t>
            </a:r>
            <a:r>
              <a:rPr lang="zh-CN" altLang="zh-CN" dirty="0"/>
              <a:t>）的连边称为树边（</a:t>
            </a:r>
            <a:r>
              <a:rPr lang="en-US" altLang="zh-CN" dirty="0"/>
              <a:t>tree edge</a:t>
            </a:r>
            <a:r>
              <a:rPr lang="zh-CN" altLang="zh-CN" dirty="0"/>
              <a:t>），并将搜索到每一个结点的时间（时间戳）存入数组</a:t>
            </a:r>
            <a:r>
              <a:rPr lang="en-US" altLang="zh-CN" dirty="0" err="1"/>
              <a:t>dfn</a:t>
            </a:r>
            <a:r>
              <a:rPr lang="en-US" altLang="zh-CN" dirty="0"/>
              <a:t>[]</a:t>
            </a:r>
            <a:r>
              <a:rPr lang="zh-CN" altLang="zh-CN" dirty="0"/>
              <a:t>中。树边可理解为在</a:t>
            </a:r>
            <a:r>
              <a:rPr lang="en-US" altLang="zh-CN" dirty="0"/>
              <a:t>DFS</a:t>
            </a:r>
            <a:r>
              <a:rPr lang="zh-CN" altLang="zh-CN" dirty="0"/>
              <a:t>过程中访问未访问结点时所经过的边，也称为父子边。</a:t>
            </a:r>
          </a:p>
          <a:p>
            <a:r>
              <a:rPr lang="zh-CN" altLang="zh-CN" dirty="0"/>
              <a:t>但是除树边外，还有一些边并没有被处理，例如结点</a:t>
            </a:r>
            <a:r>
              <a:rPr lang="en-US" altLang="zh-CN" dirty="0"/>
              <a:t>6</a:t>
            </a:r>
            <a:r>
              <a:rPr lang="zh-CN" altLang="zh-CN" dirty="0"/>
              <a:t>到结点</a:t>
            </a:r>
            <a:r>
              <a:rPr lang="en-US" altLang="zh-CN" dirty="0"/>
              <a:t>4</a:t>
            </a:r>
            <a:r>
              <a:rPr lang="zh-CN" altLang="zh-CN" dirty="0"/>
              <a:t>的边等，这些边我们称之为反向边（又称返祖边或反边）。在无向图中，除了树边之外，其他边都是反向边。反向边可理解为在</a:t>
            </a:r>
            <a:r>
              <a:rPr lang="en-US" altLang="zh-CN" dirty="0"/>
              <a:t>DFS</a:t>
            </a:r>
            <a:r>
              <a:rPr lang="zh-CN" altLang="zh-CN" dirty="0"/>
              <a:t>过程中遇到已访问结点时所经过的边。</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994" y="90370"/>
            <a:ext cx="9144000" cy="2677656"/>
          </a:xfrm>
          <a:prstGeom prst="rect">
            <a:avLst/>
          </a:prstGeom>
        </p:spPr>
        <p:txBody>
          <a:bodyPr wrap="square">
            <a:spAutoFit/>
          </a:bodyPr>
          <a:lstStyle/>
          <a:p>
            <a:r>
              <a:rPr lang="zh-CN" altLang="zh-CN" sz="2400" dirty="0"/>
              <a:t>如图虚线所示，图中的一些结点其实是可以不通过父结点的树边，而通过反向边连到它的祖先的。例如结点</a:t>
            </a:r>
            <a:r>
              <a:rPr lang="en-US" altLang="zh-CN" sz="2400" dirty="0"/>
              <a:t>6</a:t>
            </a:r>
            <a:r>
              <a:rPr lang="zh-CN" altLang="zh-CN" sz="2400" dirty="0"/>
              <a:t>不通过父结点</a:t>
            </a:r>
            <a:r>
              <a:rPr lang="en-US" altLang="zh-CN" sz="2400" dirty="0"/>
              <a:t>5</a:t>
            </a:r>
            <a:r>
              <a:rPr lang="zh-CN" altLang="zh-CN" sz="2400" dirty="0"/>
              <a:t>所能连回的最早祖先是结点</a:t>
            </a:r>
            <a:r>
              <a:rPr lang="en-US" altLang="zh-CN" sz="2400" dirty="0"/>
              <a:t>4</a:t>
            </a:r>
            <a:r>
              <a:rPr lang="zh-CN" altLang="zh-CN" sz="2400" dirty="0"/>
              <a:t>（显然删除了结点</a:t>
            </a:r>
            <a:r>
              <a:rPr lang="en-US" altLang="zh-CN" sz="2400" dirty="0"/>
              <a:t>5</a:t>
            </a:r>
            <a:r>
              <a:rPr lang="zh-CN" altLang="zh-CN" sz="2400" dirty="0"/>
              <a:t>，结点</a:t>
            </a:r>
            <a:r>
              <a:rPr lang="en-US" altLang="zh-CN" sz="2400" dirty="0"/>
              <a:t>6</a:t>
            </a:r>
            <a:r>
              <a:rPr lang="zh-CN" altLang="zh-CN" sz="2400" dirty="0"/>
              <a:t>也能通过反边与其他结点连通，所以结点</a:t>
            </a:r>
            <a:r>
              <a:rPr lang="en-US" altLang="zh-CN" sz="2400" dirty="0"/>
              <a:t>5</a:t>
            </a:r>
            <a:r>
              <a:rPr lang="zh-CN" altLang="zh-CN" sz="2400" dirty="0"/>
              <a:t>不可能是割顶）；结点</a:t>
            </a:r>
            <a:r>
              <a:rPr lang="en-US" altLang="zh-CN" sz="2400" dirty="0"/>
              <a:t>3</a:t>
            </a:r>
            <a:r>
              <a:rPr lang="zh-CN" altLang="zh-CN" sz="2400" dirty="0"/>
              <a:t>及其后代不通过父结点</a:t>
            </a:r>
            <a:r>
              <a:rPr lang="en-US" altLang="zh-CN" sz="2400" dirty="0"/>
              <a:t>2</a:t>
            </a:r>
            <a:r>
              <a:rPr lang="zh-CN" altLang="zh-CN" sz="2400" dirty="0"/>
              <a:t>能连回的最早祖先是</a:t>
            </a:r>
            <a:r>
              <a:rPr lang="en-US" altLang="zh-CN" sz="2400" dirty="0"/>
              <a:t>1</a:t>
            </a:r>
            <a:r>
              <a:rPr lang="zh-CN" altLang="zh-CN" sz="2400" dirty="0"/>
              <a:t>（显然删除了结点</a:t>
            </a:r>
            <a:r>
              <a:rPr lang="en-US" altLang="zh-CN" sz="2400" dirty="0"/>
              <a:t>2</a:t>
            </a:r>
            <a:r>
              <a:rPr lang="zh-CN" altLang="zh-CN" sz="2400" dirty="0"/>
              <a:t>，结点</a:t>
            </a:r>
            <a:r>
              <a:rPr lang="en-US" altLang="zh-CN" sz="2400" dirty="0"/>
              <a:t>3</a:t>
            </a:r>
            <a:r>
              <a:rPr lang="zh-CN" altLang="zh-CN" sz="2400" dirty="0"/>
              <a:t>及其后代也能通过反边与其他结点连通，所以结点</a:t>
            </a:r>
            <a:r>
              <a:rPr lang="en-US" altLang="zh-CN" sz="2400" dirty="0"/>
              <a:t>2</a:t>
            </a:r>
            <a:r>
              <a:rPr lang="zh-CN" altLang="zh-CN" sz="2400" dirty="0"/>
              <a:t>不可能是割顶）；结点</a:t>
            </a:r>
            <a:r>
              <a:rPr lang="en-US" altLang="zh-CN" sz="2400" dirty="0"/>
              <a:t>4</a:t>
            </a:r>
            <a:r>
              <a:rPr lang="zh-CN" altLang="zh-CN" sz="2400" dirty="0"/>
              <a:t>及其后代能连回的最早祖先是结点</a:t>
            </a:r>
            <a:r>
              <a:rPr lang="en-US" altLang="zh-CN" sz="2400" dirty="0"/>
              <a:t>1…… </a:t>
            </a:r>
            <a:endParaRPr lang="zh-CN" altLang="zh-CN" sz="2400"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2873885" y="2803129"/>
            <a:ext cx="2513534" cy="2164797"/>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72549"/>
            <a:ext cx="9228841" cy="2092881"/>
          </a:xfrm>
          <a:prstGeom prst="rect">
            <a:avLst/>
          </a:prstGeom>
        </p:spPr>
        <p:txBody>
          <a:bodyPr wrap="square">
            <a:spAutoFit/>
          </a:bodyPr>
          <a:lstStyle/>
          <a:p>
            <a:r>
              <a:rPr lang="zh-CN" altLang="zh-CN" dirty="0"/>
              <a:t>由此可得一个定理：在无向连通图</a:t>
            </a:r>
            <a:r>
              <a:rPr lang="en-US" altLang="zh-CN" dirty="0"/>
              <a:t>G</a:t>
            </a:r>
            <a:r>
              <a:rPr lang="zh-CN" altLang="zh-CN" dirty="0"/>
              <a:t>的</a:t>
            </a:r>
            <a:r>
              <a:rPr lang="en-US" altLang="zh-CN" dirty="0"/>
              <a:t>DFS</a:t>
            </a:r>
            <a:r>
              <a:rPr lang="zh-CN" altLang="zh-CN" dirty="0"/>
              <a:t>树中，非根结点</a:t>
            </a:r>
            <a:r>
              <a:rPr lang="en-US" altLang="zh-CN" i="1" dirty="0"/>
              <a:t>u</a:t>
            </a:r>
            <a:r>
              <a:rPr lang="zh-CN" altLang="zh-CN" dirty="0"/>
              <a:t>是</a:t>
            </a:r>
            <a:r>
              <a:rPr lang="en-US" altLang="zh-CN" dirty="0"/>
              <a:t>G</a:t>
            </a:r>
            <a:r>
              <a:rPr lang="zh-CN" altLang="zh-CN" dirty="0"/>
              <a:t>的割顶当且仅当</a:t>
            </a:r>
            <a:r>
              <a:rPr lang="en-US" altLang="zh-CN" i="1" dirty="0"/>
              <a:t>u</a:t>
            </a:r>
            <a:r>
              <a:rPr lang="zh-CN" altLang="zh-CN" dirty="0"/>
              <a:t>存在一个子结点</a:t>
            </a:r>
            <a:r>
              <a:rPr lang="en-US" altLang="zh-CN" i="1" dirty="0"/>
              <a:t>v</a:t>
            </a:r>
            <a:r>
              <a:rPr lang="zh-CN" altLang="zh-CN" dirty="0"/>
              <a:t>，使得</a:t>
            </a:r>
            <a:r>
              <a:rPr lang="en-US" altLang="zh-CN" i="1" dirty="0"/>
              <a:t>v</a:t>
            </a:r>
            <a:r>
              <a:rPr lang="zh-CN" altLang="zh-CN" dirty="0"/>
              <a:t>及其后代都没有反向边连回</a:t>
            </a:r>
            <a:r>
              <a:rPr lang="en-US" altLang="zh-CN" i="1" dirty="0"/>
              <a:t>u</a:t>
            </a:r>
            <a:r>
              <a:rPr lang="zh-CN" altLang="zh-CN" dirty="0"/>
              <a:t>的祖先（不包括</a:t>
            </a:r>
            <a:r>
              <a:rPr lang="en-US" altLang="zh-CN" i="1" dirty="0"/>
              <a:t>u</a:t>
            </a:r>
            <a:r>
              <a:rPr lang="zh-CN" altLang="zh-CN" i="1" dirty="0"/>
              <a:t>）</a:t>
            </a:r>
            <a:r>
              <a:rPr lang="zh-CN" altLang="zh-CN" dirty="0"/>
              <a:t>。</a:t>
            </a:r>
          </a:p>
          <a:p>
            <a:r>
              <a:rPr lang="zh-CN" altLang="zh-CN" dirty="0"/>
              <a:t>为方便起见，设数组</a:t>
            </a:r>
            <a:r>
              <a:rPr lang="en-US" altLang="zh-CN" dirty="0"/>
              <a:t>low[u]</a:t>
            </a:r>
            <a:r>
              <a:rPr lang="zh-CN" altLang="zh-CN" dirty="0"/>
              <a:t>为</a:t>
            </a:r>
            <a:r>
              <a:rPr lang="en-US" altLang="zh-CN" i="1" dirty="0"/>
              <a:t>u</a:t>
            </a:r>
            <a:r>
              <a:rPr lang="zh-CN" altLang="zh-CN" dirty="0"/>
              <a:t>及其后代所能连回的最早祖先的编号，则每个结点</a:t>
            </a:r>
            <a:r>
              <a:rPr lang="en-US" altLang="zh-CN" i="1" dirty="0" err="1"/>
              <a:t>i</a:t>
            </a:r>
            <a:r>
              <a:rPr lang="zh-CN" altLang="zh-CN" dirty="0"/>
              <a:t>的</a:t>
            </a:r>
            <a:r>
              <a:rPr lang="en-US" altLang="zh-CN" dirty="0" err="1"/>
              <a:t>dfn</a:t>
            </a:r>
            <a:r>
              <a:rPr lang="en-US" altLang="zh-CN" dirty="0"/>
              <a:t>[</a:t>
            </a:r>
            <a:r>
              <a:rPr lang="en-US" altLang="zh-CN" dirty="0" err="1"/>
              <a:t>i</a:t>
            </a:r>
            <a:r>
              <a:rPr lang="en-US" altLang="zh-CN" dirty="0"/>
              <a:t>]</a:t>
            </a:r>
            <a:r>
              <a:rPr lang="zh-CN" altLang="zh-CN" dirty="0"/>
              <a:t>及</a:t>
            </a:r>
            <a:r>
              <a:rPr lang="en-US" altLang="zh-CN" dirty="0"/>
              <a:t>low[</a:t>
            </a:r>
            <a:r>
              <a:rPr lang="en-US" altLang="zh-CN" dirty="0" err="1"/>
              <a:t>i</a:t>
            </a:r>
            <a:r>
              <a:rPr lang="en-US" altLang="zh-CN" dirty="0"/>
              <a:t>]</a:t>
            </a:r>
            <a:r>
              <a:rPr lang="zh-CN" altLang="zh-CN" dirty="0"/>
              <a:t>的值如图所示。</a:t>
            </a:r>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2357120" y="2209607"/>
            <a:ext cx="4246356" cy="2635770"/>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8691" y="67809"/>
            <a:ext cx="3389389" cy="492443"/>
          </a:xfrm>
          <a:prstGeom prst="rect">
            <a:avLst/>
          </a:prstGeom>
        </p:spPr>
        <p:txBody>
          <a:bodyPr wrap="none">
            <a:spAutoFit/>
          </a:bodyPr>
          <a:lstStyle/>
          <a:p>
            <a:r>
              <a:rPr lang="en-US" altLang="zh-CN" dirty="0"/>
              <a:t>low[u]</a:t>
            </a:r>
            <a:r>
              <a:rPr lang="zh-CN" altLang="zh-CN" dirty="0"/>
              <a:t>的计算过程为：</a:t>
            </a:r>
            <a:endParaRPr lang="zh-CN" altLang="en-US"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939630" y="771510"/>
            <a:ext cx="6545252" cy="849899"/>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0"/>
            <a:ext cx="9092153" cy="2092881"/>
          </a:xfrm>
          <a:prstGeom prst="rect">
            <a:avLst/>
          </a:prstGeom>
        </p:spPr>
        <p:txBody>
          <a:bodyPr wrap="square">
            <a:spAutoFit/>
          </a:bodyPr>
          <a:lstStyle/>
          <a:p>
            <a:r>
              <a:rPr lang="zh-CN" altLang="zh-CN" dirty="0"/>
              <a:t>对于非根结点</a:t>
            </a:r>
            <a:r>
              <a:rPr lang="en-US" altLang="zh-CN" i="1" dirty="0"/>
              <a:t>u</a:t>
            </a:r>
            <a:r>
              <a:rPr lang="zh-CN" altLang="zh-CN" dirty="0"/>
              <a:t>来说，它是割顶当且仅当它有某个子结点</a:t>
            </a:r>
            <a:r>
              <a:rPr lang="en-US" altLang="zh-CN" i="1" dirty="0"/>
              <a:t>v</a:t>
            </a:r>
            <a:r>
              <a:rPr lang="zh-CN" altLang="zh-CN" dirty="0"/>
              <a:t>使得</a:t>
            </a:r>
            <a:r>
              <a:rPr lang="en-US" altLang="zh-CN" dirty="0"/>
              <a:t>low</a:t>
            </a:r>
            <a:r>
              <a:rPr lang="zh-CN" altLang="zh-CN" dirty="0"/>
              <a:t>（</a:t>
            </a:r>
            <a:r>
              <a:rPr lang="en-US" altLang="zh-CN" dirty="0"/>
              <a:t>v</a:t>
            </a:r>
            <a:r>
              <a:rPr lang="zh-CN" altLang="zh-CN" dirty="0"/>
              <a:t>）≥</a:t>
            </a:r>
            <a:r>
              <a:rPr lang="en-US" altLang="zh-CN" dirty="0"/>
              <a:t> </a:t>
            </a:r>
            <a:r>
              <a:rPr lang="en-US" altLang="zh-CN" dirty="0" err="1"/>
              <a:t>dfn</a:t>
            </a:r>
            <a:r>
              <a:rPr lang="en-US" altLang="zh-CN" dirty="0"/>
              <a:t>(u) </a:t>
            </a:r>
            <a:r>
              <a:rPr lang="zh-CN" altLang="zh-CN" dirty="0"/>
              <a:t>（注意</a:t>
            </a:r>
            <a:r>
              <a:rPr lang="en-US" altLang="zh-CN" dirty="0"/>
              <a:t>:</a:t>
            </a:r>
            <a:r>
              <a:rPr lang="zh-CN" altLang="zh-CN" dirty="0"/>
              <a:t>这个条件在根处总是满足的）。</a:t>
            </a:r>
          </a:p>
          <a:p>
            <a:r>
              <a:rPr lang="zh-CN" altLang="zh-CN" dirty="0"/>
              <a:t>例如图</a:t>
            </a:r>
            <a:r>
              <a:rPr lang="en-US" altLang="zh-CN" dirty="0"/>
              <a:t>5.107</a:t>
            </a:r>
            <a:r>
              <a:rPr lang="zh-CN" altLang="zh-CN" dirty="0"/>
              <a:t>中，</a:t>
            </a:r>
            <a:r>
              <a:rPr lang="en-US" altLang="zh-CN" i="1" dirty="0"/>
              <a:t>u</a:t>
            </a:r>
            <a:r>
              <a:rPr lang="zh-CN" altLang="zh-CN" dirty="0"/>
              <a:t>＝</a:t>
            </a:r>
            <a:r>
              <a:rPr lang="en-US" altLang="zh-CN" dirty="0"/>
              <a:t>3</a:t>
            </a:r>
            <a:r>
              <a:rPr lang="zh-CN" altLang="zh-CN" dirty="0"/>
              <a:t>，</a:t>
            </a:r>
            <a:r>
              <a:rPr lang="en-US" altLang="zh-CN" i="1" dirty="0"/>
              <a:t>v</a:t>
            </a:r>
            <a:r>
              <a:rPr lang="zh-CN" altLang="zh-CN" dirty="0"/>
              <a:t>＝</a:t>
            </a:r>
            <a:r>
              <a:rPr lang="en-US" altLang="zh-CN" dirty="0"/>
              <a:t>4</a:t>
            </a:r>
            <a:r>
              <a:rPr lang="zh-CN" altLang="zh-CN" dirty="0"/>
              <a:t>满足</a:t>
            </a:r>
            <a:r>
              <a:rPr lang="en-US" altLang="zh-CN" dirty="0"/>
              <a:t>low[v]</a:t>
            </a:r>
            <a:r>
              <a:rPr lang="zh-CN" altLang="zh-CN" dirty="0"/>
              <a:t>＞</a:t>
            </a:r>
            <a:r>
              <a:rPr lang="en-US" altLang="zh-CN" dirty="0" err="1"/>
              <a:t>dfn</a:t>
            </a:r>
            <a:r>
              <a:rPr lang="en-US" altLang="zh-CN" dirty="0"/>
              <a:t>[u]</a:t>
            </a:r>
            <a:r>
              <a:rPr lang="zh-CN" altLang="zh-CN" dirty="0"/>
              <a:t>这种情况，</a:t>
            </a:r>
            <a:r>
              <a:rPr lang="en-US" altLang="zh-CN" i="1" dirty="0"/>
              <a:t>u</a:t>
            </a:r>
            <a:r>
              <a:rPr lang="zh-CN" altLang="zh-CN" dirty="0"/>
              <a:t>＝</a:t>
            </a:r>
            <a:r>
              <a:rPr lang="en-US" altLang="zh-CN" dirty="0"/>
              <a:t>4</a:t>
            </a:r>
            <a:r>
              <a:rPr lang="zh-CN" altLang="zh-CN" dirty="0"/>
              <a:t>，</a:t>
            </a:r>
            <a:r>
              <a:rPr lang="en-US" altLang="zh-CN" i="1" dirty="0"/>
              <a:t>v</a:t>
            </a:r>
            <a:r>
              <a:rPr lang="zh-CN" altLang="zh-CN" dirty="0"/>
              <a:t>＝</a:t>
            </a:r>
            <a:r>
              <a:rPr lang="en-US" altLang="zh-CN" dirty="0"/>
              <a:t>5</a:t>
            </a:r>
            <a:r>
              <a:rPr lang="zh-CN" altLang="zh-CN" dirty="0"/>
              <a:t>满足</a:t>
            </a:r>
            <a:r>
              <a:rPr lang="en-US" altLang="zh-CN" dirty="0"/>
              <a:t>low[v]</a:t>
            </a:r>
            <a:r>
              <a:rPr lang="zh-CN" altLang="zh-CN" dirty="0"/>
              <a:t>＝</a:t>
            </a:r>
            <a:r>
              <a:rPr lang="en-US" altLang="zh-CN" dirty="0" err="1"/>
              <a:t>dfn</a:t>
            </a:r>
            <a:r>
              <a:rPr lang="en-US" altLang="zh-CN" dirty="0"/>
              <a:t>[u]</a:t>
            </a:r>
            <a:r>
              <a:rPr lang="zh-CN" altLang="zh-CN" dirty="0"/>
              <a:t>这种情况，所以结点</a:t>
            </a:r>
            <a:r>
              <a:rPr lang="en-US" altLang="zh-CN" dirty="0"/>
              <a:t>3</a:t>
            </a:r>
            <a:r>
              <a:rPr lang="zh-CN" altLang="zh-CN" dirty="0"/>
              <a:t>和结点</a:t>
            </a:r>
            <a:r>
              <a:rPr lang="en-US" altLang="zh-CN" dirty="0"/>
              <a:t>4</a:t>
            </a:r>
            <a:r>
              <a:rPr lang="zh-CN" altLang="zh-CN" dirty="0"/>
              <a:t>是割顶。</a:t>
            </a:r>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1960310" y="1813945"/>
            <a:ext cx="4831702" cy="1579703"/>
          </a:xfrm>
          <a:prstGeom prst="rect">
            <a:avLst/>
          </a:prstGeom>
          <a:noFill/>
          <a:ln>
            <a:noFill/>
          </a:ln>
        </p:spPr>
      </p:pic>
      <p:sp>
        <p:nvSpPr>
          <p:cNvPr id="4" name="矩形 3"/>
          <p:cNvSpPr/>
          <p:nvPr/>
        </p:nvSpPr>
        <p:spPr>
          <a:xfrm>
            <a:off x="51846" y="3354639"/>
            <a:ext cx="8988457" cy="1692771"/>
          </a:xfrm>
          <a:prstGeom prst="rect">
            <a:avLst/>
          </a:prstGeom>
        </p:spPr>
        <p:txBody>
          <a:bodyPr wrap="square">
            <a:spAutoFit/>
          </a:bodyPr>
          <a:lstStyle/>
          <a:p>
            <a:r>
              <a:rPr lang="zh-CN" altLang="zh-CN" dirty="0"/>
              <a:t>作为一种特殊情况，如果</a:t>
            </a:r>
            <a:r>
              <a:rPr lang="en-US" altLang="zh-CN" i="1" dirty="0"/>
              <a:t>v</a:t>
            </a:r>
            <a:r>
              <a:rPr lang="zh-CN" altLang="zh-CN" dirty="0"/>
              <a:t>的后代只能连回</a:t>
            </a:r>
            <a:r>
              <a:rPr lang="en-US" altLang="zh-CN" i="1" dirty="0"/>
              <a:t>v</a:t>
            </a:r>
            <a:r>
              <a:rPr lang="zh-CN" altLang="zh-CN" dirty="0"/>
              <a:t>自己（即</a:t>
            </a:r>
            <a:r>
              <a:rPr lang="en-US" altLang="zh-CN" dirty="0"/>
              <a:t>low(v)</a:t>
            </a:r>
            <a:r>
              <a:rPr lang="zh-CN" altLang="zh-CN" dirty="0"/>
              <a:t>＞</a:t>
            </a:r>
            <a:r>
              <a:rPr lang="en-US" altLang="zh-CN" dirty="0" err="1"/>
              <a:t>dfn</a:t>
            </a:r>
            <a:r>
              <a:rPr lang="en-US" altLang="zh-CN" dirty="0"/>
              <a:t>(u)</a:t>
            </a:r>
            <a:r>
              <a:rPr lang="zh-CN" altLang="zh-CN" dirty="0"/>
              <a:t>），那么只需删除（</a:t>
            </a:r>
            <a:r>
              <a:rPr lang="en-US" altLang="zh-CN" i="1" dirty="0"/>
              <a:t>u</a:t>
            </a:r>
            <a:r>
              <a:rPr lang="zh-CN" altLang="zh-CN" dirty="0"/>
              <a:t>，</a:t>
            </a:r>
            <a:r>
              <a:rPr lang="en-US" altLang="zh-CN" i="1" dirty="0"/>
              <a:t>v</a:t>
            </a:r>
            <a:r>
              <a:rPr lang="zh-CN" altLang="zh-CN" dirty="0"/>
              <a:t>）一条边就可以让图</a:t>
            </a:r>
            <a:r>
              <a:rPr lang="en-US" altLang="zh-CN" dirty="0"/>
              <a:t>G</a:t>
            </a:r>
            <a:r>
              <a:rPr lang="zh-CN" altLang="zh-CN" dirty="0"/>
              <a:t>非连通了，满足这个条件的边称为桥（</a:t>
            </a:r>
            <a:r>
              <a:rPr lang="en-US" altLang="zh-CN" dirty="0"/>
              <a:t>bridge</a:t>
            </a:r>
            <a:r>
              <a:rPr lang="zh-CN" altLang="zh-CN" dirty="0"/>
              <a:t>）。例如上图中</a:t>
            </a:r>
            <a:r>
              <a:rPr lang="en-US" altLang="zh-CN" dirty="0"/>
              <a:t>3</a:t>
            </a:r>
            <a:r>
              <a:rPr lang="zh-CN" altLang="zh-CN" dirty="0"/>
              <a:t>—</a:t>
            </a:r>
            <a:r>
              <a:rPr lang="en-US" altLang="zh-CN" dirty="0"/>
              <a:t>4</a:t>
            </a:r>
            <a:r>
              <a:rPr lang="zh-CN" altLang="zh-CN" dirty="0"/>
              <a:t>这条边就是桥。</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234"/>
            <a:ext cx="9040304" cy="5078313"/>
          </a:xfrm>
          <a:prstGeom prst="rect">
            <a:avLst/>
          </a:prstGeom>
        </p:spPr>
        <p:txBody>
          <a:bodyPr wrap="square">
            <a:spAutoFit/>
          </a:bodyPr>
          <a:lstStyle/>
          <a:p>
            <a:r>
              <a:rPr lang="en-US" altLang="zh-CN" sz="1800" kern="0" dirty="0">
                <a:solidFill>
                  <a:srgbClr val="8000FF"/>
                </a:solidFill>
                <a:latin typeface="YaHei Consolas Hybrid"/>
                <a:ea typeface="宋体" panose="02010600030101010101" pitchFamily="2" charset="-122"/>
                <a:cs typeface="Courier New" panose="02070309020205020404"/>
              </a:rPr>
              <a:t>void</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err="1">
                <a:solidFill>
                  <a:srgbClr val="000000"/>
                </a:solidFill>
                <a:latin typeface="YaHei Consolas Hybrid"/>
                <a:ea typeface="宋体" panose="02010600030101010101" pitchFamily="2" charset="-122"/>
                <a:cs typeface="Courier New" panose="02070309020205020404"/>
              </a:rPr>
              <a:t>Tarjan</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err="1">
                <a:solidFill>
                  <a:srgbClr val="8000FF"/>
                </a:solidFill>
                <a:latin typeface="YaHei Consolas Hybrid"/>
                <a:ea typeface="宋体" panose="02010600030101010101" pitchFamily="2" charset="-122"/>
                <a:cs typeface="Courier New" panose="02070309020205020404"/>
              </a:rPr>
              <a:t>int</a:t>
            </a:r>
            <a:r>
              <a:rPr lang="en-US" altLang="zh-CN" sz="1800" kern="0" dirty="0">
                <a:solidFill>
                  <a:srgbClr val="000000"/>
                </a:solidFill>
                <a:latin typeface="YaHei Consolas Hybrid"/>
                <a:ea typeface="宋体" panose="02010600030101010101" pitchFamily="2" charset="-122"/>
                <a:cs typeface="Courier New" panose="02070309020205020404"/>
              </a:rPr>
              <a:t> u</a:t>
            </a:r>
            <a:r>
              <a:rPr lang="en-US" altLang="zh-CN" sz="1800" b="1" kern="0" dirty="0">
                <a:solidFill>
                  <a:srgbClr val="000080"/>
                </a:solidFill>
                <a:latin typeface="YaHei Consolas Hybrid"/>
                <a:ea typeface="宋体" panose="02010600030101010101" pitchFamily="2" charset="-122"/>
                <a:cs typeface="Courier New" panose="02070309020205020404"/>
              </a:rPr>
              <a:t>) {</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a:solidFill>
                  <a:srgbClr val="008000"/>
                </a:solidFill>
                <a:latin typeface="YaHei Consolas Hybrid"/>
                <a:ea typeface="宋体" panose="02010600030101010101" pitchFamily="2" charset="-122"/>
                <a:cs typeface="Courier New" panose="02070309020205020404"/>
              </a:rPr>
              <a:t>//</a:t>
            </a:r>
            <a:r>
              <a:rPr lang="zh-CN" altLang="zh-CN" sz="1800" kern="0" dirty="0">
                <a:solidFill>
                  <a:srgbClr val="008000"/>
                </a:solidFill>
                <a:latin typeface="Times New Roman" panose="02020603050405020304"/>
                <a:ea typeface="YaHei Consolas Hybrid"/>
                <a:cs typeface="Courier New" panose="02070309020205020404"/>
              </a:rPr>
              <a:t>求割顶是</a:t>
            </a:r>
            <a:r>
              <a:rPr lang="en-US" altLang="zh-CN" sz="1800" kern="0" dirty="0" err="1">
                <a:solidFill>
                  <a:srgbClr val="008000"/>
                </a:solidFill>
                <a:latin typeface="Times New Roman" panose="02020603050405020304"/>
                <a:ea typeface="YaHei Consolas Hybrid"/>
                <a:cs typeface="Courier New" panose="02070309020205020404"/>
              </a:rPr>
              <a:t>Tarjan</a:t>
            </a:r>
            <a:r>
              <a:rPr lang="zh-CN" altLang="zh-CN" sz="1800" kern="0" dirty="0">
                <a:solidFill>
                  <a:srgbClr val="008000"/>
                </a:solidFill>
                <a:latin typeface="Times New Roman" panose="02020603050405020304"/>
                <a:ea typeface="YaHei Consolas Hybrid"/>
                <a:cs typeface="Courier New" panose="02070309020205020404"/>
              </a:rPr>
              <a:t>算法中的一种</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err="1">
                <a:solidFill>
                  <a:srgbClr val="000000"/>
                </a:solidFill>
                <a:latin typeface="YaHei Consolas Hybrid"/>
                <a:ea typeface="宋体" panose="02010600030101010101" pitchFamily="2" charset="-122"/>
                <a:cs typeface="Courier New" panose="02070309020205020404"/>
              </a:rPr>
              <a:t>dfn</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u</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low</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u</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err="1">
                <a:solidFill>
                  <a:srgbClr val="000000"/>
                </a:solidFill>
                <a:latin typeface="YaHei Consolas Hybrid"/>
                <a:ea typeface="宋体" panose="02010600030101010101" pitchFamily="2" charset="-122"/>
                <a:cs typeface="Courier New" panose="02070309020205020404"/>
              </a:rPr>
              <a:t>idx</a:t>
            </a:r>
            <a:r>
              <a:rPr lang="en-US" altLang="zh-CN" sz="1800" b="1" kern="0" dirty="0">
                <a:solidFill>
                  <a:srgbClr val="000080"/>
                </a:solidFill>
                <a:latin typeface="YaHei Consolas Hybrid"/>
                <a:ea typeface="宋体" panose="02010600030101010101" pitchFamily="2" charset="-122"/>
                <a:cs typeface="Courier New" panose="02070309020205020404"/>
              </a:rPr>
              <a:t>;</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b="1" kern="0" dirty="0">
                <a:solidFill>
                  <a:srgbClr val="0000FF"/>
                </a:solidFill>
                <a:latin typeface="YaHei Consolas Hybrid"/>
                <a:ea typeface="宋体" panose="02010600030101010101" pitchFamily="2" charset="-122"/>
                <a:cs typeface="Courier New" panose="02070309020205020404"/>
              </a:rPr>
              <a:t>for</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err="1">
                <a:solidFill>
                  <a:srgbClr val="8000FF"/>
                </a:solidFill>
                <a:latin typeface="YaHei Consolas Hybrid"/>
                <a:ea typeface="宋体" panose="02010600030101010101" pitchFamily="2" charset="-122"/>
                <a:cs typeface="Courier New" panose="02070309020205020404"/>
              </a:rPr>
              <a:t>int</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err="1">
                <a:solidFill>
                  <a:srgbClr val="000000"/>
                </a:solidFill>
                <a:latin typeface="YaHei Consolas Hybrid"/>
                <a:ea typeface="宋体" panose="02010600030101010101" pitchFamily="2" charset="-122"/>
                <a:cs typeface="Courier New" panose="02070309020205020404"/>
              </a:rPr>
              <a:t>i</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FF8000"/>
                </a:solidFill>
                <a:latin typeface="YaHei Consolas Hybrid"/>
                <a:ea typeface="宋体" panose="02010600030101010101" pitchFamily="2" charset="-122"/>
                <a:cs typeface="Courier New" panose="02070309020205020404"/>
              </a:rPr>
              <a:t>0</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err="1">
                <a:solidFill>
                  <a:srgbClr val="000000"/>
                </a:solidFill>
                <a:latin typeface="YaHei Consolas Hybrid"/>
                <a:ea typeface="宋体" panose="02010600030101010101" pitchFamily="2" charset="-122"/>
                <a:cs typeface="Courier New" panose="02070309020205020404"/>
              </a:rPr>
              <a:t>i</a:t>
            </a:r>
            <a:r>
              <a:rPr lang="en-US" altLang="zh-CN" sz="1800" b="1" kern="0" dirty="0">
                <a:solidFill>
                  <a:srgbClr val="000080"/>
                </a:solidFill>
                <a:latin typeface="YaHei Consolas Hybrid"/>
                <a:ea typeface="宋体" panose="02010600030101010101" pitchFamily="2" charset="-122"/>
                <a:cs typeface="Courier New" panose="02070309020205020404"/>
              </a:rPr>
              <a:t>&lt;</a:t>
            </a:r>
            <a:r>
              <a:rPr lang="en-US" altLang="zh-CN" sz="1800" kern="0" dirty="0">
                <a:solidFill>
                  <a:srgbClr val="000000"/>
                </a:solidFill>
                <a:latin typeface="YaHei Consolas Hybrid"/>
                <a:ea typeface="宋体" panose="02010600030101010101" pitchFamily="2" charset="-122"/>
                <a:cs typeface="Courier New" panose="02070309020205020404"/>
              </a:rPr>
              <a:t>Map</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u</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size</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err="1">
                <a:solidFill>
                  <a:srgbClr val="000000"/>
                </a:solidFill>
                <a:latin typeface="YaHei Consolas Hybrid"/>
                <a:ea typeface="宋体" panose="02010600030101010101" pitchFamily="2" charset="-122"/>
                <a:cs typeface="Courier New" panose="02070309020205020404"/>
              </a:rPr>
              <a:t>i</a:t>
            </a:r>
            <a:r>
              <a:rPr lang="en-US" altLang="zh-CN" sz="1800" b="1" kern="0" dirty="0">
                <a:solidFill>
                  <a:srgbClr val="000080"/>
                </a:solidFill>
                <a:latin typeface="YaHei Consolas Hybrid"/>
                <a:ea typeface="宋体" panose="02010600030101010101" pitchFamily="2" charset="-122"/>
                <a:cs typeface="Courier New" panose="02070309020205020404"/>
              </a:rPr>
              <a:t>++){</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err="1">
                <a:solidFill>
                  <a:srgbClr val="8000FF"/>
                </a:solidFill>
                <a:latin typeface="YaHei Consolas Hybrid"/>
                <a:ea typeface="宋体" panose="02010600030101010101" pitchFamily="2" charset="-122"/>
                <a:cs typeface="Courier New" panose="02070309020205020404"/>
              </a:rPr>
              <a:t>int</a:t>
            </a:r>
            <a:r>
              <a:rPr lang="en-US" altLang="zh-CN" sz="1800" kern="0" dirty="0">
                <a:solidFill>
                  <a:srgbClr val="000000"/>
                </a:solidFill>
                <a:latin typeface="YaHei Consolas Hybrid"/>
                <a:ea typeface="宋体" panose="02010600030101010101" pitchFamily="2" charset="-122"/>
                <a:cs typeface="Courier New" panose="02070309020205020404"/>
              </a:rPr>
              <a:t> v</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Map</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u</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err="1">
                <a:solidFill>
                  <a:srgbClr val="000000"/>
                </a:solidFill>
                <a:latin typeface="YaHei Consolas Hybrid"/>
                <a:ea typeface="宋体" panose="02010600030101010101" pitchFamily="2" charset="-122"/>
                <a:cs typeface="Courier New" panose="02070309020205020404"/>
              </a:rPr>
              <a:t>i</a:t>
            </a:r>
            <a:r>
              <a:rPr lang="en-US" altLang="zh-CN" sz="1800" b="1" kern="0" dirty="0">
                <a:solidFill>
                  <a:srgbClr val="000080"/>
                </a:solidFill>
                <a:latin typeface="YaHei Consolas Hybrid"/>
                <a:ea typeface="宋体" panose="02010600030101010101" pitchFamily="2" charset="-122"/>
                <a:cs typeface="Courier New" panose="02070309020205020404"/>
              </a:rPr>
              <a:t>];</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b="1" kern="0" dirty="0">
                <a:solidFill>
                  <a:srgbClr val="0000FF"/>
                </a:solidFill>
                <a:latin typeface="YaHei Consolas Hybrid"/>
                <a:ea typeface="宋体" panose="02010600030101010101" pitchFamily="2" charset="-122"/>
                <a:cs typeface="Courier New" panose="02070309020205020404"/>
              </a:rPr>
              <a:t>if</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err="1">
                <a:solidFill>
                  <a:srgbClr val="000000"/>
                </a:solidFill>
                <a:latin typeface="YaHei Consolas Hybrid"/>
                <a:ea typeface="宋体" panose="02010600030101010101" pitchFamily="2" charset="-122"/>
                <a:cs typeface="Courier New" panose="02070309020205020404"/>
              </a:rPr>
              <a:t>dfn</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v</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a:solidFill>
                  <a:srgbClr val="008000"/>
                </a:solidFill>
                <a:latin typeface="YaHei Consolas Hybrid"/>
                <a:ea typeface="宋体" panose="02010600030101010101" pitchFamily="2" charset="-122"/>
                <a:cs typeface="Courier New" panose="02070309020205020404"/>
              </a:rPr>
              <a:t>//</a:t>
            </a:r>
            <a:r>
              <a:rPr lang="zh-CN" altLang="zh-CN" sz="1800" kern="0" dirty="0">
                <a:solidFill>
                  <a:srgbClr val="008000"/>
                </a:solidFill>
                <a:latin typeface="Times New Roman" panose="02020603050405020304"/>
                <a:ea typeface="YaHei Consolas Hybrid"/>
                <a:cs typeface="Courier New" panose="02070309020205020404"/>
              </a:rPr>
              <a:t>如果没有访问过</a:t>
            </a:r>
            <a:r>
              <a:rPr lang="en-US" altLang="zh-CN" sz="1800" kern="0" dirty="0">
                <a:solidFill>
                  <a:srgbClr val="008000"/>
                </a:solidFill>
                <a:latin typeface="Times New Roman" panose="02020603050405020304"/>
                <a:ea typeface="YaHei Consolas Hybrid"/>
                <a:cs typeface="Courier New" panose="02070309020205020404"/>
              </a:rPr>
              <a:t>v </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err="1">
                <a:solidFill>
                  <a:srgbClr val="000000"/>
                </a:solidFill>
                <a:latin typeface="YaHei Consolas Hybrid"/>
                <a:ea typeface="宋体" panose="02010600030101010101" pitchFamily="2" charset="-122"/>
                <a:cs typeface="Courier New" panose="02070309020205020404"/>
              </a:rPr>
              <a:t>Tarjan</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v</a:t>
            </a:r>
            <a:r>
              <a:rPr lang="en-US" altLang="zh-CN" sz="1800" b="1" kern="0" dirty="0">
                <a:solidFill>
                  <a:srgbClr val="000080"/>
                </a:solidFill>
                <a:latin typeface="YaHei Consolas Hybrid"/>
                <a:ea typeface="宋体" panose="02010600030101010101" pitchFamily="2" charset="-122"/>
                <a:cs typeface="Courier New" panose="02070309020205020404"/>
              </a:rPr>
              <a:t>);</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b="1" kern="0" dirty="0">
                <a:solidFill>
                  <a:srgbClr val="0000FF"/>
                </a:solidFill>
                <a:latin typeface="YaHei Consolas Hybrid"/>
                <a:ea typeface="宋体" panose="02010600030101010101" pitchFamily="2" charset="-122"/>
                <a:cs typeface="Courier New" panose="02070309020205020404"/>
              </a:rPr>
              <a:t>if</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u</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root</a:t>
            </a:r>
            <a:r>
              <a:rPr lang="en-US" altLang="zh-CN" sz="1800" b="1" kern="0" dirty="0">
                <a:solidFill>
                  <a:srgbClr val="000080"/>
                </a:solidFill>
                <a:latin typeface="YaHei Consolas Hybrid"/>
                <a:ea typeface="宋体" panose="02010600030101010101" pitchFamily="2" charset="-122"/>
                <a:cs typeface="Courier New" panose="02070309020205020404"/>
              </a:rPr>
              <a:t>)</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err="1">
                <a:solidFill>
                  <a:srgbClr val="000000"/>
                </a:solidFill>
                <a:latin typeface="YaHei Consolas Hybrid"/>
                <a:ea typeface="宋体" panose="02010600030101010101" pitchFamily="2" charset="-122"/>
                <a:cs typeface="Courier New" panose="02070309020205020404"/>
              </a:rPr>
              <a:t>root_son</a:t>
            </a:r>
            <a:r>
              <a:rPr lang="en-US" altLang="zh-CN" sz="1800" b="1" kern="0" dirty="0">
                <a:solidFill>
                  <a:srgbClr val="000080"/>
                </a:solidFill>
                <a:latin typeface="YaHei Consolas Hybrid"/>
                <a:ea typeface="宋体" panose="02010600030101010101" pitchFamily="2" charset="-122"/>
                <a:cs typeface="Courier New" panose="02070309020205020404"/>
              </a:rPr>
              <a:t>++;</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b="1" kern="0" dirty="0">
                <a:solidFill>
                  <a:srgbClr val="0000FF"/>
                </a:solidFill>
                <a:latin typeface="YaHei Consolas Hybrid"/>
                <a:ea typeface="宋体" panose="02010600030101010101" pitchFamily="2" charset="-122"/>
                <a:cs typeface="Courier New" panose="02070309020205020404"/>
              </a:rPr>
              <a:t>else</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a:solidFill>
                  <a:srgbClr val="008000"/>
                </a:solidFill>
                <a:latin typeface="YaHei Consolas Hybrid"/>
                <a:ea typeface="宋体" panose="02010600030101010101" pitchFamily="2" charset="-122"/>
                <a:cs typeface="Courier New" panose="02070309020205020404"/>
              </a:rPr>
              <a:t>//</a:t>
            </a:r>
            <a:r>
              <a:rPr lang="zh-CN" altLang="zh-CN" sz="1800" kern="0" dirty="0">
                <a:solidFill>
                  <a:srgbClr val="008000"/>
                </a:solidFill>
                <a:latin typeface="Times New Roman" panose="02020603050405020304"/>
                <a:ea typeface="YaHei Consolas Hybrid"/>
                <a:cs typeface="Courier New" panose="02070309020205020404"/>
              </a:rPr>
              <a:t>如果非根结点</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low</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u</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min</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low</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u</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low</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v</a:t>
            </a:r>
            <a:r>
              <a:rPr lang="en-US" altLang="zh-CN" sz="1800" b="1" kern="0" dirty="0">
                <a:solidFill>
                  <a:srgbClr val="000080"/>
                </a:solidFill>
                <a:latin typeface="YaHei Consolas Hybrid"/>
                <a:ea typeface="宋体" panose="02010600030101010101" pitchFamily="2" charset="-122"/>
                <a:cs typeface="Courier New" panose="02070309020205020404"/>
              </a:rPr>
              <a:t>]);</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b="1" kern="0" dirty="0">
                <a:solidFill>
                  <a:srgbClr val="0000FF"/>
                </a:solidFill>
                <a:latin typeface="YaHei Consolas Hybrid"/>
                <a:ea typeface="宋体" panose="02010600030101010101" pitchFamily="2" charset="-122"/>
                <a:cs typeface="Courier New" panose="02070309020205020404"/>
              </a:rPr>
              <a:t>if</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low</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v</a:t>
            </a:r>
            <a:r>
              <a:rPr lang="en-US" altLang="zh-CN" sz="1800" b="1" kern="0" dirty="0">
                <a:solidFill>
                  <a:srgbClr val="000080"/>
                </a:solidFill>
                <a:latin typeface="YaHei Consolas Hybrid"/>
                <a:ea typeface="宋体" panose="02010600030101010101" pitchFamily="2" charset="-122"/>
                <a:cs typeface="Courier New" panose="02070309020205020404"/>
              </a:rPr>
              <a:t>]&gt;=</a:t>
            </a:r>
            <a:r>
              <a:rPr lang="en-US" altLang="zh-CN" sz="1800" kern="0" dirty="0" err="1">
                <a:solidFill>
                  <a:srgbClr val="000000"/>
                </a:solidFill>
                <a:latin typeface="YaHei Consolas Hybrid"/>
                <a:ea typeface="宋体" panose="02010600030101010101" pitchFamily="2" charset="-122"/>
                <a:cs typeface="Courier New" panose="02070309020205020404"/>
              </a:rPr>
              <a:t>dfn</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u</a:t>
            </a:r>
            <a:r>
              <a:rPr lang="en-US" altLang="zh-CN" sz="1800" b="1" kern="0" dirty="0">
                <a:solidFill>
                  <a:srgbClr val="000080"/>
                </a:solidFill>
                <a:latin typeface="YaHei Consolas Hybrid"/>
                <a:ea typeface="宋体" panose="02010600030101010101" pitchFamily="2" charset="-122"/>
                <a:cs typeface="Courier New" panose="02070309020205020404"/>
              </a:rPr>
              <a:t>])</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cut</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u</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b="1" kern="0" dirty="0">
                <a:solidFill>
                  <a:srgbClr val="0000FF"/>
                </a:solidFill>
                <a:latin typeface="YaHei Consolas Hybrid"/>
                <a:ea typeface="宋体" panose="02010600030101010101" pitchFamily="2" charset="-122"/>
                <a:cs typeface="Courier New" panose="02070309020205020404"/>
              </a:rPr>
              <a:t>true</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a:solidFill>
                  <a:srgbClr val="008000"/>
                </a:solidFill>
                <a:latin typeface="YaHei Consolas Hybrid"/>
                <a:ea typeface="宋体" panose="02010600030101010101" pitchFamily="2" charset="-122"/>
                <a:cs typeface="Courier New" panose="02070309020205020404"/>
              </a:rPr>
              <a:t>//</a:t>
            </a:r>
            <a:r>
              <a:rPr lang="zh-CN" altLang="zh-CN" sz="1800" kern="0" dirty="0">
                <a:solidFill>
                  <a:srgbClr val="008000"/>
                </a:solidFill>
                <a:latin typeface="Times New Roman" panose="02020603050405020304"/>
                <a:ea typeface="YaHei Consolas Hybrid"/>
                <a:cs typeface="Courier New" panose="02070309020205020404"/>
              </a:rPr>
              <a:t>后继结点搜不到比该点更早的点，则该点是割顶</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b="1" kern="0" dirty="0">
                <a:solidFill>
                  <a:srgbClr val="000080"/>
                </a:solidFill>
                <a:latin typeface="YaHei Consolas Hybrid"/>
                <a:ea typeface="宋体" panose="02010600030101010101" pitchFamily="2" charset="-122"/>
                <a:cs typeface="Courier New" panose="02070309020205020404"/>
              </a:rPr>
              <a:t>}</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b="1" kern="0" dirty="0">
                <a:solidFill>
                  <a:srgbClr val="000080"/>
                </a:solidFill>
                <a:latin typeface="YaHei Consolas Hybrid"/>
                <a:ea typeface="宋体" panose="02010600030101010101" pitchFamily="2" charset="-122"/>
                <a:cs typeface="Courier New" panose="02070309020205020404"/>
              </a:rPr>
              <a:t>}</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b="1" kern="0" dirty="0">
                <a:solidFill>
                  <a:srgbClr val="0000FF"/>
                </a:solidFill>
                <a:latin typeface="YaHei Consolas Hybrid"/>
                <a:ea typeface="宋体" panose="02010600030101010101" pitchFamily="2" charset="-122"/>
                <a:cs typeface="Courier New" panose="02070309020205020404"/>
              </a:rPr>
              <a:t>else</a:t>
            </a:r>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kern="0" dirty="0">
                <a:solidFill>
                  <a:srgbClr val="008000"/>
                </a:solidFill>
                <a:latin typeface="YaHei Consolas Hybrid"/>
                <a:ea typeface="宋体" panose="02010600030101010101" pitchFamily="2" charset="-122"/>
                <a:cs typeface="Courier New" panose="02070309020205020404"/>
              </a:rPr>
              <a:t>//</a:t>
            </a:r>
            <a:r>
              <a:rPr lang="zh-CN" altLang="zh-CN" sz="1800" kern="0" dirty="0">
                <a:solidFill>
                  <a:srgbClr val="008000"/>
                </a:solidFill>
                <a:latin typeface="Times New Roman" panose="02020603050405020304"/>
                <a:ea typeface="YaHei Consolas Hybrid"/>
                <a:cs typeface="Courier New" panose="02070309020205020404"/>
              </a:rPr>
              <a:t>如果已经访问过该结点，则此时的边为反边</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low</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u</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min</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low</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u</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err="1">
                <a:solidFill>
                  <a:srgbClr val="000000"/>
                </a:solidFill>
                <a:latin typeface="YaHei Consolas Hybrid"/>
                <a:ea typeface="宋体" panose="02010600030101010101" pitchFamily="2" charset="-122"/>
                <a:cs typeface="Courier New" panose="02070309020205020404"/>
              </a:rPr>
              <a:t>dfn</a:t>
            </a:r>
            <a:r>
              <a:rPr lang="en-US" altLang="zh-CN" sz="1800" b="1" kern="0" dirty="0">
                <a:solidFill>
                  <a:srgbClr val="000080"/>
                </a:solidFill>
                <a:latin typeface="YaHei Consolas Hybrid"/>
                <a:ea typeface="宋体" panose="02010600030101010101" pitchFamily="2" charset="-122"/>
                <a:cs typeface="Courier New" panose="02070309020205020404"/>
              </a:rPr>
              <a:t>[</a:t>
            </a:r>
            <a:r>
              <a:rPr lang="en-US" altLang="zh-CN" sz="1800" kern="0" dirty="0">
                <a:solidFill>
                  <a:srgbClr val="000000"/>
                </a:solidFill>
                <a:latin typeface="YaHei Consolas Hybrid"/>
                <a:ea typeface="宋体" panose="02010600030101010101" pitchFamily="2" charset="-122"/>
                <a:cs typeface="Courier New" panose="02070309020205020404"/>
              </a:rPr>
              <a:t>v</a:t>
            </a:r>
            <a:r>
              <a:rPr lang="en-US" altLang="zh-CN" sz="1800" b="1" kern="0" dirty="0">
                <a:solidFill>
                  <a:srgbClr val="000080"/>
                </a:solidFill>
                <a:latin typeface="YaHei Consolas Hybrid"/>
                <a:ea typeface="宋体" panose="02010600030101010101" pitchFamily="2" charset="-122"/>
                <a:cs typeface="Courier New" panose="02070309020205020404"/>
              </a:rPr>
              <a:t>]);</a:t>
            </a:r>
            <a:endParaRPr lang="zh-CN" altLang="zh-CN" sz="2000" kern="100" dirty="0">
              <a:latin typeface="Times New Roman" panose="02020603050405020304"/>
              <a:ea typeface="宋体" panose="02010600030101010101" pitchFamily="2" charset="-122"/>
            </a:endParaRPr>
          </a:p>
          <a:p>
            <a:r>
              <a:rPr lang="en-US" altLang="zh-CN" sz="1800" kern="0" dirty="0">
                <a:solidFill>
                  <a:srgbClr val="000000"/>
                </a:solidFill>
                <a:latin typeface="YaHei Consolas Hybrid"/>
                <a:ea typeface="宋体" panose="02010600030101010101" pitchFamily="2" charset="-122"/>
                <a:cs typeface="Courier New" panose="02070309020205020404"/>
              </a:rPr>
              <a:t>  </a:t>
            </a:r>
            <a:r>
              <a:rPr lang="en-US" altLang="zh-CN" sz="1800" b="1" kern="0" dirty="0">
                <a:solidFill>
                  <a:srgbClr val="000080"/>
                </a:solidFill>
                <a:latin typeface="YaHei Consolas Hybrid"/>
                <a:ea typeface="宋体" panose="02010600030101010101" pitchFamily="2" charset="-122"/>
                <a:cs typeface="Courier New" panose="02070309020205020404"/>
              </a:rPr>
              <a:t>}</a:t>
            </a:r>
            <a:endParaRPr lang="zh-CN" altLang="zh-CN" sz="2000" kern="100" dirty="0">
              <a:latin typeface="Times New Roman" panose="02020603050405020304"/>
              <a:ea typeface="宋体" panose="02010600030101010101" pitchFamily="2" charset="-122"/>
            </a:endParaRPr>
          </a:p>
          <a:p>
            <a:r>
              <a:rPr lang="en-US" altLang="zh-CN" sz="1800" b="1" kern="0" dirty="0">
                <a:solidFill>
                  <a:srgbClr val="000080"/>
                </a:solidFill>
                <a:latin typeface="YaHei Consolas Hybrid"/>
                <a:ea typeface="宋体" panose="02010600030101010101" pitchFamily="2" charset="-122"/>
                <a:cs typeface="Courier New" panose="02070309020205020404"/>
              </a:rPr>
              <a:t>}</a:t>
            </a:r>
            <a:endParaRPr lang="zh-CN" altLang="zh-CN" sz="2000" kern="100" dirty="0">
              <a:effectLst/>
              <a:latin typeface="Times New Roman" panose="02020603050405020304"/>
              <a:ea typeface="宋体" panose="02010600030101010101" pitchFamily="2" charset="-122"/>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994" y="0"/>
            <a:ext cx="9111006" cy="3046988"/>
          </a:xfrm>
          <a:prstGeom prst="rect">
            <a:avLst/>
          </a:prstGeom>
        </p:spPr>
        <p:txBody>
          <a:bodyPr wrap="square">
            <a:spAutoFit/>
          </a:bodyPr>
          <a:lstStyle/>
          <a:p>
            <a:r>
              <a:rPr lang="zh-CN" altLang="zh-CN" sz="2400" dirty="0"/>
              <a:t>【题目描述】故障结点（</a:t>
            </a:r>
            <a:r>
              <a:rPr lang="en-US" altLang="zh-CN" sz="2400" dirty="0"/>
              <a:t>SPF</a:t>
            </a:r>
            <a:r>
              <a:rPr lang="zh-CN" altLang="zh-CN" sz="2400" dirty="0"/>
              <a:t>）</a:t>
            </a:r>
            <a:r>
              <a:rPr lang="en-US" altLang="zh-CN" sz="2400" dirty="0"/>
              <a:t>POJ 1523</a:t>
            </a:r>
            <a:endParaRPr lang="zh-CN" altLang="zh-CN" sz="2400" dirty="0"/>
          </a:p>
          <a:p>
            <a:r>
              <a:rPr lang="en-US" altLang="zh-CN" sz="2400" dirty="0"/>
              <a:t>  </a:t>
            </a:r>
            <a:r>
              <a:rPr lang="zh-CN" altLang="zh-CN" sz="2400" dirty="0"/>
              <a:t>在图所示的两个网络中，假设数据仅在直接相连的结点之间以对等方式通信，那么图（</a:t>
            </a:r>
            <a:r>
              <a:rPr lang="en-US" altLang="zh-CN" sz="2400" dirty="0"/>
              <a:t>a</a:t>
            </a:r>
            <a:r>
              <a:rPr lang="zh-CN" altLang="zh-CN" sz="2400" dirty="0"/>
              <a:t>）网络中的单个结点</a:t>
            </a:r>
            <a:r>
              <a:rPr lang="en-US" altLang="zh-CN" sz="2400" dirty="0"/>
              <a:t>3</a:t>
            </a:r>
            <a:r>
              <a:rPr lang="zh-CN" altLang="zh-CN" sz="2400" dirty="0"/>
              <a:t>的故障将阻止一些仍然可用的结点彼此通信。即结点</a:t>
            </a:r>
            <a:r>
              <a:rPr lang="en-US" altLang="zh-CN" sz="2400" dirty="0"/>
              <a:t>1</a:t>
            </a:r>
            <a:r>
              <a:rPr lang="zh-CN" altLang="zh-CN" sz="2400" dirty="0"/>
              <a:t>和结点</a:t>
            </a:r>
            <a:r>
              <a:rPr lang="en-US" altLang="zh-CN" sz="2400" dirty="0"/>
              <a:t>2</a:t>
            </a:r>
            <a:r>
              <a:rPr lang="zh-CN" altLang="zh-CN" sz="2400" dirty="0"/>
              <a:t>仍然可以像结点</a:t>
            </a:r>
            <a:r>
              <a:rPr lang="en-US" altLang="zh-CN" sz="2400" dirty="0"/>
              <a:t>4</a:t>
            </a:r>
            <a:r>
              <a:rPr lang="zh-CN" altLang="zh-CN" sz="2400" dirty="0"/>
              <a:t>和结点</a:t>
            </a:r>
            <a:r>
              <a:rPr lang="en-US" altLang="zh-CN" sz="2400" dirty="0"/>
              <a:t>5</a:t>
            </a:r>
            <a:r>
              <a:rPr lang="zh-CN" altLang="zh-CN" sz="2400" dirty="0"/>
              <a:t>那样彼此通信，但是任何其他结点对之间的通信将不再可能。</a:t>
            </a:r>
          </a:p>
          <a:p>
            <a:r>
              <a:rPr lang="en-US" altLang="zh-CN" sz="2400" dirty="0"/>
              <a:t>   </a:t>
            </a:r>
            <a:r>
              <a:rPr lang="zh-CN" altLang="zh-CN" sz="2400" dirty="0"/>
              <a:t>因此，结点</a:t>
            </a:r>
            <a:r>
              <a:rPr lang="en-US" altLang="zh-CN" sz="2400" dirty="0"/>
              <a:t>3</a:t>
            </a:r>
            <a:r>
              <a:rPr lang="zh-CN" altLang="zh-CN" sz="2400" dirty="0"/>
              <a:t>是该网络的单点故障（</a:t>
            </a:r>
            <a:r>
              <a:rPr lang="en-US" altLang="zh-CN" sz="2400" dirty="0"/>
              <a:t>SPF</a:t>
            </a:r>
            <a:r>
              <a:rPr lang="zh-CN" altLang="zh-CN" sz="2400" dirty="0"/>
              <a:t>）。严格地说，</a:t>
            </a:r>
            <a:r>
              <a:rPr lang="en-US" altLang="zh-CN" sz="2400" dirty="0"/>
              <a:t>SPF</a:t>
            </a:r>
            <a:r>
              <a:rPr lang="zh-CN" altLang="zh-CN" sz="2400" dirty="0"/>
              <a:t>将被定义为任何结点，如果该结点不可用，将阻止至少一对可用结点能够在先前完全连接的网络上进行通信。而右边的网络中没有</a:t>
            </a:r>
            <a:r>
              <a:rPr lang="en-US" altLang="zh-CN" sz="2400" dirty="0"/>
              <a:t>SPF</a:t>
            </a:r>
            <a:r>
              <a:rPr lang="zh-CN" altLang="zh-CN" sz="2400" dirty="0"/>
              <a:t>。</a:t>
            </a:r>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2004438" y="3173985"/>
            <a:ext cx="3873173" cy="1676106"/>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22632"/>
            <a:ext cx="9144000" cy="4093428"/>
          </a:xfrm>
          <a:prstGeom prst="rect">
            <a:avLst/>
          </a:prstGeom>
        </p:spPr>
        <p:txBody>
          <a:bodyPr wrap="square">
            <a:spAutoFit/>
          </a:bodyPr>
          <a:lstStyle/>
          <a:p>
            <a:r>
              <a:rPr lang="zh-CN" altLang="zh-CN" sz="2000" dirty="0"/>
              <a:t>【题目描述】炸桥（</a:t>
            </a:r>
            <a:r>
              <a:rPr lang="en-US" altLang="zh-CN" sz="2000" dirty="0"/>
              <a:t>bridge</a:t>
            </a:r>
            <a:r>
              <a:rPr lang="zh-CN" altLang="zh-CN" sz="2000" dirty="0"/>
              <a:t>）</a:t>
            </a:r>
            <a:r>
              <a:rPr lang="en-US" altLang="zh-CN" sz="2000" dirty="0"/>
              <a:t>HDU 4738</a:t>
            </a:r>
            <a:endParaRPr lang="zh-CN" altLang="zh-CN" sz="2000" dirty="0"/>
          </a:p>
          <a:p>
            <a:r>
              <a:rPr lang="zh-CN" altLang="zh-CN" sz="2000" dirty="0"/>
              <a:t>暴力组织在海上建立了许多人工岛，人工岛之间有桥相连，如果这些人工岛构成的无向图变成了连通图，那么处理起来会非常麻烦。小光一行打算用遥控机器人毁掉一座桥，使得一个或多个人工岛彼此不能连通。由于每座桥都有一定数量的士兵在守护，所以遥控机器人的数量不能少于该桥上的士兵人数。试编程输出需要派出遥控机器人的最少数量。</a:t>
            </a:r>
          </a:p>
          <a:p>
            <a:r>
              <a:rPr lang="zh-CN" altLang="zh-CN" sz="2000" dirty="0"/>
              <a:t>【输入格式】</a:t>
            </a:r>
          </a:p>
          <a:p>
            <a:r>
              <a:rPr lang="zh-CN" altLang="zh-CN" sz="2000" dirty="0"/>
              <a:t>输入有多组测试数据，但不超过</a:t>
            </a:r>
            <a:r>
              <a:rPr lang="en-US" altLang="zh-CN" sz="2000" dirty="0"/>
              <a:t>12</a:t>
            </a:r>
            <a:r>
              <a:rPr lang="zh-CN" altLang="zh-CN" sz="2000" dirty="0"/>
              <a:t>组。</a:t>
            </a:r>
          </a:p>
          <a:p>
            <a:r>
              <a:rPr lang="zh-CN" altLang="zh-CN" sz="2000" dirty="0"/>
              <a:t>每组数据第一行有两个整数</a:t>
            </a:r>
            <a:r>
              <a:rPr lang="en-US" altLang="zh-CN" sz="2000" i="1" dirty="0"/>
              <a:t>N</a:t>
            </a:r>
            <a:r>
              <a:rPr lang="zh-CN" altLang="zh-CN" sz="2000" dirty="0"/>
              <a:t>和</a:t>
            </a:r>
            <a:r>
              <a:rPr lang="en-US" altLang="zh-CN" sz="2000" i="1" dirty="0"/>
              <a:t>M</a:t>
            </a:r>
            <a:r>
              <a:rPr lang="zh-CN" altLang="zh-CN" sz="2000" dirty="0"/>
              <a:t>，表示有</a:t>
            </a:r>
            <a:r>
              <a:rPr lang="en-US" altLang="zh-CN" sz="2000" i="1" dirty="0"/>
              <a:t>N</a:t>
            </a:r>
            <a:r>
              <a:rPr lang="zh-CN" altLang="zh-CN" sz="2000" dirty="0"/>
              <a:t>个岛和</a:t>
            </a:r>
            <a:r>
              <a:rPr lang="en-US" altLang="zh-CN" sz="2000" i="1" dirty="0"/>
              <a:t>M</a:t>
            </a:r>
            <a:r>
              <a:rPr lang="zh-CN" altLang="zh-CN" sz="2000" dirty="0"/>
              <a:t>座桥，岛的编号范围为</a:t>
            </a:r>
            <a:r>
              <a:rPr lang="en-US" altLang="zh-CN" sz="2000" dirty="0"/>
              <a:t>1~</a:t>
            </a:r>
            <a:r>
              <a:rPr lang="en-US" altLang="zh-CN" sz="2000" i="1" dirty="0"/>
              <a:t>N </a:t>
            </a:r>
            <a:r>
              <a:rPr lang="zh-CN" altLang="zh-CN" sz="2000" dirty="0"/>
              <a:t>（</a:t>
            </a:r>
            <a:r>
              <a:rPr lang="en-US" altLang="zh-CN" sz="2000" dirty="0"/>
              <a:t>2≤</a:t>
            </a:r>
            <a:r>
              <a:rPr lang="en-US" altLang="zh-CN" sz="2000" i="1" dirty="0"/>
              <a:t>N</a:t>
            </a:r>
            <a:r>
              <a:rPr lang="en-US" altLang="zh-CN" sz="2000" dirty="0"/>
              <a:t>≤1 000</a:t>
            </a:r>
            <a:r>
              <a:rPr lang="zh-CN" altLang="zh-CN" sz="2000" dirty="0"/>
              <a:t>，</a:t>
            </a:r>
            <a:r>
              <a:rPr lang="en-US" altLang="zh-CN" sz="2000" dirty="0"/>
              <a:t>0</a:t>
            </a:r>
            <a:r>
              <a:rPr lang="zh-CN" altLang="zh-CN" sz="2000" dirty="0"/>
              <a:t>＜</a:t>
            </a:r>
            <a:r>
              <a:rPr lang="en-US" altLang="zh-CN" sz="2000" i="1" dirty="0"/>
              <a:t>M</a:t>
            </a:r>
            <a:r>
              <a:rPr lang="en-US" altLang="zh-CN" sz="2000" dirty="0"/>
              <a:t>≤</a:t>
            </a:r>
            <a:r>
              <a:rPr lang="en-US" altLang="zh-CN" sz="2000" i="1" dirty="0"/>
              <a:t>N</a:t>
            </a:r>
            <a:r>
              <a:rPr lang="en-US" altLang="zh-CN" sz="2000" baseline="30000" dirty="0"/>
              <a:t>2</a:t>
            </a:r>
            <a:r>
              <a:rPr lang="zh-CN" altLang="zh-CN" sz="2000" dirty="0"/>
              <a:t>）。</a:t>
            </a:r>
          </a:p>
          <a:p>
            <a:r>
              <a:rPr lang="zh-CN" altLang="zh-CN" sz="2000" dirty="0"/>
              <a:t>随后</a:t>
            </a:r>
            <a:r>
              <a:rPr lang="en-US" altLang="zh-CN" sz="2000" i="1" dirty="0"/>
              <a:t>M</a:t>
            </a:r>
            <a:r>
              <a:rPr lang="zh-CN" altLang="zh-CN" sz="2000" dirty="0"/>
              <a:t>行，每行三个整数</a:t>
            </a:r>
            <a:r>
              <a:rPr lang="en-US" altLang="zh-CN" sz="2000" i="1" dirty="0"/>
              <a:t>U</a:t>
            </a:r>
            <a:r>
              <a:rPr lang="zh-CN" altLang="zh-CN" sz="2000" dirty="0"/>
              <a:t>，</a:t>
            </a:r>
            <a:r>
              <a:rPr lang="en-US" altLang="zh-CN" sz="2000" i="1" dirty="0"/>
              <a:t>V</a:t>
            </a:r>
            <a:r>
              <a:rPr lang="zh-CN" altLang="zh-CN" sz="2000" dirty="0"/>
              <a:t>和</a:t>
            </a:r>
            <a:r>
              <a:rPr lang="en-US" altLang="zh-CN" sz="2000" i="1" dirty="0"/>
              <a:t>W</a:t>
            </a:r>
            <a:r>
              <a:rPr lang="zh-CN" altLang="zh-CN" sz="2000" dirty="0"/>
              <a:t>，表示</a:t>
            </a:r>
            <a:r>
              <a:rPr lang="en-US" altLang="zh-CN" sz="2000" i="1" dirty="0"/>
              <a:t>U</a:t>
            </a:r>
            <a:r>
              <a:rPr lang="zh-CN" altLang="zh-CN" sz="2000" dirty="0"/>
              <a:t>岛和</a:t>
            </a:r>
            <a:r>
              <a:rPr lang="en-US" altLang="zh-CN" sz="2000" i="1" dirty="0"/>
              <a:t>V</a:t>
            </a:r>
            <a:r>
              <a:rPr lang="zh-CN" altLang="zh-CN" sz="2000" dirty="0"/>
              <a:t>岛的守护士兵人数为</a:t>
            </a:r>
            <a:r>
              <a:rPr lang="en-US" altLang="zh-CN" sz="2000" i="1" dirty="0"/>
              <a:t>W</a:t>
            </a:r>
            <a:r>
              <a:rPr lang="zh-CN" altLang="zh-CN" sz="2000" dirty="0"/>
              <a:t>（</a:t>
            </a:r>
            <a:r>
              <a:rPr lang="en-US" altLang="zh-CN" sz="2000" i="1" dirty="0"/>
              <a:t>U</a:t>
            </a:r>
            <a:r>
              <a:rPr lang="zh-CN" altLang="zh-CN" sz="2000" dirty="0"/>
              <a:t>≠</a:t>
            </a:r>
            <a:r>
              <a:rPr lang="en-US" altLang="zh-CN" sz="2000" i="1" dirty="0"/>
              <a:t>V</a:t>
            </a:r>
            <a:r>
              <a:rPr lang="zh-CN" altLang="zh-CN" sz="2000" dirty="0"/>
              <a:t>，</a:t>
            </a:r>
            <a:r>
              <a:rPr lang="en-US" altLang="zh-CN" sz="2000" dirty="0"/>
              <a:t>0</a:t>
            </a:r>
            <a:r>
              <a:rPr lang="zh-CN" altLang="zh-CN" sz="2000" dirty="0"/>
              <a:t>≤</a:t>
            </a:r>
            <a:r>
              <a:rPr lang="en-US" altLang="zh-CN" sz="2000" i="1" dirty="0"/>
              <a:t>W</a:t>
            </a:r>
            <a:r>
              <a:rPr lang="zh-CN" altLang="zh-CN" sz="2000" dirty="0"/>
              <a:t>≤</a:t>
            </a:r>
            <a:r>
              <a:rPr lang="en-US" altLang="zh-CN" sz="2000" dirty="0"/>
              <a:t>10 000</a:t>
            </a:r>
            <a:r>
              <a:rPr lang="zh-CN" altLang="zh-CN" sz="2000" dirty="0"/>
              <a:t>）。</a:t>
            </a:r>
          </a:p>
          <a:p>
            <a:r>
              <a:rPr lang="zh-CN" altLang="zh-CN" sz="2000" dirty="0"/>
              <a:t>全部数据结束以两个</a:t>
            </a:r>
            <a:r>
              <a:rPr lang="en-US" altLang="zh-CN" sz="2000" dirty="0"/>
              <a:t>0</a:t>
            </a:r>
            <a:r>
              <a:rPr lang="zh-CN" altLang="zh-CN" sz="2000" dirty="0"/>
              <a:t>表示。</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0"/>
            <a:ext cx="9040305" cy="1569660"/>
          </a:xfrm>
          <a:prstGeom prst="rect">
            <a:avLst/>
          </a:prstGeom>
        </p:spPr>
        <p:txBody>
          <a:bodyPr wrap="square">
            <a:spAutoFit/>
          </a:bodyPr>
          <a:lstStyle/>
          <a:p>
            <a:r>
              <a:rPr lang="zh-CN" altLang="zh-CN" sz="2400" dirty="0"/>
              <a:t>该题明显是无向图求最小桥问题，之前我们讲过：如果</a:t>
            </a:r>
            <a:r>
              <a:rPr lang="en-US" altLang="zh-CN" sz="2400" i="1" dirty="0"/>
              <a:t>v</a:t>
            </a:r>
            <a:r>
              <a:rPr lang="zh-CN" altLang="zh-CN" sz="2400" dirty="0"/>
              <a:t>的后代只能连回</a:t>
            </a:r>
            <a:r>
              <a:rPr lang="en-US" altLang="zh-CN" sz="2400" i="1" dirty="0"/>
              <a:t>v</a:t>
            </a:r>
            <a:r>
              <a:rPr lang="zh-CN" altLang="zh-CN" sz="2400" dirty="0"/>
              <a:t>自己（即</a:t>
            </a:r>
            <a:r>
              <a:rPr lang="en-US" altLang="zh-CN" sz="2400" dirty="0"/>
              <a:t>low(v)</a:t>
            </a:r>
            <a:r>
              <a:rPr lang="zh-CN" altLang="zh-CN" sz="2400" dirty="0"/>
              <a:t>＞</a:t>
            </a:r>
            <a:r>
              <a:rPr lang="en-US" altLang="zh-CN" sz="2400" dirty="0" err="1"/>
              <a:t>dfn</a:t>
            </a:r>
            <a:r>
              <a:rPr lang="en-US" altLang="zh-CN" sz="2400" dirty="0"/>
              <a:t>(u)</a:t>
            </a:r>
            <a:r>
              <a:rPr lang="zh-CN" altLang="zh-CN" sz="2400" dirty="0"/>
              <a:t>），那么只需删除（</a:t>
            </a:r>
            <a:r>
              <a:rPr lang="en-US" altLang="zh-CN" sz="2400" i="1" dirty="0"/>
              <a:t>u</a:t>
            </a:r>
            <a:r>
              <a:rPr lang="zh-CN" altLang="zh-CN" sz="2400" dirty="0"/>
              <a:t>，</a:t>
            </a:r>
            <a:r>
              <a:rPr lang="en-US" altLang="zh-CN" sz="2400" i="1" dirty="0"/>
              <a:t>v</a:t>
            </a:r>
            <a:r>
              <a:rPr lang="zh-CN" altLang="zh-CN" sz="2400" dirty="0"/>
              <a:t>）一条这就可以让图</a:t>
            </a:r>
            <a:r>
              <a:rPr lang="en-US" altLang="zh-CN" sz="2400" dirty="0"/>
              <a:t>G</a:t>
            </a:r>
            <a:r>
              <a:rPr lang="zh-CN" altLang="zh-CN" sz="2400" dirty="0"/>
              <a:t>非连通了，满足这个条件的边称为桥。但这个算法无法处理重边问题。以图为例求割顶。</a:t>
            </a:r>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3393040" y="1512582"/>
            <a:ext cx="1871830" cy="1433293"/>
          </a:xfrm>
          <a:prstGeom prst="rect">
            <a:avLst/>
          </a:prstGeom>
          <a:noFill/>
          <a:ln>
            <a:noFill/>
          </a:ln>
        </p:spPr>
      </p:pic>
      <p:sp>
        <p:nvSpPr>
          <p:cNvPr id="4" name="矩形 3"/>
          <p:cNvSpPr/>
          <p:nvPr/>
        </p:nvSpPr>
        <p:spPr>
          <a:xfrm>
            <a:off x="32994" y="2945875"/>
            <a:ext cx="9111006" cy="830997"/>
          </a:xfrm>
          <a:prstGeom prst="rect">
            <a:avLst/>
          </a:prstGeom>
        </p:spPr>
        <p:txBody>
          <a:bodyPr wrap="square">
            <a:spAutoFit/>
          </a:bodyPr>
          <a:lstStyle/>
          <a:p>
            <a:r>
              <a:rPr lang="zh-CN" altLang="zh-CN" sz="2400" dirty="0"/>
              <a:t>因为一条边会处理两次，所以我们在</a:t>
            </a:r>
            <a:r>
              <a:rPr lang="en-US" altLang="zh-CN" sz="2400" dirty="0" err="1"/>
              <a:t>Tarjan</a:t>
            </a:r>
            <a:r>
              <a:rPr lang="en-US" altLang="zh-CN" sz="2400" dirty="0"/>
              <a:t>(</a:t>
            </a:r>
            <a:r>
              <a:rPr lang="en-US" altLang="zh-CN" sz="2400" dirty="0" err="1"/>
              <a:t>int</a:t>
            </a:r>
            <a:r>
              <a:rPr lang="en-US" altLang="zh-CN" sz="2400" dirty="0"/>
              <a:t> </a:t>
            </a:r>
            <a:r>
              <a:rPr lang="en-US" altLang="zh-CN" sz="2400" dirty="0" err="1"/>
              <a:t>u,int</a:t>
            </a:r>
            <a:r>
              <a:rPr lang="en-US" altLang="zh-CN" sz="2400" dirty="0"/>
              <a:t> fa)</a:t>
            </a:r>
            <a:r>
              <a:rPr lang="zh-CN" altLang="zh-CN" sz="2400" dirty="0"/>
              <a:t>的函数里加入了</a:t>
            </a:r>
            <a:r>
              <a:rPr lang="en-US" altLang="zh-CN" sz="2400" dirty="0"/>
              <a:t>fa</a:t>
            </a:r>
            <a:r>
              <a:rPr lang="zh-CN" altLang="zh-CN" sz="2400" dirty="0"/>
              <a:t>（父结点）参数用来判断是否是第二次处理了这条边。</a:t>
            </a:r>
            <a:endParaRPr lang="zh-CN" altLang="en-US" sz="2400" dirty="0"/>
          </a:p>
        </p:txBody>
      </p:sp>
      <p:sp>
        <p:nvSpPr>
          <p:cNvPr id="5" name="矩形 4"/>
          <p:cNvSpPr/>
          <p:nvPr/>
        </p:nvSpPr>
        <p:spPr>
          <a:xfrm>
            <a:off x="42421" y="4009836"/>
            <a:ext cx="8997883" cy="707886"/>
          </a:xfrm>
          <a:prstGeom prst="rect">
            <a:avLst/>
          </a:prstGeom>
        </p:spPr>
        <p:txBody>
          <a:bodyPr wrap="square">
            <a:spAutoFit/>
          </a:bodyPr>
          <a:lstStyle/>
          <a:p>
            <a:r>
              <a:rPr lang="en-US" altLang="zh-CN" sz="2000" b="1" kern="0" dirty="0">
                <a:solidFill>
                  <a:srgbClr val="0000FF"/>
                </a:solidFill>
                <a:latin typeface="YaHei Consolas Hybrid"/>
                <a:ea typeface="宋体" panose="02010600030101010101" pitchFamily="2" charset="-122"/>
                <a:cs typeface="Courier New" panose="02070309020205020404"/>
              </a:rPr>
              <a:t>else</a:t>
            </a:r>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b="1" kern="0" dirty="0">
                <a:solidFill>
                  <a:srgbClr val="0000FF"/>
                </a:solidFill>
                <a:latin typeface="YaHei Consolas Hybrid"/>
                <a:ea typeface="宋体" panose="02010600030101010101" pitchFamily="2" charset="-122"/>
                <a:cs typeface="Courier New" panose="02070309020205020404"/>
              </a:rPr>
              <a:t>if</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 v </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 fa</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a:solidFill>
                  <a:srgbClr val="008000"/>
                </a:solidFill>
                <a:latin typeface="YaHei Consolas Hybrid"/>
                <a:ea typeface="宋体" panose="02010600030101010101" pitchFamily="2" charset="-122"/>
                <a:cs typeface="Courier New" panose="02070309020205020404"/>
              </a:rPr>
              <a:t>//</a:t>
            </a:r>
            <a:r>
              <a:rPr lang="zh-CN" altLang="zh-CN" sz="2000" kern="0" dirty="0">
                <a:solidFill>
                  <a:srgbClr val="008000"/>
                </a:solidFill>
                <a:latin typeface="Times New Roman" panose="02020603050405020304"/>
                <a:ea typeface="YaHei Consolas Hybrid"/>
                <a:cs typeface="Courier New" panose="02070309020205020404"/>
              </a:rPr>
              <a:t>防止走回头路，回头不会更新</a:t>
            </a:r>
            <a:r>
              <a:rPr lang="en-US" altLang="zh-CN" sz="2000" kern="0" dirty="0">
                <a:solidFill>
                  <a:srgbClr val="008000"/>
                </a:solidFill>
                <a:latin typeface="Times New Roman" panose="02020603050405020304"/>
                <a:ea typeface="YaHei Consolas Hybrid"/>
                <a:cs typeface="Courier New" panose="02070309020205020404"/>
              </a:rPr>
              <a:t>low[u]</a:t>
            </a:r>
            <a:endParaRPr lang="zh-CN" altLang="zh-CN" sz="2400" kern="100" dirty="0">
              <a:latin typeface="Times New Roman" panose="02020603050405020304"/>
              <a:ea typeface="宋体" panose="02010600030101010101" pitchFamily="2" charset="-122"/>
            </a:endParaRPr>
          </a:p>
          <a:p>
            <a:r>
              <a:rPr lang="en-US" altLang="zh-CN" sz="2000" dirty="0">
                <a:solidFill>
                  <a:srgbClr val="000000"/>
                </a:solidFill>
                <a:latin typeface="YaHei Consolas Hybrid"/>
                <a:cs typeface="Courier New" panose="02070309020205020404"/>
              </a:rPr>
              <a:t>  low</a:t>
            </a:r>
            <a:r>
              <a:rPr lang="en-US" altLang="zh-CN" sz="2000" b="1" dirty="0">
                <a:solidFill>
                  <a:srgbClr val="000080"/>
                </a:solidFill>
                <a:latin typeface="YaHei Consolas Hybrid"/>
                <a:cs typeface="Courier New" panose="02070309020205020404"/>
              </a:rPr>
              <a:t>[</a:t>
            </a:r>
            <a:r>
              <a:rPr lang="en-US" altLang="zh-CN" sz="2000" dirty="0">
                <a:solidFill>
                  <a:srgbClr val="000000"/>
                </a:solidFill>
                <a:latin typeface="YaHei Consolas Hybrid"/>
                <a:cs typeface="Courier New" panose="02070309020205020404"/>
              </a:rPr>
              <a:t>u</a:t>
            </a:r>
            <a:r>
              <a:rPr lang="en-US" altLang="zh-CN" sz="2000" b="1" dirty="0">
                <a:solidFill>
                  <a:srgbClr val="000080"/>
                </a:solidFill>
                <a:latin typeface="YaHei Consolas Hybrid"/>
                <a:cs typeface="Courier New" panose="02070309020205020404"/>
              </a:rPr>
              <a:t>]=</a:t>
            </a:r>
            <a:r>
              <a:rPr lang="en-US" altLang="zh-CN" sz="2000" dirty="0">
                <a:solidFill>
                  <a:srgbClr val="000000"/>
                </a:solidFill>
                <a:latin typeface="YaHei Consolas Hybrid"/>
                <a:cs typeface="Courier New" panose="02070309020205020404"/>
              </a:rPr>
              <a:t>min</a:t>
            </a:r>
            <a:r>
              <a:rPr lang="en-US" altLang="zh-CN" sz="2000" b="1" dirty="0">
                <a:solidFill>
                  <a:srgbClr val="000080"/>
                </a:solidFill>
                <a:latin typeface="YaHei Consolas Hybrid"/>
                <a:cs typeface="Courier New" panose="02070309020205020404"/>
              </a:rPr>
              <a:t>(</a:t>
            </a:r>
            <a:r>
              <a:rPr lang="en-US" altLang="zh-CN" sz="2000" dirty="0">
                <a:solidFill>
                  <a:srgbClr val="000000"/>
                </a:solidFill>
                <a:latin typeface="YaHei Consolas Hybrid"/>
                <a:cs typeface="Courier New" panose="02070309020205020404"/>
              </a:rPr>
              <a:t>low</a:t>
            </a:r>
            <a:r>
              <a:rPr lang="en-US" altLang="zh-CN" sz="2000" b="1" dirty="0">
                <a:solidFill>
                  <a:srgbClr val="000080"/>
                </a:solidFill>
                <a:latin typeface="YaHei Consolas Hybrid"/>
                <a:cs typeface="Courier New" panose="02070309020205020404"/>
              </a:rPr>
              <a:t>[</a:t>
            </a:r>
            <a:r>
              <a:rPr lang="en-US" altLang="zh-CN" sz="2000" dirty="0">
                <a:solidFill>
                  <a:srgbClr val="000000"/>
                </a:solidFill>
                <a:latin typeface="YaHei Consolas Hybrid"/>
                <a:cs typeface="Courier New" panose="02070309020205020404"/>
              </a:rPr>
              <a:t>u</a:t>
            </a:r>
            <a:r>
              <a:rPr lang="en-US" altLang="zh-CN" sz="2000" b="1" dirty="0">
                <a:solidFill>
                  <a:srgbClr val="000080"/>
                </a:solidFill>
                <a:latin typeface="YaHei Consolas Hybrid"/>
                <a:cs typeface="Courier New" panose="02070309020205020404"/>
              </a:rPr>
              <a:t>],</a:t>
            </a:r>
            <a:r>
              <a:rPr lang="en-US" altLang="zh-CN" sz="2000" dirty="0" err="1">
                <a:solidFill>
                  <a:srgbClr val="000000"/>
                </a:solidFill>
                <a:latin typeface="YaHei Consolas Hybrid"/>
                <a:cs typeface="Courier New" panose="02070309020205020404"/>
              </a:rPr>
              <a:t>dfn</a:t>
            </a:r>
            <a:r>
              <a:rPr lang="en-US" altLang="zh-CN" sz="2000" b="1" dirty="0">
                <a:solidFill>
                  <a:srgbClr val="000080"/>
                </a:solidFill>
                <a:latin typeface="YaHei Consolas Hybrid"/>
                <a:cs typeface="Courier New" panose="02070309020205020404"/>
              </a:rPr>
              <a:t>[</a:t>
            </a:r>
            <a:r>
              <a:rPr lang="en-US" altLang="zh-CN" sz="2000" dirty="0">
                <a:solidFill>
                  <a:srgbClr val="000000"/>
                </a:solidFill>
                <a:latin typeface="YaHei Consolas Hybrid"/>
                <a:cs typeface="Courier New" panose="02070309020205020404"/>
              </a:rPr>
              <a:t>v</a:t>
            </a:r>
            <a:r>
              <a:rPr lang="en-US" altLang="zh-CN" sz="2000" b="1" dirty="0">
                <a:solidFill>
                  <a:srgbClr val="000080"/>
                </a:solidFill>
                <a:latin typeface="YaHei Consolas Hybrid"/>
                <a:cs typeface="Courier New" panose="02070309020205020404"/>
              </a:rPr>
              <a:t>]);</a:t>
            </a:r>
            <a:endParaRPr lang="zh-CN" altLang="en-US" sz="20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1848" y="0"/>
            <a:ext cx="9092152" cy="1292662"/>
          </a:xfrm>
          <a:prstGeom prst="rect">
            <a:avLst/>
          </a:prstGeom>
        </p:spPr>
        <p:txBody>
          <a:bodyPr wrap="square">
            <a:spAutoFit/>
          </a:bodyPr>
          <a:lstStyle/>
          <a:p>
            <a:r>
              <a:rPr lang="en-US" altLang="zh-CN" dirty="0"/>
              <a:t>     </a:t>
            </a:r>
            <a:r>
              <a:rPr lang="zh-CN" altLang="zh-CN" dirty="0"/>
              <a:t>但是如果有重边如图所示。用上面的代码仍然不去走这些这些反向箭头的话， 就会漏掉重边，得出结点</a:t>
            </a:r>
            <a:r>
              <a:rPr lang="en-US" altLang="zh-CN" dirty="0"/>
              <a:t>2</a:t>
            </a:r>
            <a:r>
              <a:rPr lang="zh-CN" altLang="zh-CN" dirty="0"/>
              <a:t>到结点</a:t>
            </a:r>
            <a:r>
              <a:rPr lang="en-US" altLang="zh-CN" dirty="0"/>
              <a:t>3</a:t>
            </a:r>
            <a:r>
              <a:rPr lang="zh-CN" altLang="zh-CN" dirty="0"/>
              <a:t>的边是桥这一错误结果。</a:t>
            </a:r>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2943526" y="1227772"/>
            <a:ext cx="2434465" cy="1873647"/>
          </a:xfrm>
          <a:prstGeom prst="rect">
            <a:avLst/>
          </a:prstGeom>
          <a:noFill/>
          <a:ln>
            <a:noFill/>
          </a:ln>
        </p:spPr>
      </p:pic>
      <p:sp>
        <p:nvSpPr>
          <p:cNvPr id="4" name="矩形 3"/>
          <p:cNvSpPr/>
          <p:nvPr/>
        </p:nvSpPr>
        <p:spPr>
          <a:xfrm>
            <a:off x="263950" y="3367720"/>
            <a:ext cx="8766928" cy="892552"/>
          </a:xfrm>
          <a:prstGeom prst="rect">
            <a:avLst/>
          </a:prstGeom>
        </p:spPr>
        <p:txBody>
          <a:bodyPr wrap="square">
            <a:spAutoFit/>
          </a:bodyPr>
          <a:lstStyle/>
          <a:p>
            <a:r>
              <a:rPr lang="zh-CN" altLang="zh-CN" dirty="0"/>
              <a:t>解决重边的方法是对所有的边编号，如果发现是同一条边，就</a:t>
            </a:r>
            <a:r>
              <a:rPr lang="en-US" altLang="zh-CN" dirty="0"/>
              <a:t>continue</a:t>
            </a:r>
            <a:r>
              <a:rPr lang="zh-CN" altLang="zh-CN" dirty="0"/>
              <a:t>好了。</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892"/>
            <a:ext cx="3945311" cy="492443"/>
          </a:xfrm>
          <a:prstGeom prst="rect">
            <a:avLst/>
          </a:prstGeom>
        </p:spPr>
        <p:txBody>
          <a:bodyPr wrap="none">
            <a:spAutoFit/>
          </a:bodyPr>
          <a:lstStyle/>
          <a:p>
            <a:r>
              <a:rPr lang="en-US" altLang="zh-CN" b="1" dirty="0"/>
              <a:t>5.8.3 </a:t>
            </a:r>
            <a:r>
              <a:rPr lang="zh-CN" altLang="zh-CN" b="1" dirty="0"/>
              <a:t>无向图的双连通分量</a:t>
            </a:r>
          </a:p>
        </p:txBody>
      </p:sp>
      <p:sp>
        <p:nvSpPr>
          <p:cNvPr id="3" name="矩形 2"/>
          <p:cNvSpPr/>
          <p:nvPr/>
        </p:nvSpPr>
        <p:spPr>
          <a:xfrm>
            <a:off x="0" y="563803"/>
            <a:ext cx="9144000" cy="1938992"/>
          </a:xfrm>
          <a:prstGeom prst="rect">
            <a:avLst/>
          </a:prstGeom>
        </p:spPr>
        <p:txBody>
          <a:bodyPr wrap="square">
            <a:spAutoFit/>
          </a:bodyPr>
          <a:lstStyle/>
          <a:p>
            <a:r>
              <a:rPr lang="en-US" altLang="zh-CN" sz="2000" dirty="0"/>
              <a:t>    </a:t>
            </a:r>
            <a:r>
              <a:rPr lang="zh-CN" altLang="zh-CN" sz="2000" dirty="0"/>
              <a:t>对于一个连通图，如果任意两点至少存在两条“点不重复”的路径，则说这个图是点—双连通（简称双连通，</a:t>
            </a:r>
            <a:r>
              <a:rPr lang="en-US" altLang="zh-CN" sz="2000" dirty="0" err="1"/>
              <a:t>biconnected</a:t>
            </a:r>
            <a:r>
              <a:rPr lang="zh-CN" altLang="zh-CN" sz="2000" dirty="0"/>
              <a:t>）。这意味着连通图内无割顶。</a:t>
            </a:r>
          </a:p>
          <a:p>
            <a:r>
              <a:rPr lang="en-US" altLang="zh-CN" sz="2000" dirty="0"/>
              <a:t>    </a:t>
            </a:r>
            <a:r>
              <a:rPr lang="zh-CN" altLang="zh-CN" sz="2000" dirty="0"/>
              <a:t>类似地，如果任意两点至少存在两条“边不重复”的路径，则说这个图是边—双连通（</a:t>
            </a:r>
            <a:r>
              <a:rPr lang="en-US" altLang="zh-CN" sz="2000" dirty="0"/>
              <a:t>edge-</a:t>
            </a:r>
            <a:r>
              <a:rPr lang="en-US" altLang="zh-CN" sz="2000" dirty="0" err="1"/>
              <a:t>biconnected</a:t>
            </a:r>
            <a:r>
              <a:rPr lang="zh-CN" altLang="zh-CN" sz="2000" dirty="0"/>
              <a:t>）。这意味着图中所有的边都不是桥。</a:t>
            </a:r>
          </a:p>
          <a:p>
            <a:r>
              <a:rPr lang="en-US" altLang="zh-CN" sz="2000" dirty="0"/>
              <a:t>    </a:t>
            </a:r>
            <a:r>
              <a:rPr lang="zh-CN" altLang="zh-CN" sz="2000" dirty="0"/>
              <a:t>如图所示有两个点—双连通分量：</a:t>
            </a:r>
            <a:r>
              <a:rPr lang="en-US" altLang="zh-CN" sz="2000" dirty="0"/>
              <a:t>{A,B,C}</a:t>
            </a:r>
            <a:r>
              <a:rPr lang="zh-CN" altLang="zh-CN" sz="2000" dirty="0"/>
              <a:t>和</a:t>
            </a:r>
            <a:r>
              <a:rPr lang="en-US" altLang="zh-CN" sz="2000" dirty="0"/>
              <a:t>{C,D,E}</a:t>
            </a:r>
            <a:r>
              <a:rPr lang="zh-CN" altLang="zh-CN" sz="2000" dirty="0"/>
              <a:t>，一个边—双连通分量：</a:t>
            </a:r>
            <a:r>
              <a:rPr lang="en-US" altLang="zh-CN" sz="2000" dirty="0"/>
              <a:t>{A,B,C,D,E}</a:t>
            </a:r>
            <a:r>
              <a:rPr lang="zh-CN" altLang="zh-CN" sz="2000" dirty="0"/>
              <a:t>。</a:t>
            </a:r>
          </a:p>
        </p:txBody>
      </p:sp>
      <p:pic>
        <p:nvPicPr>
          <p:cNvPr id="4" name="图片 3"/>
          <p:cNvPicPr/>
          <p:nvPr/>
        </p:nvPicPr>
        <p:blipFill>
          <a:blip r:embed="rId2">
            <a:extLst>
              <a:ext uri="{28A0092B-C50C-407E-A947-70E740481C1C}">
                <a14:useLocalDpi xmlns:a14="http://schemas.microsoft.com/office/drawing/2010/main" val="0"/>
              </a:ext>
            </a:extLst>
          </a:blip>
          <a:srcRect/>
          <a:stretch>
            <a:fillRect/>
          </a:stretch>
        </p:blipFill>
        <p:spPr>
          <a:xfrm>
            <a:off x="2830531" y="2876343"/>
            <a:ext cx="2834977" cy="1492981"/>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64100"/>
            <a:ext cx="9144000" cy="5416868"/>
          </a:xfrm>
          <a:prstGeom prst="rect">
            <a:avLst/>
          </a:prstGeom>
        </p:spPr>
        <p:txBody>
          <a:bodyPr wrap="square">
            <a:spAutoFit/>
          </a:bodyPr>
          <a:lstStyle/>
          <a:p>
            <a:r>
              <a:rPr lang="zh-CN" altLang="zh-CN" sz="2400" dirty="0"/>
              <a:t>【题目描述】天堂岛（</a:t>
            </a:r>
            <a:r>
              <a:rPr lang="en-US" altLang="zh-CN" sz="2400" dirty="0"/>
              <a:t>island</a:t>
            </a:r>
            <a:r>
              <a:rPr lang="zh-CN" altLang="zh-CN" sz="2400" dirty="0"/>
              <a:t>）</a:t>
            </a:r>
            <a:r>
              <a:rPr lang="en-US" altLang="zh-CN" sz="2400" dirty="0"/>
              <a:t>POJ 3352</a:t>
            </a:r>
            <a:endParaRPr lang="zh-CN" altLang="zh-CN" sz="2400" dirty="0"/>
          </a:p>
          <a:p>
            <a:r>
              <a:rPr lang="zh-CN" altLang="zh-CN" sz="2400" dirty="0"/>
              <a:t>在海上建立的人工岛屿被一家跨国企业收购并开发成了旅游景点，最大的一座岛上有</a:t>
            </a:r>
            <a:r>
              <a:rPr lang="en-US" altLang="zh-CN" sz="2400" i="1" dirty="0"/>
              <a:t>N</a:t>
            </a:r>
            <a:r>
              <a:rPr lang="zh-CN" altLang="zh-CN" sz="2400" dirty="0"/>
              <a:t>个旅游景点，任意</a:t>
            </a:r>
            <a:r>
              <a:rPr lang="en-US" altLang="zh-CN" sz="2400" dirty="0"/>
              <a:t>2</a:t>
            </a:r>
            <a:r>
              <a:rPr lang="zh-CN" altLang="zh-CN" sz="2400" dirty="0"/>
              <a:t>个旅游景点之间有路径连通（注意不一定是直接连通）。而为了给游客提供更方便的服务，该企业要求道路部门在某些道路增加一些设施。</a:t>
            </a:r>
          </a:p>
          <a:p>
            <a:r>
              <a:rPr lang="zh-CN" altLang="zh-CN" sz="2400" dirty="0"/>
              <a:t>道路部门每次只会选择一条道路施工，在该条道路施工完毕前，其他道路依然可以通行。然而有道路部门正在施工的道路，在施工完毕前是禁止游客通行的，这就导致了在施工期间游客可能无法到达一些景点。</a:t>
            </a:r>
          </a:p>
          <a:p>
            <a:r>
              <a:rPr lang="zh-CN" altLang="zh-CN" sz="2400" dirty="0"/>
              <a:t>为了在施工期间所有旅游景点依然能够正常对游客开放，该企业决定搭建一些临时桥梁，使得不管道路部门选在哪条路进行施工，游客都能够到达所有旅游景点。给出当下允许通行的</a:t>
            </a:r>
            <a:r>
              <a:rPr lang="en-US" altLang="zh-CN" sz="2400" i="1" dirty="0"/>
              <a:t>r</a:t>
            </a:r>
            <a:r>
              <a:rPr lang="zh-CN" altLang="zh-CN" sz="2400" dirty="0"/>
              <a:t>条道路，问该企业至少再搭建几条临时桥梁，才能使得游客无视道路施工到达所有旅游景点？</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2419" y="114224"/>
            <a:ext cx="9101579" cy="4893647"/>
          </a:xfrm>
          <a:prstGeom prst="rect">
            <a:avLst/>
          </a:prstGeom>
        </p:spPr>
        <p:txBody>
          <a:bodyPr wrap="square">
            <a:spAutoFit/>
          </a:bodyPr>
          <a:lstStyle/>
          <a:p>
            <a:r>
              <a:rPr lang="en-US" altLang="zh-CN" sz="2400" dirty="0"/>
              <a:t>     </a:t>
            </a:r>
            <a:r>
              <a:rPr lang="zh-CN" altLang="zh-CN" sz="2400" dirty="0"/>
              <a:t>该题本质是给定一个连通的无向图</a:t>
            </a:r>
            <a:r>
              <a:rPr lang="en-US" altLang="zh-CN" sz="2400" dirty="0"/>
              <a:t>G</a:t>
            </a:r>
            <a:r>
              <a:rPr lang="zh-CN" altLang="zh-CN" sz="2400" dirty="0"/>
              <a:t>，至少要添加几条边，才能使其变为双连通图。</a:t>
            </a:r>
          </a:p>
          <a:p>
            <a:r>
              <a:rPr lang="en-US" altLang="zh-CN" sz="2400" dirty="0"/>
              <a:t>     </a:t>
            </a:r>
            <a:r>
              <a:rPr lang="zh-CN" altLang="zh-CN" sz="2400" dirty="0"/>
              <a:t>显然，当图</a:t>
            </a:r>
            <a:r>
              <a:rPr lang="en-US" altLang="zh-CN" sz="2400" dirty="0"/>
              <a:t>G</a:t>
            </a:r>
            <a:r>
              <a:rPr lang="zh-CN" altLang="zh-CN" sz="2400" dirty="0"/>
              <a:t>存在桥（割边）的时候，它必定不是双连通的。桥的两个端点必定分别属于图</a:t>
            </a:r>
            <a:r>
              <a:rPr lang="en-US" altLang="zh-CN" sz="2400" dirty="0"/>
              <a:t>G</a:t>
            </a:r>
            <a:r>
              <a:rPr lang="zh-CN" altLang="zh-CN" sz="2400" dirty="0"/>
              <a:t>的两个边—双连通分量（注意不是点—双连通分量），一旦删除了桥，这两个边—双连通分量必定断开，图</a:t>
            </a:r>
            <a:r>
              <a:rPr lang="en-US" altLang="zh-CN" sz="2400" dirty="0"/>
              <a:t>G</a:t>
            </a:r>
            <a:r>
              <a:rPr lang="zh-CN" altLang="zh-CN" sz="2400" dirty="0"/>
              <a:t>就不连通了。但是如果在两个边—双连通分量之间再添加一条边，桥就不再是桥了，这两个边—双连通分量之间也就是双连通了。</a:t>
            </a:r>
          </a:p>
          <a:p>
            <a:r>
              <a:rPr lang="en-US" altLang="zh-CN" sz="2400" dirty="0"/>
              <a:t>     </a:t>
            </a:r>
            <a:r>
              <a:rPr lang="zh-CN" altLang="zh-CN" sz="2400" dirty="0"/>
              <a:t>首先用</a:t>
            </a:r>
            <a:r>
              <a:rPr lang="en-US" altLang="zh-CN" sz="2400" dirty="0" err="1"/>
              <a:t>Tarjan</a:t>
            </a:r>
            <a:r>
              <a:rPr lang="zh-CN" altLang="zh-CN" sz="2400" dirty="0"/>
              <a:t>算法寻找图</a:t>
            </a:r>
            <a:r>
              <a:rPr lang="en-US" altLang="zh-CN" sz="2400" dirty="0"/>
              <a:t>G</a:t>
            </a:r>
            <a:r>
              <a:rPr lang="zh-CN" altLang="zh-CN" sz="2400" dirty="0"/>
              <a:t>的所有边—双连通分量，因为</a:t>
            </a:r>
            <a:r>
              <a:rPr lang="en-US" altLang="zh-CN" sz="2400" dirty="0" err="1"/>
              <a:t>Tarjan</a:t>
            </a:r>
            <a:r>
              <a:rPr lang="zh-CN" altLang="zh-CN" sz="2400" dirty="0"/>
              <a:t>算法在</a:t>
            </a:r>
            <a:r>
              <a:rPr lang="en-US" altLang="zh-CN" sz="2400" dirty="0"/>
              <a:t>DFS</a:t>
            </a:r>
            <a:r>
              <a:rPr lang="zh-CN" altLang="zh-CN" sz="2400" dirty="0"/>
              <a:t>过程中会对图</a:t>
            </a:r>
            <a:r>
              <a:rPr lang="en-US" altLang="zh-CN" sz="2400" dirty="0"/>
              <a:t>G</a:t>
            </a:r>
            <a:r>
              <a:rPr lang="zh-CN" altLang="zh-CN" sz="2400" dirty="0"/>
              <a:t>所有的结点都生成一个</a:t>
            </a:r>
            <a:r>
              <a:rPr lang="en-US" altLang="zh-CN" sz="2400" dirty="0"/>
              <a:t>low</a:t>
            </a:r>
            <a:r>
              <a:rPr lang="zh-CN" altLang="zh-CN" sz="2400" dirty="0"/>
              <a:t>值，</a:t>
            </a:r>
            <a:r>
              <a:rPr lang="en-US" altLang="zh-CN" sz="2400" dirty="0"/>
              <a:t>low</a:t>
            </a:r>
            <a:r>
              <a:rPr lang="zh-CN" altLang="zh-CN" sz="2400" dirty="0"/>
              <a:t>值相同的两个结点必定在同一个边—双连通分量中。（本题无重边，如果有重边的话，那么不同的</a:t>
            </a:r>
            <a:r>
              <a:rPr lang="en-US" altLang="zh-CN" sz="2400" dirty="0"/>
              <a:t>low</a:t>
            </a:r>
            <a:r>
              <a:rPr lang="zh-CN" altLang="zh-CN" sz="2400" dirty="0"/>
              <a:t>值是可能是属于同一个边—双连通分量的，这要通过其他方法去求解边—双连通分量。）</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3827"/>
            <a:ext cx="9078012" cy="1292662"/>
          </a:xfrm>
          <a:prstGeom prst="rect">
            <a:avLst/>
          </a:prstGeom>
        </p:spPr>
        <p:txBody>
          <a:bodyPr wrap="square">
            <a:spAutoFit/>
          </a:bodyPr>
          <a:lstStyle/>
          <a:p>
            <a:r>
              <a:rPr lang="en-US" altLang="zh-CN" dirty="0"/>
              <a:t>      </a:t>
            </a:r>
            <a:r>
              <a:rPr lang="zh-CN" altLang="zh-CN" dirty="0"/>
              <a:t>再把每一个边—强连通分量都看做一个点（即缩点），实际编程操作时其实是对点分类处理，并不是真正的缩点，如图</a:t>
            </a:r>
            <a:endParaRPr lang="zh-CN" altLang="en-US"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2014321" y="1218322"/>
            <a:ext cx="4796545" cy="2217748"/>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6564" y="187261"/>
            <a:ext cx="9106292" cy="3693319"/>
          </a:xfrm>
          <a:prstGeom prst="rect">
            <a:avLst/>
          </a:prstGeom>
        </p:spPr>
        <p:txBody>
          <a:bodyPr wrap="square">
            <a:spAutoFit/>
          </a:bodyPr>
          <a:lstStyle/>
          <a:p>
            <a:r>
              <a:rPr lang="en-US" altLang="zh-CN" dirty="0"/>
              <a:t>    </a:t>
            </a:r>
            <a:r>
              <a:rPr lang="zh-CN" altLang="zh-CN" dirty="0"/>
              <a:t>不难发现，连接缩点之间的边，都是图</a:t>
            </a:r>
            <a:r>
              <a:rPr lang="en-US" altLang="zh-CN" dirty="0"/>
              <a:t>G</a:t>
            </a:r>
            <a:r>
              <a:rPr lang="zh-CN" altLang="zh-CN" dirty="0"/>
              <a:t>的桥，问题再次被转化为“至少在缩点树上增加多少条树边，使得这棵树变为一个强连通图”。</a:t>
            </a:r>
          </a:p>
          <a:p>
            <a:r>
              <a:rPr lang="en-US" altLang="zh-CN" dirty="0"/>
              <a:t>    </a:t>
            </a:r>
            <a:r>
              <a:rPr lang="zh-CN" altLang="zh-CN" dirty="0"/>
              <a:t>这将用到一条等式：若要使得任意一棵树，在增加若干条边后，变成一个强连通图，那么至少增加的边数 ＝（这棵树总度数为</a:t>
            </a:r>
            <a:r>
              <a:rPr lang="en-US" altLang="zh-CN" dirty="0"/>
              <a:t>1</a:t>
            </a:r>
            <a:r>
              <a:rPr lang="zh-CN" altLang="zh-CN" dirty="0"/>
              <a:t>的结点数＋</a:t>
            </a:r>
            <a:r>
              <a:rPr lang="en-US" altLang="zh-CN" dirty="0"/>
              <a:t>1</a:t>
            </a:r>
            <a:r>
              <a:rPr lang="zh-CN" altLang="zh-CN" dirty="0"/>
              <a:t>）</a:t>
            </a:r>
            <a:r>
              <a:rPr lang="en-US" altLang="zh-CN" dirty="0"/>
              <a:t>/ 2</a:t>
            </a:r>
            <a:r>
              <a:rPr lang="zh-CN" altLang="zh-CN" dirty="0"/>
              <a:t>。</a:t>
            </a:r>
          </a:p>
          <a:p>
            <a:r>
              <a:rPr lang="en-US" altLang="zh-CN" dirty="0"/>
              <a:t>    </a:t>
            </a:r>
            <a:r>
              <a:rPr lang="zh-CN" altLang="zh-CN" dirty="0"/>
              <a:t>故只需求缩点树中总度数为</a:t>
            </a:r>
            <a:r>
              <a:rPr lang="en-US" altLang="zh-CN" dirty="0"/>
              <a:t>1</a:t>
            </a:r>
            <a:r>
              <a:rPr lang="zh-CN" altLang="zh-CN" dirty="0"/>
              <a:t>的结点数（即叶子数）有多少就可以了。换而言之，我们只需求出所有缩点的度数，然后判断度数为</a:t>
            </a:r>
            <a:r>
              <a:rPr lang="en-US" altLang="zh-CN" dirty="0"/>
              <a:t>1</a:t>
            </a:r>
            <a:r>
              <a:rPr lang="zh-CN" altLang="zh-CN" dirty="0"/>
              <a:t>的缩点有几个，问题就解决了。</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51825"/>
            <a:ext cx="9111006" cy="954107"/>
          </a:xfrm>
          <a:prstGeom prst="rect">
            <a:avLst/>
          </a:prstGeom>
        </p:spPr>
        <p:txBody>
          <a:bodyPr wrap="square">
            <a:spAutoFit/>
          </a:bodyPr>
          <a:lstStyle/>
          <a:p>
            <a:r>
              <a:rPr lang="en-US" altLang="zh-CN" sz="2800" kern="100" dirty="0">
                <a:ea typeface="楷体_GB2312"/>
                <a:cs typeface="Times New Roman" panose="02020603050405020304"/>
              </a:rPr>
              <a:t>    </a:t>
            </a:r>
            <a:r>
              <a:rPr lang="zh-CN" altLang="zh-CN" sz="2800" kern="100" dirty="0">
                <a:ea typeface="楷体_GB2312"/>
                <a:cs typeface="Times New Roman" panose="02020603050405020304"/>
              </a:rPr>
              <a:t>这种做法只是考虑了每一个强连通分量中只有一个环的情况，如果有多个环，则会出错。</a:t>
            </a:r>
            <a:endParaRPr lang="zh-CN" altLang="en-US" dirty="0"/>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4" name="对象 3"/>
          <p:cNvGraphicFramePr>
            <a:graphicFrameLocks noChangeAspect="1"/>
          </p:cNvGraphicFramePr>
          <p:nvPr/>
        </p:nvGraphicFramePr>
        <p:xfrm>
          <a:off x="2903456" y="1286758"/>
          <a:ext cx="3121025" cy="1200150"/>
        </p:xfrm>
        <a:graphic>
          <a:graphicData uri="http://schemas.openxmlformats.org/presentationml/2006/ole">
            <mc:AlternateContent xmlns:mc="http://schemas.openxmlformats.org/markup-compatibility/2006">
              <mc:Choice xmlns:v="urn:schemas-microsoft-com:vml" Requires="v">
                <p:oleObj name="BMP 图像" r:id="rId2" imgW="4714875" imgH="1771650" progId="Paint.Picture">
                  <p:embed/>
                </p:oleObj>
              </mc:Choice>
              <mc:Fallback>
                <p:oleObj name="BMP 图像" r:id="rId2" imgW="4714875" imgH="1771650" progId="Paint.Picture">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3456" y="1286758"/>
                        <a:ext cx="3121025" cy="1200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矩形 4"/>
          <p:cNvSpPr/>
          <p:nvPr/>
        </p:nvSpPr>
        <p:spPr>
          <a:xfrm>
            <a:off x="65988" y="2763902"/>
            <a:ext cx="8889476" cy="2092881"/>
          </a:xfrm>
          <a:prstGeom prst="rect">
            <a:avLst/>
          </a:prstGeom>
        </p:spPr>
        <p:txBody>
          <a:bodyPr wrap="square">
            <a:spAutoFit/>
          </a:bodyPr>
          <a:lstStyle/>
          <a:p>
            <a:r>
              <a:rPr lang="en-US" altLang="zh-CN" dirty="0"/>
              <a:t>    </a:t>
            </a:r>
            <a:r>
              <a:rPr lang="zh-CN" altLang="zh-CN" dirty="0"/>
              <a:t>解决办法是在</a:t>
            </a:r>
            <a:r>
              <a:rPr lang="en-US" altLang="zh-CN" dirty="0" err="1"/>
              <a:t>Tarjan</a:t>
            </a:r>
            <a:r>
              <a:rPr lang="zh-CN" altLang="zh-CN" dirty="0"/>
              <a:t>算法里加一个堆栈，每次</a:t>
            </a:r>
            <a:r>
              <a:rPr lang="en-US" altLang="zh-CN" dirty="0"/>
              <a:t>DFS</a:t>
            </a:r>
            <a:r>
              <a:rPr lang="zh-CN" altLang="zh-CN" dirty="0"/>
              <a:t>到新结点</a:t>
            </a:r>
            <a:r>
              <a:rPr lang="en-US" altLang="zh-CN" i="1" dirty="0"/>
              <a:t>u</a:t>
            </a:r>
            <a:r>
              <a:rPr lang="zh-CN" altLang="zh-CN" dirty="0"/>
              <a:t>时将它入栈，当</a:t>
            </a:r>
            <a:r>
              <a:rPr lang="en-US" altLang="zh-CN" dirty="0"/>
              <a:t>DFS</a:t>
            </a:r>
            <a:r>
              <a:rPr lang="zh-CN" altLang="zh-CN" dirty="0"/>
              <a:t>结束时，如果该结点的</a:t>
            </a:r>
            <a:r>
              <a:rPr lang="en-US" altLang="zh-CN" dirty="0" err="1"/>
              <a:t>dfn</a:t>
            </a:r>
            <a:r>
              <a:rPr lang="en-US" altLang="zh-CN" dirty="0"/>
              <a:t>[u]</a:t>
            </a:r>
            <a:r>
              <a:rPr lang="zh-CN" altLang="zh-CN" dirty="0"/>
              <a:t>＝</a:t>
            </a:r>
            <a:r>
              <a:rPr lang="en-US" altLang="zh-CN" dirty="0"/>
              <a:t>low[u]</a:t>
            </a:r>
            <a:r>
              <a:rPr lang="zh-CN" altLang="zh-CN" dirty="0"/>
              <a:t>，说明结点</a:t>
            </a:r>
            <a:r>
              <a:rPr lang="en-US" altLang="zh-CN" i="1" dirty="0"/>
              <a:t>u</a:t>
            </a:r>
            <a:r>
              <a:rPr lang="zh-CN" altLang="zh-CN" dirty="0"/>
              <a:t>是强连通分量的根，则对堆栈中结点</a:t>
            </a:r>
            <a:r>
              <a:rPr lang="en-US" altLang="zh-CN" i="1" dirty="0"/>
              <a:t>u</a:t>
            </a:r>
            <a:r>
              <a:rPr lang="zh-CN" altLang="zh-CN" dirty="0"/>
              <a:t>之上的结点依次出栈，因为这些结点均属于同一强连通分量，所以，双连通分量的判断应该以出栈为标准。</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535"/>
            <a:ext cx="2549224" cy="492443"/>
          </a:xfrm>
          <a:prstGeom prst="rect">
            <a:avLst/>
          </a:prstGeom>
        </p:spPr>
        <p:txBody>
          <a:bodyPr wrap="none">
            <a:spAutoFit/>
          </a:bodyPr>
          <a:lstStyle/>
          <a:p>
            <a:r>
              <a:rPr lang="en-US" altLang="zh-CN" b="1" dirty="0"/>
              <a:t>5.9 </a:t>
            </a:r>
            <a:r>
              <a:rPr lang="en-US" altLang="zh-CN" b="1" dirty="0" err="1"/>
              <a:t>Kosaraju</a:t>
            </a:r>
            <a:r>
              <a:rPr lang="zh-CN" altLang="zh-CN" b="1" dirty="0"/>
              <a:t>算法</a:t>
            </a:r>
          </a:p>
        </p:txBody>
      </p:sp>
      <p:sp>
        <p:nvSpPr>
          <p:cNvPr id="3" name="矩形 2"/>
          <p:cNvSpPr/>
          <p:nvPr/>
        </p:nvSpPr>
        <p:spPr>
          <a:xfrm>
            <a:off x="0" y="667535"/>
            <a:ext cx="9106292" cy="4154984"/>
          </a:xfrm>
          <a:prstGeom prst="rect">
            <a:avLst/>
          </a:prstGeom>
        </p:spPr>
        <p:txBody>
          <a:bodyPr wrap="square">
            <a:spAutoFit/>
          </a:bodyPr>
          <a:lstStyle/>
          <a:p>
            <a:r>
              <a:rPr lang="zh-CN" altLang="zh-CN" sz="2400" dirty="0"/>
              <a:t>【题目描述】</a:t>
            </a:r>
            <a:r>
              <a:rPr lang="en-US" altLang="zh-CN" sz="2400" dirty="0"/>
              <a:t>5.39 </a:t>
            </a:r>
            <a:r>
              <a:rPr lang="zh-CN" altLang="zh-CN" sz="2400" dirty="0"/>
              <a:t>信息共享（</a:t>
            </a:r>
            <a:r>
              <a:rPr lang="en-US" altLang="zh-CN" sz="2400" dirty="0" err="1"/>
              <a:t>Msg</a:t>
            </a:r>
            <a:r>
              <a:rPr lang="zh-CN" altLang="zh-CN" sz="2400" dirty="0"/>
              <a:t>）</a:t>
            </a:r>
          </a:p>
          <a:p>
            <a:r>
              <a:rPr lang="zh-CN" altLang="zh-CN" sz="2400" dirty="0"/>
              <a:t>小光需要把一条信息传送给千里之遥的</a:t>
            </a:r>
            <a:r>
              <a:rPr lang="en-US" altLang="zh-CN" sz="2400" i="1" dirty="0"/>
              <a:t>n</a:t>
            </a:r>
            <a:r>
              <a:rPr lang="zh-CN" altLang="zh-CN" sz="2400" dirty="0"/>
              <a:t>（</a:t>
            </a:r>
            <a:r>
              <a:rPr lang="en-US" altLang="zh-CN" sz="2400" dirty="0"/>
              <a:t>2</a:t>
            </a:r>
            <a:r>
              <a:rPr lang="zh-CN" altLang="zh-CN" sz="2400" dirty="0"/>
              <a:t>≤</a:t>
            </a:r>
            <a:r>
              <a:rPr lang="en-US" altLang="zh-CN" sz="2400" i="1" dirty="0"/>
              <a:t>n</a:t>
            </a:r>
            <a:r>
              <a:rPr lang="zh-CN" altLang="zh-CN" sz="2400" dirty="0"/>
              <a:t>≤</a:t>
            </a:r>
            <a:r>
              <a:rPr lang="en-US" altLang="zh-CN" sz="2400" dirty="0"/>
              <a:t>200</a:t>
            </a:r>
            <a:r>
              <a:rPr lang="zh-CN" altLang="zh-CN" sz="2400" dirty="0"/>
              <a:t>）个魔法师，为了节省魔法力，他只需要把信息传送给少数的几个魔法师，然后由魔法师们相互传递该信息即可。但魔法师们的关系有好有坏，例如</a:t>
            </a:r>
            <a:r>
              <a:rPr lang="en-US" altLang="zh-CN" sz="2400" dirty="0"/>
              <a:t>A</a:t>
            </a:r>
            <a:r>
              <a:rPr lang="zh-CN" altLang="zh-CN" sz="2400" dirty="0"/>
              <a:t>愿意传递信息给</a:t>
            </a:r>
            <a:r>
              <a:rPr lang="en-US" altLang="zh-CN" sz="2400" dirty="0"/>
              <a:t>B</a:t>
            </a:r>
            <a:r>
              <a:rPr lang="zh-CN" altLang="zh-CN" sz="2400" dirty="0"/>
              <a:t>，</a:t>
            </a:r>
            <a:r>
              <a:rPr lang="en-US" altLang="zh-CN" sz="2400" dirty="0"/>
              <a:t>B</a:t>
            </a:r>
            <a:r>
              <a:rPr lang="zh-CN" altLang="zh-CN" sz="2400" dirty="0"/>
              <a:t>不愿意传递信息给</a:t>
            </a:r>
            <a:r>
              <a:rPr lang="en-US" altLang="zh-CN" sz="2400" dirty="0"/>
              <a:t>C</a:t>
            </a:r>
            <a:r>
              <a:rPr lang="zh-CN" altLang="zh-CN" sz="2400" dirty="0"/>
              <a:t>，因此他们组成了一个个小圈子，在小圈子里的所有魔法师相互之间可以直接或间接地传递信息，不同的圈子不能互相传递信息。换句话说，如果</a:t>
            </a:r>
            <a:r>
              <a:rPr lang="en-US" altLang="zh-CN" sz="2400" dirty="0"/>
              <a:t>A</a:t>
            </a:r>
            <a:r>
              <a:rPr lang="zh-CN" altLang="zh-CN" sz="2400" dirty="0"/>
              <a:t>愿意传递信息给</a:t>
            </a:r>
            <a:r>
              <a:rPr lang="en-US" altLang="zh-CN" sz="2400" dirty="0"/>
              <a:t>B</a:t>
            </a:r>
            <a:r>
              <a:rPr lang="zh-CN" altLang="zh-CN" sz="2400" dirty="0"/>
              <a:t>，而</a:t>
            </a:r>
            <a:r>
              <a:rPr lang="en-US" altLang="zh-CN" sz="2400" dirty="0"/>
              <a:t>B</a:t>
            </a:r>
            <a:r>
              <a:rPr lang="zh-CN" altLang="zh-CN" sz="2400" dirty="0"/>
              <a:t>无法直接或间接把信息传递给</a:t>
            </a:r>
            <a:r>
              <a:rPr lang="en-US" altLang="zh-CN" sz="2400" dirty="0"/>
              <a:t>A</a:t>
            </a:r>
            <a:r>
              <a:rPr lang="zh-CN" altLang="zh-CN" sz="2400" dirty="0"/>
              <a:t>，则</a:t>
            </a:r>
            <a:r>
              <a:rPr lang="en-US" altLang="zh-CN" sz="2400" dirty="0"/>
              <a:t>A</a:t>
            </a:r>
            <a:r>
              <a:rPr lang="zh-CN" altLang="zh-CN" sz="2400" dirty="0"/>
              <a:t>和</a:t>
            </a:r>
            <a:r>
              <a:rPr lang="en-US" altLang="zh-CN" sz="2400" dirty="0"/>
              <a:t>B</a:t>
            </a:r>
            <a:r>
              <a:rPr lang="zh-CN" altLang="zh-CN" sz="2400" dirty="0"/>
              <a:t>不属于同一个小圈子，极端情况下，一个人组成一个小圈子。现给出魔法师们的关系，问小光需要传送信息给几个小圈子的人才可以保证所有的魔法师都能分享到该信息？ </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7262" y="84068"/>
            <a:ext cx="9016738" cy="2092881"/>
          </a:xfrm>
          <a:prstGeom prst="rect">
            <a:avLst/>
          </a:prstGeom>
        </p:spPr>
        <p:txBody>
          <a:bodyPr wrap="square">
            <a:spAutoFit/>
          </a:bodyPr>
          <a:lstStyle/>
          <a:p>
            <a:r>
              <a:rPr lang="zh-CN" altLang="zh-CN" dirty="0"/>
              <a:t>相关定义如下</a:t>
            </a:r>
            <a:r>
              <a:rPr lang="zh-CN" altLang="en-US" dirty="0"/>
              <a:t>：</a:t>
            </a:r>
            <a:endParaRPr lang="zh-CN" altLang="zh-CN" dirty="0"/>
          </a:p>
          <a:p>
            <a:r>
              <a:rPr lang="zh-CN" altLang="zh-CN" dirty="0"/>
              <a:t>（</a:t>
            </a:r>
            <a:r>
              <a:rPr lang="en-US" altLang="zh-CN" dirty="0"/>
              <a:t>1</a:t>
            </a:r>
            <a:r>
              <a:rPr lang="zh-CN" altLang="zh-CN" dirty="0"/>
              <a:t>）如果有向图</a:t>
            </a:r>
            <a:r>
              <a:rPr lang="en-US" altLang="zh-CN" dirty="0"/>
              <a:t>G</a:t>
            </a:r>
            <a:r>
              <a:rPr lang="zh-CN" altLang="zh-CN" dirty="0"/>
              <a:t>的任何两顶点都互相可达，则称图</a:t>
            </a:r>
            <a:r>
              <a:rPr lang="en-US" altLang="zh-CN" dirty="0"/>
              <a:t>G</a:t>
            </a:r>
            <a:r>
              <a:rPr lang="zh-CN" altLang="zh-CN" dirty="0"/>
              <a:t>是强连通图。</a:t>
            </a:r>
          </a:p>
          <a:p>
            <a:r>
              <a:rPr lang="zh-CN" altLang="zh-CN" dirty="0"/>
              <a:t>（</a:t>
            </a:r>
            <a:r>
              <a:rPr lang="en-US" altLang="zh-CN" dirty="0"/>
              <a:t>2</a:t>
            </a:r>
            <a:r>
              <a:rPr lang="zh-CN" altLang="zh-CN" dirty="0"/>
              <a:t>）有向图的极大强连通子图，称为有向图的强连通分量。</a:t>
            </a:r>
          </a:p>
          <a:p>
            <a:r>
              <a:rPr lang="zh-CN" altLang="zh-CN" dirty="0"/>
              <a:t>又如图中有</a:t>
            </a:r>
            <a:r>
              <a:rPr lang="en-US" altLang="zh-CN" dirty="0"/>
              <a:t>4</a:t>
            </a:r>
            <a:r>
              <a:rPr lang="zh-CN" altLang="zh-CN" dirty="0"/>
              <a:t>个强连通分量。</a:t>
            </a:r>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2621848" y="2359646"/>
            <a:ext cx="4198443" cy="2037958"/>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896"/>
            <a:ext cx="9144000" cy="2492990"/>
          </a:xfrm>
          <a:prstGeom prst="rect">
            <a:avLst/>
          </a:prstGeom>
        </p:spPr>
        <p:txBody>
          <a:bodyPr wrap="square">
            <a:spAutoFit/>
          </a:bodyPr>
          <a:lstStyle/>
          <a:p>
            <a:r>
              <a:rPr lang="en-US" altLang="zh-CN" dirty="0"/>
              <a:t>    </a:t>
            </a:r>
            <a:r>
              <a:rPr lang="en-US" altLang="zh-CN" dirty="0" err="1"/>
              <a:t>Kosaraju</a:t>
            </a:r>
            <a:r>
              <a:rPr lang="zh-CN" altLang="zh-CN" dirty="0"/>
              <a:t>算法用于求有向图中的强连通分量个数。它是对原图</a:t>
            </a:r>
            <a:r>
              <a:rPr lang="en-US" altLang="zh-CN" dirty="0"/>
              <a:t>G</a:t>
            </a:r>
            <a:r>
              <a:rPr lang="zh-CN" altLang="zh-CN" dirty="0"/>
              <a:t>和反图</a:t>
            </a:r>
            <a:r>
              <a:rPr lang="en-US" altLang="zh-CN" dirty="0"/>
              <a:t>G’</a:t>
            </a:r>
            <a:r>
              <a:rPr lang="zh-CN" altLang="zh-CN" dirty="0"/>
              <a:t>分别进行一次深度优先搜索的算法。</a:t>
            </a:r>
          </a:p>
          <a:p>
            <a:r>
              <a:rPr lang="en-US" altLang="zh-CN" dirty="0"/>
              <a:t>    </a:t>
            </a:r>
            <a:r>
              <a:rPr lang="en-US" altLang="zh-CN" dirty="0" err="1"/>
              <a:t>Kosaraju</a:t>
            </a:r>
            <a:r>
              <a:rPr lang="zh-CN" altLang="zh-CN" dirty="0"/>
              <a:t>算法的具体过程介绍如下。</a:t>
            </a:r>
          </a:p>
          <a:p>
            <a:r>
              <a:rPr lang="en-US" altLang="zh-CN" dirty="0"/>
              <a:t>    </a:t>
            </a:r>
            <a:r>
              <a:rPr lang="zh-CN" altLang="zh-CN" dirty="0"/>
              <a:t>对图</a:t>
            </a:r>
            <a:r>
              <a:rPr lang="en-US" altLang="zh-CN" dirty="0"/>
              <a:t>G</a:t>
            </a:r>
            <a:r>
              <a:rPr lang="zh-CN" altLang="zh-CN" dirty="0"/>
              <a:t>进行</a:t>
            </a:r>
            <a:r>
              <a:rPr lang="en-US" altLang="zh-CN" dirty="0"/>
              <a:t>DFS</a:t>
            </a:r>
            <a:r>
              <a:rPr lang="zh-CN" altLang="zh-CN" dirty="0"/>
              <a:t>遍历，并在遍历过程中，记录每一个点的进入和退出顺序（时间戳）。例如以</a:t>
            </a:r>
            <a:r>
              <a:rPr lang="en-US" altLang="zh-CN" dirty="0"/>
              <a:t>1</a:t>
            </a:r>
            <a:r>
              <a:rPr lang="zh-CN" altLang="zh-CN" dirty="0"/>
              <a:t>为起点，访问结点顺序可能如图所示。</a:t>
            </a:r>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2653700" y="2466562"/>
            <a:ext cx="3728246" cy="2218560"/>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6559" y="59442"/>
            <a:ext cx="9030879" cy="892552"/>
          </a:xfrm>
          <a:prstGeom prst="rect">
            <a:avLst/>
          </a:prstGeom>
        </p:spPr>
        <p:txBody>
          <a:bodyPr wrap="square">
            <a:spAutoFit/>
          </a:bodyPr>
          <a:lstStyle/>
          <a:p>
            <a:r>
              <a:rPr lang="zh-CN" altLang="zh-CN" dirty="0"/>
              <a:t>图中起点</a:t>
            </a:r>
            <a:r>
              <a:rPr lang="en-US" altLang="zh-CN" dirty="0"/>
              <a:t>1</a:t>
            </a:r>
            <a:r>
              <a:rPr lang="zh-CN" altLang="zh-CN" dirty="0"/>
              <a:t>的时间戳为</a:t>
            </a:r>
            <a:r>
              <a:rPr lang="en-US" altLang="zh-CN" dirty="0"/>
              <a:t>1/12</a:t>
            </a:r>
            <a:r>
              <a:rPr lang="zh-CN" altLang="zh-CN" dirty="0"/>
              <a:t>，表示</a:t>
            </a:r>
            <a:r>
              <a:rPr lang="en-US" altLang="zh-CN" dirty="0"/>
              <a:t>1</a:t>
            </a:r>
            <a:r>
              <a:rPr lang="zh-CN" altLang="zh-CN" dirty="0"/>
              <a:t>是第</a:t>
            </a:r>
            <a:r>
              <a:rPr lang="en-US" altLang="zh-CN" dirty="0"/>
              <a:t>1</a:t>
            </a:r>
            <a:r>
              <a:rPr lang="zh-CN" altLang="zh-CN" dirty="0"/>
              <a:t>个单元时间入栈，第</a:t>
            </a:r>
            <a:r>
              <a:rPr lang="en-US" altLang="zh-CN" dirty="0"/>
              <a:t>12</a:t>
            </a:r>
            <a:r>
              <a:rPr lang="zh-CN" altLang="zh-CN" dirty="0"/>
              <a:t>个单元时间出栈的。现按出栈时间顺序加入堆栈如图所示。</a:t>
            </a:r>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3092450" y="1256665"/>
            <a:ext cx="2553970" cy="3136900"/>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60256" y="75144"/>
            <a:ext cx="8809348" cy="492443"/>
          </a:xfrm>
          <a:prstGeom prst="rect">
            <a:avLst/>
          </a:prstGeom>
        </p:spPr>
        <p:txBody>
          <a:bodyPr wrap="square">
            <a:spAutoFit/>
          </a:bodyPr>
          <a:lstStyle/>
          <a:p>
            <a:r>
              <a:rPr lang="zh-CN" altLang="zh-CN" dirty="0"/>
              <a:t>倒转图</a:t>
            </a:r>
            <a:r>
              <a:rPr lang="en-US" altLang="zh-CN" dirty="0"/>
              <a:t>G</a:t>
            </a:r>
            <a:r>
              <a:rPr lang="zh-CN" altLang="zh-CN" dirty="0"/>
              <a:t>每一条边的方向，构造出</a:t>
            </a:r>
            <a:r>
              <a:rPr lang="en-US" altLang="zh-CN" dirty="0"/>
              <a:t>G</a:t>
            </a:r>
            <a:r>
              <a:rPr lang="zh-CN" altLang="zh-CN" dirty="0"/>
              <a:t>的反图如图</a:t>
            </a:r>
            <a:endParaRPr lang="zh-CN" altLang="en-US"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2521363" y="1494606"/>
            <a:ext cx="4087134" cy="1663373"/>
          </a:xfrm>
          <a:prstGeom prst="rect">
            <a:avLst/>
          </a:prstGeom>
          <a:noFill/>
          <a:ln>
            <a:noFill/>
          </a:ln>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7707" y="5632"/>
            <a:ext cx="9144000" cy="4893647"/>
          </a:xfrm>
          <a:prstGeom prst="rect">
            <a:avLst/>
          </a:prstGeom>
        </p:spPr>
        <p:txBody>
          <a:bodyPr wrap="square">
            <a:spAutoFit/>
          </a:bodyPr>
          <a:lstStyle/>
          <a:p>
            <a:r>
              <a:rPr lang="zh-CN" altLang="zh-CN" dirty="0"/>
              <a:t>对反图进行</a:t>
            </a:r>
            <a:r>
              <a:rPr lang="en-US" altLang="zh-CN" dirty="0"/>
              <a:t>DFS</a:t>
            </a:r>
            <a:r>
              <a:rPr lang="zh-CN" altLang="zh-CN" dirty="0"/>
              <a:t>搜索，具体方法如下。</a:t>
            </a:r>
          </a:p>
          <a:p>
            <a:r>
              <a:rPr lang="zh-CN" altLang="zh-CN" dirty="0"/>
              <a:t>（</a:t>
            </a:r>
            <a:r>
              <a:rPr lang="en-US" altLang="zh-CN" dirty="0"/>
              <a:t>1</a:t>
            </a:r>
            <a:r>
              <a:rPr lang="zh-CN" altLang="zh-CN" dirty="0"/>
              <a:t>）每次从栈顶取出元素。</a:t>
            </a:r>
          </a:p>
          <a:p>
            <a:r>
              <a:rPr lang="zh-CN" altLang="zh-CN" dirty="0"/>
              <a:t>（</a:t>
            </a:r>
            <a:r>
              <a:rPr lang="en-US" altLang="zh-CN" dirty="0"/>
              <a:t>2</a:t>
            </a:r>
            <a:r>
              <a:rPr lang="zh-CN" altLang="zh-CN" dirty="0"/>
              <a:t>）检查是否被访问过。</a:t>
            </a:r>
          </a:p>
          <a:p>
            <a:r>
              <a:rPr lang="zh-CN" altLang="zh-CN" dirty="0"/>
              <a:t>（</a:t>
            </a:r>
            <a:r>
              <a:rPr lang="en-US" altLang="zh-CN" dirty="0"/>
              <a:t>3</a:t>
            </a:r>
            <a:r>
              <a:rPr lang="zh-CN" altLang="zh-CN" dirty="0"/>
              <a:t>）若没被访问过，以该点为起点，对反图进行深度优先遍历。</a:t>
            </a:r>
          </a:p>
          <a:p>
            <a:r>
              <a:rPr lang="zh-CN" altLang="zh-CN" dirty="0"/>
              <a:t>（</a:t>
            </a:r>
            <a:r>
              <a:rPr lang="en-US" altLang="zh-CN" dirty="0"/>
              <a:t>4</a:t>
            </a:r>
            <a:r>
              <a:rPr lang="zh-CN" altLang="zh-CN" dirty="0"/>
              <a:t>）否则返回第一步，直到栈空为止。</a:t>
            </a:r>
          </a:p>
          <a:p>
            <a:r>
              <a:rPr lang="zh-CN" altLang="zh-CN" dirty="0"/>
              <a:t>对反图</a:t>
            </a:r>
            <a:r>
              <a:rPr lang="en-US" altLang="zh-CN" dirty="0"/>
              <a:t>DFS</a:t>
            </a:r>
            <a:r>
              <a:rPr lang="zh-CN" altLang="zh-CN" dirty="0"/>
              <a:t>搜索时，从一个结点开始能搜索到的最大连通块就是该点所在的强连通分量。即：</a:t>
            </a:r>
          </a:p>
          <a:p>
            <a:r>
              <a:rPr lang="zh-CN" altLang="zh-CN" dirty="0"/>
              <a:t>（</a:t>
            </a:r>
            <a:r>
              <a:rPr lang="en-US" altLang="zh-CN" dirty="0"/>
              <a:t>1</a:t>
            </a:r>
            <a:r>
              <a:rPr lang="zh-CN" altLang="zh-CN" dirty="0"/>
              <a:t>）从结点</a:t>
            </a:r>
            <a:r>
              <a:rPr lang="en-US" altLang="zh-CN" dirty="0"/>
              <a:t>1</a:t>
            </a:r>
            <a:r>
              <a:rPr lang="zh-CN" altLang="zh-CN" dirty="0"/>
              <a:t>出发，能走到</a:t>
            </a:r>
            <a:r>
              <a:rPr lang="en-US" altLang="zh-CN" dirty="0"/>
              <a:t>2</a:t>
            </a:r>
            <a:r>
              <a:rPr lang="zh-CN" altLang="zh-CN" dirty="0"/>
              <a:t>，</a:t>
            </a:r>
            <a:r>
              <a:rPr lang="en-US" altLang="zh-CN" dirty="0"/>
              <a:t>3</a:t>
            </a:r>
            <a:r>
              <a:rPr lang="zh-CN" altLang="zh-CN" dirty="0"/>
              <a:t>，</a:t>
            </a:r>
            <a:r>
              <a:rPr lang="en-US" altLang="zh-CN" dirty="0"/>
              <a:t>4</a:t>
            </a:r>
            <a:r>
              <a:rPr lang="zh-CN" altLang="zh-CN" dirty="0"/>
              <a:t>，所以</a:t>
            </a:r>
            <a:r>
              <a:rPr lang="en-US" altLang="zh-CN" dirty="0"/>
              <a:t>{1,2,3,4 }</a:t>
            </a:r>
            <a:r>
              <a:rPr lang="zh-CN" altLang="zh-CN" dirty="0"/>
              <a:t>是一个强连通分量；</a:t>
            </a:r>
          </a:p>
          <a:p>
            <a:r>
              <a:rPr lang="zh-CN" altLang="zh-CN" dirty="0"/>
              <a:t>（</a:t>
            </a:r>
            <a:r>
              <a:rPr lang="en-US" altLang="zh-CN" dirty="0"/>
              <a:t>2</a:t>
            </a:r>
            <a:r>
              <a:rPr lang="zh-CN" altLang="zh-CN" dirty="0"/>
              <a:t>）从结点</a:t>
            </a:r>
            <a:r>
              <a:rPr lang="en-US" altLang="zh-CN" dirty="0"/>
              <a:t>5</a:t>
            </a:r>
            <a:r>
              <a:rPr lang="zh-CN" altLang="zh-CN" dirty="0"/>
              <a:t>出发，无路可走，所以</a:t>
            </a:r>
            <a:r>
              <a:rPr lang="en-US" altLang="zh-CN" dirty="0"/>
              <a:t>{ 5 }</a:t>
            </a:r>
            <a:r>
              <a:rPr lang="zh-CN" altLang="zh-CN" dirty="0"/>
              <a:t>是一个强连通分量；</a:t>
            </a:r>
          </a:p>
          <a:p>
            <a:r>
              <a:rPr lang="zh-CN" altLang="zh-CN" dirty="0"/>
              <a:t>（</a:t>
            </a:r>
            <a:r>
              <a:rPr lang="en-US" altLang="zh-CN" dirty="0"/>
              <a:t>3</a:t>
            </a:r>
            <a:r>
              <a:rPr lang="zh-CN" altLang="zh-CN" dirty="0"/>
              <a:t>）从结点</a:t>
            </a:r>
            <a:r>
              <a:rPr lang="en-US" altLang="zh-CN" dirty="0"/>
              <a:t>6</a:t>
            </a:r>
            <a:r>
              <a:rPr lang="zh-CN" altLang="zh-CN" dirty="0"/>
              <a:t>出发，无路可走，所以</a:t>
            </a:r>
            <a:r>
              <a:rPr lang="en-US" altLang="zh-CN" dirty="0"/>
              <a:t>{ 6 }</a:t>
            </a:r>
            <a:r>
              <a:rPr lang="zh-CN" altLang="zh-CN" dirty="0"/>
              <a:t>是一个强连通分量。</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5414" y="185169"/>
            <a:ext cx="9035592" cy="3693319"/>
          </a:xfrm>
          <a:prstGeom prst="rect">
            <a:avLst/>
          </a:prstGeom>
        </p:spPr>
        <p:txBody>
          <a:bodyPr wrap="square">
            <a:spAutoFit/>
          </a:bodyPr>
          <a:lstStyle/>
          <a:p>
            <a:r>
              <a:rPr lang="en-US" altLang="zh-CN" dirty="0" err="1"/>
              <a:t>Kosaraju</a:t>
            </a:r>
            <a:r>
              <a:rPr lang="zh-CN" altLang="zh-CN" dirty="0"/>
              <a:t>算法依赖于一个事实，即一个有向图的强连通分量与其反图是一样的（即假如任意顶点</a:t>
            </a:r>
            <a:r>
              <a:rPr lang="en-US" altLang="zh-CN" dirty="0"/>
              <a:t>s</a:t>
            </a:r>
            <a:r>
              <a:rPr lang="zh-CN" altLang="zh-CN" dirty="0"/>
              <a:t>与</a:t>
            </a:r>
            <a:r>
              <a:rPr lang="en-US" altLang="zh-CN" dirty="0"/>
              <a:t>t</a:t>
            </a:r>
            <a:r>
              <a:rPr lang="zh-CN" altLang="zh-CN" dirty="0"/>
              <a:t>属于原图中的一个强连通分量，那么在反图中这两个顶点必定也属于同一个强连通分量，这个事实由强连通性的定义可证）。</a:t>
            </a:r>
          </a:p>
          <a:p>
            <a:r>
              <a:rPr lang="en-US" altLang="zh-CN" dirty="0" err="1"/>
              <a:t>Kosaraju</a:t>
            </a:r>
            <a:r>
              <a:rPr lang="zh-CN" altLang="zh-CN" dirty="0"/>
              <a:t>算法的原理为：如果有向图</a:t>
            </a:r>
            <a:r>
              <a:rPr lang="en-US" altLang="zh-CN" dirty="0"/>
              <a:t>G </a:t>
            </a:r>
            <a:r>
              <a:rPr lang="zh-CN" altLang="zh-CN" dirty="0"/>
              <a:t>的一个子图</a:t>
            </a:r>
            <a:r>
              <a:rPr lang="en-US" altLang="zh-CN" dirty="0"/>
              <a:t>G'</a:t>
            </a:r>
            <a:r>
              <a:rPr lang="zh-CN" altLang="zh-CN" dirty="0"/>
              <a:t>是强连通子图，那么各边反向后没有任何影响，</a:t>
            </a:r>
            <a:r>
              <a:rPr lang="en-US" altLang="zh-CN" dirty="0"/>
              <a:t>G'</a:t>
            </a:r>
            <a:r>
              <a:rPr lang="zh-CN" altLang="zh-CN" dirty="0"/>
              <a:t>内各顶点间仍然连通，</a:t>
            </a:r>
            <a:r>
              <a:rPr lang="en-US" altLang="zh-CN" dirty="0"/>
              <a:t>G'</a:t>
            </a:r>
            <a:r>
              <a:rPr lang="zh-CN" altLang="zh-CN" dirty="0"/>
              <a:t>仍然是强连通子图。但如果子图</a:t>
            </a:r>
            <a:r>
              <a:rPr lang="en-US" altLang="zh-CN" dirty="0"/>
              <a:t>G'</a:t>
            </a:r>
            <a:r>
              <a:rPr lang="zh-CN" altLang="zh-CN" dirty="0"/>
              <a:t>是单向连通的，那么各边反向后可能某些顶点间就不连通了，因此各边的反向处理是对非强连通块的过滤。</a:t>
            </a:r>
            <a:endParaRPr lang="zh-CN" altLang="en-US"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273" y="40058"/>
            <a:ext cx="9026165" cy="892552"/>
          </a:xfrm>
          <a:prstGeom prst="rect">
            <a:avLst/>
          </a:prstGeom>
        </p:spPr>
        <p:txBody>
          <a:bodyPr wrap="square">
            <a:spAutoFit/>
          </a:bodyPr>
          <a:lstStyle/>
          <a:p>
            <a:r>
              <a:rPr lang="zh-CN" altLang="zh-CN" dirty="0"/>
              <a:t>图中有两个强连通分量，即</a:t>
            </a:r>
            <a:r>
              <a:rPr lang="en-US" altLang="zh-CN" dirty="0"/>
              <a:t>A</a:t>
            </a:r>
            <a:r>
              <a:rPr lang="zh-CN" altLang="zh-CN" dirty="0"/>
              <a:t>和</a:t>
            </a:r>
            <a:r>
              <a:rPr lang="en-US" altLang="zh-CN" dirty="0"/>
              <a:t>B</a:t>
            </a:r>
            <a:r>
              <a:rPr lang="zh-CN" altLang="zh-CN" dirty="0"/>
              <a:t>。第一次</a:t>
            </a:r>
            <a:r>
              <a:rPr lang="en-US" altLang="zh-CN" dirty="0"/>
              <a:t>DFS</a:t>
            </a:r>
            <a:r>
              <a:rPr lang="zh-CN" altLang="zh-CN" dirty="0"/>
              <a:t>从</a:t>
            </a:r>
            <a:r>
              <a:rPr lang="en-US" altLang="zh-CN" dirty="0"/>
              <a:t>A</a:t>
            </a:r>
            <a:r>
              <a:rPr lang="en-US" altLang="zh-CN" baseline="-25000" dirty="0"/>
              <a:t>1</a:t>
            </a:r>
            <a:r>
              <a:rPr lang="zh-CN" altLang="zh-CN" dirty="0"/>
              <a:t>出发时，从</a:t>
            </a:r>
            <a:r>
              <a:rPr lang="en-US" altLang="zh-CN" dirty="0"/>
              <a:t>A</a:t>
            </a:r>
            <a:r>
              <a:rPr lang="zh-CN" altLang="zh-CN" dirty="0"/>
              <a:t>到</a:t>
            </a:r>
            <a:r>
              <a:rPr lang="en-US" altLang="zh-CN" dirty="0"/>
              <a:t>B</a:t>
            </a:r>
            <a:r>
              <a:rPr lang="zh-CN" altLang="zh-CN" dirty="0"/>
              <a:t>是通过</a:t>
            </a:r>
            <a:r>
              <a:rPr lang="en-US" altLang="zh-CN" dirty="0"/>
              <a:t>A</a:t>
            </a:r>
            <a:r>
              <a:rPr lang="en-US" altLang="zh-CN" baseline="-25000" dirty="0"/>
              <a:t>3</a:t>
            </a:r>
            <a:r>
              <a:rPr lang="zh-CN" altLang="zh-CN" dirty="0"/>
              <a:t>到</a:t>
            </a:r>
            <a:r>
              <a:rPr lang="en-US" altLang="zh-CN" dirty="0"/>
              <a:t>B</a:t>
            </a:r>
            <a:r>
              <a:rPr lang="en-US" altLang="zh-CN" baseline="-25000" dirty="0"/>
              <a:t>2</a:t>
            </a:r>
            <a:r>
              <a:rPr lang="zh-CN" altLang="zh-CN" dirty="0"/>
              <a:t>的。</a:t>
            </a:r>
            <a:endParaRPr lang="zh-CN" altLang="en-US"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2345103" y="1215579"/>
            <a:ext cx="4461050" cy="1980107"/>
          </a:xfrm>
          <a:prstGeom prst="rect">
            <a:avLst/>
          </a:prstGeom>
          <a:noFill/>
          <a:ln>
            <a:noFill/>
          </a:ln>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7707" y="78760"/>
            <a:ext cx="8988458" cy="1292662"/>
          </a:xfrm>
          <a:prstGeom prst="rect">
            <a:avLst/>
          </a:prstGeom>
        </p:spPr>
        <p:txBody>
          <a:bodyPr wrap="square">
            <a:spAutoFit/>
          </a:bodyPr>
          <a:lstStyle/>
          <a:p>
            <a:r>
              <a:rPr lang="en-US" altLang="zh-CN" dirty="0"/>
              <a:t>    </a:t>
            </a:r>
            <a:r>
              <a:rPr lang="zh-CN" altLang="zh-CN" dirty="0"/>
              <a:t>第二次</a:t>
            </a:r>
            <a:r>
              <a:rPr lang="en-US" altLang="zh-CN" dirty="0"/>
              <a:t>DFS</a:t>
            </a:r>
            <a:r>
              <a:rPr lang="zh-CN" altLang="zh-CN" dirty="0"/>
              <a:t>从图</a:t>
            </a:r>
            <a:r>
              <a:rPr lang="en-US" altLang="zh-CN" dirty="0"/>
              <a:t>G</a:t>
            </a:r>
            <a:r>
              <a:rPr lang="zh-CN" altLang="zh-CN" dirty="0"/>
              <a:t>的反图</a:t>
            </a:r>
            <a:r>
              <a:rPr lang="en-US" altLang="zh-CN" dirty="0"/>
              <a:t>G’</a:t>
            </a:r>
            <a:r>
              <a:rPr lang="zh-CN" altLang="zh-CN" dirty="0"/>
              <a:t>出发，此时</a:t>
            </a:r>
            <a:r>
              <a:rPr lang="en-US" altLang="zh-CN" dirty="0"/>
              <a:t>A</a:t>
            </a:r>
            <a:r>
              <a:rPr lang="en-US" altLang="zh-CN" baseline="-25000" dirty="0"/>
              <a:t>1</a:t>
            </a:r>
            <a:r>
              <a:rPr lang="zh-CN" altLang="zh-CN" dirty="0"/>
              <a:t>在栈顶，从</a:t>
            </a:r>
            <a:r>
              <a:rPr lang="en-US" altLang="zh-CN" dirty="0"/>
              <a:t>A</a:t>
            </a:r>
            <a:r>
              <a:rPr lang="en-US" altLang="zh-CN" baseline="-25000" dirty="0"/>
              <a:t>1</a:t>
            </a:r>
            <a:r>
              <a:rPr lang="zh-CN" altLang="zh-CN" dirty="0"/>
              <a:t>开始遍历一圈，是不可能从</a:t>
            </a:r>
            <a:r>
              <a:rPr lang="en-US" altLang="zh-CN" dirty="0"/>
              <a:t>A</a:t>
            </a:r>
            <a:r>
              <a:rPr lang="en-US" altLang="zh-CN" baseline="-25000" dirty="0"/>
              <a:t>3</a:t>
            </a:r>
            <a:r>
              <a:rPr lang="zh-CN" altLang="zh-CN" dirty="0"/>
              <a:t>到</a:t>
            </a:r>
            <a:r>
              <a:rPr lang="en-US" altLang="zh-CN" dirty="0"/>
              <a:t>B</a:t>
            </a:r>
            <a:r>
              <a:rPr lang="en-US" altLang="zh-CN" baseline="-25000" dirty="0"/>
              <a:t>2</a:t>
            </a:r>
            <a:r>
              <a:rPr lang="zh-CN" altLang="zh-CN" dirty="0"/>
              <a:t>的（只能在自己所在的强连通分量里搜索），这就得到了一个强连通分量，如图所示。</a:t>
            </a:r>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1742787" y="2057553"/>
            <a:ext cx="5341456" cy="1703742"/>
          </a:xfrm>
          <a:prstGeom prst="rect">
            <a:avLst/>
          </a:prstGeom>
          <a:noFill/>
          <a:ln>
            <a:noFill/>
          </a:ln>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6557" y="25389"/>
            <a:ext cx="3446777" cy="492443"/>
          </a:xfrm>
          <a:prstGeom prst="rect">
            <a:avLst/>
          </a:prstGeom>
        </p:spPr>
        <p:txBody>
          <a:bodyPr wrap="none">
            <a:spAutoFit/>
          </a:bodyPr>
          <a:lstStyle/>
          <a:p>
            <a:r>
              <a:rPr lang="en-US" altLang="zh-CN" b="1" dirty="0"/>
              <a:t>5.10.1 </a:t>
            </a:r>
            <a:r>
              <a:rPr lang="zh-CN" altLang="zh-CN" b="1" dirty="0"/>
              <a:t>次小生成树算法</a:t>
            </a:r>
          </a:p>
        </p:txBody>
      </p:sp>
      <p:sp>
        <p:nvSpPr>
          <p:cNvPr id="3" name="矩形 2"/>
          <p:cNvSpPr/>
          <p:nvPr/>
        </p:nvSpPr>
        <p:spPr>
          <a:xfrm>
            <a:off x="179109" y="423033"/>
            <a:ext cx="9082726" cy="4708981"/>
          </a:xfrm>
          <a:prstGeom prst="rect">
            <a:avLst/>
          </a:prstGeom>
        </p:spPr>
        <p:txBody>
          <a:bodyPr wrap="square">
            <a:spAutoFit/>
          </a:bodyPr>
          <a:lstStyle/>
          <a:p>
            <a:r>
              <a:rPr lang="zh-CN" altLang="zh-CN" sz="2000" dirty="0"/>
              <a:t>【题目描述】唯一最短路（</a:t>
            </a:r>
            <a:r>
              <a:rPr lang="en-US" altLang="zh-CN" sz="2000" dirty="0" err="1"/>
              <a:t>OnePath</a:t>
            </a:r>
            <a:r>
              <a:rPr lang="zh-CN" altLang="zh-CN" sz="2000" dirty="0"/>
              <a:t>） </a:t>
            </a:r>
            <a:r>
              <a:rPr lang="en-US" altLang="zh-CN" sz="2000" dirty="0"/>
              <a:t>PKU 1679</a:t>
            </a:r>
            <a:endParaRPr lang="zh-CN" altLang="zh-CN" sz="2000" dirty="0"/>
          </a:p>
          <a:p>
            <a:r>
              <a:rPr lang="zh-CN" altLang="zh-CN" sz="2000" dirty="0"/>
              <a:t>你需要判断最短路径是否唯一，简单说来，就是判断生成最小树的唯一性，唯一则输出权值，不唯一则输出“</a:t>
            </a:r>
            <a:r>
              <a:rPr lang="en-US" altLang="zh-CN" sz="2000" dirty="0"/>
              <a:t>Not Unique!</a:t>
            </a:r>
            <a:r>
              <a:rPr lang="zh-CN" altLang="zh-CN" sz="2000" dirty="0"/>
              <a:t>”。</a:t>
            </a:r>
          </a:p>
          <a:p>
            <a:r>
              <a:rPr lang="zh-CN" altLang="zh-CN" sz="2000" dirty="0"/>
              <a:t>【输入格式】</a:t>
            </a:r>
          </a:p>
          <a:p>
            <a:r>
              <a:rPr lang="zh-CN" altLang="zh-CN" sz="2000" dirty="0"/>
              <a:t>第一行两个整数</a:t>
            </a:r>
            <a:r>
              <a:rPr lang="en-US" altLang="zh-CN" sz="2000" i="1" dirty="0"/>
              <a:t>n</a:t>
            </a:r>
            <a:r>
              <a:rPr lang="zh-CN" altLang="zh-CN" sz="2000" dirty="0"/>
              <a:t>和</a:t>
            </a:r>
            <a:r>
              <a:rPr lang="en-US" altLang="zh-CN" sz="2000" i="1" dirty="0"/>
              <a:t>m</a:t>
            </a:r>
            <a:r>
              <a:rPr lang="zh-CN" altLang="zh-CN" sz="2000" dirty="0"/>
              <a:t>，即</a:t>
            </a:r>
            <a:r>
              <a:rPr lang="en-US" altLang="zh-CN" sz="2000" i="1" dirty="0"/>
              <a:t>n</a:t>
            </a:r>
            <a:r>
              <a:rPr lang="zh-CN" altLang="zh-CN" sz="2000" dirty="0"/>
              <a:t>（</a:t>
            </a:r>
            <a:r>
              <a:rPr lang="en-US" altLang="zh-CN" sz="2000" dirty="0"/>
              <a:t>1</a:t>
            </a:r>
            <a:r>
              <a:rPr lang="zh-CN" altLang="zh-CN" sz="2000" dirty="0"/>
              <a:t>≤</a:t>
            </a:r>
            <a:r>
              <a:rPr lang="en-US" altLang="zh-CN" sz="2000" i="1" dirty="0"/>
              <a:t>n</a:t>
            </a:r>
            <a:r>
              <a:rPr lang="zh-CN" altLang="zh-CN" sz="2000" dirty="0"/>
              <a:t>≤</a:t>
            </a:r>
            <a:r>
              <a:rPr lang="en-US" altLang="zh-CN" sz="2000" dirty="0"/>
              <a:t>100</a:t>
            </a:r>
            <a:r>
              <a:rPr lang="zh-CN" altLang="zh-CN" sz="2000" dirty="0"/>
              <a:t>）个点</a:t>
            </a:r>
            <a:r>
              <a:rPr lang="en-US" altLang="zh-CN" sz="2000" i="1" dirty="0"/>
              <a:t>m</a:t>
            </a:r>
            <a:r>
              <a:rPr lang="zh-CN" altLang="zh-CN" sz="2000" dirty="0"/>
              <a:t>条边。以下</a:t>
            </a:r>
            <a:r>
              <a:rPr lang="en-US" altLang="zh-CN" sz="2000" i="1" dirty="0"/>
              <a:t>m</a:t>
            </a:r>
            <a:r>
              <a:rPr lang="zh-CN" altLang="zh-CN" sz="2000" dirty="0"/>
              <a:t>行包括三个数</a:t>
            </a:r>
            <a:r>
              <a:rPr lang="en-US" altLang="zh-CN" sz="2000" dirty="0"/>
              <a:t> (</a:t>
            </a:r>
            <a:r>
              <a:rPr lang="en-US" altLang="zh-CN" sz="2000" i="1" dirty="0" err="1"/>
              <a:t>x</a:t>
            </a:r>
            <a:r>
              <a:rPr lang="en-US" altLang="zh-CN" sz="2000" baseline="-25000" dirty="0" err="1"/>
              <a:t>i</a:t>
            </a:r>
            <a:r>
              <a:rPr lang="en-US" altLang="zh-CN" sz="2000" dirty="0" err="1"/>
              <a:t>,</a:t>
            </a:r>
            <a:r>
              <a:rPr lang="en-US" altLang="zh-CN" sz="2000" i="1" dirty="0" err="1"/>
              <a:t>y</a:t>
            </a:r>
            <a:r>
              <a:rPr lang="en-US" altLang="zh-CN" sz="2000" baseline="-25000" dirty="0" err="1"/>
              <a:t>i</a:t>
            </a:r>
            <a:r>
              <a:rPr lang="en-US" altLang="zh-CN" sz="2000" dirty="0" err="1"/>
              <a:t>,</a:t>
            </a:r>
            <a:r>
              <a:rPr lang="en-US" altLang="zh-CN" sz="2000" i="1" dirty="0" err="1"/>
              <a:t>w</a:t>
            </a:r>
            <a:r>
              <a:rPr lang="en-US" altLang="zh-CN" sz="2000" baseline="-25000" dirty="0" err="1"/>
              <a:t>i</a:t>
            </a:r>
            <a:r>
              <a:rPr lang="en-US" altLang="zh-CN" sz="2000" dirty="0"/>
              <a:t>)</a:t>
            </a:r>
            <a:r>
              <a:rPr lang="zh-CN" altLang="zh-CN" sz="2000" dirty="0"/>
              <a:t>，表示</a:t>
            </a:r>
            <a:r>
              <a:rPr lang="en-US" altLang="zh-CN" sz="2000" i="1" dirty="0"/>
              <a:t>x</a:t>
            </a:r>
            <a:r>
              <a:rPr lang="en-US" altLang="zh-CN" sz="2000" baseline="-25000" dirty="0"/>
              <a:t>i</a:t>
            </a:r>
            <a:r>
              <a:rPr lang="zh-CN" altLang="zh-CN" sz="2000" dirty="0"/>
              <a:t>与</a:t>
            </a:r>
            <a:r>
              <a:rPr lang="en-US" altLang="zh-CN" sz="2000" i="1" dirty="0" err="1"/>
              <a:t>y</a:t>
            </a:r>
            <a:r>
              <a:rPr lang="en-US" altLang="zh-CN" sz="2000" baseline="-25000" dirty="0" err="1"/>
              <a:t>i</a:t>
            </a:r>
            <a:r>
              <a:rPr lang="zh-CN" altLang="zh-CN" sz="2000" dirty="0"/>
              <a:t>两点相连，其权值为</a:t>
            </a:r>
            <a:r>
              <a:rPr lang="en-US" altLang="zh-CN" sz="2000" i="1" dirty="0" err="1"/>
              <a:t>w</a:t>
            </a:r>
            <a:r>
              <a:rPr lang="en-US" altLang="zh-CN" sz="2000" baseline="-25000" dirty="0" err="1"/>
              <a:t>i</a:t>
            </a:r>
            <a:r>
              <a:rPr lang="zh-CN" altLang="zh-CN" sz="2000" dirty="0"/>
              <a:t>，对于任何两点，最少有一条边相连。</a:t>
            </a:r>
          </a:p>
          <a:p>
            <a:r>
              <a:rPr lang="zh-CN" altLang="zh-CN" sz="2000" dirty="0"/>
              <a:t>【输出格式】</a:t>
            </a:r>
          </a:p>
          <a:p>
            <a:r>
              <a:rPr lang="zh-CN" altLang="zh-CN" sz="2000" dirty="0"/>
              <a:t>输出权值或“</a:t>
            </a:r>
            <a:r>
              <a:rPr lang="en-US" altLang="zh-CN" sz="2000" dirty="0"/>
              <a:t>Not Unique!</a:t>
            </a:r>
            <a:r>
              <a:rPr lang="zh-CN" altLang="zh-CN" sz="2000" dirty="0"/>
              <a:t>”</a:t>
            </a:r>
          </a:p>
          <a:p>
            <a:r>
              <a:rPr lang="zh-CN" altLang="zh-CN" sz="2000" dirty="0"/>
              <a:t>【输入样例</a:t>
            </a:r>
            <a:r>
              <a:rPr lang="en-US" altLang="zh-CN" sz="2000" dirty="0"/>
              <a:t>1</a:t>
            </a:r>
            <a:r>
              <a:rPr lang="zh-CN" altLang="zh-CN" sz="2000" dirty="0"/>
              <a:t>】</a:t>
            </a:r>
          </a:p>
          <a:p>
            <a:r>
              <a:rPr lang="en-US" altLang="zh-CN" sz="2000" dirty="0"/>
              <a:t>3 3</a:t>
            </a:r>
            <a:endParaRPr lang="zh-CN" altLang="zh-CN" sz="2000" dirty="0"/>
          </a:p>
          <a:p>
            <a:r>
              <a:rPr lang="en-US" altLang="zh-CN" sz="2000" dirty="0"/>
              <a:t>1 2 1</a:t>
            </a:r>
            <a:endParaRPr lang="zh-CN" altLang="zh-CN" sz="2000" dirty="0"/>
          </a:p>
          <a:p>
            <a:r>
              <a:rPr lang="en-US" altLang="zh-CN" sz="2000" dirty="0"/>
              <a:t>2 3 2</a:t>
            </a:r>
            <a:endParaRPr lang="zh-CN" altLang="zh-CN" sz="2000" dirty="0"/>
          </a:p>
          <a:p>
            <a:r>
              <a:rPr lang="en-US" altLang="zh-CN" sz="2000" dirty="0"/>
              <a:t>3 1 3</a:t>
            </a:r>
            <a:endParaRPr lang="zh-CN" altLang="zh-CN" sz="2000" dirty="0"/>
          </a:p>
          <a:p>
            <a:r>
              <a:rPr lang="zh-CN" altLang="zh-CN" sz="2000" dirty="0"/>
              <a:t>【输出样例</a:t>
            </a:r>
            <a:r>
              <a:rPr lang="en-US" altLang="zh-CN" sz="2000" dirty="0"/>
              <a:t>1</a:t>
            </a:r>
            <a:r>
              <a:rPr lang="zh-CN" altLang="zh-CN" sz="2000" dirty="0"/>
              <a:t>】</a:t>
            </a:r>
          </a:p>
          <a:p>
            <a:r>
              <a:rPr lang="en-US" altLang="zh-CN" sz="2000" dirty="0"/>
              <a:t>3</a:t>
            </a:r>
            <a:endParaRPr lang="zh-CN" altLang="zh-CN" sz="20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49023"/>
            <a:ext cx="9082726" cy="2677656"/>
          </a:xfrm>
          <a:prstGeom prst="rect">
            <a:avLst/>
          </a:prstGeom>
        </p:spPr>
        <p:txBody>
          <a:bodyPr wrap="square">
            <a:spAutoFit/>
          </a:bodyPr>
          <a:lstStyle/>
          <a:p>
            <a:pPr indent="266700" algn="just">
              <a:spcAft>
                <a:spcPts val="0"/>
              </a:spcAft>
            </a:pPr>
            <a:r>
              <a:rPr lang="zh-CN" altLang="zh-CN" sz="2800" kern="100" dirty="0">
                <a:latin typeface="Times New Roman" panose="02020603050405020304"/>
                <a:ea typeface="宋体" panose="02010600030101010101" pitchFamily="2" charset="-122"/>
              </a:rPr>
              <a:t>求次小生成树即求第二小的生成树，次小生成树可由最小生成树换一条边得到。一般采用的是求出最小生成树后，依次删除最小生成树上的每一条边，然后生成</a:t>
            </a:r>
            <a:r>
              <a:rPr lang="en-US" altLang="zh-CN" sz="2800" i="1" kern="100" dirty="0">
                <a:latin typeface="Times New Roman" panose="02020603050405020304"/>
                <a:ea typeface="宋体" panose="02010600030101010101" pitchFamily="2" charset="-122"/>
              </a:rPr>
              <a:t>n</a:t>
            </a:r>
            <a:r>
              <a:rPr lang="zh-CN" altLang="zh-CN" sz="2800" kern="100" dirty="0">
                <a:latin typeface="Times New Roman" panose="02020603050405020304"/>
                <a:ea typeface="宋体" panose="02010600030101010101" pitchFamily="2" charset="-122"/>
              </a:rPr>
              <a:t>－</a:t>
            </a:r>
            <a:r>
              <a:rPr lang="en-US" altLang="zh-CN" sz="2800" kern="100" dirty="0">
                <a:latin typeface="Times New Roman" panose="02020603050405020304"/>
                <a:ea typeface="宋体" panose="02010600030101010101" pitchFamily="2" charset="-122"/>
              </a:rPr>
              <a:t>1</a:t>
            </a:r>
            <a:r>
              <a:rPr lang="zh-CN" altLang="zh-CN" sz="2800" kern="100" dirty="0">
                <a:latin typeface="Times New Roman" panose="02020603050405020304"/>
                <a:ea typeface="宋体" panose="02010600030101010101" pitchFamily="2" charset="-122"/>
              </a:rPr>
              <a:t>次最小生成树，记录下这个过程中的最小的生成树的值，那么这个就是第二小生成树了。用</a:t>
            </a:r>
            <a:r>
              <a:rPr lang="en-US" altLang="zh-CN" sz="2800" kern="100" dirty="0" err="1">
                <a:latin typeface="Times New Roman" panose="02020603050405020304"/>
                <a:ea typeface="宋体" panose="02010600030101010101" pitchFamily="2" charset="-122"/>
              </a:rPr>
              <a:t>Kruskal</a:t>
            </a:r>
            <a:r>
              <a:rPr lang="zh-CN" altLang="zh-CN" sz="2800" kern="100" dirty="0">
                <a:latin typeface="Times New Roman" panose="02020603050405020304"/>
                <a:ea typeface="宋体" panose="02010600030101010101" pitchFamily="2" charset="-122"/>
              </a:rPr>
              <a:t>这种算法的复杂度为</a:t>
            </a:r>
            <a:r>
              <a:rPr lang="en-US" altLang="zh-CN" sz="2800" i="1" kern="100" dirty="0">
                <a:latin typeface="Times New Roman" panose="02020603050405020304"/>
                <a:ea typeface="宋体" panose="02010600030101010101" pitchFamily="2" charset="-122"/>
              </a:rPr>
              <a:t>O</a:t>
            </a:r>
            <a:r>
              <a:rPr lang="en-US" altLang="zh-CN" sz="2800" kern="100" dirty="0">
                <a:latin typeface="Times New Roman" panose="02020603050405020304"/>
                <a:ea typeface="宋体" panose="02010600030101010101" pitchFamily="2" charset="-122"/>
              </a:rPr>
              <a:t>(</a:t>
            </a:r>
            <a:r>
              <a:rPr lang="en-US" altLang="zh-CN" sz="2800" i="1" kern="100" dirty="0">
                <a:latin typeface="Times New Roman" panose="02020603050405020304"/>
                <a:ea typeface="宋体" panose="02010600030101010101" pitchFamily="2" charset="-122"/>
              </a:rPr>
              <a:t>n</a:t>
            </a:r>
            <a:r>
              <a:rPr lang="zh-CN" altLang="zh-CN" sz="2800" kern="100" dirty="0">
                <a:latin typeface="Times New Roman" panose="02020603050405020304"/>
                <a:ea typeface="宋体" panose="02010600030101010101" pitchFamily="2" charset="-122"/>
              </a:rPr>
              <a:t>×</a:t>
            </a:r>
            <a:r>
              <a:rPr lang="en-US" altLang="zh-CN" sz="2800" kern="100" dirty="0">
                <a:latin typeface="Times New Roman" panose="02020603050405020304"/>
                <a:ea typeface="宋体" panose="02010600030101010101" pitchFamily="2" charset="-122"/>
              </a:rPr>
              <a:t>elog2e)</a:t>
            </a:r>
            <a:r>
              <a:rPr lang="zh-CN" altLang="zh-CN" sz="2800" kern="100" dirty="0">
                <a:latin typeface="Times New Roman" panose="02020603050405020304"/>
                <a:ea typeface="宋体" panose="02010600030101010101" pitchFamily="2" charset="-122"/>
              </a:rPr>
              <a:t>，当图比较稠密时，复杂度接近</a:t>
            </a:r>
            <a:r>
              <a:rPr lang="en-US" altLang="zh-CN" sz="2800" i="1" kern="100" dirty="0">
                <a:latin typeface="Times New Roman" panose="02020603050405020304"/>
                <a:ea typeface="宋体" panose="02010600030101010101" pitchFamily="2" charset="-122"/>
              </a:rPr>
              <a:t>O</a:t>
            </a:r>
            <a:r>
              <a:rPr lang="en-US" altLang="zh-CN" sz="2800" kern="100" dirty="0">
                <a:latin typeface="Times New Roman" panose="02020603050405020304"/>
                <a:ea typeface="宋体" panose="02010600030101010101" pitchFamily="2" charset="-122"/>
              </a:rPr>
              <a:t>(</a:t>
            </a:r>
            <a:r>
              <a:rPr lang="en-US" altLang="zh-CN" sz="2800" i="1" kern="100" dirty="0">
                <a:latin typeface="Times New Roman" panose="02020603050405020304"/>
                <a:ea typeface="宋体" panose="02010600030101010101" pitchFamily="2" charset="-122"/>
              </a:rPr>
              <a:t>n</a:t>
            </a:r>
            <a:r>
              <a:rPr lang="en-US" altLang="zh-CN" sz="2800" kern="100" baseline="30000" dirty="0">
                <a:latin typeface="Times New Roman" panose="02020603050405020304"/>
                <a:ea typeface="宋体" panose="02010600030101010101" pitchFamily="2" charset="-122"/>
              </a:rPr>
              <a:t>3</a:t>
            </a:r>
            <a:r>
              <a:rPr lang="en-US" altLang="zh-CN" sz="2800" kern="100" dirty="0">
                <a:latin typeface="Times New Roman" panose="02020603050405020304"/>
                <a:ea typeface="宋体" panose="02010600030101010101" pitchFamily="2" charset="-122"/>
              </a:rPr>
              <a:t>)</a:t>
            </a:r>
            <a:r>
              <a:rPr lang="zh-CN" altLang="zh-CN" sz="2800" kern="100" dirty="0">
                <a:latin typeface="Times New Roman" panose="02020603050405020304"/>
                <a:ea typeface="宋体" panose="02010600030101010101" pitchFamily="2" charset="-122"/>
              </a:rPr>
              <a:t>。</a:t>
            </a:r>
            <a:endParaRPr lang="zh-CN" altLang="zh-CN" sz="2400" kern="100" dirty="0">
              <a:effectLst/>
              <a:latin typeface="Times New Roman" panose="02020603050405020304"/>
              <a:ea typeface="宋体" panose="02010600030101010101" pitchFamily="2" charset="-122"/>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2420" y="78825"/>
            <a:ext cx="8988457" cy="1692771"/>
          </a:xfrm>
          <a:prstGeom prst="rect">
            <a:avLst/>
          </a:prstGeom>
        </p:spPr>
        <p:txBody>
          <a:bodyPr wrap="square">
            <a:spAutoFit/>
          </a:bodyPr>
          <a:lstStyle/>
          <a:p>
            <a:r>
              <a:rPr lang="en-US" altLang="zh-CN" dirty="0"/>
              <a:t>     </a:t>
            </a:r>
            <a:r>
              <a:rPr lang="zh-CN" altLang="zh-CN" dirty="0"/>
              <a:t>一种更简单的方法是先通过</a:t>
            </a:r>
            <a:r>
              <a:rPr lang="en-US" altLang="zh-CN" dirty="0" err="1"/>
              <a:t>Kruskal</a:t>
            </a:r>
            <a:r>
              <a:rPr lang="zh-CN" altLang="zh-CN" dirty="0"/>
              <a:t>算法或</a:t>
            </a:r>
            <a:r>
              <a:rPr lang="en-US" altLang="zh-CN" dirty="0"/>
              <a:t>Prim</a:t>
            </a:r>
            <a:r>
              <a:rPr lang="zh-CN" altLang="zh-CN" dirty="0"/>
              <a:t>算法求出最小生成树</a:t>
            </a:r>
            <a:r>
              <a:rPr lang="en-US" altLang="zh-CN" dirty="0"/>
              <a:t>T</a:t>
            </a:r>
            <a:r>
              <a:rPr lang="zh-CN" altLang="zh-CN" dirty="0"/>
              <a:t>，再在</a:t>
            </a:r>
            <a:r>
              <a:rPr lang="en-US" altLang="zh-CN" dirty="0"/>
              <a:t>T</a:t>
            </a:r>
            <a:r>
              <a:rPr lang="zh-CN" altLang="zh-CN" dirty="0"/>
              <a:t>中添加一条不在</a:t>
            </a:r>
            <a:r>
              <a:rPr lang="en-US" altLang="zh-CN" dirty="0"/>
              <a:t>T</a:t>
            </a:r>
            <a:r>
              <a:rPr lang="zh-CN" altLang="zh-CN" dirty="0"/>
              <a:t>中的边，添加后一定会形成环。例如图中的最小树，添加了结点</a:t>
            </a:r>
            <a:r>
              <a:rPr lang="en-US" altLang="zh-CN" dirty="0"/>
              <a:t>3</a:t>
            </a:r>
            <a:r>
              <a:rPr lang="zh-CN" altLang="zh-CN" dirty="0"/>
              <a:t>到结点</a:t>
            </a:r>
            <a:r>
              <a:rPr lang="en-US" altLang="zh-CN" dirty="0"/>
              <a:t>5</a:t>
            </a:r>
            <a:r>
              <a:rPr lang="zh-CN" altLang="zh-CN" dirty="0"/>
              <a:t>的边后，形成了环。</a:t>
            </a:r>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2819102" y="1916747"/>
            <a:ext cx="3840935" cy="2560985"/>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0"/>
            <a:ext cx="9106293" cy="1200329"/>
          </a:xfrm>
          <a:prstGeom prst="rect">
            <a:avLst/>
          </a:prstGeom>
        </p:spPr>
        <p:txBody>
          <a:bodyPr wrap="square">
            <a:spAutoFit/>
          </a:bodyPr>
          <a:lstStyle/>
          <a:p>
            <a:r>
              <a:rPr lang="en-US" altLang="zh-CN" sz="2400" dirty="0"/>
              <a:t>    </a:t>
            </a:r>
            <a:r>
              <a:rPr lang="zh-CN" altLang="zh-CN" sz="2400" dirty="0"/>
              <a:t>此时要构造次小生成树就必须删除环上的一条边，且为了使生成树的和最小，肯定要选择环上边权最二大的一条边来删除（即环中属于</a:t>
            </a:r>
            <a:r>
              <a:rPr lang="en-US" altLang="zh-CN" sz="2400" dirty="0"/>
              <a:t>T</a:t>
            </a:r>
            <a:r>
              <a:rPr lang="zh-CN" altLang="zh-CN" sz="2400" dirty="0"/>
              <a:t>中的最大边），如图</a:t>
            </a:r>
            <a:endParaRPr lang="zh-CN" altLang="en-US" sz="2400"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2269628" y="1096648"/>
            <a:ext cx="4439773" cy="1910503"/>
          </a:xfrm>
          <a:prstGeom prst="rect">
            <a:avLst/>
          </a:prstGeom>
          <a:noFill/>
          <a:ln>
            <a:noFill/>
          </a:ln>
        </p:spPr>
      </p:pic>
      <p:sp>
        <p:nvSpPr>
          <p:cNvPr id="4" name="矩形 3"/>
          <p:cNvSpPr/>
          <p:nvPr/>
        </p:nvSpPr>
        <p:spPr>
          <a:xfrm>
            <a:off x="63629" y="3162449"/>
            <a:ext cx="8979031" cy="1938992"/>
          </a:xfrm>
          <a:prstGeom prst="rect">
            <a:avLst/>
          </a:prstGeom>
        </p:spPr>
        <p:txBody>
          <a:bodyPr wrap="square">
            <a:spAutoFit/>
          </a:bodyPr>
          <a:lstStyle/>
          <a:p>
            <a:r>
              <a:rPr lang="en-US" altLang="zh-CN" sz="2400" dirty="0"/>
              <a:t>     </a:t>
            </a:r>
            <a:r>
              <a:rPr lang="zh-CN" altLang="zh-CN" sz="2400" dirty="0"/>
              <a:t>我们是怎么知道环中属于</a:t>
            </a:r>
            <a:r>
              <a:rPr lang="en-US" altLang="zh-CN" sz="2400" dirty="0"/>
              <a:t>T</a:t>
            </a:r>
            <a:r>
              <a:rPr lang="zh-CN" altLang="zh-CN" sz="2400" dirty="0"/>
              <a:t>中的最大的边是结点</a:t>
            </a:r>
            <a:r>
              <a:rPr lang="en-US" altLang="zh-CN" sz="2400" dirty="0"/>
              <a:t>8</a:t>
            </a:r>
            <a:r>
              <a:rPr lang="zh-CN" altLang="zh-CN" sz="2400" dirty="0"/>
              <a:t>到结点</a:t>
            </a:r>
            <a:r>
              <a:rPr lang="en-US" altLang="zh-CN" sz="2400" dirty="0"/>
              <a:t>7</a:t>
            </a:r>
            <a:r>
              <a:rPr lang="zh-CN" altLang="zh-CN" sz="2400" dirty="0"/>
              <a:t>的边呢？事实上这是在第一遍求最小生成树的时候就通过动规算法预先计算出来并保存在二维数组</a:t>
            </a:r>
            <a:r>
              <a:rPr lang="en-US" altLang="zh-CN" sz="2400" dirty="0"/>
              <a:t>Max[][]</a:t>
            </a:r>
            <a:r>
              <a:rPr lang="zh-CN" altLang="zh-CN" sz="2400" dirty="0"/>
              <a:t>中的，即</a:t>
            </a:r>
            <a:r>
              <a:rPr lang="en-US" altLang="zh-CN" sz="2400" dirty="0"/>
              <a:t>Max[u][v]</a:t>
            </a:r>
            <a:r>
              <a:rPr lang="zh-CN" altLang="zh-CN" sz="2400" dirty="0"/>
              <a:t>保存的是结点</a:t>
            </a:r>
            <a:r>
              <a:rPr lang="en-US" altLang="zh-CN" sz="2400" i="1" dirty="0"/>
              <a:t>u</a:t>
            </a:r>
            <a:r>
              <a:rPr lang="zh-CN" altLang="zh-CN" sz="2400" dirty="0"/>
              <a:t>到结点</a:t>
            </a:r>
            <a:r>
              <a:rPr lang="en-US" altLang="zh-CN" sz="2400" i="1" dirty="0"/>
              <a:t>v</a:t>
            </a:r>
            <a:r>
              <a:rPr lang="zh-CN" altLang="zh-CN" sz="2400" dirty="0"/>
              <a:t>的路径上边的最大值。所以对于图</a:t>
            </a:r>
            <a:r>
              <a:rPr lang="en-US" altLang="zh-CN" sz="2400" dirty="0"/>
              <a:t>5.124</a:t>
            </a:r>
            <a:r>
              <a:rPr lang="zh-CN" altLang="zh-CN" sz="2400" dirty="0"/>
              <a:t>来说，添加了结点</a:t>
            </a:r>
            <a:r>
              <a:rPr lang="en-US" altLang="zh-CN" sz="2400" dirty="0"/>
              <a:t>3</a:t>
            </a:r>
            <a:r>
              <a:rPr lang="zh-CN" altLang="zh-CN" sz="2400" dirty="0"/>
              <a:t>到结点</a:t>
            </a:r>
            <a:r>
              <a:rPr lang="en-US" altLang="zh-CN" sz="2400" dirty="0"/>
              <a:t>5</a:t>
            </a:r>
            <a:r>
              <a:rPr lang="zh-CN" altLang="zh-CN" sz="2400" dirty="0"/>
              <a:t>的边后，删除的边的值即为</a:t>
            </a:r>
            <a:r>
              <a:rPr lang="en-US" altLang="zh-CN" sz="2400" dirty="0"/>
              <a:t>Max[3][5]</a:t>
            </a:r>
            <a:r>
              <a:rPr lang="zh-CN" altLang="zh-CN" sz="2400" dirty="0"/>
              <a:t>。</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0"/>
            <a:ext cx="9106293" cy="1692771"/>
          </a:xfrm>
          <a:prstGeom prst="rect">
            <a:avLst/>
          </a:prstGeom>
        </p:spPr>
        <p:txBody>
          <a:bodyPr wrap="square">
            <a:spAutoFit/>
          </a:bodyPr>
          <a:lstStyle/>
          <a:p>
            <a:r>
              <a:rPr lang="en-US" altLang="zh-CN" dirty="0"/>
              <a:t>    </a:t>
            </a:r>
            <a:r>
              <a:rPr lang="zh-CN" altLang="zh-CN" dirty="0"/>
              <a:t>现以</a:t>
            </a:r>
            <a:r>
              <a:rPr lang="en-US" altLang="zh-CN" dirty="0"/>
              <a:t>Prims</a:t>
            </a:r>
            <a:r>
              <a:rPr lang="zh-CN" altLang="zh-CN" dirty="0"/>
              <a:t>算法为例来演示</a:t>
            </a:r>
            <a:r>
              <a:rPr lang="en-US" altLang="zh-CN" dirty="0"/>
              <a:t>Max[][]</a:t>
            </a:r>
            <a:r>
              <a:rPr lang="zh-CN" altLang="zh-CN" dirty="0"/>
              <a:t>的推导过程。我们知道，每添加一条最短边到生成最小树（</a:t>
            </a:r>
            <a:r>
              <a:rPr lang="en-US" altLang="zh-CN" dirty="0"/>
              <a:t>MST</a:t>
            </a:r>
            <a:r>
              <a:rPr lang="zh-CN" altLang="zh-CN" dirty="0"/>
              <a:t>）的过程中，该边的两个结点必然一个结点在</a:t>
            </a:r>
            <a:r>
              <a:rPr lang="en-US" altLang="zh-CN" dirty="0"/>
              <a:t>MST</a:t>
            </a:r>
            <a:r>
              <a:rPr lang="zh-CN" altLang="zh-CN" dirty="0"/>
              <a:t>集合中，一个结点在</a:t>
            </a:r>
            <a:r>
              <a:rPr lang="en-US" altLang="zh-CN" dirty="0"/>
              <a:t>MST</a:t>
            </a:r>
            <a:r>
              <a:rPr lang="zh-CN" altLang="zh-CN" dirty="0"/>
              <a:t>集合外。例如图中，添加的结点</a:t>
            </a:r>
            <a:r>
              <a:rPr lang="en-US" altLang="zh-CN" dirty="0"/>
              <a:t>1</a:t>
            </a:r>
            <a:r>
              <a:rPr lang="zh-CN" altLang="zh-CN" dirty="0"/>
              <a:t>到结点</a:t>
            </a:r>
            <a:r>
              <a:rPr lang="en-US" altLang="zh-CN" dirty="0"/>
              <a:t>5</a:t>
            </a:r>
            <a:r>
              <a:rPr lang="zh-CN" altLang="zh-CN" dirty="0"/>
              <a:t>这条边。</a:t>
            </a:r>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1885865" y="2164436"/>
            <a:ext cx="5693286" cy="1846669"/>
          </a:xfrm>
          <a:prstGeom prst="rect">
            <a:avLst/>
          </a:prstGeom>
          <a:noFill/>
          <a:ln>
            <a:noFill/>
          </a:ln>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2421" y="191974"/>
            <a:ext cx="8927183" cy="3693319"/>
          </a:xfrm>
          <a:prstGeom prst="rect">
            <a:avLst/>
          </a:prstGeom>
        </p:spPr>
        <p:txBody>
          <a:bodyPr wrap="square">
            <a:spAutoFit/>
          </a:bodyPr>
          <a:lstStyle/>
          <a:p>
            <a:r>
              <a:rPr lang="en-US" altLang="zh-CN" dirty="0"/>
              <a:t>    </a:t>
            </a:r>
            <a:r>
              <a:rPr lang="zh-CN" altLang="zh-CN" dirty="0"/>
              <a:t>设在</a:t>
            </a:r>
            <a:r>
              <a:rPr lang="en-US" altLang="zh-CN" dirty="0"/>
              <a:t>MST</a:t>
            </a:r>
            <a:r>
              <a:rPr lang="zh-CN" altLang="zh-CN" dirty="0"/>
              <a:t>集合中的结点为</a:t>
            </a:r>
            <a:r>
              <a:rPr lang="en-US" altLang="zh-CN" i="1" dirty="0" err="1"/>
              <a:t>i</a:t>
            </a:r>
            <a:r>
              <a:rPr lang="zh-CN" altLang="zh-CN" dirty="0"/>
              <a:t>的父结点，并保存在数组</a:t>
            </a:r>
            <a:r>
              <a:rPr lang="en-US" altLang="zh-CN" dirty="0"/>
              <a:t>dad[</a:t>
            </a:r>
            <a:r>
              <a:rPr lang="en-US" altLang="zh-CN" dirty="0" err="1"/>
              <a:t>i</a:t>
            </a:r>
            <a:r>
              <a:rPr lang="en-US" altLang="zh-CN" dirty="0"/>
              <a:t>]</a:t>
            </a:r>
            <a:r>
              <a:rPr lang="zh-CN" altLang="zh-CN" dirty="0"/>
              <a:t>中，那么对于集合外的结点来说，它们对应的父结点，应该是</a:t>
            </a:r>
            <a:r>
              <a:rPr lang="en-US" altLang="zh-CN" dirty="0"/>
              <a:t>MST</a:t>
            </a:r>
            <a:r>
              <a:rPr lang="zh-CN" altLang="zh-CN" dirty="0"/>
              <a:t>集合中和它们最近的结点，即在没有添加结点</a:t>
            </a:r>
            <a:r>
              <a:rPr lang="en-US" altLang="zh-CN" dirty="0"/>
              <a:t>5</a:t>
            </a:r>
            <a:r>
              <a:rPr lang="zh-CN" altLang="zh-CN" dirty="0"/>
              <a:t>之前，</a:t>
            </a:r>
            <a:r>
              <a:rPr lang="en-US" altLang="zh-CN" dirty="0"/>
              <a:t>dad[5]</a:t>
            </a:r>
            <a:r>
              <a:rPr lang="zh-CN" altLang="zh-CN" dirty="0"/>
              <a:t>＝</a:t>
            </a:r>
            <a:r>
              <a:rPr lang="en-US" altLang="zh-CN" dirty="0"/>
              <a:t>1</a:t>
            </a:r>
            <a:r>
              <a:rPr lang="zh-CN" altLang="zh-CN" dirty="0"/>
              <a:t>，</a:t>
            </a:r>
            <a:r>
              <a:rPr lang="en-US" altLang="zh-CN" dirty="0"/>
              <a:t>dad[4]</a:t>
            </a:r>
            <a:r>
              <a:rPr lang="zh-CN" altLang="zh-CN" dirty="0"/>
              <a:t>＝</a:t>
            </a:r>
            <a:r>
              <a:rPr lang="en-US" altLang="zh-CN" dirty="0"/>
              <a:t>1</a:t>
            </a:r>
            <a:r>
              <a:rPr lang="zh-CN" altLang="zh-CN" dirty="0"/>
              <a:t>，</a:t>
            </a:r>
            <a:r>
              <a:rPr lang="en-US" altLang="zh-CN" dirty="0"/>
              <a:t>dad[2]</a:t>
            </a:r>
            <a:r>
              <a:rPr lang="zh-CN" altLang="zh-CN" dirty="0"/>
              <a:t>＝</a:t>
            </a:r>
            <a:r>
              <a:rPr lang="en-US" altLang="zh-CN" dirty="0"/>
              <a:t>3</a:t>
            </a:r>
            <a:r>
              <a:rPr lang="zh-CN" altLang="zh-CN" dirty="0"/>
              <a:t>，添加了结点</a:t>
            </a:r>
            <a:r>
              <a:rPr lang="en-US" altLang="zh-CN" dirty="0"/>
              <a:t>5</a:t>
            </a:r>
            <a:r>
              <a:rPr lang="zh-CN" altLang="zh-CN" dirty="0"/>
              <a:t>之后，</a:t>
            </a:r>
            <a:r>
              <a:rPr lang="en-US" altLang="zh-CN" dirty="0"/>
              <a:t>dad[4]</a:t>
            </a:r>
            <a:r>
              <a:rPr lang="zh-CN" altLang="zh-CN" dirty="0"/>
              <a:t>＝</a:t>
            </a:r>
            <a:r>
              <a:rPr lang="en-US" altLang="zh-CN" dirty="0"/>
              <a:t>5</a:t>
            </a:r>
            <a:r>
              <a:rPr lang="zh-CN" altLang="zh-CN" dirty="0"/>
              <a:t>。</a:t>
            </a:r>
          </a:p>
          <a:p>
            <a:r>
              <a:rPr lang="en-US" altLang="zh-CN" dirty="0"/>
              <a:t>    </a:t>
            </a:r>
            <a:r>
              <a:rPr lang="zh-CN" altLang="zh-CN" dirty="0"/>
              <a:t>设</a:t>
            </a:r>
            <a:r>
              <a:rPr lang="en-US" altLang="zh-CN" dirty="0"/>
              <a:t>G[</a:t>
            </a:r>
            <a:r>
              <a:rPr lang="en-US" altLang="zh-CN" dirty="0" err="1"/>
              <a:t>i</a:t>
            </a:r>
            <a:r>
              <a:rPr lang="en-US" altLang="zh-CN" dirty="0"/>
              <a:t>][j]</a:t>
            </a:r>
            <a:r>
              <a:rPr lang="zh-CN" altLang="zh-CN" dirty="0"/>
              <a:t>表示结点</a:t>
            </a:r>
            <a:r>
              <a:rPr lang="en-US" altLang="zh-CN" i="1" dirty="0" err="1"/>
              <a:t>i</a:t>
            </a:r>
            <a:r>
              <a:rPr lang="zh-CN" altLang="zh-CN" dirty="0"/>
              <a:t>到结点</a:t>
            </a:r>
            <a:r>
              <a:rPr lang="en-US" altLang="zh-CN" i="1" dirty="0"/>
              <a:t>j</a:t>
            </a:r>
            <a:r>
              <a:rPr lang="zh-CN" altLang="zh-CN" dirty="0"/>
              <a:t>的边权值，则在添加了结点</a:t>
            </a:r>
            <a:r>
              <a:rPr lang="en-US" altLang="zh-CN" dirty="0"/>
              <a:t>1</a:t>
            </a:r>
            <a:r>
              <a:rPr lang="zh-CN" altLang="zh-CN" dirty="0"/>
              <a:t>到结点</a:t>
            </a:r>
            <a:r>
              <a:rPr lang="en-US" altLang="zh-CN" dirty="0"/>
              <a:t>5</a:t>
            </a:r>
            <a:r>
              <a:rPr lang="zh-CN" altLang="zh-CN" dirty="0"/>
              <a:t>这条边后，当前</a:t>
            </a:r>
            <a:r>
              <a:rPr lang="en-US" altLang="zh-CN" dirty="0"/>
              <a:t>MST</a:t>
            </a:r>
            <a:r>
              <a:rPr lang="zh-CN" altLang="zh-CN" dirty="0"/>
              <a:t>中，结点</a:t>
            </a:r>
            <a:r>
              <a:rPr lang="en-US" altLang="zh-CN" dirty="0"/>
              <a:t>3</a:t>
            </a:r>
            <a:r>
              <a:rPr lang="zh-CN" altLang="zh-CN" dirty="0"/>
              <a:t>到结点</a:t>
            </a:r>
            <a:r>
              <a:rPr lang="en-US" altLang="zh-CN" dirty="0"/>
              <a:t>5</a:t>
            </a:r>
            <a:r>
              <a:rPr lang="zh-CN" altLang="zh-CN" dirty="0"/>
              <a:t>的路径上，最大边</a:t>
            </a:r>
            <a:r>
              <a:rPr lang="en-US" altLang="zh-CN" dirty="0"/>
              <a:t>Max[3][5]</a:t>
            </a:r>
            <a:r>
              <a:rPr lang="zh-CN" altLang="zh-CN" dirty="0"/>
              <a:t>应该为</a:t>
            </a:r>
            <a:r>
              <a:rPr lang="en-US" altLang="zh-CN" dirty="0"/>
              <a:t>max</a:t>
            </a:r>
            <a:r>
              <a:rPr lang="zh-CN" altLang="zh-CN" dirty="0"/>
              <a:t>（</a:t>
            </a:r>
            <a:r>
              <a:rPr lang="en-US" altLang="zh-CN" dirty="0"/>
              <a:t>G[1][5]</a:t>
            </a:r>
            <a:r>
              <a:rPr lang="zh-CN" altLang="zh-CN" dirty="0"/>
              <a:t>，</a:t>
            </a:r>
            <a:r>
              <a:rPr lang="en-US" altLang="zh-CN" dirty="0"/>
              <a:t>G[1][3]</a:t>
            </a:r>
            <a:r>
              <a:rPr lang="zh-CN" altLang="zh-CN" dirty="0"/>
              <a:t>）</a:t>
            </a:r>
            <a:r>
              <a:rPr lang="en-US" altLang="zh-CN" dirty="0"/>
              <a:t>,</a:t>
            </a:r>
            <a:r>
              <a:rPr lang="zh-CN" altLang="zh-CN" dirty="0"/>
              <a:t>其中</a:t>
            </a:r>
            <a:r>
              <a:rPr lang="en-US" altLang="zh-CN" dirty="0"/>
              <a:t>G[1][3]</a:t>
            </a:r>
            <a:r>
              <a:rPr lang="zh-CN" altLang="zh-CN" dirty="0"/>
              <a:t>可以看成是</a:t>
            </a:r>
            <a:r>
              <a:rPr lang="en-US" altLang="zh-CN" dirty="0"/>
              <a:t>G[dad[5]][3]</a:t>
            </a:r>
            <a:r>
              <a:rPr lang="zh-CN" altLang="zh-CN" dirty="0"/>
              <a:t>。</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9144000" cy="1692771"/>
          </a:xfrm>
          <a:prstGeom prst="rect">
            <a:avLst/>
          </a:prstGeom>
        </p:spPr>
        <p:txBody>
          <a:bodyPr wrap="square">
            <a:spAutoFit/>
          </a:bodyPr>
          <a:lstStyle/>
          <a:p>
            <a:r>
              <a:rPr lang="en-US" altLang="zh-CN" dirty="0"/>
              <a:t>    </a:t>
            </a:r>
            <a:r>
              <a:rPr lang="zh-CN" altLang="zh-CN" dirty="0"/>
              <a:t>推广到普遍情况如图所示，当</a:t>
            </a:r>
            <a:r>
              <a:rPr lang="en-US" altLang="zh-CN" dirty="0"/>
              <a:t>MST</a:t>
            </a:r>
            <a:r>
              <a:rPr lang="zh-CN" altLang="zh-CN" dirty="0"/>
              <a:t>集合新添加了一个结点</a:t>
            </a:r>
            <a:r>
              <a:rPr lang="en-US" altLang="zh-CN" i="1" dirty="0"/>
              <a:t>k</a:t>
            </a:r>
            <a:r>
              <a:rPr lang="zh-CN" altLang="zh-CN" dirty="0"/>
              <a:t>后，对于某个结点</a:t>
            </a:r>
            <a:r>
              <a:rPr lang="en-US" altLang="zh-CN" i="1" dirty="0"/>
              <a:t>j</a:t>
            </a:r>
            <a:r>
              <a:rPr lang="zh-CN" altLang="zh-CN" dirty="0"/>
              <a:t>来说，如果在结点</a:t>
            </a:r>
            <a:r>
              <a:rPr lang="en-US" altLang="zh-CN" i="1" dirty="0"/>
              <a:t>j</a:t>
            </a:r>
            <a:r>
              <a:rPr lang="zh-CN" altLang="zh-CN" dirty="0"/>
              <a:t>和</a:t>
            </a:r>
            <a:r>
              <a:rPr lang="en-US" altLang="zh-CN" i="1" dirty="0"/>
              <a:t>k</a:t>
            </a:r>
            <a:r>
              <a:rPr lang="zh-CN" altLang="zh-CN" dirty="0"/>
              <a:t>之间连一条边，就连成了一个环，这时需要删除的边为</a:t>
            </a:r>
            <a:r>
              <a:rPr lang="en-US" altLang="zh-CN" dirty="0"/>
              <a:t>Max[j][k]</a:t>
            </a:r>
            <a:r>
              <a:rPr lang="zh-CN" altLang="zh-CN" dirty="0"/>
              <a:t>，而</a:t>
            </a:r>
            <a:r>
              <a:rPr lang="en-US" altLang="zh-CN" dirty="0"/>
              <a:t>Max[j][k]</a:t>
            </a:r>
            <a:r>
              <a:rPr lang="zh-CN" altLang="zh-CN" dirty="0"/>
              <a:t>的值显然是</a:t>
            </a:r>
            <a:r>
              <a:rPr lang="en-US" altLang="zh-CN" dirty="0"/>
              <a:t>Max[j][</a:t>
            </a:r>
            <a:r>
              <a:rPr lang="en-US" altLang="zh-CN" dirty="0" err="1"/>
              <a:t>i</a:t>
            </a:r>
            <a:r>
              <a:rPr lang="en-US" altLang="zh-CN" dirty="0"/>
              <a:t>]</a:t>
            </a:r>
            <a:r>
              <a:rPr lang="zh-CN" altLang="zh-CN" dirty="0"/>
              <a:t>和新加的边</a:t>
            </a:r>
            <a:r>
              <a:rPr lang="en-US" altLang="zh-CN" dirty="0"/>
              <a:t>Min</a:t>
            </a:r>
            <a:r>
              <a:rPr lang="zh-CN" altLang="zh-CN" dirty="0"/>
              <a:t>这两个值中取最大值得来的。</a:t>
            </a:r>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2727753" y="1895488"/>
            <a:ext cx="4191521" cy="2893328"/>
          </a:xfrm>
          <a:prstGeom prst="rect">
            <a:avLst/>
          </a:prstGeom>
          <a:noFill/>
          <a:ln>
            <a:noFill/>
          </a:ln>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13896"/>
            <a:ext cx="9073299" cy="2092881"/>
          </a:xfrm>
          <a:prstGeom prst="rect">
            <a:avLst/>
          </a:prstGeom>
        </p:spPr>
        <p:txBody>
          <a:bodyPr wrap="square">
            <a:spAutoFit/>
          </a:bodyPr>
          <a:lstStyle/>
          <a:p>
            <a:r>
              <a:rPr lang="en-US" altLang="zh-CN" dirty="0"/>
              <a:t>    </a:t>
            </a:r>
            <a:r>
              <a:rPr lang="zh-CN" altLang="zh-CN" dirty="0"/>
              <a:t>当连接了结点</a:t>
            </a:r>
            <a:r>
              <a:rPr lang="en-US" altLang="zh-CN" dirty="0"/>
              <a:t>4</a:t>
            </a:r>
            <a:r>
              <a:rPr lang="zh-CN" altLang="zh-CN" dirty="0"/>
              <a:t>到结点</a:t>
            </a:r>
            <a:r>
              <a:rPr lang="en-US" altLang="zh-CN" dirty="0"/>
              <a:t>5</a:t>
            </a:r>
            <a:r>
              <a:rPr lang="zh-CN" altLang="zh-CN" dirty="0"/>
              <a:t>的边到</a:t>
            </a:r>
            <a:r>
              <a:rPr lang="en-US" altLang="zh-CN" dirty="0"/>
              <a:t>MST</a:t>
            </a:r>
            <a:r>
              <a:rPr lang="zh-CN" altLang="zh-CN" dirty="0"/>
              <a:t>中后，结点</a:t>
            </a:r>
            <a:r>
              <a:rPr lang="en-US" altLang="zh-CN" dirty="0"/>
              <a:t>1</a:t>
            </a:r>
            <a:r>
              <a:rPr lang="zh-CN" altLang="zh-CN" dirty="0"/>
              <a:t>到结点</a:t>
            </a:r>
            <a:r>
              <a:rPr lang="en-US" altLang="zh-CN" dirty="0"/>
              <a:t>4</a:t>
            </a:r>
            <a:r>
              <a:rPr lang="zh-CN" altLang="zh-CN" dirty="0"/>
              <a:t>的路径上，最大边</a:t>
            </a:r>
            <a:r>
              <a:rPr lang="en-US" altLang="zh-CN" dirty="0"/>
              <a:t>Max[1][4]</a:t>
            </a:r>
            <a:r>
              <a:rPr lang="zh-CN" altLang="zh-CN" dirty="0"/>
              <a:t>＝</a:t>
            </a:r>
            <a:r>
              <a:rPr lang="en-US" altLang="zh-CN" dirty="0"/>
              <a:t>max(G[4][5]</a:t>
            </a:r>
            <a:r>
              <a:rPr lang="zh-CN" altLang="zh-CN" dirty="0"/>
              <a:t>，</a:t>
            </a:r>
            <a:r>
              <a:rPr lang="en-US" altLang="zh-CN" dirty="0"/>
              <a:t>G[1][dad[4]])</a:t>
            </a:r>
            <a:r>
              <a:rPr lang="zh-CN" altLang="zh-CN" dirty="0"/>
              <a:t>；结点</a:t>
            </a:r>
            <a:r>
              <a:rPr lang="en-US" altLang="zh-CN" dirty="0"/>
              <a:t>3</a:t>
            </a:r>
            <a:r>
              <a:rPr lang="zh-CN" altLang="zh-CN" dirty="0"/>
              <a:t>到结点</a:t>
            </a:r>
            <a:r>
              <a:rPr lang="en-US" altLang="zh-CN" dirty="0"/>
              <a:t>4</a:t>
            </a:r>
            <a:r>
              <a:rPr lang="zh-CN" altLang="zh-CN" dirty="0"/>
              <a:t>的路上，最大边</a:t>
            </a:r>
            <a:r>
              <a:rPr lang="en-US" altLang="zh-CN" dirty="0"/>
              <a:t>Max[3][4]</a:t>
            </a:r>
            <a:r>
              <a:rPr lang="zh-CN" altLang="zh-CN" dirty="0"/>
              <a:t>＝</a:t>
            </a:r>
            <a:r>
              <a:rPr lang="en-US" altLang="zh-CN" dirty="0"/>
              <a:t>max(G[4][5]</a:t>
            </a:r>
            <a:r>
              <a:rPr lang="zh-CN" altLang="zh-CN" dirty="0"/>
              <a:t>，</a:t>
            </a:r>
            <a:r>
              <a:rPr lang="en-US" altLang="zh-CN" dirty="0"/>
              <a:t>Max[3][5])</a:t>
            </a:r>
            <a:r>
              <a:rPr lang="zh-CN" altLang="zh-CN" dirty="0"/>
              <a:t>。这样如果添加结点</a:t>
            </a:r>
            <a:r>
              <a:rPr lang="en-US" altLang="zh-CN" dirty="0"/>
              <a:t>1</a:t>
            </a:r>
            <a:r>
              <a:rPr lang="zh-CN" altLang="zh-CN" dirty="0"/>
              <a:t>到结点</a:t>
            </a:r>
            <a:r>
              <a:rPr lang="en-US" altLang="zh-CN" dirty="0"/>
              <a:t>4</a:t>
            </a:r>
            <a:r>
              <a:rPr lang="zh-CN" altLang="zh-CN" dirty="0"/>
              <a:t>的边，删除</a:t>
            </a:r>
            <a:r>
              <a:rPr lang="en-US" altLang="zh-CN" dirty="0"/>
              <a:t>Max[1][4]</a:t>
            </a:r>
            <a:r>
              <a:rPr lang="zh-CN" altLang="zh-CN" dirty="0"/>
              <a:t>的值即可；如果添加结点</a:t>
            </a:r>
            <a:r>
              <a:rPr lang="en-US" altLang="zh-CN" dirty="0"/>
              <a:t>3</a:t>
            </a:r>
            <a:r>
              <a:rPr lang="zh-CN" altLang="zh-CN" dirty="0"/>
              <a:t>到结点</a:t>
            </a:r>
            <a:r>
              <a:rPr lang="en-US" altLang="zh-CN" dirty="0"/>
              <a:t>4</a:t>
            </a:r>
            <a:r>
              <a:rPr lang="zh-CN" altLang="zh-CN" dirty="0"/>
              <a:t>的边，删除</a:t>
            </a:r>
            <a:r>
              <a:rPr lang="en-US" altLang="zh-CN" dirty="0"/>
              <a:t>Max[3][4]</a:t>
            </a:r>
            <a:r>
              <a:rPr lang="zh-CN" altLang="zh-CN" dirty="0"/>
              <a:t>的值即可。</a:t>
            </a:r>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2671516" y="2391897"/>
            <a:ext cx="3663295" cy="2246091"/>
          </a:xfrm>
          <a:prstGeom prst="rect">
            <a:avLst/>
          </a:prstGeom>
          <a:noFill/>
          <a:ln>
            <a:noFill/>
          </a:ln>
        </p:spPr>
      </p:pic>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6559"/>
            <a:ext cx="9063872" cy="3693319"/>
          </a:xfrm>
          <a:prstGeom prst="rect">
            <a:avLst/>
          </a:prstGeom>
        </p:spPr>
        <p:txBody>
          <a:bodyPr wrap="square">
            <a:spAutoFit/>
          </a:bodyPr>
          <a:lstStyle/>
          <a:p>
            <a:r>
              <a:rPr lang="en-US" altLang="zh-CN" dirty="0"/>
              <a:t>    </a:t>
            </a:r>
            <a:r>
              <a:rPr lang="zh-CN" altLang="zh-CN" dirty="0"/>
              <a:t>解决了环上边权值第二大的边的问题后，接下来只要依此法枚举添加其他不在</a:t>
            </a:r>
            <a:r>
              <a:rPr lang="en-US" altLang="zh-CN" dirty="0"/>
              <a:t>T</a:t>
            </a:r>
            <a:r>
              <a:rPr lang="zh-CN" altLang="zh-CN" dirty="0"/>
              <a:t>中的边，再删除环中属于</a:t>
            </a:r>
            <a:r>
              <a:rPr lang="en-US" altLang="zh-CN" dirty="0"/>
              <a:t>T</a:t>
            </a:r>
            <a:r>
              <a:rPr lang="zh-CN" altLang="zh-CN" dirty="0"/>
              <a:t>中的最大边</a:t>
            </a:r>
            <a:r>
              <a:rPr lang="en-US" altLang="zh-CN" dirty="0"/>
              <a:t>……</a:t>
            </a:r>
            <a:r>
              <a:rPr lang="zh-CN" altLang="zh-CN" dirty="0"/>
              <a:t>取所有枚举修改的生成树的最小值，即为次小生成树。 </a:t>
            </a:r>
          </a:p>
          <a:p>
            <a:r>
              <a:rPr lang="zh-CN" altLang="zh-CN" dirty="0"/>
              <a:t>显然若添加的边的权值与删除的边的权值相等，则最小生成树非唯一。</a:t>
            </a:r>
          </a:p>
          <a:p>
            <a:r>
              <a:rPr lang="en-US" altLang="zh-CN" dirty="0"/>
              <a:t>    </a:t>
            </a:r>
            <a:r>
              <a:rPr lang="zh-CN" altLang="zh-CN" dirty="0"/>
              <a:t>由于只用求一次最小生成树，可以用最简单的</a:t>
            </a:r>
            <a:r>
              <a:rPr lang="en-US" altLang="zh-CN" dirty="0"/>
              <a:t>Prims</a:t>
            </a:r>
            <a:r>
              <a:rPr lang="zh-CN" altLang="zh-CN" dirty="0"/>
              <a:t>算法，时间复杂度为</a:t>
            </a:r>
            <a:r>
              <a:rPr lang="en-US" altLang="zh-CN" i="1" dirty="0"/>
              <a:t>O</a:t>
            </a:r>
            <a:r>
              <a:rPr lang="en-US" altLang="zh-CN" dirty="0"/>
              <a:t>(</a:t>
            </a:r>
            <a:r>
              <a:rPr lang="en-US" altLang="zh-CN" i="1" dirty="0"/>
              <a:t>n</a:t>
            </a:r>
            <a:r>
              <a:rPr lang="en-US" altLang="zh-CN" baseline="30000" dirty="0"/>
              <a:t>2</a:t>
            </a:r>
            <a:r>
              <a:rPr lang="en-US" altLang="zh-CN" dirty="0"/>
              <a:t>)</a:t>
            </a:r>
            <a:r>
              <a:rPr lang="zh-CN" altLang="zh-CN" dirty="0"/>
              <a:t>。算法的瓶颈不在求最小生成树，而在</a:t>
            </a:r>
            <a:r>
              <a:rPr lang="en-US" altLang="zh-CN" i="1" dirty="0"/>
              <a:t>O</a:t>
            </a:r>
            <a:r>
              <a:rPr lang="en-US" altLang="zh-CN" dirty="0"/>
              <a:t>(</a:t>
            </a:r>
            <a:r>
              <a:rPr lang="en-US" altLang="zh-CN" i="1" dirty="0"/>
              <a:t>n</a:t>
            </a:r>
            <a:r>
              <a:rPr lang="en-US" altLang="zh-CN" baseline="30000" dirty="0"/>
              <a:t>2</a:t>
            </a:r>
            <a:r>
              <a:rPr lang="zh-CN" altLang="zh-CN" dirty="0"/>
              <a:t>＋</a:t>
            </a:r>
            <a:r>
              <a:rPr lang="en-US" altLang="zh-CN" dirty="0"/>
              <a:t>e)</a:t>
            </a:r>
            <a:r>
              <a:rPr lang="zh-CN" altLang="zh-CN" dirty="0"/>
              <a:t>的枚举加边修改，所以用更好的最小生成树算法是没有必要的。</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2113079" cy="492443"/>
          </a:xfrm>
          <a:prstGeom prst="rect">
            <a:avLst/>
          </a:prstGeom>
        </p:spPr>
        <p:txBody>
          <a:bodyPr wrap="none">
            <a:spAutoFit/>
          </a:bodyPr>
          <a:lstStyle/>
          <a:p>
            <a:r>
              <a:rPr lang="en-US" altLang="zh-CN" b="1" dirty="0"/>
              <a:t>5.10.2 </a:t>
            </a:r>
            <a:r>
              <a:rPr lang="zh-CN" altLang="zh-CN" b="1" dirty="0"/>
              <a:t>基环树</a:t>
            </a:r>
          </a:p>
        </p:txBody>
      </p:sp>
      <p:sp>
        <p:nvSpPr>
          <p:cNvPr id="3" name="矩形 2"/>
          <p:cNvSpPr/>
          <p:nvPr/>
        </p:nvSpPr>
        <p:spPr>
          <a:xfrm>
            <a:off x="80127" y="590527"/>
            <a:ext cx="8993171" cy="954107"/>
          </a:xfrm>
          <a:prstGeom prst="rect">
            <a:avLst/>
          </a:prstGeom>
        </p:spPr>
        <p:txBody>
          <a:bodyPr wrap="square">
            <a:spAutoFit/>
          </a:bodyPr>
          <a:lstStyle/>
          <a:p>
            <a:pPr indent="266700" algn="just">
              <a:spcAft>
                <a:spcPts val="0"/>
              </a:spcAft>
            </a:pPr>
            <a:r>
              <a:rPr lang="zh-CN" altLang="zh-CN" sz="2800" kern="100" dirty="0">
                <a:latin typeface="Times New Roman" panose="02020603050405020304"/>
                <a:ea typeface="宋体" panose="02010600030101010101" pitchFamily="2" charset="-122"/>
              </a:rPr>
              <a:t>基环树（环套树）如图所示，即有</a:t>
            </a:r>
            <a:r>
              <a:rPr lang="en-US" altLang="zh-CN" sz="2800" i="1" kern="100" dirty="0">
                <a:latin typeface="Times New Roman" panose="02020603050405020304"/>
                <a:ea typeface="宋体" panose="02010600030101010101" pitchFamily="2" charset="-122"/>
              </a:rPr>
              <a:t>n</a:t>
            </a:r>
            <a:r>
              <a:rPr lang="zh-CN" altLang="zh-CN" sz="2800" kern="100" dirty="0">
                <a:latin typeface="Times New Roman" panose="02020603050405020304"/>
                <a:ea typeface="宋体" panose="02010600030101010101" pitchFamily="2" charset="-122"/>
              </a:rPr>
              <a:t>个结点</a:t>
            </a:r>
            <a:r>
              <a:rPr lang="en-US" altLang="zh-CN" sz="2800" i="1" kern="100" dirty="0">
                <a:latin typeface="Times New Roman" panose="02020603050405020304"/>
                <a:ea typeface="宋体" panose="02010600030101010101" pitchFamily="2" charset="-122"/>
              </a:rPr>
              <a:t>n</a:t>
            </a:r>
            <a:r>
              <a:rPr lang="zh-CN" altLang="zh-CN" sz="2800" kern="100" dirty="0">
                <a:latin typeface="Times New Roman" panose="02020603050405020304"/>
                <a:ea typeface="宋体" panose="02010600030101010101" pitchFamily="2" charset="-122"/>
              </a:rPr>
              <a:t>条边的图，也就是有一个环的树，环上的每个结点都可以看作树根。</a:t>
            </a:r>
            <a:endParaRPr lang="zh-CN" altLang="zh-CN" sz="2400" kern="100" dirty="0">
              <a:effectLst/>
              <a:latin typeface="Times New Roman" panose="02020603050405020304"/>
              <a:ea typeface="宋体" panose="02010600030101010101" pitchFamily="2" charset="-122"/>
            </a:endParaRPr>
          </a:p>
        </p:txBody>
      </p:sp>
      <p:pic>
        <p:nvPicPr>
          <p:cNvPr id="4" name="图片 3" descr="https://images2018.cnblogs.com/blog/1130834/201808/1130834-20180817125906958-15268278.png"/>
          <p:cNvPicPr/>
          <p:nvPr/>
        </p:nvPicPr>
        <p:blipFill>
          <a:blip r:embed="rId2" cstate="print">
            <a:extLst>
              <a:ext uri="{28A0092B-C50C-407E-A947-70E740481C1C}">
                <a14:useLocalDpi xmlns:a14="http://schemas.microsoft.com/office/drawing/2010/main" val="0"/>
              </a:ext>
            </a:extLst>
          </a:blip>
          <a:srcRect/>
          <a:stretch>
            <a:fillRect/>
          </a:stretch>
        </p:blipFill>
        <p:spPr>
          <a:xfrm>
            <a:off x="3145154" y="1675051"/>
            <a:ext cx="3774120" cy="2651851"/>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9938" y="4443"/>
            <a:ext cx="8752788" cy="492443"/>
          </a:xfrm>
          <a:prstGeom prst="rect">
            <a:avLst/>
          </a:prstGeom>
        </p:spPr>
        <p:txBody>
          <a:bodyPr wrap="square">
            <a:spAutoFit/>
          </a:bodyPr>
          <a:lstStyle/>
          <a:p>
            <a:r>
              <a:rPr lang="zh-CN" altLang="zh-CN" dirty="0"/>
              <a:t>有向基环树又分内向树和外向树，当然也有无向的，如图</a:t>
            </a:r>
            <a:endParaRPr lang="zh-CN" altLang="en-US" dirty="0"/>
          </a:p>
        </p:txBody>
      </p:sp>
      <p:pic>
        <p:nvPicPr>
          <p:cNvPr id="3" name="图片 2"/>
          <p:cNvPicPr/>
          <p:nvPr/>
        </p:nvPicPr>
        <p:blipFill>
          <a:blip r:embed="rId2" cstate="print">
            <a:extLst>
              <a:ext uri="{28A0092B-C50C-407E-A947-70E740481C1C}">
                <a14:useLocalDpi xmlns:a14="http://schemas.microsoft.com/office/drawing/2010/main" val="0"/>
              </a:ext>
            </a:extLst>
          </a:blip>
          <a:srcRect/>
          <a:stretch>
            <a:fillRect/>
          </a:stretch>
        </p:blipFill>
        <p:spPr>
          <a:xfrm>
            <a:off x="852282" y="1176890"/>
            <a:ext cx="7565854" cy="2131918"/>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80129" y="51101"/>
            <a:ext cx="9012024" cy="4093428"/>
          </a:xfrm>
          <a:prstGeom prst="rect">
            <a:avLst/>
          </a:prstGeom>
        </p:spPr>
        <p:txBody>
          <a:bodyPr wrap="square">
            <a:spAutoFit/>
          </a:bodyPr>
          <a:lstStyle/>
          <a:p>
            <a:r>
              <a:rPr lang="zh-CN" altLang="zh-CN" dirty="0"/>
              <a:t>【题目描述】发现环（</a:t>
            </a:r>
            <a:r>
              <a:rPr lang="en-US" altLang="zh-CN" dirty="0"/>
              <a:t>loop</a:t>
            </a:r>
            <a:r>
              <a:rPr lang="zh-CN" altLang="zh-CN" dirty="0"/>
              <a:t>）第八届蓝桥杯决赛</a:t>
            </a:r>
          </a:p>
          <a:p>
            <a:r>
              <a:rPr lang="en-US" altLang="zh-CN" dirty="0"/>
              <a:t>     </a:t>
            </a:r>
            <a:r>
              <a:rPr lang="zh-CN" altLang="zh-CN" dirty="0"/>
              <a:t>小光的实验室有</a:t>
            </a:r>
            <a:r>
              <a:rPr lang="en-US" altLang="zh-CN" i="1" dirty="0"/>
              <a:t>N</a:t>
            </a:r>
            <a:r>
              <a:rPr lang="zh-CN" altLang="zh-CN" dirty="0"/>
              <a:t>台计算机，编号</a:t>
            </a:r>
            <a:r>
              <a:rPr lang="en-US" altLang="zh-CN" dirty="0"/>
              <a:t>1~</a:t>
            </a:r>
            <a:r>
              <a:rPr lang="en-US" altLang="zh-CN" i="1" dirty="0"/>
              <a:t>N</a:t>
            </a:r>
            <a:r>
              <a:rPr lang="zh-CN" altLang="zh-CN" dirty="0"/>
              <a:t>。原本这</a:t>
            </a:r>
            <a:r>
              <a:rPr lang="en-US" altLang="zh-CN" i="1" dirty="0"/>
              <a:t>N</a:t>
            </a:r>
            <a:r>
              <a:rPr lang="zh-CN" altLang="zh-CN" dirty="0"/>
              <a:t>台计算机之间有</a:t>
            </a:r>
            <a:r>
              <a:rPr lang="en-US" altLang="zh-CN" i="1" dirty="0"/>
              <a:t>N</a:t>
            </a:r>
            <a:r>
              <a:rPr lang="zh-CN" altLang="zh-CN" dirty="0"/>
              <a:t>－</a:t>
            </a:r>
            <a:r>
              <a:rPr lang="en-US" altLang="zh-CN" dirty="0"/>
              <a:t>1</a:t>
            </a:r>
            <a:r>
              <a:rPr lang="zh-CN" altLang="zh-CN" dirty="0"/>
              <a:t>条数据链接相连，恰好构成一个树形网络。在树形网络上，任意两台计算机之间有唯一的路径相连。</a:t>
            </a:r>
          </a:p>
          <a:p>
            <a:r>
              <a:rPr lang="en-US" altLang="zh-CN" dirty="0"/>
              <a:t>    </a:t>
            </a:r>
            <a:r>
              <a:rPr lang="zh-CN" altLang="zh-CN" dirty="0"/>
              <a:t>不过在最近一次维护网络时，管理员误操作使得某两台计算机之间增加了一条数据链接，于是网络中出现了环路。环路上的计算机由于两两之间不再是只有一条路径，使得这些计算机上的数据传输出现了错误。</a:t>
            </a:r>
          </a:p>
          <a:p>
            <a:r>
              <a:rPr lang="zh-CN" altLang="zh-CN" dirty="0"/>
              <a:t>为了恢复正常传输，小光需要找到所有在环路上的计算机，你能帮助他吗？</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319"/>
            <a:ext cx="8922469" cy="5016758"/>
          </a:xfrm>
          <a:prstGeom prst="rect">
            <a:avLst/>
          </a:prstGeom>
        </p:spPr>
        <p:txBody>
          <a:bodyPr wrap="square">
            <a:spAutoFit/>
          </a:bodyPr>
          <a:lstStyle/>
          <a:p>
            <a:r>
              <a:rPr lang="en-US" altLang="zh-CN" sz="2000" kern="0" dirty="0">
                <a:solidFill>
                  <a:srgbClr val="8000FF"/>
                </a:solidFill>
                <a:latin typeface="YaHei Consolas Hybrid"/>
                <a:ea typeface="宋体" panose="02010600030101010101" pitchFamily="2" charset="-122"/>
                <a:cs typeface="Courier New" panose="02070309020205020404"/>
              </a:rPr>
              <a:t>void</a:t>
            </a:r>
            <a:r>
              <a:rPr lang="en-US" altLang="zh-CN" sz="2000" kern="0" dirty="0">
                <a:solidFill>
                  <a:srgbClr val="000000"/>
                </a:solidFill>
                <a:latin typeface="YaHei Consolas Hybrid"/>
                <a:ea typeface="宋体" panose="02010600030101010101" pitchFamily="2" charset="-122"/>
                <a:cs typeface="Courier New" panose="02070309020205020404"/>
              </a:rPr>
              <a:t> DFS</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8000FF"/>
                </a:solidFill>
                <a:latin typeface="YaHei Consolas Hybrid"/>
                <a:ea typeface="宋体" panose="02010600030101010101" pitchFamily="2" charset="-122"/>
                <a:cs typeface="Courier New" panose="02070309020205020404"/>
              </a:rPr>
              <a:t>int</a:t>
            </a:r>
            <a:r>
              <a:rPr lang="en-US" altLang="zh-CN" sz="2000" kern="0" dirty="0">
                <a:solidFill>
                  <a:srgbClr val="000000"/>
                </a:solidFill>
                <a:latin typeface="YaHei Consolas Hybrid"/>
                <a:ea typeface="宋体" panose="02010600030101010101" pitchFamily="2" charset="-122"/>
                <a:cs typeface="Courier New" panose="02070309020205020404"/>
              </a:rPr>
              <a:t> u</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err="1">
                <a:solidFill>
                  <a:srgbClr val="8000FF"/>
                </a:solidFill>
                <a:latin typeface="YaHei Consolas Hybrid"/>
                <a:ea typeface="宋体" panose="02010600030101010101" pitchFamily="2" charset="-122"/>
                <a:cs typeface="Courier New" panose="02070309020205020404"/>
              </a:rPr>
              <a:t>int</a:t>
            </a:r>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err="1">
                <a:solidFill>
                  <a:srgbClr val="000000"/>
                </a:solidFill>
                <a:latin typeface="YaHei Consolas Hybrid"/>
                <a:ea typeface="宋体" panose="02010600030101010101" pitchFamily="2" charset="-122"/>
                <a:cs typeface="Courier New" panose="02070309020205020404"/>
              </a:rPr>
              <a:t>idx</a:t>
            </a:r>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err="1">
                <a:solidFill>
                  <a:srgbClr val="000000"/>
                </a:solidFill>
                <a:latin typeface="YaHei Consolas Hybrid"/>
                <a:ea typeface="宋体" panose="02010600030101010101" pitchFamily="2" charset="-122"/>
                <a:cs typeface="Courier New" panose="02070309020205020404"/>
              </a:rPr>
              <a:t>ans</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000000"/>
                </a:solidFill>
                <a:latin typeface="YaHei Consolas Hybrid"/>
                <a:ea typeface="宋体" panose="02010600030101010101" pitchFamily="2" charset="-122"/>
                <a:cs typeface="Courier New" panose="02070309020205020404"/>
              </a:rPr>
              <a:t>idx</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u</a:t>
            </a:r>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b="1" kern="0" dirty="0">
                <a:solidFill>
                  <a:srgbClr val="0000FF"/>
                </a:solidFill>
                <a:latin typeface="YaHei Consolas Hybrid"/>
                <a:ea typeface="宋体" panose="02010600030101010101" pitchFamily="2" charset="-122"/>
                <a:cs typeface="Courier New" panose="02070309020205020404"/>
              </a:rPr>
              <a:t>if</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u</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f</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a:solidFill>
                  <a:srgbClr val="008000"/>
                </a:solidFill>
                <a:latin typeface="YaHei Consolas Hybrid"/>
                <a:ea typeface="宋体" panose="02010600030101010101" pitchFamily="2" charset="-122"/>
                <a:cs typeface="Courier New" panose="02070309020205020404"/>
              </a:rPr>
              <a:t>//</a:t>
            </a:r>
            <a:r>
              <a:rPr lang="zh-CN" altLang="zh-CN" sz="2000" kern="0" dirty="0">
                <a:solidFill>
                  <a:srgbClr val="008000"/>
                </a:solidFill>
                <a:latin typeface="Times New Roman" panose="02020603050405020304"/>
                <a:ea typeface="YaHei Consolas Hybrid"/>
                <a:cs typeface="Courier New" panose="02070309020205020404"/>
              </a:rPr>
              <a:t>找到环了</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sort</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000000"/>
                </a:solidFill>
                <a:latin typeface="YaHei Consolas Hybrid"/>
                <a:ea typeface="宋体" panose="02010600030101010101" pitchFamily="2" charset="-122"/>
                <a:cs typeface="Courier New" panose="02070309020205020404"/>
              </a:rPr>
              <a:t>ans</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 ans</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idx</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FF8000"/>
                </a:solidFill>
                <a:latin typeface="YaHei Consolas Hybrid"/>
                <a:ea typeface="宋体" panose="02010600030101010101" pitchFamily="2" charset="-122"/>
                <a:cs typeface="Courier New" panose="02070309020205020404"/>
              </a:rPr>
              <a:t>1</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a:solidFill>
                  <a:srgbClr val="008000"/>
                </a:solidFill>
                <a:latin typeface="YaHei Consolas Hybrid"/>
                <a:ea typeface="宋体" panose="02010600030101010101" pitchFamily="2" charset="-122"/>
                <a:cs typeface="Courier New" panose="02070309020205020404"/>
              </a:rPr>
              <a:t>//</a:t>
            </a:r>
            <a:r>
              <a:rPr lang="zh-CN" altLang="zh-CN" sz="2000" kern="0" dirty="0">
                <a:solidFill>
                  <a:srgbClr val="008000"/>
                </a:solidFill>
                <a:latin typeface="Times New Roman" panose="02020603050405020304"/>
                <a:ea typeface="YaHei Consolas Hybrid"/>
                <a:cs typeface="Courier New" panose="02070309020205020404"/>
              </a:rPr>
              <a:t>排序后输出</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b="1" kern="0" dirty="0">
                <a:solidFill>
                  <a:srgbClr val="0000FF"/>
                </a:solidFill>
                <a:latin typeface="YaHei Consolas Hybrid"/>
                <a:ea typeface="宋体" panose="02010600030101010101" pitchFamily="2" charset="-122"/>
                <a:cs typeface="Courier New" panose="02070309020205020404"/>
              </a:rPr>
              <a:t>for</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8000FF"/>
                </a:solidFill>
                <a:latin typeface="YaHei Consolas Hybrid"/>
                <a:ea typeface="宋体" panose="02010600030101010101" pitchFamily="2" charset="-122"/>
                <a:cs typeface="Courier New" panose="02070309020205020404"/>
              </a:rPr>
              <a:t>int</a:t>
            </a:r>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err="1">
                <a:solidFill>
                  <a:srgbClr val="000000"/>
                </a:solidFill>
                <a:latin typeface="YaHei Consolas Hybrid"/>
                <a:ea typeface="宋体" panose="02010600030101010101" pitchFamily="2" charset="-122"/>
                <a:cs typeface="Courier New" panose="02070309020205020404"/>
              </a:rPr>
              <a:t>i</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FF8000"/>
                </a:solidFill>
                <a:latin typeface="YaHei Consolas Hybrid"/>
                <a:ea typeface="宋体" panose="02010600030101010101" pitchFamily="2" charset="-122"/>
                <a:cs typeface="Courier New" panose="02070309020205020404"/>
              </a:rPr>
              <a:t>0</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err="1">
                <a:solidFill>
                  <a:srgbClr val="000000"/>
                </a:solidFill>
                <a:latin typeface="YaHei Consolas Hybrid"/>
                <a:ea typeface="宋体" panose="02010600030101010101" pitchFamily="2" charset="-122"/>
                <a:cs typeface="Courier New" panose="02070309020205020404"/>
              </a:rPr>
              <a:t>i</a:t>
            </a:r>
            <a:r>
              <a:rPr lang="en-US" altLang="zh-CN" sz="2000" b="1" kern="0" dirty="0">
                <a:solidFill>
                  <a:srgbClr val="000080"/>
                </a:solidFill>
                <a:latin typeface="YaHei Consolas Hybrid"/>
                <a:ea typeface="宋体" panose="02010600030101010101" pitchFamily="2" charset="-122"/>
                <a:cs typeface="Courier New" panose="02070309020205020404"/>
              </a:rPr>
              <a:t>&lt;=</a:t>
            </a:r>
            <a:r>
              <a:rPr lang="en-US" altLang="zh-CN" sz="2000" kern="0" dirty="0" err="1">
                <a:solidFill>
                  <a:srgbClr val="000000"/>
                </a:solidFill>
                <a:latin typeface="YaHei Consolas Hybrid"/>
                <a:ea typeface="宋体" panose="02010600030101010101" pitchFamily="2" charset="-122"/>
                <a:cs typeface="Courier New" panose="02070309020205020404"/>
              </a:rPr>
              <a:t>idx</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err="1">
                <a:solidFill>
                  <a:srgbClr val="000000"/>
                </a:solidFill>
                <a:latin typeface="YaHei Consolas Hybrid"/>
                <a:ea typeface="宋体" panose="02010600030101010101" pitchFamily="2" charset="-122"/>
                <a:cs typeface="Courier New" panose="02070309020205020404"/>
              </a:rPr>
              <a:t>i</a:t>
            </a:r>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err="1">
                <a:solidFill>
                  <a:srgbClr val="000000"/>
                </a:solidFill>
                <a:latin typeface="YaHei Consolas Hybrid"/>
                <a:ea typeface="宋体" panose="02010600030101010101" pitchFamily="2" charset="-122"/>
                <a:cs typeface="Courier New" panose="02070309020205020404"/>
              </a:rPr>
              <a:t>printf</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808080"/>
                </a:solidFill>
                <a:latin typeface="YaHei Consolas Hybrid"/>
                <a:ea typeface="宋体" panose="02010600030101010101" pitchFamily="2" charset="-122"/>
                <a:cs typeface="Courier New" panose="02070309020205020404"/>
              </a:rPr>
              <a:t>"%</a:t>
            </a:r>
            <a:r>
              <a:rPr lang="en-US" altLang="zh-CN" sz="2000" kern="0" dirty="0" err="1">
                <a:solidFill>
                  <a:srgbClr val="808080"/>
                </a:solidFill>
                <a:latin typeface="YaHei Consolas Hybrid"/>
                <a:ea typeface="宋体" panose="02010600030101010101" pitchFamily="2" charset="-122"/>
                <a:cs typeface="Courier New" panose="02070309020205020404"/>
              </a:rPr>
              <a:t>d%c</a:t>
            </a:r>
            <a:r>
              <a:rPr lang="en-US" altLang="zh-CN" sz="2000" kern="0" dirty="0">
                <a:solidFill>
                  <a:srgbClr val="808080"/>
                </a:solidFill>
                <a:latin typeface="YaHei Consolas Hybrid"/>
                <a:ea typeface="宋体" panose="02010600030101010101" pitchFamily="2" charset="-122"/>
                <a:cs typeface="Courier New" panose="02070309020205020404"/>
              </a:rPr>
              <a:t>"</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err="1">
                <a:solidFill>
                  <a:srgbClr val="000000"/>
                </a:solidFill>
                <a:latin typeface="YaHei Consolas Hybrid"/>
                <a:ea typeface="宋体" panose="02010600030101010101" pitchFamily="2" charset="-122"/>
                <a:cs typeface="Courier New" panose="02070309020205020404"/>
              </a:rPr>
              <a:t>ans</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000000"/>
                </a:solidFill>
                <a:latin typeface="YaHei Consolas Hybrid"/>
                <a:ea typeface="宋体" panose="02010600030101010101" pitchFamily="2" charset="-122"/>
                <a:cs typeface="Courier New" panose="02070309020205020404"/>
              </a:rPr>
              <a:t>i</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err="1">
                <a:solidFill>
                  <a:srgbClr val="000000"/>
                </a:solidFill>
                <a:latin typeface="YaHei Consolas Hybrid"/>
                <a:ea typeface="宋体" panose="02010600030101010101" pitchFamily="2" charset="-122"/>
                <a:cs typeface="Courier New" panose="02070309020205020404"/>
              </a:rPr>
              <a:t>i</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000000"/>
                </a:solidFill>
                <a:latin typeface="YaHei Consolas Hybrid"/>
                <a:ea typeface="宋体" panose="02010600030101010101" pitchFamily="2" charset="-122"/>
                <a:cs typeface="Courier New" panose="02070309020205020404"/>
              </a:rPr>
              <a:t>idx</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808080"/>
                </a:solidFill>
                <a:latin typeface="YaHei Consolas Hybrid"/>
                <a:ea typeface="宋体" panose="02010600030101010101" pitchFamily="2" charset="-122"/>
                <a:cs typeface="Courier New" panose="02070309020205020404"/>
              </a:rPr>
              <a:t>'\n'</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808080"/>
                </a:solidFill>
                <a:latin typeface="YaHei Consolas Hybrid"/>
                <a:ea typeface="宋体" panose="02010600030101010101" pitchFamily="2" charset="-122"/>
                <a:cs typeface="Courier New" panose="02070309020205020404"/>
              </a:rPr>
              <a:t>' '</a:t>
            </a:r>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b="1" kern="0" dirty="0">
                <a:solidFill>
                  <a:srgbClr val="0000FF"/>
                </a:solidFill>
                <a:latin typeface="YaHei Consolas Hybrid"/>
                <a:ea typeface="宋体" panose="02010600030101010101" pitchFamily="2" charset="-122"/>
                <a:cs typeface="Courier New" panose="02070309020205020404"/>
              </a:rPr>
              <a:t>return</a:t>
            </a:r>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vis</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u</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FF8000"/>
                </a:solidFill>
                <a:latin typeface="YaHei Consolas Hybrid"/>
                <a:ea typeface="宋体" panose="02010600030101010101" pitchFamily="2" charset="-122"/>
                <a:cs typeface="Courier New" panose="02070309020205020404"/>
              </a:rPr>
              <a:t>1</a:t>
            </a:r>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b="1" kern="0" dirty="0">
                <a:solidFill>
                  <a:srgbClr val="0000FF"/>
                </a:solidFill>
                <a:latin typeface="YaHei Consolas Hybrid"/>
                <a:ea typeface="宋体" panose="02010600030101010101" pitchFamily="2" charset="-122"/>
                <a:cs typeface="Courier New" panose="02070309020205020404"/>
              </a:rPr>
              <a:t>for</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8000FF"/>
                </a:solidFill>
                <a:latin typeface="YaHei Consolas Hybrid"/>
                <a:ea typeface="宋体" panose="02010600030101010101" pitchFamily="2" charset="-122"/>
                <a:cs typeface="Courier New" panose="02070309020205020404"/>
              </a:rPr>
              <a:t>int</a:t>
            </a:r>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err="1">
                <a:solidFill>
                  <a:srgbClr val="000000"/>
                </a:solidFill>
                <a:latin typeface="YaHei Consolas Hybrid"/>
                <a:ea typeface="宋体" panose="02010600030101010101" pitchFamily="2" charset="-122"/>
                <a:cs typeface="Courier New" panose="02070309020205020404"/>
              </a:rPr>
              <a:t>i</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FF8000"/>
                </a:solidFill>
                <a:latin typeface="YaHei Consolas Hybrid"/>
                <a:ea typeface="宋体" panose="02010600030101010101" pitchFamily="2" charset="-122"/>
                <a:cs typeface="Courier New" panose="02070309020205020404"/>
              </a:rPr>
              <a:t>0</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err="1">
                <a:solidFill>
                  <a:srgbClr val="000000"/>
                </a:solidFill>
                <a:latin typeface="YaHei Consolas Hybrid"/>
                <a:ea typeface="宋体" panose="02010600030101010101" pitchFamily="2" charset="-122"/>
                <a:cs typeface="Courier New" panose="02070309020205020404"/>
              </a:rPr>
              <a:t>i</a:t>
            </a:r>
            <a:r>
              <a:rPr lang="en-US" altLang="zh-CN" sz="2000" b="1" kern="0" dirty="0">
                <a:solidFill>
                  <a:srgbClr val="000080"/>
                </a:solidFill>
                <a:latin typeface="YaHei Consolas Hybrid"/>
                <a:ea typeface="宋体" panose="02010600030101010101" pitchFamily="2" charset="-122"/>
                <a:cs typeface="Courier New" panose="02070309020205020404"/>
              </a:rPr>
              <a:t>&lt;</a:t>
            </a:r>
            <a:r>
              <a:rPr lang="en-US" altLang="zh-CN" sz="2000" kern="0" dirty="0">
                <a:solidFill>
                  <a:srgbClr val="000000"/>
                </a:solidFill>
                <a:latin typeface="YaHei Consolas Hybrid"/>
                <a:ea typeface="宋体" panose="02010600030101010101" pitchFamily="2" charset="-122"/>
                <a:cs typeface="Courier New" panose="02070309020205020404"/>
              </a:rPr>
              <a:t>edge</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u</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size</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err="1">
                <a:solidFill>
                  <a:srgbClr val="000000"/>
                </a:solidFill>
                <a:latin typeface="YaHei Consolas Hybrid"/>
                <a:ea typeface="宋体" panose="02010600030101010101" pitchFamily="2" charset="-122"/>
                <a:cs typeface="Courier New" panose="02070309020205020404"/>
              </a:rPr>
              <a:t>i</a:t>
            </a:r>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kern="0" dirty="0" err="1">
                <a:solidFill>
                  <a:srgbClr val="8000FF"/>
                </a:solidFill>
                <a:latin typeface="YaHei Consolas Hybrid"/>
                <a:ea typeface="宋体" panose="02010600030101010101" pitchFamily="2" charset="-122"/>
                <a:cs typeface="Courier New" panose="02070309020205020404"/>
              </a:rPr>
              <a:t>int</a:t>
            </a:r>
            <a:r>
              <a:rPr lang="en-US" altLang="zh-CN" sz="2000" kern="0" dirty="0">
                <a:solidFill>
                  <a:srgbClr val="000000"/>
                </a:solidFill>
                <a:latin typeface="YaHei Consolas Hybrid"/>
                <a:ea typeface="宋体" panose="02010600030101010101" pitchFamily="2" charset="-122"/>
                <a:cs typeface="Courier New" panose="02070309020205020404"/>
              </a:rPr>
              <a:t> v</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edge</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u</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err="1">
                <a:solidFill>
                  <a:srgbClr val="000000"/>
                </a:solidFill>
                <a:latin typeface="YaHei Consolas Hybrid"/>
                <a:ea typeface="宋体" panose="02010600030101010101" pitchFamily="2" charset="-122"/>
                <a:cs typeface="Courier New" panose="02070309020205020404"/>
              </a:rPr>
              <a:t>i</a:t>
            </a:r>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b="1" kern="0" dirty="0">
                <a:solidFill>
                  <a:srgbClr val="0000FF"/>
                </a:solidFill>
                <a:latin typeface="YaHei Consolas Hybrid"/>
                <a:ea typeface="宋体" panose="02010600030101010101" pitchFamily="2" charset="-122"/>
                <a:cs typeface="Courier New" panose="02070309020205020404"/>
              </a:rPr>
              <a:t>if</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vis</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v</a:t>
            </a:r>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DFS</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v</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idx</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FF8000"/>
                </a:solidFill>
                <a:latin typeface="YaHei Consolas Hybrid"/>
                <a:ea typeface="宋体" panose="02010600030101010101" pitchFamily="2" charset="-122"/>
                <a:cs typeface="Courier New" panose="02070309020205020404"/>
              </a:rPr>
              <a:t>1</a:t>
            </a:r>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a:t>
            </a:r>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latin typeface="Times New Roman" panose="02020603050405020304"/>
              <a:ea typeface="宋体" panose="02010600030101010101" pitchFamily="2" charset="-122"/>
            </a:endParaRPr>
          </a:p>
          <a:p>
            <a:r>
              <a:rPr lang="en-US" altLang="zh-CN" sz="2000" kern="0" dirty="0">
                <a:solidFill>
                  <a:srgbClr val="000000"/>
                </a:solidFill>
                <a:latin typeface="YaHei Consolas Hybrid"/>
                <a:ea typeface="宋体" panose="02010600030101010101" pitchFamily="2" charset="-122"/>
                <a:cs typeface="Courier New" panose="02070309020205020404"/>
              </a:rPr>
              <a:t>  vis</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000000"/>
                </a:solidFill>
                <a:latin typeface="YaHei Consolas Hybrid"/>
                <a:ea typeface="宋体" panose="02010600030101010101" pitchFamily="2" charset="-122"/>
                <a:cs typeface="Courier New" panose="02070309020205020404"/>
              </a:rPr>
              <a:t>u</a:t>
            </a:r>
            <a:r>
              <a:rPr lang="en-US" altLang="zh-CN" sz="2000" b="1" kern="0" dirty="0">
                <a:solidFill>
                  <a:srgbClr val="000080"/>
                </a:solidFill>
                <a:latin typeface="YaHei Consolas Hybrid"/>
                <a:ea typeface="宋体" panose="02010600030101010101" pitchFamily="2" charset="-122"/>
                <a:cs typeface="Courier New" panose="02070309020205020404"/>
              </a:rPr>
              <a:t>]=</a:t>
            </a:r>
            <a:r>
              <a:rPr lang="en-US" altLang="zh-CN" sz="2000" kern="0" dirty="0">
                <a:solidFill>
                  <a:srgbClr val="FF8000"/>
                </a:solidFill>
                <a:latin typeface="YaHei Consolas Hybrid"/>
                <a:ea typeface="宋体" panose="02010600030101010101" pitchFamily="2" charset="-122"/>
                <a:cs typeface="Courier New" panose="02070309020205020404"/>
              </a:rPr>
              <a:t>0</a:t>
            </a:r>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latin typeface="Times New Roman" panose="02020603050405020304"/>
              <a:ea typeface="宋体" panose="02010600030101010101" pitchFamily="2" charset="-122"/>
            </a:endParaRPr>
          </a:p>
          <a:p>
            <a:r>
              <a:rPr lang="en-US" altLang="zh-CN" sz="2000" b="1" kern="0" dirty="0">
                <a:solidFill>
                  <a:srgbClr val="000080"/>
                </a:solidFill>
                <a:latin typeface="YaHei Consolas Hybrid"/>
                <a:ea typeface="宋体" panose="02010600030101010101" pitchFamily="2" charset="-122"/>
                <a:cs typeface="Courier New" panose="02070309020205020404"/>
              </a:rPr>
              <a:t>}</a:t>
            </a:r>
            <a:endParaRPr lang="zh-CN" altLang="zh-CN" sz="2400" kern="100" dirty="0">
              <a:effectLst/>
              <a:latin typeface="Times New Roman" panose="02020603050405020304"/>
              <a:ea typeface="宋体" panose="02010600030101010101" pitchFamily="2" charset="-122"/>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994" y="162130"/>
            <a:ext cx="9144000" cy="3693319"/>
          </a:xfrm>
          <a:prstGeom prst="rect">
            <a:avLst/>
          </a:prstGeom>
        </p:spPr>
        <p:txBody>
          <a:bodyPr wrap="square">
            <a:spAutoFit/>
          </a:bodyPr>
          <a:lstStyle/>
          <a:p>
            <a:r>
              <a:rPr lang="en-US" altLang="zh-CN" dirty="0"/>
              <a:t>    </a:t>
            </a:r>
            <a:r>
              <a:rPr lang="zh-CN" altLang="zh-CN" dirty="0"/>
              <a:t>还可以使用拓扑排序算法判断环，因为拓扑排序算法的核心思想是每次找入度为</a:t>
            </a:r>
            <a:r>
              <a:rPr lang="en-US" altLang="zh-CN" dirty="0"/>
              <a:t>0</a:t>
            </a:r>
            <a:r>
              <a:rPr lang="zh-CN" altLang="zh-CN" dirty="0"/>
              <a:t>的点进入输出队列，然后将与此点相连的结点入度减</a:t>
            </a:r>
            <a:r>
              <a:rPr lang="en-US" altLang="zh-CN" dirty="0"/>
              <a:t>1……</a:t>
            </a:r>
            <a:r>
              <a:rPr lang="zh-CN" altLang="zh-CN" dirty="0"/>
              <a:t>当作</a:t>
            </a:r>
            <a:r>
              <a:rPr lang="en-US" altLang="zh-CN" i="1" dirty="0"/>
              <a:t>n</a:t>
            </a:r>
            <a:r>
              <a:rPr lang="zh-CN" altLang="zh-CN" dirty="0"/>
              <a:t>－</a:t>
            </a:r>
            <a:r>
              <a:rPr lang="en-US" altLang="zh-CN" dirty="0"/>
              <a:t>1</a:t>
            </a:r>
            <a:r>
              <a:rPr lang="zh-CN" altLang="zh-CN" dirty="0"/>
              <a:t>次后还有点没进输出队列，那么这些点就是环上的。道理很简单：环上的各点入度都为</a:t>
            </a:r>
            <a:r>
              <a:rPr lang="en-US" altLang="zh-CN" dirty="0"/>
              <a:t>1</a:t>
            </a:r>
            <a:r>
              <a:rPr lang="zh-CN" altLang="zh-CN" dirty="0"/>
              <a:t>，没有入度为</a:t>
            </a:r>
            <a:r>
              <a:rPr lang="en-US" altLang="zh-CN" dirty="0"/>
              <a:t>0</a:t>
            </a:r>
            <a:r>
              <a:rPr lang="zh-CN" altLang="zh-CN" dirty="0"/>
              <a:t>的，所以就不能更新。 </a:t>
            </a:r>
          </a:p>
          <a:p>
            <a:r>
              <a:rPr lang="en-US" altLang="zh-CN" dirty="0"/>
              <a:t>    </a:t>
            </a:r>
            <a:r>
              <a:rPr lang="zh-CN" altLang="zh-CN" dirty="0"/>
              <a:t>原始的拓扑排序算法解决的是有向无环图，拓扑出入度为</a:t>
            </a:r>
            <a:r>
              <a:rPr lang="en-US" altLang="zh-CN" dirty="0"/>
              <a:t>0</a:t>
            </a:r>
            <a:r>
              <a:rPr lang="zh-CN" altLang="zh-CN" dirty="0"/>
              <a:t>的点，但是本题的边是无向的，可以用双向边表示，显然在环上的点的入度至少为</a:t>
            </a:r>
            <a:r>
              <a:rPr lang="en-US" altLang="zh-CN" dirty="0"/>
              <a:t>2</a:t>
            </a:r>
            <a:r>
              <a:rPr lang="zh-CN" altLang="zh-CN" dirty="0"/>
              <a:t>，于是可以将拓扑出入度为</a:t>
            </a:r>
            <a:r>
              <a:rPr lang="en-US" altLang="zh-CN" dirty="0"/>
              <a:t>0</a:t>
            </a:r>
            <a:r>
              <a:rPr lang="zh-CN" altLang="zh-CN" dirty="0"/>
              <a:t>的点，变形为拓扑出入度为</a:t>
            </a:r>
            <a:r>
              <a:rPr lang="en-US" altLang="zh-CN" dirty="0"/>
              <a:t>1</a:t>
            </a:r>
            <a:r>
              <a:rPr lang="zh-CN" altLang="zh-CN" dirty="0"/>
              <a:t>的点，最后剩下的是一个各点入度为</a:t>
            </a:r>
            <a:r>
              <a:rPr lang="en-US" altLang="zh-CN" dirty="0"/>
              <a:t>2</a:t>
            </a:r>
            <a:r>
              <a:rPr lang="zh-CN" altLang="zh-CN" dirty="0"/>
              <a:t>的环。</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96143"/>
            <a:ext cx="9106292" cy="4093428"/>
          </a:xfrm>
          <a:prstGeom prst="rect">
            <a:avLst/>
          </a:prstGeom>
        </p:spPr>
        <p:txBody>
          <a:bodyPr wrap="square">
            <a:spAutoFit/>
          </a:bodyPr>
          <a:lstStyle/>
          <a:p>
            <a:r>
              <a:rPr lang="zh-CN" altLang="zh-CN" dirty="0"/>
              <a:t>【题目描述】</a:t>
            </a:r>
            <a:r>
              <a:rPr lang="en-US" altLang="zh-CN" dirty="0"/>
              <a:t>5.44 </a:t>
            </a:r>
            <a:r>
              <a:rPr lang="zh-CN" altLang="zh-CN" dirty="0"/>
              <a:t>信息传递（</a:t>
            </a:r>
            <a:r>
              <a:rPr lang="en-US" altLang="zh-CN" dirty="0"/>
              <a:t>message</a:t>
            </a:r>
            <a:r>
              <a:rPr lang="zh-CN" altLang="zh-CN" dirty="0"/>
              <a:t>）</a:t>
            </a:r>
            <a:r>
              <a:rPr lang="en-US" altLang="zh-CN" dirty="0"/>
              <a:t>NOIP 2015</a:t>
            </a:r>
            <a:endParaRPr lang="zh-CN" altLang="zh-CN" dirty="0"/>
          </a:p>
          <a:p>
            <a:r>
              <a:rPr lang="zh-CN" altLang="zh-CN" dirty="0"/>
              <a:t>有</a:t>
            </a:r>
            <a:r>
              <a:rPr lang="en-US" altLang="zh-CN" i="1" dirty="0"/>
              <a:t>n</a:t>
            </a:r>
            <a:r>
              <a:rPr lang="zh-CN" altLang="zh-CN" dirty="0"/>
              <a:t>个同学（编号为</a:t>
            </a:r>
            <a:r>
              <a:rPr lang="en-US" altLang="zh-CN" dirty="0"/>
              <a:t>1</a:t>
            </a:r>
            <a:r>
              <a:rPr lang="zh-CN" altLang="zh-CN" dirty="0"/>
              <a:t>到</a:t>
            </a:r>
            <a:r>
              <a:rPr lang="en-US" altLang="zh-CN" i="1" dirty="0"/>
              <a:t>n</a:t>
            </a:r>
            <a:r>
              <a:rPr lang="zh-CN" altLang="zh-CN" dirty="0"/>
              <a:t>）正在玩一个信息传递的游戏。在游戏里每人都有一个固定的信息传递对象，其中，编号为</a:t>
            </a:r>
            <a:r>
              <a:rPr lang="en-US" altLang="zh-CN" i="1" dirty="0" err="1"/>
              <a:t>i</a:t>
            </a:r>
            <a:r>
              <a:rPr lang="zh-CN" altLang="zh-CN" dirty="0"/>
              <a:t>的同学的信息传递对象是编号为</a:t>
            </a:r>
            <a:r>
              <a:rPr lang="en-US" altLang="zh-CN" i="1" dirty="0" err="1"/>
              <a:t>T</a:t>
            </a:r>
            <a:r>
              <a:rPr lang="en-US" altLang="zh-CN" baseline="-25000" dirty="0" err="1"/>
              <a:t>i</a:t>
            </a:r>
            <a:r>
              <a:rPr lang="zh-CN" altLang="zh-CN" dirty="0"/>
              <a:t>的同学。</a:t>
            </a:r>
          </a:p>
          <a:p>
            <a:r>
              <a:rPr lang="zh-CN" altLang="zh-CN" dirty="0"/>
              <a:t>游戏开始时，每人都只知道自己的生日。之后每一轮中，所有人会同时将自己当前所知的生日信息告诉各自的信息传递对象（注意：可能有人可以从若干人那里获取信息，但是每人只会把信息告诉一个人，即自己的信息传递对象）。当有人从别人口中得知自己的生日时，游戏结束。请问该游戏一共可以进行几轮？</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1319"/>
            <a:ext cx="9073299" cy="1692771"/>
          </a:xfrm>
          <a:prstGeom prst="rect">
            <a:avLst/>
          </a:prstGeom>
        </p:spPr>
        <p:txBody>
          <a:bodyPr wrap="square">
            <a:spAutoFit/>
          </a:bodyPr>
          <a:lstStyle/>
          <a:p>
            <a:r>
              <a:rPr lang="en-US" altLang="zh-CN" dirty="0"/>
              <a:t>    </a:t>
            </a:r>
            <a:r>
              <a:rPr lang="zh-CN" altLang="zh-CN" dirty="0"/>
              <a:t>游戏的流程如图所示。当进行完第</a:t>
            </a:r>
            <a:r>
              <a:rPr lang="en-US" altLang="zh-CN" dirty="0"/>
              <a:t>3</a:t>
            </a:r>
            <a:r>
              <a:rPr lang="zh-CN" altLang="zh-CN" dirty="0"/>
              <a:t>轮游戏后，</a:t>
            </a:r>
            <a:r>
              <a:rPr lang="en-US" altLang="zh-CN" dirty="0"/>
              <a:t>4</a:t>
            </a:r>
            <a:r>
              <a:rPr lang="zh-CN" altLang="zh-CN" dirty="0"/>
              <a:t>号玩家会听到</a:t>
            </a:r>
            <a:r>
              <a:rPr lang="en-US" altLang="zh-CN" dirty="0"/>
              <a:t>2</a:t>
            </a:r>
            <a:r>
              <a:rPr lang="zh-CN" altLang="zh-CN" dirty="0"/>
              <a:t>号玩家告诉他自己的生日，所以答案为</a:t>
            </a:r>
            <a:r>
              <a:rPr lang="en-US" altLang="zh-CN" dirty="0"/>
              <a:t>3</a:t>
            </a:r>
            <a:r>
              <a:rPr lang="zh-CN" altLang="zh-CN" dirty="0"/>
              <a:t>。当然，第</a:t>
            </a:r>
            <a:r>
              <a:rPr lang="en-US" altLang="zh-CN" dirty="0"/>
              <a:t>3</a:t>
            </a:r>
            <a:r>
              <a:rPr lang="zh-CN" altLang="zh-CN" dirty="0"/>
              <a:t>轮游戏后，</a:t>
            </a:r>
            <a:r>
              <a:rPr lang="en-US" altLang="zh-CN" dirty="0"/>
              <a:t>2</a:t>
            </a:r>
            <a:r>
              <a:rPr lang="zh-CN" altLang="zh-CN" dirty="0"/>
              <a:t>号玩家、</a:t>
            </a:r>
            <a:r>
              <a:rPr lang="en-US" altLang="zh-CN" dirty="0"/>
              <a:t>3</a:t>
            </a:r>
            <a:r>
              <a:rPr lang="zh-CN" altLang="zh-CN" dirty="0"/>
              <a:t>号玩家都能从自己的消息来源得知自己的生日，同样符合游戏结束的条件。</a:t>
            </a:r>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1946389" y="1958847"/>
            <a:ext cx="5444225" cy="2245508"/>
          </a:xfrm>
          <a:prstGeom prst="rect">
            <a:avLst/>
          </a:prstGeom>
          <a:noFill/>
          <a:ln>
            <a:noFill/>
          </a:ln>
        </p:spPr>
      </p:pic>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62145"/>
            <a:ext cx="9144000" cy="3293209"/>
          </a:xfrm>
          <a:prstGeom prst="rect">
            <a:avLst/>
          </a:prstGeom>
        </p:spPr>
        <p:txBody>
          <a:bodyPr wrap="square">
            <a:spAutoFit/>
          </a:bodyPr>
          <a:lstStyle/>
          <a:p>
            <a:r>
              <a:rPr lang="en-US" altLang="zh-CN" dirty="0"/>
              <a:t>    </a:t>
            </a:r>
            <a:r>
              <a:rPr lang="zh-CN" altLang="zh-CN" dirty="0"/>
              <a:t>将每个同学当作一个结点，将每次传递当作一条有向边，不难发现，如果想要有一个同学说出的生日重新传回自己的耳中，图中必定有一个环。</a:t>
            </a:r>
          </a:p>
          <a:p>
            <a:r>
              <a:rPr lang="en-US" altLang="zh-CN" dirty="0"/>
              <a:t>    </a:t>
            </a:r>
            <a:r>
              <a:rPr lang="zh-CN" altLang="zh-CN" dirty="0"/>
              <a:t>使用</a:t>
            </a:r>
            <a:r>
              <a:rPr lang="en-US" altLang="zh-CN" dirty="0" err="1"/>
              <a:t>Tarjan</a:t>
            </a:r>
            <a:r>
              <a:rPr lang="zh-CN" altLang="zh-CN" dirty="0"/>
              <a:t>算法找强连通分量的方法也可以找到环，即加一个堆栈，每次</a:t>
            </a:r>
            <a:r>
              <a:rPr lang="en-US" altLang="zh-CN" dirty="0"/>
              <a:t>DFS</a:t>
            </a:r>
            <a:r>
              <a:rPr lang="zh-CN" altLang="zh-CN" dirty="0"/>
              <a:t>到新结点</a:t>
            </a:r>
            <a:r>
              <a:rPr lang="en-US" altLang="zh-CN" i="1" dirty="0"/>
              <a:t>u</a:t>
            </a:r>
            <a:r>
              <a:rPr lang="zh-CN" altLang="zh-CN" dirty="0"/>
              <a:t>时将它入栈，当</a:t>
            </a:r>
            <a:r>
              <a:rPr lang="en-US" altLang="zh-CN" dirty="0"/>
              <a:t>DFS</a:t>
            </a:r>
            <a:r>
              <a:rPr lang="zh-CN" altLang="zh-CN" dirty="0"/>
              <a:t>结束时，如果该结点的</a:t>
            </a:r>
            <a:r>
              <a:rPr lang="en-US" altLang="zh-CN" dirty="0" err="1"/>
              <a:t>dfn</a:t>
            </a:r>
            <a:r>
              <a:rPr lang="en-US" altLang="zh-CN" dirty="0"/>
              <a:t>[u]</a:t>
            </a:r>
            <a:r>
              <a:rPr lang="zh-CN" altLang="zh-CN" dirty="0"/>
              <a:t>＝</a:t>
            </a:r>
            <a:r>
              <a:rPr lang="en-US" altLang="zh-CN" dirty="0"/>
              <a:t>low[u]</a:t>
            </a:r>
            <a:r>
              <a:rPr lang="zh-CN" altLang="zh-CN" dirty="0"/>
              <a:t>，说明结点</a:t>
            </a:r>
            <a:r>
              <a:rPr lang="en-US" altLang="zh-CN" i="1" dirty="0"/>
              <a:t>u</a:t>
            </a:r>
            <a:r>
              <a:rPr lang="zh-CN" altLang="zh-CN" dirty="0"/>
              <a:t>是强连通分量的根，则对堆栈中结点</a:t>
            </a:r>
            <a:r>
              <a:rPr lang="en-US" altLang="zh-CN" i="1" dirty="0"/>
              <a:t>u</a:t>
            </a:r>
            <a:r>
              <a:rPr lang="zh-CN" altLang="zh-CN" dirty="0"/>
              <a:t>之上的结点依次出栈，因为这些结点均属于同一强连通分量。</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5880" y="0"/>
            <a:ext cx="3113353" cy="492443"/>
          </a:xfrm>
          <a:prstGeom prst="rect">
            <a:avLst/>
          </a:prstGeom>
        </p:spPr>
        <p:txBody>
          <a:bodyPr wrap="none">
            <a:spAutoFit/>
          </a:bodyPr>
          <a:lstStyle/>
          <a:p>
            <a:r>
              <a:rPr lang="en-US" altLang="zh-CN" b="1" dirty="0"/>
              <a:t>5.10.3 </a:t>
            </a:r>
            <a:r>
              <a:rPr lang="zh-CN" altLang="zh-CN" b="1" dirty="0"/>
              <a:t>度限制生成树</a:t>
            </a:r>
          </a:p>
        </p:txBody>
      </p:sp>
      <p:sp>
        <p:nvSpPr>
          <p:cNvPr id="3" name="矩形 2"/>
          <p:cNvSpPr/>
          <p:nvPr/>
        </p:nvSpPr>
        <p:spPr>
          <a:xfrm>
            <a:off x="0" y="558057"/>
            <a:ext cx="8994424" cy="4493538"/>
          </a:xfrm>
          <a:prstGeom prst="rect">
            <a:avLst/>
          </a:prstGeom>
        </p:spPr>
        <p:txBody>
          <a:bodyPr wrap="square">
            <a:spAutoFit/>
          </a:bodyPr>
          <a:lstStyle/>
          <a:p>
            <a:r>
              <a:rPr lang="zh-CN" altLang="zh-CN" dirty="0"/>
              <a:t>【题目描述】</a:t>
            </a:r>
            <a:r>
              <a:rPr lang="en-US" altLang="zh-CN" dirty="0"/>
              <a:t>5.47 </a:t>
            </a:r>
            <a:r>
              <a:rPr lang="zh-CN" altLang="zh-CN" dirty="0"/>
              <a:t>野餐（</a:t>
            </a:r>
            <a:r>
              <a:rPr lang="en-US" altLang="zh-CN" dirty="0"/>
              <a:t>picnic</a:t>
            </a:r>
            <a:r>
              <a:rPr lang="zh-CN" altLang="zh-CN" dirty="0"/>
              <a:t>）</a:t>
            </a:r>
            <a:r>
              <a:rPr lang="en-US" altLang="zh-CN" dirty="0"/>
              <a:t>PKU 1639</a:t>
            </a:r>
            <a:endParaRPr lang="zh-CN" altLang="zh-CN" dirty="0"/>
          </a:p>
          <a:p>
            <a:r>
              <a:rPr lang="zh-CN" altLang="zh-CN" dirty="0"/>
              <a:t>马戏团的小丑们有一个特异功能，无论一个车子有多小，他们都能钻进去，也就是说，一辆车子能够容纳无限个小丑。</a:t>
            </a:r>
          </a:p>
          <a:p>
            <a:r>
              <a:rPr lang="zh-CN" altLang="zh-CN" dirty="0"/>
              <a:t>现在小丑们要去一个公园野餐，他们住在不同的地方，为了节约能源，要使得所有车子加起来走的路程最小，往往是几个小丑各自开车到另一个小丑家停车后，再挤在一辆车上开车到公园。</a:t>
            </a:r>
          </a:p>
          <a:p>
            <a:r>
              <a:rPr lang="zh-CN" altLang="zh-CN" dirty="0"/>
              <a:t>但是公园的停车位是有限制的，公园最多只能停</a:t>
            </a:r>
            <a:r>
              <a:rPr lang="en-US" altLang="zh-CN" i="1" dirty="0"/>
              <a:t>k</a:t>
            </a:r>
            <a:r>
              <a:rPr lang="zh-CN" altLang="zh-CN" dirty="0"/>
              <a:t>辆车。一旦某个小丑开车到了公园，那么就必须停在公园，不能再回去载其他小丑了。</a:t>
            </a:r>
          </a:p>
          <a:p>
            <a:r>
              <a:rPr lang="zh-CN" altLang="zh-CN" dirty="0"/>
              <a:t>求所有小丑开车的最短总路程。</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80414"/>
            <a:ext cx="9101578" cy="2492990"/>
          </a:xfrm>
          <a:prstGeom prst="rect">
            <a:avLst/>
          </a:prstGeom>
        </p:spPr>
        <p:txBody>
          <a:bodyPr wrap="square">
            <a:spAutoFit/>
          </a:bodyPr>
          <a:lstStyle/>
          <a:p>
            <a:r>
              <a:rPr lang="en-US" altLang="zh-CN" dirty="0"/>
              <a:t>     </a:t>
            </a:r>
            <a:r>
              <a:rPr lang="zh-CN" altLang="zh-CN" dirty="0"/>
              <a:t>此题是最小生成树问题的扩展，之前的最小生成树中每个结点的度数是任意的，但如果对无向图中的某一个结点（例如</a:t>
            </a:r>
            <a:r>
              <a:rPr lang="en-US" altLang="zh-CN" i="1" dirty="0"/>
              <a:t>V</a:t>
            </a:r>
            <a:r>
              <a:rPr lang="en-US" altLang="zh-CN" baseline="-25000" dirty="0"/>
              <a:t>0</a:t>
            </a:r>
            <a:r>
              <a:rPr lang="zh-CN" altLang="zh-CN" dirty="0"/>
              <a:t>）的度数做出限制，即</a:t>
            </a:r>
            <a:r>
              <a:rPr lang="en-US" altLang="zh-CN" i="1" dirty="0"/>
              <a:t>d</a:t>
            </a:r>
            <a:r>
              <a:rPr lang="en-US" altLang="zh-CN" dirty="0"/>
              <a:t>(</a:t>
            </a:r>
            <a:r>
              <a:rPr lang="en-US" altLang="zh-CN" i="1" dirty="0"/>
              <a:t>V</a:t>
            </a:r>
            <a:r>
              <a:rPr lang="en-US" altLang="zh-CN" baseline="-25000" dirty="0"/>
              <a:t>0</a:t>
            </a:r>
            <a:r>
              <a:rPr lang="en-US" altLang="zh-CN" dirty="0"/>
              <a:t>)</a:t>
            </a:r>
            <a:r>
              <a:rPr lang="zh-CN" altLang="zh-CN" dirty="0"/>
              <a:t>≤</a:t>
            </a:r>
            <a:r>
              <a:rPr lang="en-US" altLang="zh-CN" i="1" dirty="0"/>
              <a:t>k</a:t>
            </a:r>
            <a:r>
              <a:rPr lang="zh-CN" altLang="zh-CN" dirty="0"/>
              <a:t>。那么把</a:t>
            </a:r>
            <a:r>
              <a:rPr lang="en-US" altLang="zh-CN" i="1" dirty="0"/>
              <a:t>d</a:t>
            </a:r>
            <a:r>
              <a:rPr lang="en-US" altLang="zh-CN" dirty="0"/>
              <a:t>(</a:t>
            </a:r>
            <a:r>
              <a:rPr lang="en-US" altLang="zh-CN" i="1" dirty="0"/>
              <a:t>V</a:t>
            </a:r>
            <a:r>
              <a:rPr lang="en-US" altLang="zh-CN" baseline="-25000" dirty="0"/>
              <a:t>0</a:t>
            </a:r>
            <a:r>
              <a:rPr lang="en-US" altLang="zh-CN" dirty="0"/>
              <a:t>)</a:t>
            </a:r>
            <a:r>
              <a:rPr lang="zh-CN" altLang="zh-CN" dirty="0"/>
              <a:t>＝</a:t>
            </a:r>
            <a:r>
              <a:rPr lang="en-US" altLang="zh-CN" i="1" dirty="0"/>
              <a:t>k</a:t>
            </a:r>
            <a:r>
              <a:rPr lang="zh-CN" altLang="zh-CN" dirty="0"/>
              <a:t>的最小生成树称为无向图的最小</a:t>
            </a:r>
            <a:r>
              <a:rPr lang="en-US" altLang="zh-CN" i="1" dirty="0"/>
              <a:t>k</a:t>
            </a:r>
            <a:r>
              <a:rPr lang="zh-CN" altLang="zh-CN" dirty="0"/>
              <a:t>度限制生成树，其权值和记为</a:t>
            </a:r>
            <a:r>
              <a:rPr lang="en-US" altLang="zh-CN" dirty="0"/>
              <a:t>tree[</a:t>
            </a:r>
            <a:r>
              <a:rPr lang="en-US" altLang="zh-CN" i="1" dirty="0"/>
              <a:t>k</a:t>
            </a:r>
            <a:r>
              <a:rPr lang="en-US" altLang="zh-CN" dirty="0"/>
              <a:t>]</a:t>
            </a:r>
            <a:r>
              <a:rPr lang="zh-CN" altLang="zh-CN" dirty="0"/>
              <a:t>。显然求无向图的最小度限制生成树等价于求</a:t>
            </a:r>
            <a:r>
              <a:rPr lang="en-US" altLang="zh-CN" dirty="0"/>
              <a:t>min{tree[</a:t>
            </a:r>
            <a:r>
              <a:rPr lang="en-US" altLang="zh-CN" i="1" dirty="0" err="1"/>
              <a:t>i</a:t>
            </a:r>
            <a:r>
              <a:rPr lang="en-US" altLang="zh-CN" dirty="0"/>
              <a:t>] | 1</a:t>
            </a:r>
            <a:r>
              <a:rPr lang="zh-CN" altLang="zh-CN" dirty="0"/>
              <a:t>≤</a:t>
            </a:r>
            <a:r>
              <a:rPr lang="en-US" altLang="zh-CN" i="1" dirty="0" err="1"/>
              <a:t>i</a:t>
            </a:r>
            <a:r>
              <a:rPr lang="zh-CN" altLang="zh-CN" dirty="0"/>
              <a:t>≤</a:t>
            </a:r>
            <a:r>
              <a:rPr lang="en-US" altLang="zh-CN" i="1" dirty="0"/>
              <a:t>k</a:t>
            </a:r>
            <a:r>
              <a:rPr lang="en-US" altLang="zh-CN" dirty="0"/>
              <a:t>}</a:t>
            </a:r>
            <a:r>
              <a:rPr lang="zh-CN" altLang="zh-CN" dirty="0"/>
              <a:t>。</a:t>
            </a:r>
          </a:p>
          <a:p>
            <a:r>
              <a:rPr lang="zh-CN" altLang="zh-CN" dirty="0"/>
              <a:t>那么现在问题是，对于结点</a:t>
            </a:r>
            <a:r>
              <a:rPr lang="en-US" altLang="zh-CN" i="1" dirty="0"/>
              <a:t>V</a:t>
            </a:r>
            <a:r>
              <a:rPr lang="en-US" altLang="zh-CN" baseline="-25000" dirty="0"/>
              <a:t>0</a:t>
            </a:r>
            <a:r>
              <a:rPr lang="zh-CN" altLang="zh-CN" dirty="0"/>
              <a:t>，</a:t>
            </a:r>
            <a:r>
              <a:rPr lang="en-US" altLang="zh-CN" i="1" dirty="0"/>
              <a:t>k</a:t>
            </a:r>
            <a:r>
              <a:rPr lang="zh-CN" altLang="zh-CN" dirty="0"/>
              <a:t>有没有最小限制？观察图</a:t>
            </a:r>
            <a:endParaRPr lang="zh-CN" altLang="en-US"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1935077" y="2701705"/>
            <a:ext cx="4776808" cy="2129532"/>
          </a:xfrm>
          <a:prstGeom prst="rect">
            <a:avLst/>
          </a:prstGeom>
          <a:noFill/>
          <a:ln>
            <a:noFill/>
          </a:ln>
        </p:spPr>
      </p:pic>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5989" y="118775"/>
            <a:ext cx="8988456" cy="3970318"/>
          </a:xfrm>
          <a:prstGeom prst="rect">
            <a:avLst/>
          </a:prstGeom>
        </p:spPr>
        <p:txBody>
          <a:bodyPr wrap="square">
            <a:spAutoFit/>
          </a:bodyPr>
          <a:lstStyle/>
          <a:p>
            <a:pPr indent="266700" algn="just">
              <a:spcAft>
                <a:spcPts val="0"/>
              </a:spcAft>
            </a:pPr>
            <a:r>
              <a:rPr lang="zh-CN" altLang="zh-CN" sz="2800" kern="100" dirty="0">
                <a:latin typeface="Times New Roman" panose="02020603050405020304"/>
                <a:ea typeface="宋体" panose="02010600030101010101" pitchFamily="2" charset="-122"/>
              </a:rPr>
              <a:t>可以看到，将</a:t>
            </a:r>
            <a:r>
              <a:rPr lang="en-US" altLang="zh-CN" sz="2800" i="1" kern="100" dirty="0">
                <a:latin typeface="Times New Roman" panose="02020603050405020304"/>
                <a:ea typeface="宋体" panose="02010600030101010101" pitchFamily="2" charset="-122"/>
              </a:rPr>
              <a:t>V</a:t>
            </a:r>
            <a:r>
              <a:rPr lang="en-US" altLang="zh-CN" sz="2800" kern="100" baseline="-25000" dirty="0">
                <a:latin typeface="Times New Roman" panose="02020603050405020304"/>
                <a:ea typeface="宋体" panose="02010600030101010101" pitchFamily="2" charset="-122"/>
              </a:rPr>
              <a:t>0</a:t>
            </a:r>
            <a:r>
              <a:rPr lang="zh-CN" altLang="zh-CN" sz="2800" kern="100" dirty="0">
                <a:latin typeface="Times New Roman" panose="02020603050405020304"/>
                <a:ea typeface="宋体" panose="02010600030101010101" pitchFamily="2" charset="-122"/>
              </a:rPr>
              <a:t>的所有边删除后，右边出现了</a:t>
            </a:r>
            <a:r>
              <a:rPr lang="en-US" altLang="zh-CN" sz="2800" kern="100" dirty="0">
                <a:latin typeface="Times New Roman" panose="02020603050405020304"/>
                <a:ea typeface="宋体" panose="02010600030101010101" pitchFamily="2" charset="-122"/>
              </a:rPr>
              <a:t>3</a:t>
            </a:r>
            <a:r>
              <a:rPr lang="zh-CN" altLang="zh-CN" sz="2800" kern="100" dirty="0">
                <a:latin typeface="Times New Roman" panose="02020603050405020304"/>
                <a:ea typeface="宋体" panose="02010600030101010101" pitchFamily="2" charset="-122"/>
              </a:rPr>
              <a:t>个独立的连通块，可见，当</a:t>
            </a:r>
            <a:r>
              <a:rPr lang="en-US" altLang="zh-CN" sz="2800" i="1" kern="100" dirty="0">
                <a:latin typeface="Times New Roman" panose="02020603050405020304"/>
                <a:ea typeface="宋体" panose="02010600030101010101" pitchFamily="2" charset="-122"/>
              </a:rPr>
              <a:t>d</a:t>
            </a:r>
            <a:r>
              <a:rPr lang="en-US" altLang="zh-CN" sz="2800" kern="100" dirty="0">
                <a:latin typeface="Times New Roman" panose="02020603050405020304"/>
                <a:ea typeface="宋体" panose="02010600030101010101" pitchFamily="2" charset="-122"/>
              </a:rPr>
              <a:t>(</a:t>
            </a:r>
            <a:r>
              <a:rPr lang="en-US" altLang="zh-CN" sz="2800" i="1" kern="100" dirty="0">
                <a:latin typeface="Times New Roman" panose="02020603050405020304"/>
                <a:ea typeface="宋体" panose="02010600030101010101" pitchFamily="2" charset="-122"/>
              </a:rPr>
              <a:t>V</a:t>
            </a:r>
            <a:r>
              <a:rPr lang="en-US" altLang="zh-CN" sz="2800" kern="100" baseline="-25000" dirty="0">
                <a:latin typeface="Times New Roman" panose="02020603050405020304"/>
                <a:ea typeface="宋体" panose="02010600030101010101" pitchFamily="2" charset="-122"/>
              </a:rPr>
              <a:t>0</a:t>
            </a:r>
            <a:r>
              <a:rPr lang="en-US" altLang="zh-CN" sz="2800" kern="100" dirty="0">
                <a:latin typeface="Times New Roman" panose="02020603050405020304"/>
                <a:ea typeface="宋体" panose="02010600030101010101" pitchFamily="2" charset="-122"/>
              </a:rPr>
              <a:t>)</a:t>
            </a:r>
            <a:r>
              <a:rPr lang="zh-CN" altLang="zh-CN" sz="2800" kern="100" dirty="0">
                <a:latin typeface="Times New Roman" panose="02020603050405020304"/>
                <a:ea typeface="宋体" panose="02010600030101010101" pitchFamily="2" charset="-122"/>
              </a:rPr>
              <a:t>＜</a:t>
            </a:r>
            <a:r>
              <a:rPr lang="en-US" altLang="zh-CN" sz="2800" kern="100" dirty="0">
                <a:latin typeface="Times New Roman" panose="02020603050405020304"/>
                <a:ea typeface="宋体" panose="02010600030101010101" pitchFamily="2" charset="-122"/>
              </a:rPr>
              <a:t>3</a:t>
            </a:r>
            <a:r>
              <a:rPr lang="zh-CN" altLang="zh-CN" sz="2800" kern="100" dirty="0">
                <a:latin typeface="Times New Roman" panose="02020603050405020304"/>
                <a:ea typeface="宋体" panose="02010600030101010101" pitchFamily="2" charset="-122"/>
              </a:rPr>
              <a:t>时，问题无解。即</a:t>
            </a:r>
            <a:r>
              <a:rPr lang="en-US" altLang="zh-CN" sz="2800" i="1" kern="100" dirty="0">
                <a:latin typeface="Times New Roman" panose="02020603050405020304"/>
                <a:ea typeface="宋体" panose="02010600030101010101" pitchFamily="2" charset="-122"/>
              </a:rPr>
              <a:t>V</a:t>
            </a:r>
            <a:r>
              <a:rPr lang="en-US" altLang="zh-CN" sz="2800" kern="100" baseline="-25000" dirty="0">
                <a:latin typeface="Times New Roman" panose="02020603050405020304"/>
                <a:ea typeface="宋体" panose="02010600030101010101" pitchFamily="2" charset="-122"/>
              </a:rPr>
              <a:t>0</a:t>
            </a:r>
            <a:r>
              <a:rPr lang="zh-CN" altLang="zh-CN" sz="2800" kern="100" dirty="0">
                <a:latin typeface="Times New Roman" panose="02020603050405020304"/>
                <a:ea typeface="宋体" panose="02010600030101010101" pitchFamily="2" charset="-122"/>
              </a:rPr>
              <a:t>的度最少应为</a:t>
            </a:r>
            <a:r>
              <a:rPr lang="en-US" altLang="zh-CN" sz="2800" kern="100" dirty="0">
                <a:latin typeface="Times New Roman" panose="02020603050405020304"/>
                <a:ea typeface="宋体" panose="02010600030101010101" pitchFamily="2" charset="-122"/>
              </a:rPr>
              <a:t>3</a:t>
            </a:r>
            <a:r>
              <a:rPr lang="zh-CN" altLang="zh-CN" sz="2800" kern="100" dirty="0">
                <a:latin typeface="Times New Roman" panose="02020603050405020304"/>
                <a:ea typeface="宋体" panose="02010600030101010101" pitchFamily="2" charset="-122"/>
              </a:rPr>
              <a:t>。</a:t>
            </a:r>
            <a:endParaRPr lang="zh-CN" altLang="zh-CN" sz="2400" kern="100" dirty="0">
              <a:latin typeface="Times New Roman" panose="02020603050405020304"/>
              <a:ea typeface="宋体" panose="02010600030101010101" pitchFamily="2" charset="-122"/>
            </a:endParaRPr>
          </a:p>
          <a:p>
            <a:pPr indent="266700" algn="just">
              <a:spcAft>
                <a:spcPts val="0"/>
              </a:spcAft>
            </a:pPr>
            <a:r>
              <a:rPr lang="zh-CN" altLang="zh-CN" sz="2800" kern="100" dirty="0">
                <a:latin typeface="Times New Roman" panose="02020603050405020304"/>
                <a:ea typeface="宋体" panose="02010600030101010101" pitchFamily="2" charset="-122"/>
              </a:rPr>
              <a:t>可知，对于任意一个无向图，将</a:t>
            </a:r>
            <a:r>
              <a:rPr lang="en-US" altLang="zh-CN" sz="2800" i="1" kern="100" dirty="0">
                <a:latin typeface="Times New Roman" panose="02020603050405020304"/>
                <a:ea typeface="宋体" panose="02010600030101010101" pitchFamily="2" charset="-122"/>
              </a:rPr>
              <a:t>V</a:t>
            </a:r>
            <a:r>
              <a:rPr lang="en-US" altLang="zh-CN" sz="2800" kern="100" baseline="-25000" dirty="0">
                <a:latin typeface="Times New Roman" panose="02020603050405020304"/>
                <a:ea typeface="宋体" panose="02010600030101010101" pitchFamily="2" charset="-122"/>
              </a:rPr>
              <a:t>0</a:t>
            </a:r>
            <a:r>
              <a:rPr lang="zh-CN" altLang="zh-CN" sz="2800" kern="100" dirty="0">
                <a:latin typeface="Times New Roman" panose="02020603050405020304"/>
                <a:ea typeface="宋体" panose="02010600030101010101" pitchFamily="2" charset="-122"/>
              </a:rPr>
              <a:t>点去除后，原图剩余部分有</a:t>
            </a:r>
            <a:r>
              <a:rPr lang="en-US" altLang="zh-CN" sz="2800" i="1" kern="100" dirty="0">
                <a:latin typeface="Times New Roman" panose="02020603050405020304"/>
                <a:ea typeface="宋体" panose="02010600030101010101" pitchFamily="2" charset="-122"/>
              </a:rPr>
              <a:t>k</a:t>
            </a:r>
            <a:r>
              <a:rPr lang="en-US" altLang="zh-CN" sz="2800" kern="100" baseline="-25000" dirty="0">
                <a:latin typeface="Times New Roman" panose="02020603050405020304"/>
                <a:ea typeface="宋体" panose="02010600030101010101" pitchFamily="2" charset="-122"/>
              </a:rPr>
              <a:t>0</a:t>
            </a:r>
            <a:r>
              <a:rPr lang="zh-CN" altLang="zh-CN" sz="2800" kern="100" dirty="0">
                <a:latin typeface="Times New Roman" panose="02020603050405020304"/>
                <a:ea typeface="宋体" panose="02010600030101010101" pitchFamily="2" charset="-122"/>
              </a:rPr>
              <a:t>个连通块，那么当</a:t>
            </a:r>
            <a:r>
              <a:rPr lang="en-US" altLang="zh-CN" sz="2800" i="1" kern="100" dirty="0">
                <a:latin typeface="Times New Roman" panose="02020603050405020304"/>
                <a:ea typeface="宋体" panose="02010600030101010101" pitchFamily="2" charset="-122"/>
              </a:rPr>
              <a:t>k</a:t>
            </a:r>
            <a:r>
              <a:rPr lang="zh-CN" altLang="zh-CN" sz="2800" kern="100" dirty="0">
                <a:latin typeface="Times New Roman" panose="02020603050405020304"/>
                <a:ea typeface="宋体" panose="02010600030101010101" pitchFamily="2" charset="-122"/>
              </a:rPr>
              <a:t>＜</a:t>
            </a:r>
            <a:r>
              <a:rPr lang="en-US" altLang="zh-CN" sz="2800" i="1" kern="100" dirty="0">
                <a:latin typeface="Times New Roman" panose="02020603050405020304"/>
                <a:ea typeface="宋体" panose="02010600030101010101" pitchFamily="2" charset="-122"/>
              </a:rPr>
              <a:t>k</a:t>
            </a:r>
            <a:r>
              <a:rPr lang="en-US" altLang="zh-CN" sz="2800" kern="100" baseline="-25000" dirty="0">
                <a:latin typeface="Times New Roman" panose="02020603050405020304"/>
                <a:ea typeface="宋体" panose="02010600030101010101" pitchFamily="2" charset="-122"/>
              </a:rPr>
              <a:t>0</a:t>
            </a:r>
            <a:r>
              <a:rPr lang="zh-CN" altLang="zh-CN" sz="2800" kern="100" dirty="0">
                <a:latin typeface="Times New Roman" panose="02020603050405020304"/>
                <a:ea typeface="宋体" panose="02010600030101010101" pitchFamily="2" charset="-122"/>
              </a:rPr>
              <a:t>时肯定不存在</a:t>
            </a:r>
            <a:r>
              <a:rPr lang="en-US" altLang="zh-CN" sz="2800" i="1" kern="100" dirty="0">
                <a:latin typeface="Times New Roman" panose="02020603050405020304"/>
                <a:ea typeface="宋体" panose="02010600030101010101" pitchFamily="2" charset="-122"/>
              </a:rPr>
              <a:t>k</a:t>
            </a:r>
            <a:r>
              <a:rPr lang="zh-CN" altLang="zh-CN" sz="2800" kern="100" dirty="0">
                <a:latin typeface="Times New Roman" panose="02020603050405020304"/>
                <a:ea typeface="宋体" panose="02010600030101010101" pitchFamily="2" charset="-122"/>
              </a:rPr>
              <a:t>度最小度限制生成树。</a:t>
            </a:r>
            <a:endParaRPr lang="zh-CN" altLang="zh-CN" sz="2400" kern="100" dirty="0">
              <a:latin typeface="Times New Roman" panose="02020603050405020304"/>
              <a:ea typeface="宋体" panose="02010600030101010101" pitchFamily="2" charset="-122"/>
            </a:endParaRPr>
          </a:p>
          <a:p>
            <a:pPr indent="266700" algn="just">
              <a:spcAft>
                <a:spcPts val="0"/>
              </a:spcAft>
            </a:pPr>
            <a:r>
              <a:rPr lang="zh-CN" altLang="zh-CN" sz="2800" kern="100" dirty="0">
                <a:latin typeface="Times New Roman" panose="02020603050405020304"/>
                <a:ea typeface="宋体" panose="02010600030101010101" pitchFamily="2" charset="-122"/>
              </a:rPr>
              <a:t>现假设对于上图的</a:t>
            </a:r>
            <a:r>
              <a:rPr lang="en-US" altLang="zh-CN" sz="2800" i="1" kern="100" dirty="0">
                <a:latin typeface="Times New Roman" panose="02020603050405020304"/>
                <a:ea typeface="宋体" panose="02010600030101010101" pitchFamily="2" charset="-122"/>
              </a:rPr>
              <a:t>V</a:t>
            </a:r>
            <a:r>
              <a:rPr lang="en-US" altLang="zh-CN" sz="2800" kern="100" baseline="-25000" dirty="0">
                <a:latin typeface="Times New Roman" panose="02020603050405020304"/>
                <a:ea typeface="宋体" panose="02010600030101010101" pitchFamily="2" charset="-122"/>
              </a:rPr>
              <a:t>0</a:t>
            </a:r>
            <a:r>
              <a:rPr lang="zh-CN" altLang="zh-CN" sz="2800" kern="100" dirty="0">
                <a:latin typeface="Times New Roman" panose="02020603050405020304"/>
                <a:ea typeface="宋体" panose="02010600030101010101" pitchFamily="2" charset="-122"/>
              </a:rPr>
              <a:t>，已求出</a:t>
            </a:r>
            <a:r>
              <a:rPr lang="en-US" altLang="zh-CN" sz="2800" kern="100" dirty="0">
                <a:latin typeface="Times New Roman" panose="02020603050405020304"/>
                <a:ea typeface="宋体" panose="02010600030101010101" pitchFamily="2" charset="-122"/>
              </a:rPr>
              <a:t>tree[3]</a:t>
            </a:r>
            <a:r>
              <a:rPr lang="zh-CN" altLang="zh-CN" sz="2800" kern="100" dirty="0">
                <a:latin typeface="Times New Roman" panose="02020603050405020304"/>
                <a:ea typeface="宋体" panose="02010600030101010101" pitchFamily="2" charset="-122"/>
              </a:rPr>
              <a:t>的值，那么如何求</a:t>
            </a:r>
            <a:r>
              <a:rPr lang="en-US" altLang="zh-CN" sz="2800" kern="100" dirty="0">
                <a:latin typeface="Times New Roman" panose="02020603050405020304"/>
                <a:ea typeface="宋体" panose="02010600030101010101" pitchFamily="2" charset="-122"/>
              </a:rPr>
              <a:t>tree[4],tree[5],tree[6],</a:t>
            </a:r>
            <a:r>
              <a:rPr lang="zh-CN" altLang="zh-CN" sz="2800" kern="100" dirty="0">
                <a:latin typeface="Times New Roman" panose="02020603050405020304"/>
                <a:ea typeface="宋体" panose="02010600030101010101" pitchFamily="2" charset="-122"/>
              </a:rPr>
              <a:t>…的值呢？换言之，已知</a:t>
            </a:r>
            <a:r>
              <a:rPr lang="en-US" altLang="zh-CN" sz="2800" kern="100" dirty="0">
                <a:latin typeface="Times New Roman" panose="02020603050405020304"/>
                <a:ea typeface="宋体" panose="02010600030101010101" pitchFamily="2" charset="-122"/>
              </a:rPr>
              <a:t>tree[</a:t>
            </a:r>
            <a:r>
              <a:rPr lang="en-US" altLang="zh-CN" sz="2800" i="1" kern="100" dirty="0">
                <a:latin typeface="Times New Roman" panose="02020603050405020304"/>
                <a:ea typeface="宋体" panose="02010600030101010101" pitchFamily="2" charset="-122"/>
              </a:rPr>
              <a:t>m</a:t>
            </a:r>
            <a:r>
              <a:rPr lang="en-US" altLang="zh-CN" sz="2800" kern="100" dirty="0">
                <a:latin typeface="Times New Roman" panose="02020603050405020304"/>
                <a:ea typeface="宋体" panose="02010600030101010101" pitchFamily="2" charset="-122"/>
              </a:rPr>
              <a:t>]</a:t>
            </a:r>
            <a:r>
              <a:rPr lang="zh-CN" altLang="zh-CN" sz="2800" kern="100" dirty="0">
                <a:latin typeface="Times New Roman" panose="02020603050405020304"/>
                <a:ea typeface="宋体" panose="02010600030101010101" pitchFamily="2" charset="-122"/>
              </a:rPr>
              <a:t>，是否能求出</a:t>
            </a:r>
            <a:r>
              <a:rPr lang="en-US" altLang="zh-CN" sz="2800" kern="100" dirty="0">
                <a:latin typeface="Times New Roman" panose="02020603050405020304"/>
                <a:ea typeface="宋体" panose="02010600030101010101" pitchFamily="2" charset="-122"/>
              </a:rPr>
              <a:t>tree[</a:t>
            </a:r>
            <a:r>
              <a:rPr lang="en-US" altLang="zh-CN" sz="2800" i="1" kern="100" dirty="0">
                <a:latin typeface="Times New Roman" panose="02020603050405020304"/>
                <a:ea typeface="宋体" panose="02010600030101010101" pitchFamily="2" charset="-122"/>
              </a:rPr>
              <a:t>m</a:t>
            </a:r>
            <a:r>
              <a:rPr lang="zh-CN" altLang="zh-CN" sz="2800" kern="100" dirty="0">
                <a:latin typeface="Times New Roman" panose="02020603050405020304"/>
                <a:ea typeface="宋体" panose="02010600030101010101" pitchFamily="2" charset="-122"/>
              </a:rPr>
              <a:t>＋</a:t>
            </a:r>
            <a:r>
              <a:rPr lang="en-US" altLang="zh-CN" sz="2800" kern="100" dirty="0">
                <a:latin typeface="Times New Roman" panose="02020603050405020304"/>
                <a:ea typeface="宋体" panose="02010600030101010101" pitchFamily="2" charset="-122"/>
              </a:rPr>
              <a:t>1]</a:t>
            </a:r>
            <a:r>
              <a:rPr lang="zh-CN" altLang="zh-CN" sz="2800" kern="100" dirty="0">
                <a:latin typeface="Times New Roman" panose="02020603050405020304"/>
                <a:ea typeface="宋体" panose="02010600030101010101" pitchFamily="2" charset="-122"/>
              </a:rPr>
              <a:t>的值？</a:t>
            </a:r>
            <a:endParaRPr lang="zh-CN" altLang="zh-CN" sz="2400" kern="100" dirty="0">
              <a:effectLst/>
              <a:latin typeface="Times New Roman" panose="02020603050405020304"/>
              <a:ea typeface="宋体" panose="02010600030101010101" pitchFamily="2" charset="-122"/>
            </a:endParaRP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880"/>
            <a:ext cx="9082726" cy="892552"/>
          </a:xfrm>
          <a:prstGeom prst="rect">
            <a:avLst/>
          </a:prstGeom>
        </p:spPr>
        <p:txBody>
          <a:bodyPr wrap="square">
            <a:spAutoFit/>
          </a:bodyPr>
          <a:lstStyle/>
          <a:p>
            <a:r>
              <a:rPr lang="en-US" altLang="zh-CN" dirty="0"/>
              <a:t>    </a:t>
            </a:r>
            <a:r>
              <a:rPr lang="zh-CN" altLang="zh-CN" dirty="0"/>
              <a:t>对于</a:t>
            </a:r>
            <a:r>
              <a:rPr lang="en-US" altLang="zh-CN" i="1" dirty="0"/>
              <a:t>V</a:t>
            </a:r>
            <a:r>
              <a:rPr lang="en-US" altLang="zh-CN" baseline="-25000" dirty="0"/>
              <a:t>0</a:t>
            </a:r>
            <a:r>
              <a:rPr lang="zh-CN" altLang="zh-CN" dirty="0"/>
              <a:t>来说，由于去掉</a:t>
            </a:r>
            <a:r>
              <a:rPr lang="en-US" altLang="zh-CN" i="1" dirty="0"/>
              <a:t>V</a:t>
            </a:r>
            <a:r>
              <a:rPr lang="en-US" altLang="zh-CN" baseline="-25000" dirty="0"/>
              <a:t>0</a:t>
            </a:r>
            <a:r>
              <a:rPr lang="zh-CN" altLang="zh-CN" dirty="0"/>
              <a:t>的几个连通块相对独立，因此，不妨只考虑１个连通块的情况下的</a:t>
            </a:r>
            <a:r>
              <a:rPr lang="en-US" altLang="zh-CN" dirty="0"/>
              <a:t>tree[1]</a:t>
            </a:r>
            <a:r>
              <a:rPr lang="zh-CN" altLang="zh-CN" dirty="0"/>
              <a:t>的值如何求。</a:t>
            </a:r>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2460637" y="1137491"/>
            <a:ext cx="4675453" cy="2680365"/>
          </a:xfrm>
          <a:prstGeom prst="rect">
            <a:avLst/>
          </a:prstGeom>
          <a:noFill/>
          <a:ln>
            <a:noFill/>
          </a:ln>
        </p:spPr>
      </p:pic>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7134" y="124927"/>
            <a:ext cx="9063872" cy="2893100"/>
          </a:xfrm>
          <a:prstGeom prst="rect">
            <a:avLst/>
          </a:prstGeom>
        </p:spPr>
        <p:txBody>
          <a:bodyPr wrap="square">
            <a:spAutoFit/>
          </a:bodyPr>
          <a:lstStyle/>
          <a:p>
            <a:r>
              <a:rPr lang="en-US" altLang="zh-CN" dirty="0"/>
              <a:t>    </a:t>
            </a:r>
            <a:r>
              <a:rPr lang="zh-CN" altLang="zh-CN" dirty="0"/>
              <a:t>很显然，该图的最小</a:t>
            </a:r>
            <a:r>
              <a:rPr lang="en-US" altLang="zh-CN" dirty="0"/>
              <a:t>1</a:t>
            </a:r>
            <a:r>
              <a:rPr lang="zh-CN" altLang="zh-CN" dirty="0"/>
              <a:t>度限制生成树等价于求连通块的最小生成树，再从</a:t>
            </a:r>
            <a:r>
              <a:rPr lang="en-US" altLang="zh-CN" i="1" dirty="0"/>
              <a:t>V</a:t>
            </a:r>
            <a:r>
              <a:rPr lang="en-US" altLang="zh-CN" baseline="-25000" dirty="0"/>
              <a:t>0</a:t>
            </a:r>
            <a:r>
              <a:rPr lang="zh-CN" altLang="zh-CN" dirty="0"/>
              <a:t>枚举一条到连通块中的边使得权值和最小即可。</a:t>
            </a:r>
          </a:p>
          <a:p>
            <a:r>
              <a:rPr lang="zh-CN" altLang="zh-CN" dirty="0"/>
              <a:t>那么</a:t>
            </a:r>
            <a:r>
              <a:rPr lang="en-US" altLang="zh-CN" dirty="0"/>
              <a:t>2</a:t>
            </a:r>
            <a:r>
              <a:rPr lang="zh-CN" altLang="zh-CN" dirty="0"/>
              <a:t>度限制最小生成树如何求呢？我们尝试在１度限制最小生成树的基础上增加一条边以达到度限制要求。显然在增加一条边后，图中出现了环，因此我们需要删除一条边（不与</a:t>
            </a:r>
            <a:r>
              <a:rPr lang="en-US" altLang="zh-CN" i="1" dirty="0"/>
              <a:t>V</a:t>
            </a:r>
            <a:r>
              <a:rPr lang="en-US" altLang="zh-CN" baseline="-25000" dirty="0"/>
              <a:t>0</a:t>
            </a:r>
            <a:r>
              <a:rPr lang="zh-CN" altLang="zh-CN" dirty="0"/>
              <a:t>相关联）。</a:t>
            </a:r>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2665507" y="2926800"/>
            <a:ext cx="3556183" cy="1979851"/>
          </a:xfrm>
          <a:prstGeom prst="rect">
            <a:avLst/>
          </a:prstGeom>
          <a:noFill/>
          <a:ln>
            <a:noFill/>
          </a:ln>
        </p:spPr>
      </p:pic>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0"/>
            <a:ext cx="9101579" cy="892552"/>
          </a:xfrm>
          <a:prstGeom prst="rect">
            <a:avLst/>
          </a:prstGeom>
        </p:spPr>
        <p:txBody>
          <a:bodyPr wrap="square">
            <a:spAutoFit/>
          </a:bodyPr>
          <a:lstStyle/>
          <a:p>
            <a:r>
              <a:rPr lang="en-US" altLang="zh-CN" dirty="0"/>
              <a:t>     </a:t>
            </a:r>
            <a:r>
              <a:rPr lang="zh-CN" altLang="zh-CN" dirty="0"/>
              <a:t>那么删除哪条边呢？显然取环中的最大权值边（不与</a:t>
            </a:r>
            <a:r>
              <a:rPr lang="en-US" altLang="zh-CN" dirty="0"/>
              <a:t>V</a:t>
            </a:r>
            <a:r>
              <a:rPr lang="en-US" altLang="zh-CN" baseline="-25000" dirty="0"/>
              <a:t>0</a:t>
            </a:r>
            <a:r>
              <a:rPr lang="zh-CN" altLang="zh-CN" dirty="0"/>
              <a:t>相关联），即为</a:t>
            </a:r>
            <a:r>
              <a:rPr lang="en-US" altLang="zh-CN" dirty="0"/>
              <a:t>2</a:t>
            </a:r>
            <a:r>
              <a:rPr lang="zh-CN" altLang="zh-CN" dirty="0"/>
              <a:t>度限制最小生成树，如图</a:t>
            </a:r>
            <a:endParaRPr lang="zh-CN" altLang="en-US"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1950048" y="1358046"/>
            <a:ext cx="4794830" cy="2412676"/>
          </a:xfrm>
          <a:prstGeom prst="rect">
            <a:avLst/>
          </a:prstGeom>
          <a:noFill/>
          <a:ln>
            <a:noFill/>
          </a:ln>
        </p:spPr>
      </p:pic>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9082726" cy="2092881"/>
          </a:xfrm>
          <a:prstGeom prst="rect">
            <a:avLst/>
          </a:prstGeom>
        </p:spPr>
        <p:txBody>
          <a:bodyPr wrap="square">
            <a:spAutoFit/>
          </a:bodyPr>
          <a:lstStyle/>
          <a:p>
            <a:r>
              <a:rPr lang="en-US" altLang="zh-CN" dirty="0"/>
              <a:t>   </a:t>
            </a:r>
            <a:r>
              <a:rPr lang="zh-CN" altLang="zh-CN" dirty="0"/>
              <a:t>由此可看出，求解</a:t>
            </a:r>
            <a:r>
              <a:rPr lang="en-US" altLang="zh-CN" i="1" dirty="0"/>
              <a:t>k</a:t>
            </a:r>
            <a:r>
              <a:rPr lang="zh-CN" altLang="zh-CN" dirty="0"/>
              <a:t>度限制最小生成树的关键步骤如下。</a:t>
            </a:r>
          </a:p>
          <a:p>
            <a:r>
              <a:rPr lang="zh-CN" altLang="zh-CN" dirty="0"/>
              <a:t>（</a:t>
            </a:r>
            <a:r>
              <a:rPr lang="en-US" altLang="zh-CN" dirty="0"/>
              <a:t>1</a:t>
            </a:r>
            <a:r>
              <a:rPr lang="zh-CN" altLang="zh-CN" dirty="0"/>
              <a:t>）增加一条从</a:t>
            </a:r>
            <a:r>
              <a:rPr lang="en-US" altLang="zh-CN" i="1" dirty="0"/>
              <a:t>V</a:t>
            </a:r>
            <a:r>
              <a:rPr lang="en-US" altLang="zh-CN" baseline="-25000" dirty="0"/>
              <a:t>0</a:t>
            </a:r>
            <a:r>
              <a:rPr lang="zh-CN" altLang="zh-CN" dirty="0"/>
              <a:t>出发的边，记作</a:t>
            </a:r>
            <a:r>
              <a:rPr lang="en-US" altLang="zh-CN" dirty="0"/>
              <a:t>(</a:t>
            </a:r>
            <a:r>
              <a:rPr lang="en-US" altLang="zh-CN" i="1" dirty="0"/>
              <a:t>V</a:t>
            </a:r>
            <a:r>
              <a:rPr lang="en-US" altLang="zh-CN" baseline="-25000" dirty="0"/>
              <a:t>0</a:t>
            </a:r>
            <a:r>
              <a:rPr lang="en-US" altLang="zh-CN" dirty="0"/>
              <a:t>,</a:t>
            </a:r>
            <a:r>
              <a:rPr lang="en-US" altLang="zh-CN" i="1" dirty="0"/>
              <a:t>i</a:t>
            </a:r>
            <a:r>
              <a:rPr lang="en-US" altLang="zh-CN" dirty="0"/>
              <a:t>)</a:t>
            </a:r>
            <a:r>
              <a:rPr lang="zh-CN" altLang="zh-CN" dirty="0"/>
              <a:t>。</a:t>
            </a:r>
          </a:p>
          <a:p>
            <a:r>
              <a:rPr lang="zh-CN" altLang="zh-CN" dirty="0"/>
              <a:t>（</a:t>
            </a:r>
            <a:r>
              <a:rPr lang="en-US" altLang="zh-CN" dirty="0"/>
              <a:t>2</a:t>
            </a:r>
            <a:r>
              <a:rPr lang="zh-CN" altLang="zh-CN" dirty="0"/>
              <a:t>）删除环中的最大边</a:t>
            </a:r>
            <a:r>
              <a:rPr lang="en-US" altLang="zh-CN" dirty="0"/>
              <a:t>(</a:t>
            </a:r>
            <a:r>
              <a:rPr lang="en-US" altLang="zh-CN" i="1" dirty="0" err="1"/>
              <a:t>a</a:t>
            </a:r>
            <a:r>
              <a:rPr lang="en-US" altLang="zh-CN" dirty="0" err="1"/>
              <a:t>,</a:t>
            </a:r>
            <a:r>
              <a:rPr lang="en-US" altLang="zh-CN" i="1" dirty="0" err="1"/>
              <a:t>b</a:t>
            </a:r>
            <a:r>
              <a:rPr lang="en-US" altLang="zh-CN" dirty="0"/>
              <a:t>)</a:t>
            </a:r>
            <a:r>
              <a:rPr lang="zh-CN" altLang="zh-CN" dirty="0"/>
              <a:t>。</a:t>
            </a:r>
          </a:p>
          <a:p>
            <a:r>
              <a:rPr lang="zh-CN" altLang="zh-CN" dirty="0"/>
              <a:t>（</a:t>
            </a:r>
            <a:r>
              <a:rPr lang="en-US" altLang="zh-CN" dirty="0"/>
              <a:t>3</a:t>
            </a:r>
            <a:r>
              <a:rPr lang="zh-CN" altLang="zh-CN" dirty="0"/>
              <a:t>）则</a:t>
            </a:r>
            <a:r>
              <a:rPr lang="en-US" altLang="zh-CN" dirty="0"/>
              <a:t>tree[</a:t>
            </a:r>
            <a:r>
              <a:rPr lang="en-US" altLang="zh-CN" i="1" dirty="0"/>
              <a:t>k</a:t>
            </a:r>
            <a:r>
              <a:rPr lang="zh-CN" altLang="zh-CN" dirty="0"/>
              <a:t>＋</a:t>
            </a:r>
            <a:r>
              <a:rPr lang="en-US" altLang="zh-CN" dirty="0"/>
              <a:t>1]</a:t>
            </a:r>
            <a:r>
              <a:rPr lang="zh-CN" altLang="zh-CN" dirty="0"/>
              <a:t>＝</a:t>
            </a:r>
            <a:r>
              <a:rPr lang="en-US" altLang="zh-CN" dirty="0"/>
              <a:t>tree[</a:t>
            </a:r>
            <a:r>
              <a:rPr lang="en-US" altLang="zh-CN" i="1" dirty="0"/>
              <a:t>k</a:t>
            </a:r>
            <a:r>
              <a:rPr lang="en-US" altLang="zh-CN" dirty="0"/>
              <a:t>]</a:t>
            </a:r>
            <a:r>
              <a:rPr lang="zh-CN" altLang="zh-CN" dirty="0"/>
              <a:t>＋</a:t>
            </a:r>
            <a:r>
              <a:rPr lang="en-US" altLang="zh-CN" dirty="0"/>
              <a:t>cost[V</a:t>
            </a:r>
            <a:r>
              <a:rPr lang="en-US" altLang="zh-CN" baseline="-25000" dirty="0"/>
              <a:t>0</a:t>
            </a:r>
            <a:r>
              <a:rPr lang="en-US" altLang="zh-CN" dirty="0"/>
              <a:t>,i]</a:t>
            </a:r>
            <a:r>
              <a:rPr lang="zh-CN" altLang="zh-CN" dirty="0"/>
              <a:t>－</a:t>
            </a:r>
            <a:r>
              <a:rPr lang="en-US" altLang="zh-CN" dirty="0"/>
              <a:t>cost[</a:t>
            </a:r>
            <a:r>
              <a:rPr lang="en-US" altLang="zh-CN" dirty="0" err="1"/>
              <a:t>a,b</a:t>
            </a:r>
            <a:r>
              <a:rPr lang="en-US" altLang="zh-CN" dirty="0"/>
              <a:t>]</a:t>
            </a:r>
            <a:r>
              <a:rPr lang="zh-CN" altLang="zh-CN" dirty="0"/>
              <a:t>。该操作称为差额最小添删操作。</a:t>
            </a:r>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2640396" y="2214019"/>
            <a:ext cx="3053394" cy="2782187"/>
          </a:xfrm>
          <a:prstGeom prst="rect">
            <a:avLst/>
          </a:prstGeom>
          <a:noFill/>
          <a:ln>
            <a:noFill/>
          </a:ln>
        </p:spPr>
      </p:pic>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334997"/>
            <a:ext cx="9082726" cy="3539430"/>
          </a:xfrm>
          <a:prstGeom prst="rect">
            <a:avLst/>
          </a:prstGeom>
        </p:spPr>
        <p:txBody>
          <a:bodyPr wrap="square">
            <a:spAutoFit/>
          </a:bodyPr>
          <a:lstStyle/>
          <a:p>
            <a:pPr indent="276225" algn="just">
              <a:spcAft>
                <a:spcPts val="0"/>
              </a:spcAft>
            </a:pPr>
            <a:r>
              <a:rPr lang="zh-CN" altLang="zh-CN" sz="2800" kern="100" dirty="0">
                <a:latin typeface="Times New Roman" panose="02020603050405020304"/>
                <a:ea typeface="宋体" panose="02010600030101010101" pitchFamily="2" charset="-122"/>
              </a:rPr>
              <a:t>该算法流程中，最大的瓶颈在于找环中的边权最大值，我们需要使用动态规划进行预处理：</a:t>
            </a:r>
            <a:endParaRPr lang="zh-CN" altLang="zh-CN" sz="2400" kern="100" dirty="0">
              <a:latin typeface="Times New Roman" panose="02020603050405020304"/>
              <a:ea typeface="宋体" panose="02010600030101010101" pitchFamily="2" charset="-122"/>
            </a:endParaRPr>
          </a:p>
          <a:p>
            <a:pPr indent="276225" algn="just">
              <a:spcAft>
                <a:spcPts val="0"/>
              </a:spcAft>
            </a:pPr>
            <a:r>
              <a:rPr lang="zh-CN" altLang="zh-CN" sz="2800" kern="100" dirty="0">
                <a:latin typeface="Times New Roman" panose="02020603050405020304"/>
                <a:ea typeface="宋体" panose="02010600030101010101" pitchFamily="2" charset="-122"/>
              </a:rPr>
              <a:t>设</a:t>
            </a:r>
            <a:r>
              <a:rPr lang="en-US" altLang="zh-CN" sz="2800" kern="100" dirty="0">
                <a:latin typeface="Times New Roman" panose="02020603050405020304"/>
                <a:ea typeface="宋体" panose="02010600030101010101" pitchFamily="2" charset="-122"/>
              </a:rPr>
              <a:t>best[</a:t>
            </a:r>
            <a:r>
              <a:rPr lang="en-US" altLang="zh-CN" sz="2800" kern="100" dirty="0" err="1">
                <a:latin typeface="Times New Roman" panose="02020603050405020304"/>
                <a:ea typeface="宋体" panose="02010600030101010101" pitchFamily="2" charset="-122"/>
              </a:rPr>
              <a:t>i</a:t>
            </a:r>
            <a:r>
              <a:rPr lang="en-US" altLang="zh-CN" sz="2800" kern="100" dirty="0">
                <a:latin typeface="Times New Roman" panose="02020603050405020304"/>
                <a:ea typeface="宋体" panose="02010600030101010101" pitchFamily="2" charset="-122"/>
              </a:rPr>
              <a:t>]</a:t>
            </a:r>
            <a:r>
              <a:rPr lang="zh-CN" altLang="zh-CN" sz="2800" kern="100" dirty="0">
                <a:latin typeface="Times New Roman" panose="02020603050405020304"/>
                <a:ea typeface="宋体" panose="02010600030101010101" pitchFamily="2" charset="-122"/>
              </a:rPr>
              <a:t>为</a:t>
            </a:r>
            <a:r>
              <a:rPr lang="en-US" altLang="zh-CN" sz="2800" i="1" kern="100" dirty="0">
                <a:latin typeface="Times New Roman" panose="02020603050405020304"/>
                <a:ea typeface="宋体" panose="02010600030101010101" pitchFamily="2" charset="-122"/>
              </a:rPr>
              <a:t>V</a:t>
            </a:r>
            <a:r>
              <a:rPr lang="en-US" altLang="zh-CN" sz="2800" kern="100" baseline="-25000" dirty="0">
                <a:latin typeface="Times New Roman" panose="02020603050405020304"/>
                <a:ea typeface="宋体" panose="02010600030101010101" pitchFamily="2" charset="-122"/>
              </a:rPr>
              <a:t>0</a:t>
            </a:r>
            <a:r>
              <a:rPr lang="zh-CN" altLang="zh-CN" sz="2800" kern="100" dirty="0">
                <a:latin typeface="Times New Roman" panose="02020603050405020304"/>
                <a:ea typeface="宋体" panose="02010600030101010101" pitchFamily="2" charset="-122"/>
              </a:rPr>
              <a:t>到</a:t>
            </a:r>
            <a:r>
              <a:rPr lang="en-US" altLang="zh-CN" sz="2800" i="1" kern="100" dirty="0" err="1">
                <a:latin typeface="Times New Roman" panose="02020603050405020304"/>
                <a:ea typeface="宋体" panose="02010600030101010101" pitchFamily="2" charset="-122"/>
              </a:rPr>
              <a:t>i</a:t>
            </a:r>
            <a:r>
              <a:rPr lang="zh-CN" altLang="zh-CN" sz="2800" kern="100" dirty="0">
                <a:latin typeface="Times New Roman" panose="02020603050405020304"/>
                <a:ea typeface="宋体" panose="02010600030101010101" pitchFamily="2" charset="-122"/>
              </a:rPr>
              <a:t>路径上与</a:t>
            </a:r>
            <a:r>
              <a:rPr lang="en-US" altLang="zh-CN" sz="2800" i="1" kern="100" dirty="0">
                <a:latin typeface="Times New Roman" panose="02020603050405020304"/>
                <a:ea typeface="宋体" panose="02010600030101010101" pitchFamily="2" charset="-122"/>
              </a:rPr>
              <a:t>V</a:t>
            </a:r>
            <a:r>
              <a:rPr lang="en-US" altLang="zh-CN" sz="2800" kern="100" baseline="-25000" dirty="0">
                <a:latin typeface="Times New Roman" panose="02020603050405020304"/>
                <a:ea typeface="宋体" panose="02010600030101010101" pitchFamily="2" charset="-122"/>
              </a:rPr>
              <a:t>0</a:t>
            </a:r>
            <a:r>
              <a:rPr lang="zh-CN" altLang="zh-CN" sz="2800" kern="100" dirty="0">
                <a:latin typeface="Times New Roman" panose="02020603050405020304"/>
                <a:ea typeface="宋体" panose="02010600030101010101" pitchFamily="2" charset="-122"/>
              </a:rPr>
              <a:t>无关联边权的最大值，则状态转移方程为：</a:t>
            </a:r>
            <a:r>
              <a:rPr lang="en-US" altLang="zh-CN" sz="2800" kern="100" dirty="0">
                <a:latin typeface="Times New Roman" panose="02020603050405020304"/>
                <a:ea typeface="宋体" panose="02010600030101010101" pitchFamily="2" charset="-122"/>
              </a:rPr>
              <a:t>best[</a:t>
            </a:r>
            <a:r>
              <a:rPr lang="en-US" altLang="zh-CN" sz="2800" kern="100" dirty="0" err="1">
                <a:latin typeface="Times New Roman" panose="02020603050405020304"/>
                <a:ea typeface="宋体" panose="02010600030101010101" pitchFamily="2" charset="-122"/>
              </a:rPr>
              <a:t>i</a:t>
            </a:r>
            <a:r>
              <a:rPr lang="en-US" altLang="zh-CN" sz="2800" kern="100" dirty="0">
                <a:latin typeface="Times New Roman" panose="02020603050405020304"/>
                <a:ea typeface="宋体" panose="02010600030101010101" pitchFamily="2" charset="-122"/>
              </a:rPr>
              <a:t>]</a:t>
            </a:r>
            <a:r>
              <a:rPr lang="zh-CN" altLang="zh-CN" sz="2800" kern="100" dirty="0">
                <a:latin typeface="Times New Roman" panose="02020603050405020304"/>
                <a:ea typeface="宋体" panose="02010600030101010101" pitchFamily="2" charset="-122"/>
              </a:rPr>
              <a:t>＝</a:t>
            </a:r>
            <a:r>
              <a:rPr lang="en-US" altLang="zh-CN" sz="2800" kern="100" dirty="0">
                <a:latin typeface="Times New Roman" panose="02020603050405020304"/>
                <a:ea typeface="宋体" panose="02010600030101010101" pitchFamily="2" charset="-122"/>
              </a:rPr>
              <a:t>max{best[pre[</a:t>
            </a:r>
            <a:r>
              <a:rPr lang="en-US" altLang="zh-CN" sz="2800" kern="100" dirty="0" err="1">
                <a:latin typeface="Times New Roman" panose="02020603050405020304"/>
                <a:ea typeface="宋体" panose="02010600030101010101" pitchFamily="2" charset="-122"/>
              </a:rPr>
              <a:t>i</a:t>
            </a:r>
            <a:r>
              <a:rPr lang="en-US" altLang="zh-CN" sz="2800" kern="100" dirty="0">
                <a:latin typeface="Times New Roman" panose="02020603050405020304"/>
                <a:ea typeface="宋体" panose="02010600030101010101" pitchFamily="2" charset="-122"/>
              </a:rPr>
              <a:t>]]</a:t>
            </a:r>
            <a:r>
              <a:rPr lang="zh-CN" altLang="zh-CN" sz="2800" kern="100" dirty="0">
                <a:latin typeface="Times New Roman" panose="02020603050405020304"/>
                <a:ea typeface="宋体" panose="02010600030101010101" pitchFamily="2" charset="-122"/>
              </a:rPr>
              <a:t>，</a:t>
            </a:r>
            <a:r>
              <a:rPr lang="en-US" altLang="zh-CN" sz="2800" kern="100" dirty="0">
                <a:latin typeface="Times New Roman" panose="02020603050405020304"/>
                <a:ea typeface="宋体" panose="02010600030101010101" pitchFamily="2" charset="-122"/>
              </a:rPr>
              <a:t>g[pre[</a:t>
            </a:r>
            <a:r>
              <a:rPr lang="en-US" altLang="zh-CN" sz="2800" kern="100" dirty="0" err="1">
                <a:latin typeface="Times New Roman" panose="02020603050405020304"/>
                <a:ea typeface="宋体" panose="02010600030101010101" pitchFamily="2" charset="-122"/>
              </a:rPr>
              <a:t>i</a:t>
            </a:r>
            <a:r>
              <a:rPr lang="en-US" altLang="zh-CN" sz="2800" kern="100" dirty="0">
                <a:latin typeface="Times New Roman" panose="02020603050405020304"/>
                <a:ea typeface="宋体" panose="02010600030101010101" pitchFamily="2" charset="-122"/>
              </a:rPr>
              <a:t>]][</a:t>
            </a:r>
            <a:r>
              <a:rPr lang="en-US" altLang="zh-CN" sz="2800" kern="100" dirty="0" err="1">
                <a:latin typeface="Times New Roman" panose="02020603050405020304"/>
                <a:ea typeface="宋体" panose="02010600030101010101" pitchFamily="2" charset="-122"/>
              </a:rPr>
              <a:t>i</a:t>
            </a:r>
            <a:r>
              <a:rPr lang="en-US" altLang="zh-CN" sz="2800" kern="100" dirty="0">
                <a:latin typeface="Times New Roman" panose="02020603050405020304"/>
                <a:ea typeface="宋体" panose="02010600030101010101" pitchFamily="2" charset="-122"/>
              </a:rPr>
              <a:t>]}</a:t>
            </a:r>
            <a:r>
              <a:rPr lang="zh-CN" altLang="zh-CN" sz="2800" kern="100" dirty="0">
                <a:latin typeface="Times New Roman" panose="02020603050405020304"/>
                <a:ea typeface="宋体" panose="02010600030101010101" pitchFamily="2" charset="-122"/>
              </a:rPr>
              <a:t>，其中</a:t>
            </a:r>
            <a:r>
              <a:rPr lang="en-US" altLang="zh-CN" sz="2800" kern="100" dirty="0">
                <a:latin typeface="Times New Roman" panose="02020603050405020304"/>
                <a:ea typeface="宋体" panose="02010600030101010101" pitchFamily="2" charset="-122"/>
              </a:rPr>
              <a:t>pre[</a:t>
            </a:r>
            <a:r>
              <a:rPr lang="en-US" altLang="zh-CN" sz="2800" kern="100" dirty="0" err="1">
                <a:latin typeface="Times New Roman" panose="02020603050405020304"/>
                <a:ea typeface="宋体" panose="02010600030101010101" pitchFamily="2" charset="-122"/>
              </a:rPr>
              <a:t>i</a:t>
            </a:r>
            <a:r>
              <a:rPr lang="en-US" altLang="zh-CN" sz="2800" kern="100" dirty="0">
                <a:latin typeface="Times New Roman" panose="02020603050405020304"/>
                <a:ea typeface="宋体" panose="02010600030101010101" pitchFamily="2" charset="-122"/>
              </a:rPr>
              <a:t>]</a:t>
            </a:r>
            <a:r>
              <a:rPr lang="zh-CN" altLang="zh-CN" sz="2800" kern="100" dirty="0">
                <a:latin typeface="Times New Roman" panose="02020603050405020304"/>
                <a:ea typeface="宋体" panose="02010600030101010101" pitchFamily="2" charset="-122"/>
              </a:rPr>
              <a:t>为</a:t>
            </a:r>
            <a:r>
              <a:rPr lang="en-US" altLang="zh-CN" sz="2800" i="1" kern="100" dirty="0" err="1">
                <a:latin typeface="Times New Roman" panose="02020603050405020304"/>
                <a:ea typeface="宋体" panose="02010600030101010101" pitchFamily="2" charset="-122"/>
              </a:rPr>
              <a:t>i</a:t>
            </a:r>
            <a:r>
              <a:rPr lang="zh-CN" altLang="zh-CN" sz="2800" kern="100" dirty="0">
                <a:latin typeface="Times New Roman" panose="02020603050405020304"/>
                <a:ea typeface="宋体" panose="02010600030101010101" pitchFamily="2" charset="-122"/>
              </a:rPr>
              <a:t>的前驱，可以将图看做以</a:t>
            </a:r>
            <a:r>
              <a:rPr lang="en-US" altLang="zh-CN" sz="2800" i="1" kern="100" dirty="0">
                <a:latin typeface="Times New Roman" panose="02020603050405020304"/>
                <a:ea typeface="宋体" panose="02010600030101010101" pitchFamily="2" charset="-122"/>
              </a:rPr>
              <a:t>V</a:t>
            </a:r>
            <a:r>
              <a:rPr lang="en-US" altLang="zh-CN" sz="2800" kern="100" baseline="-25000" dirty="0">
                <a:latin typeface="Times New Roman" panose="02020603050405020304"/>
                <a:ea typeface="宋体" panose="02010600030101010101" pitchFamily="2" charset="-122"/>
              </a:rPr>
              <a:t>0</a:t>
            </a:r>
            <a:r>
              <a:rPr lang="zh-CN" altLang="zh-CN" sz="2800" kern="100" dirty="0">
                <a:latin typeface="Times New Roman" panose="02020603050405020304"/>
                <a:ea typeface="宋体" panose="02010600030101010101" pitchFamily="2" charset="-122"/>
              </a:rPr>
              <a:t>为根的一棵树，那么维护的时间为</a:t>
            </a:r>
            <a:r>
              <a:rPr lang="en-US" altLang="zh-CN" sz="2800" i="1" kern="100" dirty="0">
                <a:latin typeface="Times New Roman" panose="02020603050405020304"/>
                <a:ea typeface="宋体" panose="02010600030101010101" pitchFamily="2" charset="-122"/>
              </a:rPr>
              <a:t>O</a:t>
            </a:r>
            <a:r>
              <a:rPr lang="en-US" altLang="zh-CN" sz="2800" kern="100" dirty="0">
                <a:latin typeface="Times New Roman" panose="02020603050405020304"/>
                <a:ea typeface="宋体" panose="02010600030101010101" pitchFamily="2" charset="-122"/>
              </a:rPr>
              <a:t>(</a:t>
            </a:r>
            <a:r>
              <a:rPr lang="en-US" altLang="zh-CN" sz="2800" i="1" kern="100" dirty="0">
                <a:latin typeface="Times New Roman" panose="02020603050405020304"/>
                <a:ea typeface="宋体" panose="02010600030101010101" pitchFamily="2" charset="-122"/>
              </a:rPr>
              <a:t>E</a:t>
            </a:r>
            <a:r>
              <a:rPr lang="en-US" altLang="zh-CN" sz="2800" kern="100" dirty="0">
                <a:latin typeface="Times New Roman" panose="02020603050405020304"/>
                <a:ea typeface="宋体" panose="02010600030101010101" pitchFamily="2" charset="-122"/>
              </a:rPr>
              <a:t>)</a:t>
            </a:r>
            <a:r>
              <a:rPr lang="zh-CN" altLang="zh-CN" sz="2800" kern="100" dirty="0">
                <a:latin typeface="Times New Roman" panose="02020603050405020304"/>
                <a:ea typeface="宋体" panose="02010600030101010101" pitchFamily="2" charset="-122"/>
              </a:rPr>
              <a:t>，</a:t>
            </a:r>
            <a:r>
              <a:rPr lang="zh-CN" altLang="zh-CN" sz="2800" i="1" kern="100" dirty="0">
                <a:latin typeface="Times New Roman" panose="02020603050405020304"/>
                <a:ea typeface="宋体" panose="02010600030101010101" pitchFamily="2" charset="-122"/>
              </a:rPr>
              <a:t>Ｅ</a:t>
            </a:r>
            <a:r>
              <a:rPr lang="zh-CN" altLang="zh-CN" sz="2800" kern="100" dirty="0">
                <a:latin typeface="Times New Roman" panose="02020603050405020304"/>
                <a:ea typeface="宋体" panose="02010600030101010101" pitchFamily="2" charset="-122"/>
              </a:rPr>
              <a:t>为边数。边界条件为</a:t>
            </a:r>
            <a:r>
              <a:rPr lang="en-US" altLang="zh-CN" sz="2800" kern="100" dirty="0">
                <a:latin typeface="Times New Roman" panose="02020603050405020304"/>
                <a:ea typeface="宋体" panose="02010600030101010101" pitchFamily="2" charset="-122"/>
              </a:rPr>
              <a:t> best[V</a:t>
            </a:r>
            <a:r>
              <a:rPr lang="en-US" altLang="zh-CN" sz="2800" kern="100" baseline="-25000" dirty="0">
                <a:latin typeface="Times New Roman" panose="02020603050405020304"/>
                <a:ea typeface="宋体" panose="02010600030101010101" pitchFamily="2" charset="-122"/>
              </a:rPr>
              <a:t>0</a:t>
            </a:r>
            <a:r>
              <a:rPr lang="en-US" altLang="zh-CN" sz="2800" kern="100" dirty="0">
                <a:latin typeface="Times New Roman" panose="02020603050405020304"/>
                <a:ea typeface="宋体" panose="02010600030101010101" pitchFamily="2" charset="-122"/>
              </a:rPr>
              <a:t>]</a:t>
            </a:r>
            <a:r>
              <a:rPr lang="zh-CN" altLang="zh-CN" sz="2800" kern="100" dirty="0">
                <a:latin typeface="Times New Roman" panose="02020603050405020304"/>
                <a:ea typeface="宋体" panose="02010600030101010101" pitchFamily="2" charset="-122"/>
              </a:rPr>
              <a:t>＝－∞，</a:t>
            </a:r>
            <a:r>
              <a:rPr lang="en-US" altLang="zh-CN" sz="2800" kern="100" dirty="0">
                <a:latin typeface="Times New Roman" panose="02020603050405020304"/>
                <a:ea typeface="宋体" panose="02010600030101010101" pitchFamily="2" charset="-122"/>
              </a:rPr>
              <a:t>best[V</a:t>
            </a:r>
            <a:r>
              <a:rPr lang="en-US" altLang="zh-CN" sz="2800" kern="100" dirty="0">
                <a:ea typeface="宋体" panose="02010600030101010101" pitchFamily="2" charset="-122"/>
                <a:cs typeface="Times New Roman" panose="02020603050405020304"/>
              </a:rPr>
              <a:t>’</a:t>
            </a:r>
            <a:r>
              <a:rPr lang="en-US" altLang="zh-CN" sz="2800" kern="100" dirty="0">
                <a:latin typeface="Times New Roman" panose="02020603050405020304"/>
                <a:ea typeface="宋体" panose="02010600030101010101" pitchFamily="2" charset="-122"/>
              </a:rPr>
              <a:t>]</a:t>
            </a:r>
            <a:r>
              <a:rPr lang="zh-CN" altLang="zh-CN" sz="2800" kern="100" dirty="0">
                <a:latin typeface="Times New Roman" panose="02020603050405020304"/>
                <a:ea typeface="宋体" panose="02010600030101010101" pitchFamily="2" charset="-122"/>
              </a:rPr>
              <a:t>＝－∞</a:t>
            </a:r>
            <a:r>
              <a:rPr lang="en-US" altLang="zh-CN" sz="2800" kern="100" dirty="0">
                <a:latin typeface="Times New Roman" panose="02020603050405020304"/>
                <a:ea typeface="宋体" panose="02010600030101010101" pitchFamily="2" charset="-122"/>
              </a:rPr>
              <a:t>| (V</a:t>
            </a:r>
            <a:r>
              <a:rPr lang="en-US" altLang="zh-CN" sz="2800" kern="100" baseline="-25000" dirty="0">
                <a:latin typeface="Times New Roman" panose="02020603050405020304"/>
                <a:ea typeface="宋体" panose="02010600030101010101" pitchFamily="2" charset="-122"/>
              </a:rPr>
              <a:t>0</a:t>
            </a:r>
            <a:r>
              <a:rPr lang="zh-CN" altLang="zh-CN" sz="2800" kern="100" dirty="0">
                <a:latin typeface="Times New Roman" panose="02020603050405020304"/>
                <a:ea typeface="宋体" panose="02010600030101010101" pitchFamily="2" charset="-122"/>
              </a:rPr>
              <a:t>，</a:t>
            </a:r>
            <a:r>
              <a:rPr lang="en-US" altLang="zh-CN" sz="2800" kern="100" dirty="0">
                <a:latin typeface="Times New Roman" panose="02020603050405020304"/>
                <a:ea typeface="宋体" panose="02010600030101010101" pitchFamily="2" charset="-122"/>
              </a:rPr>
              <a:t>V</a:t>
            </a:r>
            <a:r>
              <a:rPr lang="en-US" altLang="zh-CN" sz="2800" kern="100" dirty="0">
                <a:ea typeface="宋体" panose="02010600030101010101" pitchFamily="2" charset="-122"/>
                <a:cs typeface="Times New Roman" panose="02020603050405020304"/>
              </a:rPr>
              <a:t>’</a:t>
            </a:r>
            <a:r>
              <a:rPr lang="en-US" altLang="zh-CN" sz="2800" kern="100" dirty="0">
                <a:latin typeface="Times New Roman" panose="02020603050405020304"/>
                <a:ea typeface="宋体" panose="02010600030101010101" pitchFamily="2" charset="-122"/>
              </a:rPr>
              <a:t>)</a:t>
            </a:r>
            <a:r>
              <a:rPr lang="zh-CN" altLang="zh-CN" sz="2800" kern="100" dirty="0">
                <a:latin typeface="Times New Roman" panose="02020603050405020304"/>
                <a:ea typeface="宋体" panose="02010600030101010101" pitchFamily="2" charset="-122"/>
              </a:rPr>
              <a:t>∈</a:t>
            </a:r>
            <a:r>
              <a:rPr lang="en-US" altLang="zh-CN" sz="2800" kern="100" dirty="0">
                <a:latin typeface="Times New Roman" panose="02020603050405020304"/>
                <a:ea typeface="宋体" panose="02010600030101010101" pitchFamily="2" charset="-122"/>
              </a:rPr>
              <a:t>E(T)</a:t>
            </a:r>
            <a:r>
              <a:rPr lang="zh-CN" altLang="zh-CN" sz="2800" kern="100" dirty="0">
                <a:latin typeface="Times New Roman" panose="02020603050405020304"/>
                <a:ea typeface="宋体" panose="02010600030101010101" pitchFamily="2" charset="-122"/>
              </a:rPr>
              <a:t>。</a:t>
            </a:r>
            <a:endParaRPr lang="zh-CN" altLang="zh-CN" sz="2400" kern="100" dirty="0">
              <a:latin typeface="Times New Roman" panose="02020603050405020304"/>
              <a:ea typeface="宋体" panose="02010600030101010101" pitchFamily="2" charset="-122"/>
            </a:endParaRPr>
          </a:p>
          <a:p>
            <a:pPr indent="276225" algn="just">
              <a:spcAft>
                <a:spcPts val="0"/>
              </a:spcAft>
            </a:pPr>
            <a:r>
              <a:rPr lang="zh-CN" altLang="zh-CN" sz="2800" kern="100" dirty="0">
                <a:latin typeface="Times New Roman" panose="02020603050405020304"/>
                <a:ea typeface="宋体" panose="02010600030101010101" pitchFamily="2" charset="-122"/>
              </a:rPr>
              <a:t>算法总时间复杂度为</a:t>
            </a:r>
            <a:r>
              <a:rPr lang="en-US" altLang="zh-CN" sz="2800" i="1" kern="100" dirty="0">
                <a:latin typeface="Times New Roman" panose="02020603050405020304"/>
                <a:ea typeface="宋体" panose="02010600030101010101" pitchFamily="2" charset="-122"/>
              </a:rPr>
              <a:t>O</a:t>
            </a:r>
            <a:r>
              <a:rPr lang="en-US" altLang="zh-CN" sz="2800" kern="100" dirty="0">
                <a:latin typeface="Times New Roman" panose="02020603050405020304"/>
                <a:ea typeface="宋体" panose="02010600030101010101" pitchFamily="2" charset="-122"/>
              </a:rPr>
              <a:t>(</a:t>
            </a:r>
            <a:r>
              <a:rPr lang="en-US" altLang="zh-CN" sz="2800" i="1" kern="100" dirty="0">
                <a:latin typeface="Times New Roman" panose="02020603050405020304"/>
                <a:ea typeface="宋体" panose="02010600030101010101" pitchFamily="2" charset="-122"/>
              </a:rPr>
              <a:t>n</a:t>
            </a:r>
            <a:r>
              <a:rPr lang="en-US" altLang="zh-CN" sz="2800" kern="100" baseline="30000" dirty="0">
                <a:latin typeface="Times New Roman" panose="02020603050405020304"/>
                <a:ea typeface="宋体" panose="02010600030101010101" pitchFamily="2" charset="-122"/>
              </a:rPr>
              <a:t>2</a:t>
            </a:r>
            <a:r>
              <a:rPr lang="zh-CN" altLang="zh-CN" sz="2800" kern="100" dirty="0">
                <a:latin typeface="Times New Roman" panose="02020603050405020304"/>
                <a:ea typeface="宋体" panose="02010600030101010101" pitchFamily="2" charset="-122"/>
              </a:rPr>
              <a:t>＋</a:t>
            </a:r>
            <a:r>
              <a:rPr lang="en-US" altLang="zh-CN" sz="2800" i="1" kern="100" dirty="0">
                <a:latin typeface="Times New Roman" panose="02020603050405020304"/>
                <a:ea typeface="宋体" panose="02010600030101010101" pitchFamily="2" charset="-122"/>
              </a:rPr>
              <a:t>k</a:t>
            </a:r>
            <a:r>
              <a:rPr lang="zh-CN" altLang="zh-CN" sz="2800" kern="100" dirty="0">
                <a:latin typeface="Times New Roman" panose="02020603050405020304"/>
                <a:ea typeface="宋体" panose="02010600030101010101" pitchFamily="2" charset="-122"/>
              </a:rPr>
              <a:t>×</a:t>
            </a:r>
            <a:r>
              <a:rPr lang="en-US" altLang="zh-CN" sz="2800" i="1" kern="100" dirty="0">
                <a:latin typeface="Times New Roman" panose="02020603050405020304"/>
                <a:ea typeface="宋体" panose="02010600030101010101" pitchFamily="2" charset="-122"/>
              </a:rPr>
              <a:t>E</a:t>
            </a:r>
            <a:r>
              <a:rPr lang="en-US" altLang="zh-CN" sz="2800" kern="100" dirty="0">
                <a:latin typeface="Times New Roman" panose="02020603050405020304"/>
                <a:ea typeface="宋体" panose="02010600030101010101" pitchFamily="2" charset="-122"/>
              </a:rPr>
              <a:t>)</a:t>
            </a:r>
            <a:r>
              <a:rPr lang="zh-CN" altLang="zh-CN" sz="2800" kern="100" dirty="0">
                <a:latin typeface="Times New Roman" panose="02020603050405020304"/>
                <a:ea typeface="宋体" panose="02010600030101010101" pitchFamily="2" charset="-122"/>
              </a:rPr>
              <a:t>，</a:t>
            </a:r>
            <a:r>
              <a:rPr lang="en-US" altLang="zh-CN" sz="2800" i="1" kern="100" dirty="0">
                <a:latin typeface="Times New Roman" panose="02020603050405020304"/>
                <a:ea typeface="宋体" panose="02010600030101010101" pitchFamily="2" charset="-122"/>
              </a:rPr>
              <a:t>n</a:t>
            </a:r>
            <a:r>
              <a:rPr lang="zh-CN" altLang="zh-CN" sz="2800" kern="100" dirty="0">
                <a:latin typeface="Times New Roman" panose="02020603050405020304"/>
                <a:ea typeface="宋体" panose="02010600030101010101" pitchFamily="2" charset="-122"/>
              </a:rPr>
              <a:t>为点数，</a:t>
            </a:r>
            <a:r>
              <a:rPr lang="zh-CN" altLang="zh-CN" sz="2800" i="1" kern="100" dirty="0">
                <a:latin typeface="Times New Roman" panose="02020603050405020304"/>
                <a:ea typeface="宋体" panose="02010600030101010101" pitchFamily="2" charset="-122"/>
              </a:rPr>
              <a:t>Ｅ</a:t>
            </a:r>
            <a:r>
              <a:rPr lang="zh-CN" altLang="zh-CN" sz="2800" kern="100" dirty="0">
                <a:latin typeface="Times New Roman" panose="02020603050405020304"/>
                <a:ea typeface="宋体" panose="02010600030101010101" pitchFamily="2" charset="-122"/>
              </a:rPr>
              <a:t>为边数。</a:t>
            </a:r>
            <a:endParaRPr lang="zh-CN" altLang="zh-CN" sz="2400" kern="100" dirty="0">
              <a:effectLst/>
              <a:latin typeface="Times New Roman" panose="02020603050405020304"/>
              <a:ea typeface="宋体" panose="02010600030101010101" pitchFamily="2" charset="-122"/>
            </a:endParaRP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3483" y="20675"/>
            <a:ext cx="2779928" cy="492443"/>
          </a:xfrm>
          <a:prstGeom prst="rect">
            <a:avLst/>
          </a:prstGeom>
        </p:spPr>
        <p:txBody>
          <a:bodyPr wrap="none">
            <a:spAutoFit/>
          </a:bodyPr>
          <a:lstStyle/>
          <a:p>
            <a:r>
              <a:rPr lang="en-US" altLang="zh-CN" b="1" dirty="0"/>
              <a:t>5.10.4 </a:t>
            </a:r>
            <a:r>
              <a:rPr lang="zh-CN" altLang="zh-CN" b="1" dirty="0"/>
              <a:t>最小树形图</a:t>
            </a:r>
          </a:p>
        </p:txBody>
      </p:sp>
      <p:sp>
        <p:nvSpPr>
          <p:cNvPr id="3" name="矩形 2"/>
          <p:cNvSpPr/>
          <p:nvPr/>
        </p:nvSpPr>
        <p:spPr>
          <a:xfrm>
            <a:off x="33483" y="610710"/>
            <a:ext cx="9144000" cy="4093428"/>
          </a:xfrm>
          <a:prstGeom prst="rect">
            <a:avLst/>
          </a:prstGeom>
        </p:spPr>
        <p:txBody>
          <a:bodyPr wrap="square">
            <a:spAutoFit/>
          </a:bodyPr>
          <a:lstStyle/>
          <a:p>
            <a:pPr algn="just">
              <a:spcAft>
                <a:spcPts val="0"/>
              </a:spcAft>
            </a:pPr>
            <a:r>
              <a:rPr lang="zh-CN" altLang="zh-CN" sz="2000" kern="100" dirty="0">
                <a:latin typeface="Times New Roman" panose="02020603050405020304"/>
                <a:ea typeface="宋体" panose="02010600030101010101" pitchFamily="2" charset="-122"/>
              </a:rPr>
              <a:t>【题目描述】战时通信（</a:t>
            </a:r>
            <a:r>
              <a:rPr lang="en-US" altLang="zh-CN" sz="2000" kern="100" dirty="0">
                <a:latin typeface="Times New Roman" panose="02020603050405020304"/>
                <a:ea typeface="宋体" panose="02010600030101010101" pitchFamily="2" charset="-122"/>
              </a:rPr>
              <a:t>Net</a:t>
            </a:r>
            <a:r>
              <a:rPr lang="zh-CN" altLang="zh-CN" sz="2000" kern="100" dirty="0">
                <a:latin typeface="Times New Roman" panose="02020603050405020304"/>
                <a:ea typeface="宋体" panose="02010600030101010101" pitchFamily="2" charset="-122"/>
              </a:rPr>
              <a:t>）</a:t>
            </a:r>
            <a:r>
              <a:rPr lang="en-US" altLang="zh-CN" sz="2000" kern="100" dirty="0">
                <a:latin typeface="Times New Roman" panose="02020603050405020304"/>
                <a:ea typeface="宋体" panose="02010600030101010101" pitchFamily="2" charset="-122"/>
              </a:rPr>
              <a:t>POJ 3164</a:t>
            </a:r>
            <a:endParaRPr lang="zh-CN" altLang="zh-CN" sz="1800" kern="100" dirty="0">
              <a:latin typeface="Times New Roman" panose="02020603050405020304"/>
              <a:ea typeface="宋体" panose="02010600030101010101" pitchFamily="2" charset="-122"/>
            </a:endParaRPr>
          </a:p>
          <a:p>
            <a:pPr indent="276225" algn="just">
              <a:spcAft>
                <a:spcPts val="0"/>
              </a:spcAft>
            </a:pPr>
            <a:r>
              <a:rPr lang="zh-CN" altLang="zh-CN" sz="2000" kern="100" dirty="0">
                <a:latin typeface="Times New Roman" panose="02020603050405020304"/>
                <a:ea typeface="宋体" panose="02010600030101010101" pitchFamily="2" charset="-122"/>
              </a:rPr>
              <a:t>战斗中，指挥官需要将命令通过传输网络下达到各作战单位，命令是单向传输的，不需要下面的作战单位向指挥官报告，现在给出各个作战单位的位置和可以建立连接的作战单位，问最少需要多少通信电缆？</a:t>
            </a:r>
            <a:endParaRPr lang="zh-CN" altLang="zh-CN" sz="1800" kern="100" dirty="0">
              <a:latin typeface="Times New Roman" panose="02020603050405020304"/>
              <a:ea typeface="宋体" panose="02010600030101010101" pitchFamily="2" charset="-122"/>
            </a:endParaRPr>
          </a:p>
          <a:p>
            <a:pPr algn="just">
              <a:spcAft>
                <a:spcPts val="0"/>
              </a:spcAft>
            </a:pPr>
            <a:r>
              <a:rPr lang="zh-CN" altLang="zh-CN" sz="2000" kern="100" dirty="0">
                <a:latin typeface="Times New Roman" panose="02020603050405020304"/>
                <a:ea typeface="宋体" panose="02010600030101010101" pitchFamily="2" charset="-122"/>
              </a:rPr>
              <a:t>【输入格式】</a:t>
            </a:r>
            <a:endParaRPr lang="zh-CN" altLang="zh-CN" sz="1800" kern="100" dirty="0">
              <a:latin typeface="Times New Roman" panose="02020603050405020304"/>
              <a:ea typeface="宋体" panose="02010600030101010101" pitchFamily="2" charset="-122"/>
            </a:endParaRPr>
          </a:p>
          <a:p>
            <a:pPr indent="276225" algn="just">
              <a:spcAft>
                <a:spcPts val="0"/>
              </a:spcAft>
            </a:pPr>
            <a:r>
              <a:rPr lang="zh-CN" altLang="zh-CN" sz="2000" kern="100" dirty="0">
                <a:latin typeface="Times New Roman" panose="02020603050405020304"/>
                <a:ea typeface="宋体" panose="02010600030101010101" pitchFamily="2" charset="-122"/>
              </a:rPr>
              <a:t>输入包含多组测试数据，每组测试数据的第一行包含两个整数</a:t>
            </a:r>
            <a:r>
              <a:rPr lang="en-US" altLang="zh-CN" sz="2000" i="1" kern="100" dirty="0">
                <a:latin typeface="Times New Roman" panose="02020603050405020304"/>
                <a:ea typeface="宋体" panose="02010600030101010101" pitchFamily="2" charset="-122"/>
              </a:rPr>
              <a:t>N</a:t>
            </a:r>
            <a:r>
              <a:rPr lang="zh-CN" altLang="zh-CN" sz="2000" kern="100" dirty="0">
                <a:latin typeface="Times New Roman" panose="02020603050405020304"/>
                <a:ea typeface="宋体" panose="02010600030101010101" pitchFamily="2" charset="-122"/>
              </a:rPr>
              <a:t>（</a:t>
            </a:r>
            <a:r>
              <a:rPr lang="en-US" altLang="zh-CN" sz="2000" i="1" kern="100" dirty="0">
                <a:latin typeface="Times New Roman" panose="02020603050405020304"/>
                <a:ea typeface="宋体" panose="02010600030101010101" pitchFamily="2" charset="-122"/>
              </a:rPr>
              <a:t>N</a:t>
            </a:r>
            <a:r>
              <a:rPr lang="zh-CN" altLang="zh-CN" sz="2000" kern="100" dirty="0">
                <a:latin typeface="Times New Roman" panose="02020603050405020304"/>
                <a:ea typeface="宋体" panose="02010600030101010101" pitchFamily="2" charset="-122"/>
              </a:rPr>
              <a:t>≤</a:t>
            </a:r>
            <a:r>
              <a:rPr lang="en-US" altLang="zh-CN" sz="2000" kern="100" dirty="0">
                <a:latin typeface="Times New Roman" panose="02020603050405020304"/>
                <a:ea typeface="宋体" panose="02010600030101010101" pitchFamily="2" charset="-122"/>
              </a:rPr>
              <a:t>100</a:t>
            </a:r>
            <a:r>
              <a:rPr lang="zh-CN" altLang="zh-CN" sz="2000" kern="100" dirty="0">
                <a:latin typeface="Times New Roman" panose="02020603050405020304"/>
                <a:ea typeface="宋体" panose="02010600030101010101" pitchFamily="2" charset="-122"/>
              </a:rPr>
              <a:t>，表示结点的个数）和</a:t>
            </a:r>
            <a:r>
              <a:rPr lang="en-US" altLang="zh-CN" sz="2000" i="1" kern="100" dirty="0">
                <a:latin typeface="Times New Roman" panose="02020603050405020304"/>
                <a:ea typeface="宋体" panose="02010600030101010101" pitchFamily="2" charset="-122"/>
              </a:rPr>
              <a:t>M</a:t>
            </a:r>
            <a:r>
              <a:rPr lang="zh-CN" altLang="zh-CN" sz="2000" kern="100" dirty="0">
                <a:latin typeface="Times New Roman" panose="02020603050405020304"/>
                <a:ea typeface="宋体" panose="02010600030101010101" pitchFamily="2" charset="-122"/>
              </a:rPr>
              <a:t>（</a:t>
            </a:r>
            <a:r>
              <a:rPr lang="en-US" altLang="zh-CN" sz="2000" i="1" kern="100" dirty="0">
                <a:latin typeface="Times New Roman" panose="02020603050405020304"/>
                <a:ea typeface="宋体" panose="02010600030101010101" pitchFamily="2" charset="-122"/>
              </a:rPr>
              <a:t>M</a:t>
            </a:r>
            <a:r>
              <a:rPr lang="zh-CN" altLang="zh-CN" sz="2000" kern="100" dirty="0">
                <a:latin typeface="Times New Roman" panose="02020603050405020304"/>
                <a:ea typeface="宋体" panose="02010600030101010101" pitchFamily="2" charset="-122"/>
              </a:rPr>
              <a:t>≤</a:t>
            </a:r>
            <a:r>
              <a:rPr lang="en-US" altLang="zh-CN" sz="2000" kern="100" dirty="0">
                <a:latin typeface="Times New Roman" panose="02020603050405020304"/>
                <a:ea typeface="宋体" panose="02010600030101010101" pitchFamily="2" charset="-122"/>
              </a:rPr>
              <a:t>10 000</a:t>
            </a:r>
            <a:r>
              <a:rPr lang="zh-CN" altLang="zh-CN" sz="2000" kern="100" dirty="0">
                <a:latin typeface="Times New Roman" panose="02020603050405020304"/>
                <a:ea typeface="宋体" panose="02010600030101010101" pitchFamily="2" charset="-122"/>
              </a:rPr>
              <a:t>，表示可以架设有向电缆的结点对的数量）。接下来</a:t>
            </a:r>
            <a:r>
              <a:rPr lang="en-US" altLang="zh-CN" sz="2000" i="1" kern="100" dirty="0">
                <a:latin typeface="Times New Roman" panose="02020603050405020304"/>
                <a:ea typeface="宋体" panose="02010600030101010101" pitchFamily="2" charset="-122"/>
              </a:rPr>
              <a:t>N</a:t>
            </a:r>
            <a:r>
              <a:rPr lang="zh-CN" altLang="zh-CN" sz="2000" kern="100" dirty="0">
                <a:latin typeface="Times New Roman" panose="02020603050405020304"/>
                <a:ea typeface="宋体" panose="02010600030101010101" pitchFamily="2" charset="-122"/>
              </a:rPr>
              <a:t>行，每行包含两个整数</a:t>
            </a:r>
            <a:r>
              <a:rPr lang="en-US" altLang="zh-CN" sz="2000" i="1" kern="100" dirty="0">
                <a:latin typeface="Times New Roman" panose="02020603050405020304"/>
                <a:ea typeface="宋体" panose="02010600030101010101" pitchFamily="2" charset="-122"/>
              </a:rPr>
              <a:t>x</a:t>
            </a:r>
            <a:r>
              <a:rPr lang="en-US" altLang="zh-CN" sz="2000" i="1" kern="100" baseline="-25000" dirty="0">
                <a:latin typeface="Times New Roman" panose="02020603050405020304"/>
                <a:ea typeface="宋体" panose="02010600030101010101" pitchFamily="2" charset="-122"/>
              </a:rPr>
              <a:t>i</a:t>
            </a:r>
            <a:r>
              <a:rPr lang="zh-CN" altLang="zh-CN" sz="2000" kern="100" dirty="0">
                <a:latin typeface="Times New Roman" panose="02020603050405020304"/>
                <a:ea typeface="宋体" panose="02010600030101010101" pitchFamily="2" charset="-122"/>
              </a:rPr>
              <a:t>和</a:t>
            </a:r>
            <a:r>
              <a:rPr lang="en-US" altLang="zh-CN" sz="2000" i="1" kern="100" dirty="0" err="1">
                <a:latin typeface="Times New Roman" panose="02020603050405020304"/>
                <a:ea typeface="宋体" panose="02010600030101010101" pitchFamily="2" charset="-122"/>
              </a:rPr>
              <a:t>y</a:t>
            </a:r>
            <a:r>
              <a:rPr lang="en-US" altLang="zh-CN" sz="2000" i="1" kern="100" baseline="-25000" dirty="0" err="1">
                <a:latin typeface="Times New Roman" panose="02020603050405020304"/>
                <a:ea typeface="宋体" panose="02010600030101010101" pitchFamily="2" charset="-122"/>
              </a:rPr>
              <a:t>i</a:t>
            </a:r>
            <a:r>
              <a:rPr lang="zh-CN" altLang="zh-CN" sz="2000" kern="100" dirty="0">
                <a:latin typeface="Times New Roman" panose="02020603050405020304"/>
                <a:ea typeface="宋体" panose="02010600030101010101" pitchFamily="2" charset="-122"/>
              </a:rPr>
              <a:t>，表示第</a:t>
            </a:r>
            <a:r>
              <a:rPr lang="en-US" altLang="zh-CN" sz="2000" i="1" kern="100" dirty="0" err="1">
                <a:latin typeface="Times New Roman" panose="02020603050405020304"/>
                <a:ea typeface="宋体" panose="02010600030101010101" pitchFamily="2" charset="-122"/>
              </a:rPr>
              <a:t>i</a:t>
            </a:r>
            <a:r>
              <a:rPr lang="zh-CN" altLang="zh-CN" sz="2000" kern="100" dirty="0">
                <a:latin typeface="Times New Roman" panose="02020603050405020304"/>
                <a:ea typeface="宋体" panose="02010600030101010101" pitchFamily="2" charset="-122"/>
              </a:rPr>
              <a:t>个结点的位置。接下来的</a:t>
            </a:r>
            <a:r>
              <a:rPr lang="en-US" altLang="zh-CN" sz="2000" i="1" kern="100" dirty="0">
                <a:latin typeface="Times New Roman" panose="02020603050405020304"/>
                <a:ea typeface="宋体" panose="02010600030101010101" pitchFamily="2" charset="-122"/>
              </a:rPr>
              <a:t>M</a:t>
            </a:r>
            <a:r>
              <a:rPr lang="zh-CN" altLang="zh-CN" sz="2000" kern="100" dirty="0">
                <a:latin typeface="Times New Roman" panose="02020603050405020304"/>
                <a:ea typeface="宋体" panose="02010600030101010101" pitchFamily="2" charset="-122"/>
              </a:rPr>
              <a:t>行，每行包含两个整数</a:t>
            </a:r>
            <a:r>
              <a:rPr lang="en-US" altLang="zh-CN" sz="2000" i="1" kern="100" dirty="0" err="1">
                <a:latin typeface="Times New Roman" panose="02020603050405020304"/>
                <a:ea typeface="宋体" panose="02010600030101010101" pitchFamily="2" charset="-122"/>
              </a:rPr>
              <a:t>i</a:t>
            </a:r>
            <a:r>
              <a:rPr lang="zh-CN" altLang="zh-CN" sz="2000" kern="100" dirty="0">
                <a:latin typeface="Times New Roman" panose="02020603050405020304"/>
                <a:ea typeface="宋体" panose="02010600030101010101" pitchFamily="2" charset="-122"/>
              </a:rPr>
              <a:t>和</a:t>
            </a:r>
            <a:r>
              <a:rPr lang="en-US" altLang="zh-CN" sz="2000" i="1" kern="100" dirty="0">
                <a:latin typeface="Times New Roman" panose="02020603050405020304"/>
                <a:ea typeface="宋体" panose="02010600030101010101" pitchFamily="2" charset="-122"/>
              </a:rPr>
              <a:t>j</a:t>
            </a:r>
            <a:r>
              <a:rPr lang="zh-CN" altLang="zh-CN" sz="2000" kern="100" dirty="0">
                <a:latin typeface="Times New Roman" panose="02020603050405020304"/>
                <a:ea typeface="宋体" panose="02010600030101010101" pitchFamily="2" charset="-122"/>
              </a:rPr>
              <a:t>，表示从结点</a:t>
            </a:r>
            <a:r>
              <a:rPr lang="en-US" altLang="zh-CN" sz="2000" i="1" kern="100" dirty="0" err="1">
                <a:latin typeface="Times New Roman" panose="02020603050405020304"/>
                <a:ea typeface="宋体" panose="02010600030101010101" pitchFamily="2" charset="-122"/>
              </a:rPr>
              <a:t>i</a:t>
            </a:r>
            <a:r>
              <a:rPr lang="zh-CN" altLang="zh-CN" sz="2000" kern="100" dirty="0">
                <a:latin typeface="Times New Roman" panose="02020603050405020304"/>
                <a:ea typeface="宋体" panose="02010600030101010101" pitchFamily="2" charset="-122"/>
              </a:rPr>
              <a:t>到结点</a:t>
            </a:r>
            <a:r>
              <a:rPr lang="en-US" altLang="zh-CN" sz="2000" i="1" kern="100" dirty="0">
                <a:latin typeface="Times New Roman" panose="02020603050405020304"/>
                <a:ea typeface="宋体" panose="02010600030101010101" pitchFamily="2" charset="-122"/>
              </a:rPr>
              <a:t>j</a:t>
            </a:r>
            <a:r>
              <a:rPr lang="zh-CN" altLang="zh-CN" sz="2000" kern="100" dirty="0">
                <a:latin typeface="Times New Roman" panose="02020603050405020304"/>
                <a:ea typeface="宋体" panose="02010600030101010101" pitchFamily="2" charset="-122"/>
              </a:rPr>
              <a:t>可以架设一条有向电缆。指挥官的指挥部在第</a:t>
            </a:r>
            <a:r>
              <a:rPr lang="en-US" altLang="zh-CN" sz="2000" kern="100" dirty="0">
                <a:latin typeface="Times New Roman" panose="02020603050405020304"/>
                <a:ea typeface="宋体" panose="02010600030101010101" pitchFamily="2" charset="-122"/>
              </a:rPr>
              <a:t>1</a:t>
            </a:r>
            <a:r>
              <a:rPr lang="zh-CN" altLang="zh-CN" sz="2000" kern="100" dirty="0">
                <a:latin typeface="Times New Roman" panose="02020603050405020304"/>
                <a:ea typeface="宋体" panose="02010600030101010101" pitchFamily="2" charset="-122"/>
              </a:rPr>
              <a:t>个结点。</a:t>
            </a:r>
            <a:endParaRPr lang="zh-CN" altLang="zh-CN" sz="1800" kern="100" dirty="0">
              <a:latin typeface="Times New Roman" panose="02020603050405020304"/>
              <a:ea typeface="宋体" panose="02010600030101010101" pitchFamily="2" charset="-122"/>
            </a:endParaRPr>
          </a:p>
          <a:p>
            <a:pPr algn="just">
              <a:spcAft>
                <a:spcPts val="0"/>
              </a:spcAft>
            </a:pPr>
            <a:r>
              <a:rPr lang="zh-CN" altLang="zh-CN" sz="2000" kern="100" dirty="0">
                <a:latin typeface="Times New Roman" panose="02020603050405020304"/>
                <a:ea typeface="宋体" panose="02010600030101010101" pitchFamily="2" charset="-122"/>
              </a:rPr>
              <a:t>【输出格式】</a:t>
            </a:r>
            <a:endParaRPr lang="zh-CN" altLang="zh-CN" sz="1800" kern="100" dirty="0">
              <a:latin typeface="Times New Roman" panose="02020603050405020304"/>
              <a:ea typeface="宋体" panose="02010600030101010101" pitchFamily="2" charset="-122"/>
            </a:endParaRPr>
          </a:p>
          <a:p>
            <a:pPr indent="276225" algn="just">
              <a:spcAft>
                <a:spcPts val="0"/>
              </a:spcAft>
            </a:pPr>
            <a:r>
              <a:rPr lang="zh-CN" altLang="zh-CN" sz="2000" kern="100" dirty="0">
                <a:latin typeface="Times New Roman" panose="02020603050405020304"/>
                <a:ea typeface="宋体" panose="02010600030101010101" pitchFamily="2" charset="-122"/>
              </a:rPr>
              <a:t>每组数据输出一行，包含一个整数，表示至少需要的电缆长度。如果不能建立这样一个通信网，只需要输出“</a:t>
            </a:r>
            <a:r>
              <a:rPr lang="en-US" altLang="zh-CN" sz="2000" kern="100" dirty="0">
                <a:latin typeface="Times New Roman" panose="02020603050405020304"/>
                <a:ea typeface="宋体" panose="02010600030101010101" pitchFamily="2" charset="-122"/>
              </a:rPr>
              <a:t>poor snoopy</a:t>
            </a:r>
            <a:r>
              <a:rPr lang="zh-CN" altLang="zh-CN" sz="2000" kern="100" dirty="0">
                <a:latin typeface="Times New Roman" panose="02020603050405020304"/>
                <a:ea typeface="宋体" panose="02010600030101010101" pitchFamily="2" charset="-122"/>
              </a:rPr>
              <a:t>”。</a:t>
            </a:r>
            <a:endParaRPr lang="zh-CN" altLang="zh-CN" sz="1800" kern="100" dirty="0">
              <a:effectLst/>
              <a:latin typeface="Times New Roman" panose="02020603050405020304"/>
              <a:ea typeface="宋体" panose="02010600030101010101" pitchFamily="2" charset="-122"/>
            </a:endParaRP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9144000" cy="2492990"/>
          </a:xfrm>
          <a:prstGeom prst="rect">
            <a:avLst/>
          </a:prstGeom>
        </p:spPr>
        <p:txBody>
          <a:bodyPr wrap="square">
            <a:spAutoFit/>
          </a:bodyPr>
          <a:lstStyle/>
          <a:p>
            <a:r>
              <a:rPr lang="en-US" altLang="zh-CN" dirty="0"/>
              <a:t>    </a:t>
            </a:r>
            <a:r>
              <a:rPr lang="zh-CN" altLang="zh-CN" dirty="0"/>
              <a:t>题目要求生成的最小生成树必须以某一结点为根，并且需要能够由根到达所有的结点，这就是有向图的最小树形图问题。</a:t>
            </a:r>
          </a:p>
          <a:p>
            <a:r>
              <a:rPr lang="zh-CN" altLang="zh-CN" dirty="0"/>
              <a:t>求最小树形图使用朱</a:t>
            </a:r>
            <a:r>
              <a:rPr lang="en-US" altLang="zh-CN" dirty="0"/>
              <a:t>—</a:t>
            </a:r>
            <a:r>
              <a:rPr lang="zh-CN" altLang="zh-CN" dirty="0"/>
              <a:t>刘算法，该算法基于贪心和缩点的思想。所谓缩点，就是将几个点看成一个点，所有连到这几个点的边都视为连到收缩点，所有从这几个点连出的边都视为从收缩点连出。</a:t>
            </a:r>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3175125" y="2444864"/>
            <a:ext cx="2886310" cy="2565482"/>
          </a:xfrm>
          <a:prstGeom prst="rect">
            <a:avLst/>
          </a:prstGeom>
          <a:noFill/>
          <a:ln>
            <a:noFill/>
          </a:ln>
        </p:spPr>
      </p:pic>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7836"/>
            <a:ext cx="9049732" cy="2092881"/>
          </a:xfrm>
          <a:prstGeom prst="rect">
            <a:avLst/>
          </a:prstGeom>
        </p:spPr>
        <p:txBody>
          <a:bodyPr wrap="square">
            <a:spAutoFit/>
          </a:bodyPr>
          <a:lstStyle/>
          <a:p>
            <a:r>
              <a:rPr lang="zh-CN" altLang="zh-CN" dirty="0"/>
              <a:t>（</a:t>
            </a:r>
            <a:r>
              <a:rPr lang="en-US" altLang="zh-CN" dirty="0"/>
              <a:t>1</a:t>
            </a:r>
            <a:r>
              <a:rPr lang="zh-CN" altLang="zh-CN" dirty="0"/>
              <a:t>）求最短弧集合</a:t>
            </a:r>
            <a:r>
              <a:rPr lang="en-US" altLang="zh-CN" i="1" dirty="0"/>
              <a:t>A</a:t>
            </a:r>
            <a:r>
              <a:rPr lang="zh-CN" altLang="zh-CN" dirty="0"/>
              <a:t>，从所有以</a:t>
            </a:r>
            <a:r>
              <a:rPr lang="en-US" altLang="zh-CN" i="1" dirty="0"/>
              <a:t>V</a:t>
            </a:r>
            <a:r>
              <a:rPr lang="en-US" altLang="zh-CN" i="1" baseline="-25000" dirty="0"/>
              <a:t>i</a:t>
            </a:r>
            <a:r>
              <a:rPr lang="zh-CN" altLang="zh-CN" dirty="0"/>
              <a:t>（非根结点）为终点的弧中取一条最短的，若对于点</a:t>
            </a:r>
            <a:r>
              <a:rPr lang="en-US" altLang="zh-CN" i="1" dirty="0"/>
              <a:t>V</a:t>
            </a:r>
            <a:r>
              <a:rPr lang="en-US" altLang="zh-CN" i="1" baseline="-25000" dirty="0"/>
              <a:t>i</a:t>
            </a:r>
            <a:r>
              <a:rPr lang="zh-CN" altLang="zh-CN" dirty="0"/>
              <a:t>，没有入边，则不存在最小树形图，算法结束。否则将得到由</a:t>
            </a:r>
            <a:r>
              <a:rPr lang="en-US" altLang="zh-CN" i="1" dirty="0"/>
              <a:t>n</a:t>
            </a:r>
            <a:r>
              <a:rPr lang="zh-CN" altLang="zh-CN" dirty="0"/>
              <a:t>个点和</a:t>
            </a:r>
            <a:r>
              <a:rPr lang="en-US" altLang="zh-CN" i="1" dirty="0"/>
              <a:t>n</a:t>
            </a:r>
            <a:r>
              <a:rPr lang="zh-CN" altLang="zh-CN" dirty="0"/>
              <a:t>－</a:t>
            </a:r>
            <a:r>
              <a:rPr lang="en-US" altLang="zh-CN" dirty="0"/>
              <a:t>1</a:t>
            </a:r>
            <a:r>
              <a:rPr lang="zh-CN" altLang="zh-CN" dirty="0"/>
              <a:t>条边组成的子图，该子图权值一定最小，但不一定是一棵树。例如到</a:t>
            </a:r>
            <a:r>
              <a:rPr lang="en-US" altLang="zh-CN" i="1" dirty="0"/>
              <a:t>V</a:t>
            </a:r>
            <a:r>
              <a:rPr lang="en-US" altLang="zh-CN" baseline="-25000" dirty="0"/>
              <a:t>2</a:t>
            </a:r>
            <a:r>
              <a:rPr lang="zh-CN" altLang="zh-CN" dirty="0"/>
              <a:t>的边中最短的是</a:t>
            </a:r>
            <a:r>
              <a:rPr lang="en-US" altLang="zh-CN" dirty="0"/>
              <a:t>7</a:t>
            </a:r>
            <a:r>
              <a:rPr lang="zh-CN" altLang="zh-CN" dirty="0"/>
              <a:t>，到</a:t>
            </a:r>
            <a:r>
              <a:rPr lang="en-US" altLang="zh-CN" i="1" dirty="0"/>
              <a:t>V</a:t>
            </a:r>
            <a:r>
              <a:rPr lang="en-US" altLang="zh-CN" baseline="-25000" dirty="0"/>
              <a:t>3</a:t>
            </a:r>
            <a:r>
              <a:rPr lang="zh-CN" altLang="zh-CN" dirty="0"/>
              <a:t>的边中最短的是</a:t>
            </a:r>
            <a:r>
              <a:rPr lang="en-US" altLang="zh-CN" dirty="0"/>
              <a:t>3</a:t>
            </a:r>
            <a:r>
              <a:rPr lang="zh-CN" altLang="zh-CN" dirty="0"/>
              <a:t>，如图</a:t>
            </a:r>
            <a:endParaRPr lang="zh-CN" altLang="en-US"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2112850" y="2238382"/>
            <a:ext cx="4933686" cy="2380752"/>
          </a:xfrm>
          <a:prstGeom prst="rect">
            <a:avLst/>
          </a:prstGeom>
          <a:noFill/>
          <a:ln>
            <a:noFill/>
          </a:ln>
        </p:spPr>
      </p:pic>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34340"/>
            <a:ext cx="9068586" cy="3046988"/>
          </a:xfrm>
          <a:prstGeom prst="rect">
            <a:avLst/>
          </a:prstGeom>
        </p:spPr>
        <p:txBody>
          <a:bodyPr wrap="square">
            <a:spAutoFit/>
          </a:bodyPr>
          <a:lstStyle/>
          <a:p>
            <a:r>
              <a:rPr lang="zh-CN" altLang="zh-CN" sz="2400" dirty="0"/>
              <a:t>（</a:t>
            </a:r>
            <a:r>
              <a:rPr lang="en-US" altLang="zh-CN" sz="2400" dirty="0"/>
              <a:t>2</a:t>
            </a:r>
            <a:r>
              <a:rPr lang="zh-CN" altLang="zh-CN" sz="2400" dirty="0"/>
              <a:t>）若最短弧集合</a:t>
            </a:r>
            <a:r>
              <a:rPr lang="en-US" altLang="zh-CN" sz="2400" i="1" dirty="0"/>
              <a:t>A</a:t>
            </a:r>
            <a:r>
              <a:rPr lang="zh-CN" altLang="zh-CN" sz="2400" dirty="0"/>
              <a:t>中没有有向环且不含收缩点，则</a:t>
            </a:r>
            <a:r>
              <a:rPr lang="en-US" altLang="zh-CN" sz="2400" i="1" dirty="0"/>
              <a:t>A</a:t>
            </a:r>
            <a:r>
              <a:rPr lang="zh-CN" altLang="zh-CN" sz="2400" dirty="0"/>
              <a:t>就是最小树形图，若</a:t>
            </a:r>
            <a:r>
              <a:rPr lang="en-US" altLang="zh-CN" sz="2400" i="1" dirty="0"/>
              <a:t>A</a:t>
            </a:r>
            <a:r>
              <a:rPr lang="zh-CN" altLang="zh-CN" sz="2400" dirty="0"/>
              <a:t>没有环但含收缩点，则转向步骤（</a:t>
            </a:r>
            <a:r>
              <a:rPr lang="en-US" altLang="zh-CN" sz="2400" dirty="0"/>
              <a:t>3</a:t>
            </a:r>
            <a:r>
              <a:rPr lang="zh-CN" altLang="zh-CN" sz="2400" dirty="0"/>
              <a:t>）展开收缩点，若</a:t>
            </a:r>
            <a:r>
              <a:rPr lang="en-US" altLang="zh-CN" sz="2400" i="1" dirty="0"/>
              <a:t>A</a:t>
            </a:r>
            <a:r>
              <a:rPr lang="zh-CN" altLang="zh-CN" sz="2400" dirty="0"/>
              <a:t>中含有向环，则收缩有向环。显然</a:t>
            </a:r>
            <a:r>
              <a:rPr lang="en-US" altLang="zh-CN" sz="2400" i="1" dirty="0"/>
              <a:t>A</a:t>
            </a:r>
            <a:r>
              <a:rPr lang="zh-CN" altLang="zh-CN" sz="2400" dirty="0"/>
              <a:t>中有两个环，以收缩</a:t>
            </a:r>
            <a:r>
              <a:rPr lang="en-US" altLang="zh-CN" sz="2400" i="1" dirty="0"/>
              <a:t>V</a:t>
            </a:r>
            <a:r>
              <a:rPr lang="en-US" altLang="zh-CN" sz="2400" baseline="-25000" dirty="0"/>
              <a:t>2</a:t>
            </a:r>
            <a:r>
              <a:rPr lang="zh-CN" altLang="zh-CN" sz="2400" dirty="0"/>
              <a:t>和</a:t>
            </a:r>
            <a:r>
              <a:rPr lang="en-US" altLang="zh-CN" sz="2400" i="1" dirty="0"/>
              <a:t>V</a:t>
            </a:r>
            <a:r>
              <a:rPr lang="en-US" altLang="zh-CN" sz="2400" baseline="-25000" dirty="0"/>
              <a:t>3</a:t>
            </a:r>
            <a:r>
              <a:rPr lang="zh-CN" altLang="zh-CN" sz="2400" dirty="0"/>
              <a:t>组成的环为例：</a:t>
            </a:r>
          </a:p>
          <a:p>
            <a:r>
              <a:rPr lang="en-US" altLang="zh-CN" sz="2400" dirty="0"/>
              <a:t>    </a:t>
            </a:r>
            <a:r>
              <a:rPr lang="zh-CN" altLang="zh-CN" sz="2400" dirty="0"/>
              <a:t>将</a:t>
            </a:r>
            <a:r>
              <a:rPr lang="en-US" altLang="zh-CN" sz="2400" i="1" dirty="0"/>
              <a:t>V</a:t>
            </a:r>
            <a:r>
              <a:rPr lang="en-US" altLang="zh-CN" sz="2400" baseline="-25000" dirty="0"/>
              <a:t>2</a:t>
            </a:r>
            <a:r>
              <a:rPr lang="zh-CN" altLang="zh-CN" sz="2400" dirty="0"/>
              <a:t>和</a:t>
            </a:r>
            <a:r>
              <a:rPr lang="en-US" altLang="zh-CN" sz="2400" i="1" dirty="0"/>
              <a:t>V</a:t>
            </a:r>
            <a:r>
              <a:rPr lang="en-US" altLang="zh-CN" sz="2400" baseline="-25000" dirty="0"/>
              <a:t>3</a:t>
            </a:r>
            <a:r>
              <a:rPr lang="zh-CN" altLang="zh-CN" sz="2400" dirty="0"/>
              <a:t>缩成一个点</a:t>
            </a:r>
            <a:r>
              <a:rPr lang="en-US" altLang="zh-CN" sz="2400" i="1" dirty="0"/>
              <a:t>V</a:t>
            </a:r>
            <a:r>
              <a:rPr lang="en-US" altLang="zh-CN" sz="2400" baseline="-25000" dirty="0"/>
              <a:t>2</a:t>
            </a:r>
            <a:r>
              <a:rPr lang="en-US" altLang="zh-CN" sz="2400" i="1" dirty="0"/>
              <a:t>V</a:t>
            </a:r>
            <a:r>
              <a:rPr lang="en-US" altLang="zh-CN" sz="2400" baseline="-25000" dirty="0"/>
              <a:t>3</a:t>
            </a:r>
            <a:r>
              <a:rPr lang="zh-CN" altLang="zh-CN" sz="2400" dirty="0"/>
              <a:t>，新点指向其他点的边权值不变，但从其他点指向</a:t>
            </a:r>
            <a:r>
              <a:rPr lang="en-US" altLang="zh-CN" sz="2400" i="1" dirty="0"/>
              <a:t>V</a:t>
            </a:r>
            <a:r>
              <a:rPr lang="en-US" altLang="zh-CN" sz="2400" baseline="-25000" dirty="0"/>
              <a:t>2</a:t>
            </a:r>
            <a:r>
              <a:rPr lang="en-US" altLang="zh-CN" sz="2400" i="1" dirty="0"/>
              <a:t>V</a:t>
            </a:r>
            <a:r>
              <a:rPr lang="en-US" altLang="zh-CN" sz="2400" baseline="-25000" dirty="0"/>
              <a:t>3</a:t>
            </a:r>
            <a:r>
              <a:rPr lang="zh-CN" altLang="zh-CN" sz="2400" dirty="0"/>
              <a:t>点的边权值变化规则为：新边权值＝原边权值－指向原始点的最短弧权值。例如从</a:t>
            </a:r>
            <a:r>
              <a:rPr lang="en-US" altLang="zh-CN" sz="2400" i="1" dirty="0"/>
              <a:t>V</a:t>
            </a:r>
            <a:r>
              <a:rPr lang="en-US" altLang="zh-CN" sz="2400" baseline="-25000" dirty="0"/>
              <a:t>1</a:t>
            </a:r>
            <a:r>
              <a:rPr lang="zh-CN" altLang="zh-CN" sz="2400" dirty="0"/>
              <a:t>到</a:t>
            </a:r>
            <a:r>
              <a:rPr lang="en-US" altLang="zh-CN" sz="2400" i="1" dirty="0"/>
              <a:t>V</a:t>
            </a:r>
            <a:r>
              <a:rPr lang="en-US" altLang="zh-CN" sz="2400" baseline="-25000" dirty="0"/>
              <a:t>2</a:t>
            </a:r>
            <a:r>
              <a:rPr lang="zh-CN" altLang="zh-CN" sz="2400" dirty="0"/>
              <a:t>的原边权值为</a:t>
            </a:r>
            <a:r>
              <a:rPr lang="en-US" altLang="zh-CN" sz="2400" dirty="0"/>
              <a:t>9</a:t>
            </a:r>
            <a:r>
              <a:rPr lang="zh-CN" altLang="zh-CN" sz="2400" dirty="0"/>
              <a:t>，指向</a:t>
            </a:r>
            <a:r>
              <a:rPr lang="en-US" altLang="zh-CN" sz="2400" i="1" dirty="0"/>
              <a:t>V</a:t>
            </a:r>
            <a:r>
              <a:rPr lang="en-US" altLang="zh-CN" sz="2400" baseline="-25000" dirty="0"/>
              <a:t>2</a:t>
            </a:r>
            <a:r>
              <a:rPr lang="zh-CN" altLang="zh-CN" sz="2400" dirty="0"/>
              <a:t>的最短弧权值为</a:t>
            </a:r>
            <a:r>
              <a:rPr lang="en-US" altLang="zh-CN" sz="2400" dirty="0"/>
              <a:t>7</a:t>
            </a:r>
            <a:r>
              <a:rPr lang="zh-CN" altLang="zh-CN" sz="2400" dirty="0"/>
              <a:t>，故</a:t>
            </a:r>
            <a:r>
              <a:rPr lang="en-US" altLang="zh-CN" sz="2400" i="1" dirty="0"/>
              <a:t>V</a:t>
            </a:r>
            <a:r>
              <a:rPr lang="en-US" altLang="zh-CN" sz="2400" baseline="-25000" dirty="0"/>
              <a:t>1</a:t>
            </a:r>
            <a:r>
              <a:rPr lang="zh-CN" altLang="zh-CN" sz="2400" dirty="0"/>
              <a:t>指向</a:t>
            </a:r>
            <a:r>
              <a:rPr lang="en-US" altLang="zh-CN" sz="2400" i="1" dirty="0"/>
              <a:t>V</a:t>
            </a:r>
            <a:r>
              <a:rPr lang="en-US" altLang="zh-CN" sz="2400" baseline="-25000" dirty="0"/>
              <a:t>2</a:t>
            </a:r>
            <a:r>
              <a:rPr lang="en-US" altLang="zh-CN" sz="2400" i="1" dirty="0"/>
              <a:t>V</a:t>
            </a:r>
            <a:r>
              <a:rPr lang="en-US" altLang="zh-CN" sz="2400" baseline="-25000" dirty="0"/>
              <a:t>3</a:t>
            </a:r>
            <a:r>
              <a:rPr lang="zh-CN" altLang="zh-CN" sz="2400" dirty="0"/>
              <a:t>的新边权值为</a:t>
            </a:r>
            <a:r>
              <a:rPr lang="en-US" altLang="zh-CN" sz="2400" dirty="0"/>
              <a:t>9</a:t>
            </a:r>
            <a:r>
              <a:rPr lang="zh-CN" altLang="zh-CN" sz="2400" dirty="0"/>
              <a:t>－</a:t>
            </a:r>
            <a:r>
              <a:rPr lang="en-US" altLang="zh-CN" sz="2400" dirty="0"/>
              <a:t>7</a:t>
            </a:r>
            <a:r>
              <a:rPr lang="zh-CN" altLang="zh-CN" sz="2400" dirty="0"/>
              <a:t>＝</a:t>
            </a:r>
            <a:r>
              <a:rPr lang="en-US" altLang="zh-CN" sz="2400" dirty="0"/>
              <a:t>2</a:t>
            </a:r>
            <a:r>
              <a:rPr lang="zh-CN" altLang="zh-CN" sz="2400" dirty="0"/>
              <a:t>。如图</a:t>
            </a:r>
            <a:endParaRPr lang="zh-CN" altLang="en-US" sz="2400"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2171144" y="3160199"/>
            <a:ext cx="4196662" cy="1873714"/>
          </a:xfrm>
          <a:prstGeom prst="rect">
            <a:avLst/>
          </a:prstGeom>
          <a:noFill/>
          <a:ln>
            <a:noFill/>
          </a:ln>
        </p:spPr>
      </p:pic>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 y="-2362"/>
            <a:ext cx="9059159" cy="892552"/>
          </a:xfrm>
          <a:prstGeom prst="rect">
            <a:avLst/>
          </a:prstGeom>
        </p:spPr>
        <p:txBody>
          <a:bodyPr wrap="square">
            <a:spAutoFit/>
          </a:bodyPr>
          <a:lstStyle/>
          <a:p>
            <a:r>
              <a:rPr lang="zh-CN" altLang="zh-CN" dirty="0"/>
              <a:t>将</a:t>
            </a:r>
            <a:r>
              <a:rPr lang="en-US" altLang="zh-CN" i="1" dirty="0"/>
              <a:t>V</a:t>
            </a:r>
            <a:r>
              <a:rPr lang="en-US" altLang="zh-CN" baseline="-25000" dirty="0"/>
              <a:t>4</a:t>
            </a:r>
            <a:r>
              <a:rPr lang="zh-CN" altLang="zh-CN" dirty="0"/>
              <a:t>、</a:t>
            </a:r>
            <a:r>
              <a:rPr lang="en-US" altLang="zh-CN" i="1" dirty="0"/>
              <a:t>V</a:t>
            </a:r>
            <a:r>
              <a:rPr lang="en-US" altLang="zh-CN" baseline="-25000" dirty="0"/>
              <a:t>5</a:t>
            </a:r>
            <a:r>
              <a:rPr lang="zh-CN" altLang="zh-CN" dirty="0"/>
              <a:t>、</a:t>
            </a:r>
            <a:r>
              <a:rPr lang="en-US" altLang="zh-CN" i="1" dirty="0"/>
              <a:t>V</a:t>
            </a:r>
            <a:r>
              <a:rPr lang="en-US" altLang="zh-CN" baseline="-25000" dirty="0"/>
              <a:t>6</a:t>
            </a:r>
            <a:r>
              <a:rPr lang="zh-CN" altLang="zh-CN" dirty="0"/>
              <a:t>组成的环缩点为</a:t>
            </a:r>
            <a:r>
              <a:rPr lang="en-US" altLang="zh-CN" i="1" dirty="0"/>
              <a:t>V</a:t>
            </a:r>
            <a:r>
              <a:rPr lang="en-US" altLang="zh-CN" baseline="-25000" dirty="0"/>
              <a:t>4</a:t>
            </a:r>
            <a:r>
              <a:rPr lang="en-US" altLang="zh-CN" i="1" dirty="0"/>
              <a:t>V</a:t>
            </a:r>
            <a:r>
              <a:rPr lang="en-US" altLang="zh-CN" baseline="-25000" dirty="0"/>
              <a:t>5</a:t>
            </a:r>
            <a:r>
              <a:rPr lang="en-US" altLang="zh-CN" i="1" dirty="0"/>
              <a:t>V</a:t>
            </a:r>
            <a:r>
              <a:rPr lang="en-US" altLang="zh-CN" baseline="-25000" dirty="0"/>
              <a:t>6</a:t>
            </a:r>
            <a:r>
              <a:rPr lang="zh-CN" altLang="zh-CN" dirty="0"/>
              <a:t>，可以发现，</a:t>
            </a:r>
            <a:r>
              <a:rPr lang="en-US" altLang="zh-CN" i="1" dirty="0"/>
              <a:t>V</a:t>
            </a:r>
            <a:r>
              <a:rPr lang="en-US" altLang="zh-CN" baseline="-25000" dirty="0"/>
              <a:t>2</a:t>
            </a:r>
            <a:r>
              <a:rPr lang="en-US" altLang="zh-CN" i="1" dirty="0"/>
              <a:t>V</a:t>
            </a:r>
            <a:r>
              <a:rPr lang="en-US" altLang="zh-CN" baseline="-25000" dirty="0"/>
              <a:t>3</a:t>
            </a:r>
            <a:r>
              <a:rPr lang="zh-CN" altLang="zh-CN" dirty="0"/>
              <a:t>到</a:t>
            </a:r>
            <a:r>
              <a:rPr lang="en-US" altLang="zh-CN" i="1" dirty="0"/>
              <a:t>V</a:t>
            </a:r>
            <a:r>
              <a:rPr lang="en-US" altLang="zh-CN" baseline="-25000" dirty="0"/>
              <a:t>4</a:t>
            </a:r>
            <a:r>
              <a:rPr lang="en-US" altLang="zh-CN" i="1" dirty="0"/>
              <a:t>V</a:t>
            </a:r>
            <a:r>
              <a:rPr lang="en-US" altLang="zh-CN" baseline="-25000" dirty="0"/>
              <a:t>5</a:t>
            </a:r>
            <a:r>
              <a:rPr lang="en-US" altLang="zh-CN" i="1" dirty="0"/>
              <a:t>V</a:t>
            </a:r>
            <a:r>
              <a:rPr lang="en-US" altLang="zh-CN" baseline="-25000" dirty="0"/>
              <a:t>6</a:t>
            </a:r>
            <a:r>
              <a:rPr lang="zh-CN" altLang="zh-CN" dirty="0"/>
              <a:t>有重边，如图</a:t>
            </a:r>
            <a:endParaRPr lang="zh-CN" altLang="en-US"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1599384" y="1488214"/>
            <a:ext cx="6314418" cy="2532318"/>
          </a:xfrm>
          <a:prstGeom prst="rect">
            <a:avLst/>
          </a:prstGeom>
          <a:noFill/>
          <a:ln>
            <a:noFill/>
          </a:ln>
        </p:spPr>
      </p:pic>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273" y="12308"/>
            <a:ext cx="8993171" cy="1292662"/>
          </a:xfrm>
          <a:prstGeom prst="rect">
            <a:avLst/>
          </a:prstGeom>
        </p:spPr>
        <p:txBody>
          <a:bodyPr wrap="square">
            <a:spAutoFit/>
          </a:bodyPr>
          <a:lstStyle/>
          <a:p>
            <a:r>
              <a:rPr lang="zh-CN" altLang="zh-CN" dirty="0"/>
              <a:t> 回到步骤（</a:t>
            </a:r>
            <a:r>
              <a:rPr lang="en-US" altLang="zh-CN" dirty="0"/>
              <a:t>1</a:t>
            </a:r>
            <a:r>
              <a:rPr lang="zh-CN" altLang="zh-CN" dirty="0"/>
              <a:t>），对生成的新图继续求最短弧集合如图所示。如果最小生成树没有求出，则如此反复操作直到最小树形图求出。</a:t>
            </a:r>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1511194" y="1304970"/>
            <a:ext cx="6011395" cy="2385624"/>
          </a:xfrm>
          <a:prstGeom prst="rect">
            <a:avLst/>
          </a:prstGeom>
          <a:noFill/>
          <a:ln>
            <a:noFill/>
          </a:ln>
        </p:spPr>
      </p:pic>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5414" y="56421"/>
            <a:ext cx="9068586" cy="892552"/>
          </a:xfrm>
          <a:prstGeom prst="rect">
            <a:avLst/>
          </a:prstGeom>
        </p:spPr>
        <p:txBody>
          <a:bodyPr wrap="square">
            <a:spAutoFit/>
          </a:bodyPr>
          <a:lstStyle/>
          <a:p>
            <a:r>
              <a:rPr lang="zh-CN" altLang="zh-CN" dirty="0"/>
              <a:t>（</a:t>
            </a:r>
            <a:r>
              <a:rPr lang="en-US" altLang="zh-CN" dirty="0"/>
              <a:t>3</a:t>
            </a:r>
            <a:r>
              <a:rPr lang="zh-CN" altLang="zh-CN" dirty="0"/>
              <a:t>）如果最小树形图已经求出，展开收缩点，将收缩点展开成环，从环中去掉有相同终点的弧即为答案。如图</a:t>
            </a:r>
            <a:endParaRPr lang="zh-CN" altLang="en-US" dirty="0"/>
          </a:p>
        </p:txBody>
      </p:sp>
      <p:pic>
        <p:nvPicPr>
          <p:cNvPr id="3" name="图片 2"/>
          <p:cNvPicPr/>
          <p:nvPr/>
        </p:nvPicPr>
        <p:blipFill>
          <a:blip r:embed="rId2">
            <a:extLst>
              <a:ext uri="{28A0092B-C50C-407E-A947-70E740481C1C}">
                <a14:useLocalDpi xmlns:a14="http://schemas.microsoft.com/office/drawing/2010/main" val="0"/>
              </a:ext>
            </a:extLst>
          </a:blip>
          <a:srcRect/>
          <a:stretch>
            <a:fillRect/>
          </a:stretch>
        </p:blipFill>
        <p:spPr>
          <a:xfrm>
            <a:off x="1052830" y="1339215"/>
            <a:ext cx="6852920" cy="2699385"/>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77193"/>
            <a:ext cx="9101579" cy="5293757"/>
          </a:xfrm>
          <a:prstGeom prst="rect">
            <a:avLst/>
          </a:prstGeom>
        </p:spPr>
        <p:txBody>
          <a:bodyPr wrap="square">
            <a:spAutoFit/>
          </a:bodyPr>
          <a:lstStyle/>
          <a:p>
            <a:r>
              <a:rPr lang="zh-CN" altLang="zh-CN" dirty="0"/>
              <a:t>【题目描述】</a:t>
            </a:r>
            <a:r>
              <a:rPr lang="en-US" altLang="zh-CN" dirty="0"/>
              <a:t>5.49 </a:t>
            </a:r>
            <a:r>
              <a:rPr lang="zh-CN" altLang="zh-CN" dirty="0"/>
              <a:t>指挥中心（</a:t>
            </a:r>
            <a:r>
              <a:rPr lang="en-US" altLang="zh-CN" dirty="0"/>
              <a:t>city</a:t>
            </a:r>
            <a:r>
              <a:rPr lang="zh-CN" altLang="zh-CN" dirty="0"/>
              <a:t>）</a:t>
            </a:r>
            <a:r>
              <a:rPr lang="en-US" altLang="zh-CN" dirty="0"/>
              <a:t>HDU 2121</a:t>
            </a:r>
            <a:endParaRPr lang="zh-CN" altLang="zh-CN" dirty="0"/>
          </a:p>
          <a:p>
            <a:r>
              <a:rPr lang="zh-CN" altLang="zh-CN" dirty="0"/>
              <a:t>战斗进行的很顺利，指挥官希望在收复的城市中选择一个做为总部，要求该城市能够连通到其他城市，且道路花费要最少，已知道路都是单向的，请你找出最合适的城市及花费成本。</a:t>
            </a:r>
          </a:p>
          <a:p>
            <a:r>
              <a:rPr lang="zh-CN" altLang="zh-CN" dirty="0"/>
              <a:t>【输入格式】</a:t>
            </a:r>
          </a:p>
          <a:p>
            <a:r>
              <a:rPr lang="zh-CN" altLang="zh-CN" dirty="0"/>
              <a:t>输入数据有多组，每种情况有两个整数</a:t>
            </a:r>
            <a:r>
              <a:rPr lang="en-US" altLang="zh-CN" i="1" dirty="0"/>
              <a:t>N</a:t>
            </a:r>
            <a:r>
              <a:rPr lang="zh-CN" altLang="zh-CN" dirty="0"/>
              <a:t>和</a:t>
            </a:r>
            <a:r>
              <a:rPr lang="en-US" altLang="zh-CN" i="1" dirty="0"/>
              <a:t>M</a:t>
            </a:r>
            <a:r>
              <a:rPr lang="zh-CN" altLang="zh-CN" dirty="0"/>
              <a:t>（</a:t>
            </a:r>
            <a:r>
              <a:rPr lang="en-US" altLang="zh-CN" i="1" dirty="0"/>
              <a:t>N</a:t>
            </a:r>
            <a:r>
              <a:rPr lang="zh-CN" altLang="zh-CN" dirty="0"/>
              <a:t>≤</a:t>
            </a:r>
            <a:r>
              <a:rPr lang="en-US" altLang="zh-CN" dirty="0"/>
              <a:t>1 000</a:t>
            </a:r>
            <a:r>
              <a:rPr lang="zh-CN" altLang="zh-CN" dirty="0"/>
              <a:t>，</a:t>
            </a:r>
            <a:r>
              <a:rPr lang="en-US" altLang="zh-CN" i="1" dirty="0"/>
              <a:t>M</a:t>
            </a:r>
            <a:r>
              <a:rPr lang="zh-CN" altLang="zh-CN" dirty="0"/>
              <a:t>≤</a:t>
            </a:r>
            <a:r>
              <a:rPr lang="en-US" altLang="zh-CN" dirty="0"/>
              <a:t>10 000</a:t>
            </a:r>
            <a:r>
              <a:rPr lang="zh-CN" altLang="zh-CN" dirty="0"/>
              <a:t>），表示城市数和道路数，城市编号</a:t>
            </a:r>
            <a:r>
              <a:rPr lang="en-US" altLang="zh-CN" dirty="0"/>
              <a:t>0,1,…,</a:t>
            </a:r>
            <a:r>
              <a:rPr lang="en-US" altLang="zh-CN" i="1" dirty="0"/>
              <a:t>N</a:t>
            </a:r>
            <a:r>
              <a:rPr lang="zh-CN" altLang="zh-CN" dirty="0"/>
              <a:t>－</a:t>
            </a:r>
            <a:r>
              <a:rPr lang="en-US" altLang="zh-CN" dirty="0"/>
              <a:t>1</a:t>
            </a:r>
            <a:r>
              <a:rPr lang="zh-CN" altLang="zh-CN" dirty="0"/>
              <a:t>，随后</a:t>
            </a:r>
            <a:r>
              <a:rPr lang="en-US" altLang="zh-CN" i="1" dirty="0"/>
              <a:t>M</a:t>
            </a:r>
            <a:r>
              <a:rPr lang="zh-CN" altLang="zh-CN" dirty="0"/>
              <a:t>行中，每行有三个整数</a:t>
            </a:r>
            <a:r>
              <a:rPr lang="en-US" altLang="zh-CN" i="1" dirty="0"/>
              <a:t>S</a:t>
            </a:r>
            <a:r>
              <a:rPr lang="zh-CN" altLang="zh-CN" i="1" dirty="0"/>
              <a:t>、</a:t>
            </a:r>
            <a:r>
              <a:rPr lang="en-US" altLang="zh-CN" i="1" dirty="0"/>
              <a:t>T</a:t>
            </a:r>
            <a:r>
              <a:rPr lang="zh-CN" altLang="zh-CN" dirty="0"/>
              <a:t>和</a:t>
            </a:r>
            <a:r>
              <a:rPr lang="en-US" altLang="zh-CN" i="1" dirty="0"/>
              <a:t>C</a:t>
            </a:r>
            <a:r>
              <a:rPr lang="zh-CN" altLang="zh-CN" dirty="0"/>
              <a:t>，表示从城市</a:t>
            </a:r>
            <a:r>
              <a:rPr lang="en-US" altLang="zh-CN" i="1" dirty="0"/>
              <a:t>S</a:t>
            </a:r>
            <a:r>
              <a:rPr lang="zh-CN" altLang="zh-CN" dirty="0"/>
              <a:t>到城市</a:t>
            </a:r>
            <a:r>
              <a:rPr lang="en-US" altLang="zh-CN" i="1" dirty="0"/>
              <a:t>T</a:t>
            </a:r>
            <a:r>
              <a:rPr lang="zh-CN" altLang="zh-CN" dirty="0"/>
              <a:t>有一条路要花费的成本为</a:t>
            </a:r>
            <a:r>
              <a:rPr lang="en-US" altLang="zh-CN" i="1" dirty="0"/>
              <a:t>C</a:t>
            </a:r>
            <a:r>
              <a:rPr lang="zh-CN" altLang="zh-CN" dirty="0"/>
              <a:t>。</a:t>
            </a:r>
          </a:p>
          <a:p>
            <a:r>
              <a:rPr lang="zh-CN" altLang="zh-CN" dirty="0"/>
              <a:t>【输出格式】</a:t>
            </a:r>
          </a:p>
          <a:p>
            <a:r>
              <a:rPr lang="zh-CN" altLang="zh-CN" dirty="0"/>
              <a:t>如果无解输出“</a:t>
            </a:r>
            <a:r>
              <a:rPr lang="en-US" altLang="zh-CN" dirty="0"/>
              <a:t>impossible</a:t>
            </a:r>
            <a:r>
              <a:rPr lang="zh-CN" altLang="zh-CN" dirty="0"/>
              <a:t>”，否则，输出最低成本和合适的城市号码。如果存在多个适合的城市，选择编号最小的城市。每组答案以一个空行结束。</a:t>
            </a: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7134" y="299668"/>
            <a:ext cx="9144000" cy="4401205"/>
          </a:xfrm>
          <a:prstGeom prst="rect">
            <a:avLst/>
          </a:prstGeom>
        </p:spPr>
        <p:txBody>
          <a:bodyPr wrap="square">
            <a:spAutoFit/>
          </a:bodyPr>
          <a:lstStyle/>
          <a:p>
            <a:r>
              <a:rPr lang="zh-CN" altLang="zh-CN" sz="2000" dirty="0"/>
              <a:t>明显的最小树形图算法，但根不是固定的，如果使用枚举根的方式暴力求解肯定是过不了的。</a:t>
            </a:r>
          </a:p>
          <a:p>
            <a:r>
              <a:rPr lang="zh-CN" altLang="zh-CN" sz="2000" dirty="0"/>
              <a:t>解决此类问题一般是在原图上加一个虚根（原本不存在的点）</a:t>
            </a:r>
            <a:r>
              <a:rPr lang="en-US" altLang="zh-CN" sz="2000" dirty="0"/>
              <a:t>, </a:t>
            </a:r>
            <a:r>
              <a:rPr lang="zh-CN" altLang="zh-CN" sz="2000" dirty="0"/>
              <a:t>并从这个虚根向每个结点都连一条边，其边的权值设为</a:t>
            </a:r>
            <a:r>
              <a:rPr lang="en-US" altLang="zh-CN" sz="2000" i="1" dirty="0"/>
              <a:t>sum</a:t>
            </a:r>
            <a:r>
              <a:rPr lang="zh-CN" altLang="zh-CN" sz="2000" dirty="0"/>
              <a:t>，</a:t>
            </a:r>
            <a:r>
              <a:rPr lang="en-US" altLang="zh-CN" sz="2000" i="1" dirty="0"/>
              <a:t>sum</a:t>
            </a:r>
            <a:r>
              <a:rPr lang="zh-CN" altLang="zh-CN" sz="2000" dirty="0"/>
              <a:t>大于图中所有边权值的和。然后以虚根为根求最小树形图，如果求出的最小树形图的答案超过了</a:t>
            </a:r>
            <a:r>
              <a:rPr lang="en-US" altLang="zh-CN" sz="2000" dirty="0"/>
              <a:t>2</a:t>
            </a:r>
            <a:r>
              <a:rPr lang="zh-CN" altLang="zh-CN" sz="2000" dirty="0"/>
              <a:t>×</a:t>
            </a:r>
            <a:r>
              <a:rPr lang="en-US" altLang="zh-CN" sz="2000" i="1" dirty="0"/>
              <a:t>sum</a:t>
            </a:r>
            <a:r>
              <a:rPr lang="zh-CN" altLang="zh-CN" sz="2000" dirty="0"/>
              <a:t>，则说明从虚根至少连出去了两条边，即原图不存在最小树形图，如果差值小于</a:t>
            </a:r>
            <a:r>
              <a:rPr lang="en-US" altLang="zh-CN" sz="2000" i="1" dirty="0"/>
              <a:t>sum</a:t>
            </a:r>
            <a:r>
              <a:rPr lang="zh-CN" altLang="zh-CN" sz="2000" dirty="0"/>
              <a:t>，说明虚根的出度只有</a:t>
            </a:r>
            <a:r>
              <a:rPr lang="en-US" altLang="zh-CN" sz="2000" dirty="0"/>
              <a:t>1</a:t>
            </a:r>
            <a:r>
              <a:rPr lang="zh-CN" altLang="zh-CN" sz="2000" dirty="0"/>
              <a:t>，说明原图是连通图，那么答案减去</a:t>
            </a:r>
            <a:r>
              <a:rPr lang="en-US" altLang="zh-CN" sz="2000" i="1" dirty="0"/>
              <a:t>sum</a:t>
            </a:r>
            <a:r>
              <a:rPr lang="zh-CN" altLang="zh-CN" sz="2000" dirty="0"/>
              <a:t>即为答案。</a:t>
            </a:r>
          </a:p>
          <a:p>
            <a:r>
              <a:rPr lang="zh-CN" altLang="zh-CN" sz="2000" dirty="0"/>
              <a:t>求编号最小的根结点可以在求最短弧集合的时候得到，即如果一条边被加入最短弧集合且这条边的起点是虚根，那么这条边的终点就是所求最小树形图的根。 </a:t>
            </a:r>
          </a:p>
          <a:p>
            <a:r>
              <a:rPr lang="zh-CN" altLang="zh-CN" sz="2000" dirty="0"/>
              <a:t>如果有多解的话，必然存在一个环，环上的顶点都可以做根，但根据最小入边的性质可知，如果没缩点，必然找不到那个根，因为虚根连的边都非常大。但是缩点后，找到的必然是最小的那个序号的根。而且由于朱—刘算法在计算过程中保留了所有的点，只是改了它们的</a:t>
            </a:r>
            <a:r>
              <a:rPr lang="en-US" altLang="zh-CN" sz="2000" dirty="0"/>
              <a:t>id</a:t>
            </a:r>
            <a:r>
              <a:rPr lang="zh-CN" altLang="zh-CN" sz="2000" dirty="0"/>
              <a:t>，所以找到最小根</a:t>
            </a:r>
            <a:r>
              <a:rPr lang="en-US" altLang="zh-CN" sz="2000" i="1" dirty="0" err="1"/>
              <a:t>pos</a:t>
            </a:r>
            <a:r>
              <a:rPr lang="zh-CN" altLang="zh-CN" sz="2000" dirty="0"/>
              <a:t>后，那么最终的最小根就是</a:t>
            </a:r>
            <a:r>
              <a:rPr lang="en-US" altLang="zh-CN" sz="2000" i="1" dirty="0" err="1"/>
              <a:t>pos</a:t>
            </a:r>
            <a:r>
              <a:rPr lang="zh-CN" altLang="zh-CN" sz="2000" dirty="0"/>
              <a:t>－</a:t>
            </a:r>
            <a:r>
              <a:rPr lang="en-US" altLang="zh-CN" sz="2000" i="1" dirty="0"/>
              <a:t>m</a:t>
            </a:r>
            <a:r>
              <a:rPr lang="zh-CN" altLang="zh-CN" sz="2000" dirty="0"/>
              <a:t>，其中</a:t>
            </a:r>
            <a:r>
              <a:rPr lang="en-US" altLang="zh-CN" sz="2000" i="1" dirty="0"/>
              <a:t>m</a:t>
            </a:r>
            <a:r>
              <a:rPr lang="zh-CN" altLang="zh-CN" sz="2000" dirty="0"/>
              <a:t>为原图上的边数。</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5-0315-3小清新手绘唯美教育教学PPT模板"/>
  <p:tag name="KSO_WPP_MARK_KEY" val="5b6cf273-e7d1-4d24-910f-5e1b02cb043d"/>
  <p:tag name="COMMONDATA" val="eyJoZGlkIjoiZWNkNzQwYjliNGZkYjkxNzQ5NTNjZWEyZGU4NWM2NWIifQ=="/>
</p:tagLst>
</file>

<file path=ppt/theme/theme1.xml><?xml version="1.0" encoding="utf-8"?>
<a:theme xmlns:a="http://schemas.openxmlformats.org/drawingml/2006/main" name="AAAAAAAAAAAAAAAAAAAAAAAAAAA">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19892</Words>
  <Application>Microsoft Office PowerPoint</Application>
  <PresentationFormat>全屏显示(16:9)</PresentationFormat>
  <Paragraphs>726</Paragraphs>
  <Slides>177</Slides>
  <Notes>10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177</vt:i4>
      </vt:variant>
    </vt:vector>
  </HeadingPairs>
  <TitlesOfParts>
    <vt:vector size="189" baseType="lpstr">
      <vt:lpstr>YaHei Consolas Hybrid</vt:lpstr>
      <vt:lpstr>等线</vt:lpstr>
      <vt:lpstr>楷体</vt:lpstr>
      <vt:lpstr>楷体_GB2312</vt:lpstr>
      <vt:lpstr>宋体</vt:lpstr>
      <vt:lpstr>微软雅黑</vt:lpstr>
      <vt:lpstr>Arial</vt:lpstr>
      <vt:lpstr>Calibri</vt:lpstr>
      <vt:lpstr>Calibri Light</vt:lpstr>
      <vt:lpstr>Times New Roman</vt:lpstr>
      <vt:lpstr>AAAAAAAAAAAAAAAAAAAAAAAAAAA</vt:lpstr>
      <vt:lpstr>BMP 图像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5-0315-3小清新手绘唯美教育教学PPT模板</dc:title>
  <dc:creator>Administrator</dc:creator>
  <cp:lastModifiedBy>立军 袁</cp:lastModifiedBy>
  <cp:revision>203</cp:revision>
  <dcterms:created xsi:type="dcterms:W3CDTF">2019-03-15T02:52:00Z</dcterms:created>
  <dcterms:modified xsi:type="dcterms:W3CDTF">2024-08-07T00:28:38Z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0C5092B0C3104552A160CF541D52C546</vt:lpwstr>
  </property>
  <property fmtid="{D5CDD505-2E9C-101B-9397-08002B2CF9AE}" pid="3" name="KSOProductBuildVer">
    <vt:lpwstr>2052-11.1.0.12763</vt:lpwstr>
  </property>
</Properties>
</file>