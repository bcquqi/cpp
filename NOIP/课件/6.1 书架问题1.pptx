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9" r:id="rId1"/>
  </p:sldMasterIdLst>
  <p:notesMasterIdLst>
    <p:notesMasterId r:id="rId12"/>
  </p:notesMasterIdLst>
  <p:sldIdLst>
    <p:sldId id="11088826" r:id="rId2"/>
    <p:sldId id="4873" r:id="rId3"/>
    <p:sldId id="11088828" r:id="rId4"/>
    <p:sldId id="11088835" r:id="rId5"/>
    <p:sldId id="11088836" r:id="rId6"/>
    <p:sldId id="11088837" r:id="rId7"/>
    <p:sldId id="11088846" r:id="rId8"/>
    <p:sldId id="11088838" r:id="rId9"/>
    <p:sldId id="11088845" r:id="rId10"/>
    <p:sldId id="11088839" r:id="rId11"/>
  </p:sldIdLst>
  <p:sldSz cx="9144000" cy="5143500" type="screen16x9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8ED0"/>
    <a:srgbClr val="075AA4"/>
    <a:srgbClr val="2F4732"/>
    <a:srgbClr val="2B44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76" autoAdjust="0"/>
    <p:restoredTop sz="87435" autoAdjust="0"/>
  </p:normalViewPr>
  <p:slideViewPr>
    <p:cSldViewPr snapToGrid="0" showGuides="1">
      <p:cViewPr varScale="1">
        <p:scale>
          <a:sx n="83" d="100"/>
          <a:sy n="83" d="100"/>
        </p:scale>
        <p:origin x="540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2CBD01-EFF3-401D-9E3D-436DA00BC4F9}" type="datetimeFigureOut">
              <a:rPr lang="zh-CN" altLang="en-US" smtClean="0"/>
              <a:t>2024-10-11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AD115-59BE-4C7A-B849-7A2D4566988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39966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2565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AD115-59BE-4C7A-B849-7A2D45669885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C147A23-5BA8-44CE-9215-79B767159C4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C74F50-ACC9-5C9E-F352-DF2876C3D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887385-BDB6-4F0D-FBD7-D2B439C4FE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C2EF55-5411-980B-6C5E-EAC18AFEC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0B514A-2EF2-313C-20F4-446707C4E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95BE49-34A7-5FD7-6CBD-ADC06DC03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451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E4EA61-FA68-C4A1-2075-BEE7D002C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755F86-C7CB-2A27-4208-8DA9091DF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ACC1BD-3525-00C0-6038-F8D354A78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F7272B-4829-E7F4-8CA4-60ED2F950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55810F-FDB8-8642-3384-1B5E1361B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4698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F3C3E-62A2-5EDE-A8B9-AD6F04348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6C6E62-A210-E866-C475-BA26A7322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4D5BCC-19F5-9085-9DF2-9C8E61F53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5294FE-1794-63CC-B8C1-BE190FD15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F4F436-D342-944F-CB8F-F6CD05AD3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903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705095-7A9D-F6D4-634E-0CEEBF112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DB5292-4785-EF47-31BD-D1C9892D2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1A23DE-2FB8-476D-9107-92CF9625C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092AB8-76EC-3566-3687-27DEAAA75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3BE9D2-EF55-DA37-E505-A3B41A98A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60F7F4-E2A9-FE3E-8FB0-A05CC00B5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391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61EB0D-9D0F-14E9-4449-F062A733F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2A110E-7AAA-6CE5-2DF2-476E35370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C33FF3-B607-F9E7-A993-88FD67952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3F6335F-A693-9EDF-4390-E987A2DCDB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7EF713E-05BB-B521-66CA-E7C82C0DA7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32B4735-9AE2-78B2-9E16-12027DF29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9482473-E5B7-EFD0-8C70-4546A3B73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F07BBCE-4163-8129-C7FD-4B8DD471A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901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B30DF6-A62D-497E-F9C4-4B85CE88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65B462-D6CD-1DC0-022E-198D1EACF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0AEE2B9-C9F8-EEF1-9B73-C4E5B8891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BFD1D0-87B6-3CC2-C47A-705074090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775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22686C-BD05-FD46-D234-B4E364A05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969D49D-2FC7-CFD1-F5D2-8BAF0925F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634E37-1ACE-D8D2-9D92-7F2C2E14E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659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002CB2-B607-E3DE-BB3C-DE427FF84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5E4EB-2633-FE10-3182-689B71752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39E63F-503E-7E17-9CBD-E295B91D4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F82C5B-A698-548A-21C8-3B1382210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CE1B62-CF23-A08B-0CB6-50E2C2F31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9B3F18-51B0-31B3-F831-E2C62FE83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612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1EF964-F469-8C76-45F8-10BD3ACF7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1885E99-1359-24F3-094B-F1C708E111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AA2F73-5F43-9114-B8DB-6031CD44FF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C0C96B-49D5-018E-5FCF-35D4D5B0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8A8E38-E31A-D54B-5949-63A6DD700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8FFF96-2674-10E6-5124-CCCE1564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59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8AFD2B-37BC-0949-3EC3-26FC51777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B15BB4-D08B-B8D7-98DB-E8411B2566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A31DE9-8ABF-5531-DD38-ACA7794D6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7FC0B4-3F0A-FB95-1B91-0F6A194BB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9354D4-E22C-D5C0-E5C2-87D3C5192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954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B9E1F99-B614-7564-B03D-74CF69AA22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36657C-1D9E-2247-F05A-77C989102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5E26EB-1466-ED0C-47D2-7A06A8B8D3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0673-328F-4FB6-8972-97C9BE18F66D}" type="datetimeFigureOut">
              <a:rPr lang="zh-CN" altLang="en-US" smtClean="0"/>
              <a:t>2024-10-11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40D27D-ACF4-F3C4-B4F5-D50732206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4797BB-4173-612A-BB1D-B289EE294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19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3801" y="4830418"/>
            <a:ext cx="9140200" cy="31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45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2F542D7-BB25-C75F-1C9B-544DFF902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9F0386-EEDC-C973-43C0-E86EA4B81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918855-92E4-9B5A-7232-B3A8C15E21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A0673-328F-4FB6-8972-97C9BE18F66D}" type="datetimeFigureOut">
              <a:rPr lang="zh-CN" altLang="en-US" smtClean="0"/>
              <a:t>2024-10-11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0821D1-7794-5998-A016-34151445F7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7BD70B-9162-D837-5162-E0C155B806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37275-CEF5-4616-BE4A-1CDBC8BDCA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83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19"/>
          <p:cNvSpPr txBox="1"/>
          <p:nvPr/>
        </p:nvSpPr>
        <p:spPr>
          <a:xfrm>
            <a:off x="834888" y="2109253"/>
            <a:ext cx="7255566" cy="1043706"/>
          </a:xfrm>
          <a:prstGeom prst="rect">
            <a:avLst/>
          </a:prstGeom>
          <a:noFill/>
        </p:spPr>
        <p:txBody>
          <a:bodyPr wrap="square" lIns="134452" tIns="67226" rIns="134452" bIns="67226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 defTabSz="252095">
              <a:defRPr/>
            </a:pPr>
            <a:r>
              <a:rPr lang="zh-CN" altLang="en-US" sz="5900" b="1" dirty="0">
                <a:solidFill>
                  <a:srgbClr val="075A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书架问题</a:t>
            </a:r>
            <a:r>
              <a:rPr lang="en-US" altLang="zh-CN" sz="5900" b="1" dirty="0">
                <a:solidFill>
                  <a:srgbClr val="075AA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erif SC" panose="02020400000000000000" pitchFamily="18" charset="-122"/>
              </a:rPr>
              <a:t>1</a:t>
            </a:r>
            <a:endParaRPr lang="zh-CN" altLang="en-US" sz="5900" b="1" dirty="0">
              <a:solidFill>
                <a:srgbClr val="075AA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Source Han Serif SC" panose="02020400000000000000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0" y="57910"/>
            <a:ext cx="9144000" cy="4567748"/>
          </a:xfrm>
          <a:prstGeom prst="rect">
            <a:avLst/>
          </a:prstGeom>
        </p:spPr>
        <p:txBody>
          <a:bodyPr wrap="square" lIns="134452" tIns="67226" rIns="134452" bIns="67226">
            <a:spAutoFit/>
          </a:bodyPr>
          <a:lstStyle/>
          <a:p>
            <a:pPr indent="279400" algn="just">
              <a:spcAft>
                <a:spcPts val="0"/>
              </a:spcAft>
            </a:pP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琪儿有</a:t>
            </a:r>
            <a:r>
              <a:rPr lang="en-US" altLang="zh-CN" sz="2400" i="1" kern="1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本书，已经知道了每本书的宽度（厚度）</a:t>
            </a:r>
            <a:r>
              <a:rPr lang="en-US" altLang="zh-CN" sz="2400" i="1" kern="100" dirty="0">
                <a:latin typeface="Times New Roman" panose="02020603050405020304"/>
                <a:ea typeface="宋体" panose="02010600030101010101" pitchFamily="2" charset="-122"/>
              </a:rPr>
              <a:t>W</a:t>
            </a:r>
            <a:r>
              <a:rPr lang="en-US" altLang="zh-CN" sz="2400" i="1" kern="100" baseline="-25000" dirty="0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以及高度</a:t>
            </a:r>
            <a:r>
              <a:rPr lang="en-US" altLang="zh-CN" sz="2400" i="1" kern="100" dirty="0">
                <a:latin typeface="Times New Roman" panose="02020603050405020304"/>
                <a:ea typeface="宋体" panose="02010600030101010101" pitchFamily="2" charset="-122"/>
              </a:rPr>
              <a:t>L</a:t>
            </a:r>
            <a:r>
              <a:rPr lang="en-US" altLang="zh-CN" sz="2400" i="1" kern="100" baseline="-25000" dirty="0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。她现在需要做一个多层的书架来放这些书，书架的宽度最多为</a:t>
            </a:r>
            <a:r>
              <a:rPr lang="en-US" altLang="zh-CN" sz="2400" i="1" kern="100" dirty="0" err="1">
                <a:latin typeface="Times New Roman" panose="02020603050405020304"/>
                <a:ea typeface="宋体" panose="02010600030101010101" pitchFamily="2" charset="-122"/>
              </a:rPr>
              <a:t>S</a:t>
            </a:r>
            <a:r>
              <a:rPr lang="en-US" altLang="zh-CN" sz="2400" i="1" kern="100" baseline="-25000" dirty="0" err="1">
                <a:latin typeface="Times New Roman" panose="02020603050405020304"/>
                <a:ea typeface="宋体" panose="02010600030101010101" pitchFamily="2" charset="-122"/>
              </a:rPr>
              <a:t>w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。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    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琪儿并不想把这些书的顺序打乱，她希望能够依次将它们排入书架。书必须按照正常方式放置，不能倒过来放。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9400" algn="just">
              <a:spcAft>
                <a:spcPts val="0"/>
              </a:spcAft>
            </a:pP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现读入每本书的信息以及书架的最大宽度，试计算书架最少要多高。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【输入格式】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    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第一行有两个数</a:t>
            </a:r>
            <a:r>
              <a:rPr lang="en-US" altLang="zh-CN" sz="2400" i="1" kern="1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lang="en-US" altLang="zh-CN" sz="2400" i="1" kern="100" dirty="0" err="1">
                <a:latin typeface="Times New Roman" panose="02020603050405020304"/>
                <a:ea typeface="宋体" panose="02010600030101010101" pitchFamily="2" charset="-122"/>
              </a:rPr>
              <a:t>S</a:t>
            </a:r>
            <a:r>
              <a:rPr lang="en-US" altLang="zh-CN" sz="2400" i="1" kern="100" baseline="-25000" dirty="0" err="1">
                <a:latin typeface="Times New Roman" panose="02020603050405020304"/>
                <a:ea typeface="宋体" panose="02010600030101010101" pitchFamily="2" charset="-122"/>
              </a:rPr>
              <a:t>w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≤</a:t>
            </a:r>
            <a:r>
              <a:rPr lang="en-US" altLang="zh-CN" sz="2400" i="1" kern="1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400" i="1" kern="100" dirty="0" err="1">
                <a:latin typeface="Times New Roman" panose="02020603050405020304"/>
                <a:ea typeface="宋体" panose="02010600030101010101" pitchFamily="2" charset="-122"/>
              </a:rPr>
              <a:t>S</a:t>
            </a:r>
            <a:r>
              <a:rPr lang="en-US" altLang="zh-CN" sz="2400" i="1" kern="100" baseline="-25000" dirty="0" err="1">
                <a:latin typeface="Times New Roman" panose="02020603050405020304"/>
                <a:ea typeface="宋体" panose="02010600030101010101" pitchFamily="2" charset="-122"/>
              </a:rPr>
              <a:t>w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≤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10 000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）。 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    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接下来的</a:t>
            </a:r>
            <a:r>
              <a:rPr lang="en-US" altLang="zh-CN" sz="2400" i="1" kern="1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行每行两个整数</a:t>
            </a:r>
            <a:r>
              <a:rPr lang="en-US" altLang="zh-CN" sz="2400" i="1" kern="100" dirty="0">
                <a:latin typeface="Times New Roman" panose="02020603050405020304"/>
                <a:ea typeface="宋体" panose="02010600030101010101" pitchFamily="2" charset="-122"/>
              </a:rPr>
              <a:t>W</a:t>
            </a:r>
            <a:r>
              <a:rPr lang="en-US" altLang="zh-CN" sz="2400" i="1" kern="100" baseline="-25000" dirty="0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lang="en-US" altLang="zh-CN" sz="2400" i="1" kern="100" dirty="0">
                <a:latin typeface="Times New Roman" panose="02020603050405020304"/>
                <a:ea typeface="宋体" panose="02010600030101010101" pitchFamily="2" charset="-122"/>
              </a:rPr>
              <a:t>L</a:t>
            </a:r>
            <a:r>
              <a:rPr lang="en-US" altLang="zh-CN" sz="2400" i="1" kern="100" baseline="-25000" dirty="0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，描述每本书的宽度和高度（均不超过</a:t>
            </a:r>
            <a:r>
              <a:rPr lang="en-US" altLang="zh-CN" sz="2400" kern="100" dirty="0">
                <a:latin typeface="Times New Roman" panose="02020603050405020304"/>
                <a:ea typeface="宋体" panose="02010600030101010101" pitchFamily="2" charset="-122"/>
              </a:rPr>
              <a:t>1 000</a:t>
            </a: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）。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【输出格式】</a:t>
            </a:r>
            <a:endParaRPr lang="zh-CN" altLang="zh-CN" sz="20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6225" algn="just">
              <a:spcAft>
                <a:spcPts val="0"/>
              </a:spcAft>
            </a:pPr>
            <a:r>
              <a:rPr lang="zh-CN" altLang="zh-CN" sz="2400" kern="100" dirty="0">
                <a:latin typeface="Times New Roman" panose="02020603050405020304"/>
                <a:ea typeface="宋体" panose="02010600030101010101" pitchFamily="2" charset="-122"/>
              </a:rPr>
              <a:t>仅一个数，表示最少需要多高。</a:t>
            </a:r>
            <a:endParaRPr lang="zh-CN" altLang="zh-CN" sz="20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366" y="3899873"/>
            <a:ext cx="2462464" cy="123123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6712" y="0"/>
            <a:ext cx="9078012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【输入样例】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9400"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5 5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9400"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2 1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9400"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1 2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9400"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1 3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9400"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2 3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9400"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2 2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【输出样例】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9400"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5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【样例说明】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09550" algn="just"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放在第一层，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4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5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放在第二层。这样第一层高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，第二层高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3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。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【数据范围】</a:t>
            </a:r>
            <a:endParaRPr lang="zh-CN" altLang="zh-CN" sz="18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pPr indent="279400" algn="just">
              <a:spcAft>
                <a:spcPts val="0"/>
              </a:spcAft>
            </a:pPr>
            <a:r>
              <a:rPr lang="en-US" altLang="zh-CN" sz="2000" i="1" kern="1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≤</a:t>
            </a:r>
            <a:r>
              <a:rPr lang="en-US" altLang="zh-CN" sz="2000" kern="100" dirty="0">
                <a:latin typeface="Times New Roman" panose="02020603050405020304"/>
                <a:ea typeface="宋体" panose="02010600030101010101" pitchFamily="2" charset="-122"/>
              </a:rPr>
              <a:t>10</a:t>
            </a:r>
            <a:r>
              <a:rPr lang="en-US" altLang="zh-CN" sz="2000" kern="100" baseline="30000" dirty="0">
                <a:latin typeface="Times New Roman" panose="02020603050405020304"/>
                <a:ea typeface="宋体" panose="02010600030101010101" pitchFamily="2" charset="-122"/>
              </a:rPr>
              <a:t>5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000" i="1" kern="100" dirty="0">
                <a:latin typeface="Times New Roman" panose="02020603050405020304"/>
                <a:ea typeface="宋体" panose="02010600030101010101" pitchFamily="2" charset="-122"/>
              </a:rPr>
              <a:t>W</a:t>
            </a:r>
            <a:r>
              <a:rPr lang="en-US" altLang="zh-CN" sz="2000" i="1" kern="100" baseline="-25000" dirty="0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≤</a:t>
            </a:r>
            <a:r>
              <a:rPr lang="en-US" altLang="zh-CN" sz="2000" i="1" kern="100" dirty="0" err="1">
                <a:latin typeface="Times New Roman" panose="02020603050405020304"/>
                <a:ea typeface="宋体" panose="02010600030101010101" pitchFamily="2" charset="-122"/>
              </a:rPr>
              <a:t>S</a:t>
            </a:r>
            <a:r>
              <a:rPr lang="en-US" altLang="zh-CN" sz="2000" i="1" kern="100" baseline="-25000" dirty="0" err="1">
                <a:latin typeface="Times New Roman" panose="02020603050405020304"/>
                <a:ea typeface="宋体" panose="02010600030101010101" pitchFamily="2" charset="-122"/>
              </a:rPr>
              <a:t>w</a:t>
            </a:r>
            <a:r>
              <a:rPr lang="zh-CN" altLang="zh-CN" sz="2000" kern="100" dirty="0">
                <a:latin typeface="Times New Roman" panose="02020603050405020304"/>
                <a:ea typeface="宋体" panose="02010600030101010101" pitchFamily="2" charset="-122"/>
              </a:rPr>
              <a:t>。</a:t>
            </a:r>
            <a:endParaRPr lang="zh-CN" altLang="zh-CN" sz="18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78211" y="1155146"/>
            <a:ext cx="5829480" cy="1116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366" y="3899873"/>
            <a:ext cx="2462464" cy="123123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27262" y="194190"/>
            <a:ext cx="884234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6225" algn="just">
              <a:spcAft>
                <a:spcPts val="0"/>
              </a:spcAft>
            </a:pP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当顺序摆放到某一本书时只有两种情况：一种是放在当前一层的最后（</a:t>
            </a:r>
            <a:r>
              <a:rPr lang="en-US" altLang="zh-CN" sz="2800" i="1" kern="100" dirty="0">
                <a:latin typeface="Times New Roman" panose="02020603050405020304"/>
                <a:ea typeface="宋体" panose="02010600030101010101" pitchFamily="2" charset="-122"/>
              </a:rPr>
              <a:t>S</a:t>
            </a:r>
            <a:r>
              <a:rPr lang="en-US" altLang="zh-CN" sz="2800" i="1" kern="100" baseline="-25000" dirty="0"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≤</a:t>
            </a:r>
            <a:r>
              <a:rPr lang="en-US" altLang="zh-CN" sz="2800" i="1" kern="100" dirty="0" err="1">
                <a:latin typeface="Times New Roman" panose="02020603050405020304"/>
                <a:ea typeface="宋体" panose="02010600030101010101" pitchFamily="2" charset="-122"/>
              </a:rPr>
              <a:t>S</a:t>
            </a:r>
            <a:r>
              <a:rPr lang="en-US" altLang="zh-CN" sz="2800" i="1" kern="100" baseline="-25000" dirty="0" err="1">
                <a:latin typeface="Times New Roman" panose="02020603050405020304"/>
                <a:ea typeface="宋体" panose="02010600030101010101" pitchFamily="2" charset="-122"/>
              </a:rPr>
              <a:t>w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）；另一种是如果放不下，则放到下一层去。</a:t>
            </a:r>
          </a:p>
          <a:p>
            <a:pPr indent="276225" algn="just">
              <a:spcAft>
                <a:spcPts val="0"/>
              </a:spcAft>
            </a:pP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设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F[</a:t>
            </a:r>
            <a:r>
              <a:rPr lang="en-US" altLang="zh-CN" sz="2800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]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表示到第</a:t>
            </a:r>
            <a:r>
              <a:rPr lang="en-US" altLang="zh-CN" sz="2800" i="1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本书，且第</a:t>
            </a:r>
            <a:r>
              <a:rPr lang="en-US" altLang="zh-CN" sz="2800" i="1" kern="100" dirty="0" err="1"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800" kern="100" dirty="0">
                <a:latin typeface="Times New Roman" panose="02020603050405020304"/>
                <a:ea typeface="宋体" panose="02010600030101010101" pitchFamily="2" charset="-122"/>
              </a:rPr>
              <a:t>本刚好是最后一本摆放在书架上时的最优总高度</a:t>
            </a:r>
            <a:r>
              <a:rPr lang="en-US" altLang="zh-CN" sz="2800" kern="100" dirty="0">
                <a:latin typeface="Times New Roman" panose="02020603050405020304"/>
                <a:ea typeface="宋体" panose="02010600030101010101" pitchFamily="2" charset="-122"/>
              </a:rPr>
              <a:t>.</a:t>
            </a:r>
            <a:endParaRPr lang="zh-CN" altLang="zh-CN" sz="24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366" y="3899873"/>
            <a:ext cx="2462464" cy="1231232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82025" y="1414383"/>
            <a:ext cx="5829480" cy="11167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608028" y="219168"/>
            <a:ext cx="8050491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顺序摆放的</a:t>
            </a:r>
            <a:r>
              <a:rPr lang="en-US" altLang="zh-CN" dirty="0"/>
              <a:t>5</a:t>
            </a:r>
            <a:r>
              <a:rPr lang="zh-CN" altLang="en-US" dirty="0"/>
              <a:t>本书，摆放前</a:t>
            </a:r>
            <a:r>
              <a:rPr lang="en-US" altLang="zh-CN" dirty="0"/>
              <a:t>3</a:t>
            </a:r>
            <a:r>
              <a:rPr lang="zh-CN" altLang="en-US" dirty="0"/>
              <a:t>本书，可得</a:t>
            </a:r>
            <a:r>
              <a:rPr lang="en-US" altLang="zh-CN" dirty="0"/>
              <a:t>F[0]</a:t>
            </a:r>
            <a:r>
              <a:rPr lang="zh-CN" altLang="en-US" dirty="0"/>
              <a:t>＝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F[1]</a:t>
            </a:r>
            <a:r>
              <a:rPr lang="zh-CN" altLang="en-US" dirty="0"/>
              <a:t>＝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F[2]</a:t>
            </a:r>
            <a:r>
              <a:rPr lang="zh-CN" altLang="en-US" dirty="0"/>
              <a:t>＝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F[3]</a:t>
            </a:r>
            <a:r>
              <a:rPr lang="zh-CN" altLang="en-US" dirty="0"/>
              <a:t>＝</a:t>
            </a:r>
            <a:r>
              <a:rPr lang="en-US" altLang="zh-CN" dirty="0"/>
              <a:t>3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366" y="3899873"/>
            <a:ext cx="2462464" cy="123123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70700" y="222849"/>
            <a:ext cx="9026165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摆放第</a:t>
            </a:r>
            <a:r>
              <a:rPr lang="en-US" altLang="zh-CN" dirty="0"/>
              <a:t>4</a:t>
            </a:r>
            <a:r>
              <a:rPr lang="zh-CN" altLang="en-US" dirty="0"/>
              <a:t>本书时，尝试将</a:t>
            </a:r>
            <a:r>
              <a:rPr lang="en-US" altLang="zh-CN" dirty="0"/>
              <a:t>1~4</a:t>
            </a:r>
            <a:r>
              <a:rPr lang="zh-CN" altLang="en-US" dirty="0"/>
              <a:t>区间的书分成前后两段，即｛</a:t>
            </a:r>
            <a:r>
              <a:rPr lang="en-US" altLang="zh-CN" dirty="0"/>
              <a:t>(0),(1,2,3,4)</a:t>
            </a:r>
            <a:r>
              <a:rPr lang="zh-CN" altLang="en-US" dirty="0"/>
              <a:t>｝、｛</a:t>
            </a:r>
            <a:r>
              <a:rPr lang="en-US" altLang="zh-CN" dirty="0"/>
              <a:t>(1),(2,3,4)</a:t>
            </a:r>
            <a:r>
              <a:rPr lang="zh-CN" altLang="en-US" dirty="0"/>
              <a:t>｝、｛</a:t>
            </a:r>
            <a:r>
              <a:rPr lang="en-US" altLang="zh-CN" dirty="0"/>
              <a:t>(1,2),(3,4)</a:t>
            </a:r>
            <a:r>
              <a:rPr lang="zh-CN" altLang="en-US" dirty="0"/>
              <a:t>｝、｛</a:t>
            </a:r>
            <a:r>
              <a:rPr lang="en-US" altLang="zh-CN" dirty="0"/>
              <a:t>(1,2,3),(4)</a:t>
            </a:r>
            <a:r>
              <a:rPr lang="zh-CN" altLang="en-US" dirty="0"/>
              <a:t>｝共</a:t>
            </a:r>
            <a:r>
              <a:rPr lang="en-US" altLang="zh-CN" dirty="0"/>
              <a:t>4</a:t>
            </a:r>
            <a:r>
              <a:rPr lang="zh-CN" altLang="en-US" dirty="0"/>
              <a:t>种可能，其中第</a:t>
            </a:r>
            <a:r>
              <a:rPr lang="en-US" altLang="zh-CN" dirty="0"/>
              <a:t>1</a:t>
            </a:r>
            <a:r>
              <a:rPr lang="zh-CN" altLang="en-US" dirty="0"/>
              <a:t>种方案超过了书架的最大宽度，所以后</a:t>
            </a:r>
            <a:r>
              <a:rPr lang="en-US" altLang="zh-CN" dirty="0"/>
              <a:t>3</a:t>
            </a:r>
            <a:r>
              <a:rPr lang="zh-CN" altLang="en-US" dirty="0"/>
              <a:t>种尝试其实对应着如图所示的摆放方案。</a:t>
            </a:r>
          </a:p>
        </p:txBody>
      </p:sp>
      <p:pic>
        <p:nvPicPr>
          <p:cNvPr id="8" name="图片 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2711" y="2142669"/>
            <a:ext cx="6091978" cy="2141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8366" y="3899873"/>
            <a:ext cx="2462464" cy="1231232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70700" y="222849"/>
            <a:ext cx="902616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276225" algn="just"/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Opt(j</a:t>
            </a:r>
            <a:r>
              <a:rPr lang="zh-CN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1,i)</a:t>
            </a:r>
            <a:r>
              <a:rPr lang="zh-CN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表示从</a:t>
            </a:r>
            <a:r>
              <a:rPr lang="en-US" altLang="zh-CN" sz="2800" i="1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j</a:t>
            </a:r>
            <a:r>
              <a:rPr lang="zh-CN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1</a:t>
            </a:r>
            <a:r>
              <a:rPr lang="zh-CN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本到</a:t>
            </a:r>
            <a:r>
              <a:rPr lang="en-US" altLang="zh-CN" sz="2800" i="1" kern="100" dirty="0" err="1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本书的最高高度，则动态转移方程为：</a:t>
            </a:r>
            <a:endParaRPr lang="zh-CN" altLang="zh-CN" sz="2400" kern="100" dirty="0">
              <a:solidFill>
                <a:prstClr val="black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lvl="0" indent="276225" algn="just"/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F[</a:t>
            </a:r>
            <a:r>
              <a:rPr lang="en-US" altLang="zh-CN" sz="2800" kern="100" dirty="0" err="1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]</a:t>
            </a:r>
            <a:r>
              <a:rPr lang="zh-CN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＝</a:t>
            </a: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min{F[j]</a:t>
            </a:r>
            <a:r>
              <a:rPr lang="zh-CN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Opt(j</a:t>
            </a:r>
            <a:r>
              <a:rPr lang="zh-CN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＋</a:t>
            </a: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1,i)}  (1</a:t>
            </a:r>
            <a:r>
              <a:rPr lang="zh-CN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≤</a:t>
            </a:r>
            <a:r>
              <a:rPr lang="en-US" altLang="zh-CN" sz="2800" i="1" kern="100" dirty="0" err="1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zh-CN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≤</a:t>
            </a:r>
            <a:r>
              <a:rPr lang="en-US" altLang="zh-CN" sz="2800" i="1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zh-CN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，</a:t>
            </a: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0</a:t>
            </a:r>
            <a:r>
              <a:rPr lang="zh-CN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≤</a:t>
            </a:r>
            <a:r>
              <a:rPr lang="en-US" altLang="zh-CN" sz="2800" i="1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j</a:t>
            </a:r>
            <a:r>
              <a:rPr lang="zh-CN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＜</a:t>
            </a:r>
            <a:r>
              <a:rPr lang="en-US" altLang="zh-CN" sz="2800" i="1" kern="100" dirty="0" err="1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i</a:t>
            </a: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)</a:t>
            </a:r>
            <a:endParaRPr lang="zh-CN" altLang="zh-CN" sz="2400" kern="100" dirty="0">
              <a:solidFill>
                <a:prstClr val="black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lvl="0" indent="279400" algn="just"/>
            <a:r>
              <a:rPr lang="zh-CN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答案即</a:t>
            </a: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F[n]</a:t>
            </a:r>
            <a:r>
              <a:rPr lang="zh-CN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，时间复杂度为</a:t>
            </a:r>
            <a:r>
              <a:rPr lang="en-US" altLang="zh-CN" sz="2800" i="1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O</a:t>
            </a: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(</a:t>
            </a:r>
            <a:r>
              <a:rPr lang="en-US" altLang="zh-CN" sz="2800" i="1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n</a:t>
            </a:r>
            <a:r>
              <a:rPr lang="en-US" altLang="zh-CN" sz="2800" kern="100" baseline="300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en-US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)</a:t>
            </a:r>
            <a:r>
              <a:rPr lang="zh-CN" altLang="zh-CN" sz="2800" kern="100" dirty="0">
                <a:solidFill>
                  <a:prstClr val="black"/>
                </a:solidFill>
                <a:latin typeface="Times New Roman" panose="02020603050405020304"/>
                <a:ea typeface="宋体" panose="02010600030101010101" pitchFamily="2" charset="-122"/>
              </a:rPr>
              <a:t>。</a:t>
            </a:r>
            <a:endParaRPr lang="zh-CN" altLang="zh-CN" sz="2400" kern="100" dirty="0">
              <a:solidFill>
                <a:prstClr val="black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-32564" y="131093"/>
            <a:ext cx="9176564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Opt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x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,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y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返回书在区间</a:t>
            </a:r>
            <a:r>
              <a:rPr lang="en-US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(</a:t>
            </a:r>
            <a:r>
              <a:rPr lang="en-US" altLang="zh-CN" sz="2000" kern="0" dirty="0" err="1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x,y</a:t>
            </a:r>
            <a:r>
              <a:rPr lang="en-US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)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的最大高度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width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0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,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h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0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for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x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y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++)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width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+=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w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h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max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l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],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h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return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width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&gt;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sw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?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MAX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: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h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不能超出宽度限定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endParaRPr lang="zh-CN" altLang="zh-CN" sz="24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-32564" y="131093"/>
            <a:ext cx="9176564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scanf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"%</a:t>
            </a:r>
            <a:r>
              <a:rPr lang="en-US" altLang="zh-CN" sz="2000" kern="0" dirty="0" err="1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d%d</a:t>
            </a:r>
            <a:r>
              <a:rPr lang="en-US" altLang="zh-CN" sz="2000" kern="0" dirty="0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"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,&amp;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,&amp;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sw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for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++)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scanf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"%</a:t>
            </a:r>
            <a:r>
              <a:rPr lang="en-US" altLang="zh-CN" sz="2000" kern="0" dirty="0" err="1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d%d</a:t>
            </a:r>
            <a:r>
              <a:rPr lang="en-US" altLang="zh-CN" sz="2000" kern="0" dirty="0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"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,&amp;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w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],&amp;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l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]);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for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++)                     </a:t>
            </a:r>
            <a:r>
              <a:rPr lang="en-US" altLang="zh-CN" sz="2000" kern="0" dirty="0">
                <a:solidFill>
                  <a:srgbClr val="00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//</a:t>
            </a:r>
            <a:r>
              <a:rPr lang="zh-CN" altLang="zh-CN" sz="2000" kern="0" dirty="0">
                <a:solidFill>
                  <a:srgbClr val="008000"/>
                </a:solidFill>
                <a:latin typeface="Times New Roman" panose="02020603050405020304"/>
                <a:ea typeface="YaHei Consolas Hybrid"/>
                <a:cs typeface="Courier New" panose="02070309020205020404"/>
              </a:rPr>
              <a:t>动态规划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{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f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MAX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</a:t>
            </a:r>
            <a:r>
              <a:rPr lang="en-US" altLang="zh-CN" sz="2000" b="1" kern="0" dirty="0">
                <a:solidFill>
                  <a:srgbClr val="0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for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 err="1">
                <a:solidFill>
                  <a:srgbClr val="8000FF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int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j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=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0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j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&lt;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;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j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++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    f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]=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min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f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],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f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j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]+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Opt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j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+</a:t>
            </a:r>
            <a:r>
              <a:rPr lang="en-US" altLang="zh-CN" sz="2000" kern="0" dirty="0">
                <a:solidFill>
                  <a:srgbClr val="FF8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1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,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i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));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}</a:t>
            </a:r>
            <a:endParaRPr lang="zh-CN" altLang="zh-CN" sz="2400" kern="100" dirty="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  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printf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(</a:t>
            </a:r>
            <a:r>
              <a:rPr lang="en-US" altLang="zh-CN" sz="2000" kern="0" dirty="0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"%d\</a:t>
            </a:r>
            <a:r>
              <a:rPr lang="en-US" altLang="zh-CN" sz="2000" kern="0" dirty="0" err="1">
                <a:solidFill>
                  <a:srgbClr val="808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n"</a:t>
            </a:r>
            <a:r>
              <a:rPr lang="en-US" altLang="zh-CN" sz="2000" b="1" kern="0" dirty="0" err="1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,</a:t>
            </a:r>
            <a:r>
              <a:rPr lang="en-US" altLang="zh-CN" sz="2000" kern="0" dirty="0" err="1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f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[</a:t>
            </a:r>
            <a:r>
              <a:rPr lang="en-US" altLang="zh-CN" sz="2000" kern="0" dirty="0">
                <a:solidFill>
                  <a:srgbClr val="00000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n</a:t>
            </a:r>
            <a:r>
              <a:rPr lang="en-US" altLang="zh-CN" sz="2000" b="1" kern="0" dirty="0">
                <a:solidFill>
                  <a:srgbClr val="000080"/>
                </a:solidFill>
                <a:latin typeface="YaHei Consolas Hybrid"/>
                <a:ea typeface="宋体" panose="02010600030101010101" pitchFamily="2" charset="-122"/>
                <a:cs typeface="Courier New" panose="02070309020205020404"/>
              </a:rPr>
              <a:t>]);</a:t>
            </a:r>
            <a:endParaRPr lang="zh-CN" altLang="zh-CN" sz="24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-32564" y="4777318"/>
            <a:ext cx="9176564" cy="3661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4452" tIns="67226" rIns="134452" bIns="67226"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-32564" y="131093"/>
            <a:ext cx="91765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0" y="-70695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Opt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16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L</a:t>
            </a:r>
            <a:r>
              <a:rPr lang="en-US" altLang="zh-CN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,</a:t>
            </a:r>
            <a:r>
              <a:rPr lang="en-US" altLang="zh-CN" sz="16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R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 {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计算书在区间</a:t>
            </a:r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(L,R)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的最大高度</a:t>
            </a:r>
          </a:p>
          <a:p>
            <a:r>
              <a:rPr lang="en-US" altLang="zh-CN" sz="16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16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W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en-US" altLang="zh-CN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0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h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en-US" altLang="zh-CN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0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nn-NO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nn-NO" altLang="zh-CN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nn-NO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nn-NO" altLang="zh-CN" sz="16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nn-NO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i</a:t>
            </a:r>
            <a:r>
              <a:rPr lang="nn-NO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nn-NO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L</a:t>
            </a:r>
            <a:r>
              <a:rPr lang="nn-NO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nn-NO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i</a:t>
            </a:r>
            <a:r>
              <a:rPr lang="nn-NO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&lt;=</a:t>
            </a:r>
            <a:r>
              <a:rPr lang="nn-NO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R</a:t>
            </a:r>
            <a:r>
              <a:rPr lang="nn-NO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nn-NO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i</a:t>
            </a:r>
            <a:r>
              <a:rPr lang="nn-NO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++)</a:t>
            </a:r>
            <a:endParaRPr lang="nn-NO" altLang="zh-CN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h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max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l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],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h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return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sum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R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]-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sum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L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-</a:t>
            </a:r>
            <a:r>
              <a:rPr lang="en-US" altLang="zh-CN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]&gt;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sw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?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MAX 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: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h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总宽度不能超出宽度限定</a:t>
            </a:r>
          </a:p>
          <a:p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}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16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main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(){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scanf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/>
              </a:rPr>
              <a:t>"%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/>
              </a:rPr>
              <a:t>d%d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/>
              </a:rPr>
              <a:t>"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,&amp;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n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,&amp;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sw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nn-NO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nn-NO" altLang="zh-CN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nn-NO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nn-NO" altLang="zh-CN" sz="16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nn-NO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i </a:t>
            </a:r>
            <a:r>
              <a:rPr lang="nn-NO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nn-NO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nn-NO" altLang="zh-CN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nn-NO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nn-NO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i </a:t>
            </a:r>
            <a:r>
              <a:rPr lang="nn-NO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&lt;=</a:t>
            </a:r>
            <a:r>
              <a:rPr lang="nn-NO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n</a:t>
            </a:r>
            <a:r>
              <a:rPr lang="nn-NO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nn-NO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i</a:t>
            </a:r>
            <a:r>
              <a:rPr lang="nn-NO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++)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{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scanf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/>
              </a:rPr>
              <a:t>"%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/>
              </a:rPr>
              <a:t>d%d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/>
              </a:rPr>
              <a:t>"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,&amp;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w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],&amp;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l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]);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sum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]=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sum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-</a:t>
            </a:r>
            <a:r>
              <a:rPr lang="en-US" altLang="zh-CN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]+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w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  </a:t>
            </a:r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前缀和统计区间书的宽度</a:t>
            </a:r>
          </a:p>
          <a:p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}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1600" dirty="0" err="1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&lt;=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n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++)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{</a:t>
            </a:r>
            <a:r>
              <a:rPr lang="en-US" altLang="zh-CN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/>
              </a:rPr>
              <a:t>逐一处理每一本书</a:t>
            </a: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F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MAX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nb-NO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</a:t>
            </a:r>
            <a:r>
              <a:rPr lang="nb-NO" altLang="zh-CN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for</a:t>
            </a:r>
            <a:r>
              <a:rPr lang="nb-NO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nb-NO" altLang="zh-CN" sz="16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/>
              </a:rPr>
              <a:t>int</a:t>
            </a:r>
            <a:r>
              <a:rPr lang="nb-NO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j </a:t>
            </a:r>
            <a:r>
              <a:rPr lang="nb-NO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=</a:t>
            </a:r>
            <a:r>
              <a:rPr lang="nb-NO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i</a:t>
            </a:r>
            <a:r>
              <a:rPr lang="nb-NO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-</a:t>
            </a:r>
            <a:r>
              <a:rPr lang="nb-NO" altLang="zh-CN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nb-NO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nb-NO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j</a:t>
            </a:r>
            <a:r>
              <a:rPr lang="nb-NO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&gt;=</a:t>
            </a:r>
            <a:r>
              <a:rPr lang="nb-NO" altLang="zh-CN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0</a:t>
            </a:r>
            <a:r>
              <a:rPr lang="nb-NO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r>
              <a:rPr lang="nb-NO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j</a:t>
            </a:r>
            <a:r>
              <a:rPr lang="nb-NO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--)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{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  </a:t>
            </a:r>
            <a:r>
              <a:rPr lang="en-US" altLang="zh-CN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if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Opt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</a:t>
            </a:r>
            <a:r>
              <a:rPr lang="en-US" altLang="zh-CN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)&gt;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sw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 </a:t>
            </a:r>
            <a:r>
              <a:rPr lang="en-US" altLang="zh-CN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/>
              </a:rPr>
              <a:t>break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  F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]=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min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F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],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F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]+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Opt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j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+</a:t>
            </a:r>
            <a:r>
              <a:rPr lang="en-US" altLang="zh-CN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/>
              </a:rPr>
              <a:t>1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,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i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));</a:t>
            </a:r>
            <a:endParaRPr lang="en-US" altLang="zh-CN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  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}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zh-CN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}</a:t>
            </a:r>
            <a:endParaRPr lang="zh-CN" alt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/>
            </a:endParaRPr>
          </a:p>
          <a:p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  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printf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(</a:t>
            </a:r>
            <a:r>
              <a:rPr lang="en-US" altLang="zh-CN" sz="1600" dirty="0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/>
              </a:rPr>
              <a:t>"%d\</a:t>
            </a:r>
            <a:r>
              <a:rPr lang="en-US" altLang="zh-CN" sz="1600" dirty="0" err="1">
                <a:solidFill>
                  <a:srgbClr val="808080"/>
                </a:solidFill>
                <a:highlight>
                  <a:srgbClr val="FFFFFF"/>
                </a:highlight>
                <a:latin typeface="Courier New" panose="02070309020205020404"/>
              </a:rPr>
              <a:t>n"</a:t>
            </a:r>
            <a:r>
              <a:rPr lang="en-US" altLang="zh-CN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,</a:t>
            </a:r>
            <a:r>
              <a:rPr lang="en-US" altLang="zh-CN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F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[</a:t>
            </a:r>
            <a:r>
              <a:rPr lang="en-US" altLang="zh-CN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/>
              </a:rPr>
              <a:t>n</a:t>
            </a:r>
            <a:r>
              <a:rPr lang="en-US" altLang="zh-CN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/>
              </a:rPr>
              <a:t>]);</a:t>
            </a:r>
            <a:endParaRPr lang="zh-CN" altLang="zh-CN" sz="1400" kern="100" dirty="0">
              <a:effectLst/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0"/>
    </mc:Choice>
    <mc:Fallback xmlns="">
      <p:transition spd="slow" advClick="0" advTm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5-0315-3小清新手绘唯美教育教学PPT模板"/>
  <p:tag name="KSO_WPP_MARK_KEY" val="2ae62bb9-0c77-426e-bc20-98afddc68931"/>
  <p:tag name="COMMONDATA" val="eyJoZGlkIjoiZWNkNzQwYjliNGZkYjkxNzQ5NTNjZWEyZGU4NWM2NW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944</Words>
  <Application>Microsoft Office PowerPoint</Application>
  <PresentationFormat>全屏显示(16:9)</PresentationFormat>
  <Paragraphs>80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YaHei Consolas Hybrid</vt:lpstr>
      <vt:lpstr>等线</vt:lpstr>
      <vt:lpstr>等线 Light</vt:lpstr>
      <vt:lpstr>微软雅黑</vt:lpstr>
      <vt:lpstr>Arial</vt:lpstr>
      <vt:lpstr>Courier New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5-0315-3小清新手绘唯美教育教学PPT模板</dc:title>
  <dc:creator>Administrator</dc:creator>
  <cp:lastModifiedBy>立军 袁</cp:lastModifiedBy>
  <cp:revision>186</cp:revision>
  <dcterms:created xsi:type="dcterms:W3CDTF">2019-03-15T02:52:00Z</dcterms:created>
  <dcterms:modified xsi:type="dcterms:W3CDTF">2024-10-11T13:22:31Z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4AFDBEA9591C414FA7F6DB25545BCDD0</vt:lpwstr>
  </property>
  <property fmtid="{D5CDD505-2E9C-101B-9397-08002B2CF9AE}" pid="3" name="KSOProductBuildVer">
    <vt:lpwstr>2052-11.1.0.12763</vt:lpwstr>
  </property>
</Properties>
</file>