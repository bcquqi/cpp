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378" r:id="rId3"/>
    <p:sldId id="417" r:id="rId4"/>
    <p:sldId id="379" r:id="rId5"/>
    <p:sldId id="380" r:id="rId6"/>
    <p:sldId id="381" r:id="rId7"/>
    <p:sldId id="382" r:id="rId8"/>
    <p:sldId id="383" r:id="rId9"/>
    <p:sldId id="418" r:id="rId10"/>
    <p:sldId id="419" r:id="rId11"/>
    <p:sldId id="384" r:id="rId12"/>
    <p:sldId id="420" r:id="rId13"/>
    <p:sldId id="421" r:id="rId14"/>
    <p:sldId id="422" r:id="rId15"/>
    <p:sldId id="423" r:id="rId16"/>
    <p:sldId id="424" r:id="rId17"/>
    <p:sldId id="425" r:id="rId18"/>
    <p:sldId id="426" r:id="rId19"/>
    <p:sldId id="427" r:id="rId20"/>
    <p:sldId id="428" r:id="rId21"/>
    <p:sldId id="429" r:id="rId22"/>
    <p:sldId id="430" r:id="rId23"/>
    <p:sldId id="432" r:id="rId24"/>
    <p:sldId id="433" r:id="rId25"/>
    <p:sldId id="434" r:id="rId26"/>
    <p:sldId id="435" r:id="rId27"/>
    <p:sldId id="436" r:id="rId28"/>
    <p:sldId id="437" r:id="rId29"/>
    <p:sldId id="438" r:id="rId30"/>
    <p:sldId id="439" r:id="rId31"/>
    <p:sldId id="440" r:id="rId32"/>
    <p:sldId id="441" r:id="rId33"/>
    <p:sldId id="442" r:id="rId34"/>
    <p:sldId id="443" r:id="rId35"/>
    <p:sldId id="444" r:id="rId36"/>
    <p:sldId id="445" r:id="rId37"/>
    <p:sldId id="446" r:id="rId38"/>
    <p:sldId id="447" r:id="rId39"/>
    <p:sldId id="448" r:id="rId40"/>
    <p:sldId id="449" r:id="rId41"/>
    <p:sldId id="450" r:id="rId42"/>
    <p:sldId id="451" r:id="rId43"/>
    <p:sldId id="452" r:id="rId44"/>
    <p:sldId id="431" r:id="rId45"/>
    <p:sldId id="394" r:id="rId46"/>
  </p:sldIdLst>
  <p:sldSz cx="9144000" cy="6858000" type="screen4x3"/>
  <p:notesSz cx="6858000" cy="9144000"/>
  <p:defaultTextStyle>
    <a:defPPr>
      <a:defRPr lang="en-US"/>
    </a:defPPr>
    <a:lvl1pPr marL="0" lvl="0" indent="0" algn="l" defTabSz="4572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1pPr>
    <a:lvl2pPr marL="457200" lvl="1" indent="0" algn="l" defTabSz="4572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2pPr>
    <a:lvl3pPr marL="914400" lvl="2" indent="0" algn="l" defTabSz="4572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3pPr>
    <a:lvl4pPr marL="1371600" lvl="3" indent="0" algn="l" defTabSz="4572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4pPr>
    <a:lvl5pPr marL="1828800" lvl="4" indent="0" algn="l" defTabSz="4572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5pPr>
    <a:lvl6pPr marL="2286000" lvl="5" indent="0" algn="l" defTabSz="4572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6pPr>
    <a:lvl7pPr marL="2743200" lvl="6" indent="0" algn="l" defTabSz="4572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7pPr>
    <a:lvl8pPr marL="3200400" lvl="7" indent="0" algn="l" defTabSz="4572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8pPr>
    <a:lvl9pPr marL="3657600" lvl="8" indent="0" algn="l" defTabSz="4572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 showGuides="1">
      <p:cViewPr varScale="1">
        <p:scale>
          <a:sx n="68" d="100"/>
          <a:sy n="68" d="100"/>
        </p:scale>
        <p:origin x="1446" y="6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9" Type="http://schemas.openxmlformats.org/officeDocument/2006/relationships/tableStyles" Target="tableStyles.xml"/><Relationship Id="rId48" Type="http://schemas.openxmlformats.org/officeDocument/2006/relationships/viewProps" Target="viewProps.xml"/><Relationship Id="rId47" Type="http://schemas.openxmlformats.org/officeDocument/2006/relationships/presProps" Target="presProps.xml"/><Relationship Id="rId46" Type="http://schemas.openxmlformats.org/officeDocument/2006/relationships/slide" Target="slides/slide44.xml"/><Relationship Id="rId45" Type="http://schemas.openxmlformats.org/officeDocument/2006/relationships/slide" Target="slides/slide43.xml"/><Relationship Id="rId44" Type="http://schemas.openxmlformats.org/officeDocument/2006/relationships/slide" Target="slides/slide42.xml"/><Relationship Id="rId43" Type="http://schemas.openxmlformats.org/officeDocument/2006/relationships/slide" Target="slides/slide41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fontAlgn="base"/>
            <a:r>
              <a:rPr lang="zh-CN" altLang="en-US" strike="noStrike" noProof="1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>
              <a:buNone/>
            </a:pPr>
            <a:fld id="{9A0DB2DC-4C9A-4742-B13C-FB6460FD3503}" type="slidenum">
              <a:rPr lang="en-US" altLang="zh-CN" strike="noStrike" noProof="1" dirty="0">
                <a:latin typeface="Century Gothic" panose="020B050202020202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Century Gothic" panose="020B050202020202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>
              <a:buNone/>
            </a:pPr>
            <a:fld id="{9A0DB2DC-4C9A-4742-B13C-FB6460FD3503}" type="slidenum">
              <a:rPr lang="en-US" altLang="zh-CN" strike="noStrike" noProof="1" dirty="0">
                <a:latin typeface="Century Gothic" panose="020B050202020202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Century Gothic" panose="020B050202020202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>
              <a:buNone/>
            </a:pPr>
            <a:fld id="{9A0DB2DC-4C9A-4742-B13C-FB6460FD3503}" type="slidenum">
              <a:rPr lang="en-US" altLang="zh-CN" strike="noStrike" noProof="1" dirty="0">
                <a:latin typeface="Century Gothic" panose="020B050202020202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Century Gothic" panose="020B0502020202020204" pitchFamily="34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>
              <a:buNone/>
            </a:pPr>
            <a:fld id="{9A0DB2DC-4C9A-4742-B13C-FB6460FD3503}" type="slidenum">
              <a:rPr lang="en-US" altLang="zh-CN" strike="noStrike" noProof="1" dirty="0">
                <a:latin typeface="Century Gothic" panose="020B050202020202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Century Gothic" panose="020B050202020202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>
              <a:buNone/>
            </a:pPr>
            <a:fld id="{9A0DB2DC-4C9A-4742-B13C-FB6460FD3503}" type="slidenum">
              <a:rPr lang="en-US" altLang="zh-CN" strike="noStrike" noProof="1" dirty="0">
                <a:latin typeface="Century Gothic" panose="020B050202020202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Century Gothic" panose="020B0502020202020204" pitchFamily="34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>
              <a:buNone/>
            </a:pPr>
            <a:fld id="{9A0DB2DC-4C9A-4742-B13C-FB6460FD3503}" type="slidenum">
              <a:rPr lang="en-US" altLang="zh-CN" strike="noStrike" noProof="1" dirty="0">
                <a:latin typeface="Century Gothic" panose="020B050202020202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Century Gothic" panose="020B050202020202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>
              <a:buNone/>
            </a:pPr>
            <a:fld id="{9A0DB2DC-4C9A-4742-B13C-FB6460FD3503}" type="slidenum">
              <a:rPr lang="en-US" altLang="zh-CN" strike="noStrike" noProof="1" dirty="0">
                <a:latin typeface="Century Gothic" panose="020B050202020202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Century Gothic" panose="020B0502020202020204" pitchFamily="34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>
              <a:buNone/>
            </a:pPr>
            <a:fld id="{9A0DB2DC-4C9A-4742-B13C-FB6460FD3503}" type="slidenum">
              <a:rPr lang="en-US" altLang="zh-CN" strike="noStrike" noProof="1" dirty="0">
                <a:latin typeface="Century Gothic" panose="020B050202020202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Century Gothic" panose="020B0502020202020204" pitchFamily="34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rtlCol="0" anchor="t" anchorCtr="0" compatLnSpc="1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>
              <a:buNone/>
            </a:pPr>
            <a:fld id="{9A0DB2DC-4C9A-4742-B13C-FB6460FD3503}" type="slidenum">
              <a:rPr lang="en-US" altLang="zh-CN" strike="noStrike" noProof="1" dirty="0">
                <a:latin typeface="Century Gothic" panose="020B050202020202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Century Gothic" panose="020B0502020202020204" pitchFamily="34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>
              <a:buNone/>
            </a:pPr>
            <a:fld id="{9A0DB2DC-4C9A-4742-B13C-FB6460FD3503}" type="slidenum">
              <a:rPr lang="en-US" altLang="zh-CN" strike="noStrike" noProof="1" dirty="0">
                <a:latin typeface="Century Gothic" panose="020B050202020202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Century Gothic" panose="020B0502020202020204" pitchFamily="34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>
              <a:buNone/>
            </a:pPr>
            <a:fld id="{9A0DB2DC-4C9A-4742-B13C-FB6460FD3503}" type="slidenum">
              <a:rPr lang="en-US" altLang="zh-CN" strike="noStrike" noProof="1" dirty="0">
                <a:latin typeface="Century Gothic" panose="020B050202020202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Century Gothic" panose="020B050202020202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文本占位符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>
              <a:defRPr sz="1200">
                <a:solidFill>
                  <a:srgbClr val="898989"/>
                </a:solidFill>
                <a:ea typeface="宋体" panose="02010600030101010101" pitchFamily="2" charset="-122"/>
              </a:defRPr>
            </a:lvl1pPr>
          </a:lstStyle>
          <a:p>
            <a:pPr lvl="0" fontAlgn="base">
              <a:buNone/>
            </a:pPr>
            <a:fld id="{9A0DB2DC-4C9A-4742-B13C-FB6460FD3503}" type="slidenum">
              <a:rPr lang="en-US" altLang="zh-CN" strike="noStrike" noProof="1" dirty="0">
                <a:latin typeface="Century Gothic" panose="020B050202020202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Century Gothic" panose="020B0502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9" name="标题 1"/>
          <p:cNvSpPr txBox="1"/>
          <p:nvPr/>
        </p:nvSpPr>
        <p:spPr>
          <a:xfrm>
            <a:off x="468313" y="908050"/>
            <a:ext cx="8280400" cy="725488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algn="ctr">
              <a:buFontTx/>
            </a:pPr>
            <a:r>
              <a:rPr lang="zh-CN" altLang="en-US" sz="2800" b="1" dirty="0">
                <a:solidFill>
                  <a:srgbClr val="8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第 </a:t>
            </a:r>
            <a:r>
              <a:rPr lang="en-US" altLang="zh-CN" sz="2800" b="1" dirty="0">
                <a:solidFill>
                  <a:srgbClr val="8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10 </a:t>
            </a:r>
            <a:r>
              <a:rPr lang="zh-CN" altLang="en-US" sz="2800" b="1" dirty="0">
                <a:solidFill>
                  <a:srgbClr val="8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课 格式控制</a:t>
            </a:r>
            <a:endParaRPr lang="zh-CN" altLang="en-US" sz="2800" b="1" dirty="0">
              <a:solidFill>
                <a:srgbClr val="8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050" name="矩形 2"/>
          <p:cNvSpPr/>
          <p:nvPr/>
        </p:nvSpPr>
        <p:spPr>
          <a:xfrm>
            <a:off x="1225550" y="2133600"/>
            <a:ext cx="7523163" cy="226218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Aft>
                <a:spcPts val="180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</a:pPr>
            <a:r>
              <a:rPr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学习目标</a:t>
            </a:r>
            <a:endParaRPr lang="zh-CN" altLang="en-US" sz="2400" b="1" dirty="0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spcAft>
                <a:spcPts val="180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</a:pP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1. </a:t>
            </a:r>
            <a:r>
              <a:rPr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了解 </a:t>
            </a: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C++ </a:t>
            </a:r>
            <a:r>
              <a:rPr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的格式控制。</a:t>
            </a:r>
            <a:endParaRPr lang="zh-CN" altLang="en-US" sz="2400" b="1" dirty="0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spcAft>
                <a:spcPts val="180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</a:pP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2. </a:t>
            </a:r>
            <a:r>
              <a:rPr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学会 </a:t>
            </a: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scanf </a:t>
            </a:r>
            <a:r>
              <a:rPr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和 </a:t>
            </a: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printf </a:t>
            </a:r>
            <a:r>
              <a:rPr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函数的使用。</a:t>
            </a:r>
            <a:endParaRPr lang="zh-CN" altLang="en-US" sz="2400" b="1" dirty="0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spcAft>
                <a:spcPts val="180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</a:pP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3. </a:t>
            </a:r>
            <a:r>
              <a:rPr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知晓 </a:t>
            </a: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scanf</a:t>
            </a:r>
            <a:r>
              <a:rPr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、</a:t>
            </a: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printf </a:t>
            </a:r>
            <a:r>
              <a:rPr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与 </a:t>
            </a: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cin</a:t>
            </a:r>
            <a:r>
              <a:rPr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、</a:t>
            </a: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cout </a:t>
            </a:r>
            <a:r>
              <a:rPr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的区别。</a:t>
            </a:r>
            <a:endParaRPr lang="en-US" altLang="zh-CN" sz="2400" b="1" dirty="0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3" name="矩形 2"/>
          <p:cNvSpPr/>
          <p:nvPr/>
        </p:nvSpPr>
        <p:spPr>
          <a:xfrm>
            <a:off x="371475" y="1557338"/>
            <a:ext cx="8748713" cy="504666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lnSpc>
                <a:spcPct val="150000"/>
              </a:lnSpc>
              <a:buFontTx/>
            </a:pP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C++</a:t>
            </a:r>
            <a:r>
              <a:rPr lang="zh-CN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语言兼容</a:t>
            </a: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</a:t>
            </a:r>
            <a:r>
              <a:rPr lang="zh-CN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语言中的基本语句语法</a:t>
            </a:r>
            <a:r>
              <a:rPr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scanf</a:t>
            </a:r>
            <a:r>
              <a:rPr lang="zh-CN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和</a:t>
            </a: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printf</a:t>
            </a:r>
            <a:r>
              <a:rPr lang="zh-CN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是</a:t>
            </a: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</a:t>
            </a:r>
            <a:r>
              <a:rPr lang="zh-CN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语言中的输入输出函数（语句），在</a:t>
            </a: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C++</a:t>
            </a:r>
            <a:r>
              <a:rPr lang="zh-CN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语言环境中也可以使用。</a:t>
            </a:r>
            <a:endParaRPr lang="en-US" altLang="zh-CN" sz="2400" b="1" dirty="0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  <a:buFontTx/>
            </a:pP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</a:t>
            </a:r>
            <a:r>
              <a:rPr lang="zh-CN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“</a:t>
            </a: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</a:t>
            </a:r>
            <a:r>
              <a:rPr lang="zh-CN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”是</a:t>
            </a: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format(</a:t>
            </a:r>
            <a:r>
              <a:rPr lang="zh-CN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格式</a:t>
            </a: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lang="zh-CN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之意，就是要按照指定的格式输入输出值，所以，又称为格式输入输出函数。</a:t>
            </a:r>
            <a:endParaRPr lang="en-US" altLang="zh-CN" sz="2400" b="1" dirty="0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  <a:buFontTx/>
            </a:pP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</a:t>
            </a:r>
            <a:r>
              <a:rPr lang="zh-CN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对于大数据的输入输出，使用</a:t>
            </a: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scanf</a:t>
            </a:r>
            <a:r>
              <a:rPr lang="zh-CN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和</a:t>
            </a: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printf</a:t>
            </a:r>
            <a:r>
              <a:rPr lang="zh-CN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，比</a:t>
            </a: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C++</a:t>
            </a:r>
            <a:r>
              <a:rPr lang="zh-CN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中的输入输出流语句（</a:t>
            </a: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cin</a:t>
            </a:r>
            <a:r>
              <a:rPr lang="zh-CN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和</a:t>
            </a: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cout</a:t>
            </a:r>
            <a:r>
              <a:rPr lang="zh-CN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）效率更高、速度更快。</a:t>
            </a:r>
            <a:endParaRPr lang="zh-CN" altLang="zh-CN" sz="2400" b="1" dirty="0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  <a:buFontTx/>
            </a:pP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scanf</a:t>
            </a:r>
            <a:r>
              <a:rPr lang="zh-CN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和</a:t>
            </a: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printf</a:t>
            </a:r>
            <a:r>
              <a:rPr lang="zh-CN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是标准库函数，使用前需要加上</a:t>
            </a: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cstdio</a:t>
            </a:r>
            <a:r>
              <a:rPr lang="zh-CN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头文件。</a:t>
            </a:r>
            <a:endParaRPr lang="zh-CN" altLang="zh-CN" sz="2400" b="1" dirty="0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slow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7" name="标题 1"/>
          <p:cNvSpPr txBox="1"/>
          <p:nvPr/>
        </p:nvSpPr>
        <p:spPr>
          <a:xfrm>
            <a:off x="395288" y="1119188"/>
            <a:ext cx="8280400" cy="725487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>
              <a:buFontTx/>
            </a:pPr>
            <a:r>
              <a:rPr lang="en-US" altLang="zh-CN" sz="2800" b="1" dirty="0">
                <a:solidFill>
                  <a:srgbClr val="8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1. printf </a:t>
            </a:r>
            <a:r>
              <a:rPr lang="zh-CN" altLang="en-US" sz="2800" b="1" dirty="0">
                <a:solidFill>
                  <a:srgbClr val="8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函数</a:t>
            </a:r>
            <a:endParaRPr lang="en-US" altLang="zh-CN" sz="2800" b="1" dirty="0">
              <a:solidFill>
                <a:srgbClr val="8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098" name="矩形 2"/>
          <p:cNvSpPr/>
          <p:nvPr/>
        </p:nvSpPr>
        <p:spPr>
          <a:xfrm>
            <a:off x="395288" y="1628775"/>
            <a:ext cx="8280400" cy="11303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indent="611505">
              <a:lnSpc>
                <a:spcPct val="150000"/>
              </a:lnSpc>
              <a:buFontTx/>
            </a:pP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printf </a:t>
            </a:r>
            <a:r>
              <a:rPr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函数的格式为：</a:t>
            </a:r>
            <a:endParaRPr lang="zh-CN" altLang="en-US" sz="2400" b="1" dirty="0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611505">
              <a:lnSpc>
                <a:spcPct val="150000"/>
              </a:lnSpc>
              <a:buFontTx/>
            </a:pP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printf</a:t>
            </a:r>
            <a:r>
              <a:rPr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（格式控制字符串，输出列表）</a:t>
            </a: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;</a:t>
            </a:r>
            <a:endParaRPr lang="zh-CN" altLang="en-US" sz="2400" b="1" dirty="0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4099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9413" y="2743200"/>
            <a:ext cx="8332787" cy="35909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slow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1" name="标题 1"/>
          <p:cNvSpPr txBox="1"/>
          <p:nvPr/>
        </p:nvSpPr>
        <p:spPr>
          <a:xfrm>
            <a:off x="395288" y="908050"/>
            <a:ext cx="8280400" cy="725488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indent="611505">
              <a:lnSpc>
                <a:spcPct val="150000"/>
              </a:lnSpc>
              <a:buFontTx/>
            </a:pPr>
            <a:r>
              <a:rPr lang="zh-CN" altLang="en-US" sz="2800" b="1" dirty="0">
                <a:solidFill>
                  <a:srgbClr val="8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使用说明</a:t>
            </a:r>
            <a:endParaRPr lang="en-US" altLang="zh-CN" sz="2800" b="1" dirty="0">
              <a:solidFill>
                <a:srgbClr val="8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122" name="矩形 2"/>
          <p:cNvSpPr/>
          <p:nvPr/>
        </p:nvSpPr>
        <p:spPr>
          <a:xfrm>
            <a:off x="382588" y="1844675"/>
            <a:ext cx="8280400" cy="409416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indent="611505">
              <a:spcAft>
                <a:spcPts val="600"/>
              </a:spcAft>
              <a:buFontTx/>
            </a:pP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） 输出整数形式可以用 </a:t>
            </a: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%d </a:t>
            </a:r>
            <a:r>
              <a:rPr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或 </a:t>
            </a: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%md</a:t>
            </a:r>
            <a:r>
              <a:rPr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m </a:t>
            </a:r>
            <a:r>
              <a:rPr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为指定的输出字符的宽度，输出数据右对齐。</a:t>
            </a:r>
            <a:endParaRPr lang="en-US" altLang="zh-CN" sz="2400" b="1" dirty="0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611505">
              <a:spcAft>
                <a:spcPts val="600"/>
              </a:spcAft>
              <a:buFontTx/>
            </a:pP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） 输出长整型可以用 </a:t>
            </a: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%ld</a:t>
            </a:r>
            <a:r>
              <a:rPr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，一个 </a:t>
            </a: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int </a:t>
            </a:r>
            <a:r>
              <a:rPr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型数据可以用 </a:t>
            </a: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%d </a:t>
            </a:r>
            <a:r>
              <a:rPr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或 </a:t>
            </a: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%ld </a:t>
            </a:r>
            <a:r>
              <a:rPr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格式输出。</a:t>
            </a:r>
            <a:endParaRPr lang="zh-CN" altLang="en-US" sz="2400" b="1" dirty="0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611505">
              <a:spcAft>
                <a:spcPts val="600"/>
              </a:spcAft>
              <a:buFontTx/>
            </a:pP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r>
              <a:rPr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） 输出字符串用 </a:t>
            </a: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%s</a:t>
            </a:r>
            <a:r>
              <a:rPr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，如“</a:t>
            </a: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printf </a:t>
            </a:r>
            <a:r>
              <a:rPr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（ “ </a:t>
            </a: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%s ” </a:t>
            </a:r>
            <a:r>
              <a:rPr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 “ </a:t>
            </a: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hello ” </a:t>
            </a:r>
            <a:r>
              <a:rPr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）；”。</a:t>
            </a:r>
            <a:endParaRPr lang="zh-CN" altLang="en-US" sz="2400" b="1" dirty="0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611505">
              <a:spcAft>
                <a:spcPts val="600"/>
              </a:spcAft>
              <a:buFontTx/>
            </a:pP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4</a:t>
            </a:r>
            <a:r>
              <a:rPr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） “</a:t>
            </a: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%ms”</a:t>
            </a:r>
            <a:r>
              <a:rPr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，输出的字符串占 </a:t>
            </a: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m </a:t>
            </a:r>
            <a:r>
              <a:rPr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列，如字符串本身长度大于 </a:t>
            </a: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m</a:t>
            </a:r>
            <a:r>
              <a:rPr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，则突破 </a:t>
            </a: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m </a:t>
            </a:r>
            <a:r>
              <a:rPr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的限制，将字符串全部输出；若串的长度小于 </a:t>
            </a: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m</a:t>
            </a:r>
            <a:r>
              <a:rPr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，则左补空格。</a:t>
            </a:r>
            <a:endParaRPr lang="zh-CN" altLang="en-US" sz="2400" b="1" dirty="0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611505">
              <a:spcAft>
                <a:spcPts val="600"/>
              </a:spcAft>
              <a:buFontTx/>
            </a:pPr>
            <a:endParaRPr lang="zh-CN" altLang="en-US" sz="2400" b="1" dirty="0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slow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标题 1"/>
          <p:cNvSpPr txBox="1"/>
          <p:nvPr/>
        </p:nvSpPr>
        <p:spPr>
          <a:xfrm>
            <a:off x="395288" y="912813"/>
            <a:ext cx="8280400" cy="725487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indent="611505">
              <a:lnSpc>
                <a:spcPct val="150000"/>
              </a:lnSpc>
              <a:buFontTx/>
            </a:pPr>
            <a:r>
              <a:rPr lang="zh-CN" altLang="en-US" sz="2800" b="1" dirty="0">
                <a:solidFill>
                  <a:srgbClr val="8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使用说明</a:t>
            </a:r>
            <a:endParaRPr lang="en-US" altLang="zh-CN" sz="2800" b="1" dirty="0">
              <a:solidFill>
                <a:srgbClr val="8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146" name="矩形 2"/>
          <p:cNvSpPr/>
          <p:nvPr/>
        </p:nvSpPr>
        <p:spPr>
          <a:xfrm>
            <a:off x="395288" y="1717675"/>
            <a:ext cx="8424862" cy="441166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indent="611505">
              <a:spcAft>
                <a:spcPts val="500"/>
              </a:spcAft>
              <a:buFontTx/>
            </a:pP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5</a:t>
            </a:r>
            <a:r>
              <a:rPr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） “</a:t>
            </a: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%-ms”</a:t>
            </a:r>
            <a:r>
              <a:rPr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，若串长小于 </a:t>
            </a: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m</a:t>
            </a:r>
            <a:r>
              <a:rPr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，则在 </a:t>
            </a: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m </a:t>
            </a:r>
            <a:r>
              <a:rPr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列范围内，字符串向左靠，右补空格。</a:t>
            </a:r>
            <a:endParaRPr lang="zh-CN" altLang="en-US" sz="2400" b="1" dirty="0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611505">
              <a:spcAft>
                <a:spcPts val="500"/>
              </a:spcAft>
              <a:buFontTx/>
            </a:pP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6</a:t>
            </a:r>
            <a:r>
              <a:rPr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） “</a:t>
            </a: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%m.ns”</a:t>
            </a:r>
            <a:r>
              <a:rPr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，输出占 </a:t>
            </a: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m </a:t>
            </a:r>
            <a:r>
              <a:rPr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列，但只取字符串中左端 </a:t>
            </a: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 </a:t>
            </a:r>
            <a:r>
              <a:rPr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个字符。这 </a:t>
            </a: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 </a:t>
            </a:r>
            <a:r>
              <a:rPr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个字符输出在 </a:t>
            </a: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m </a:t>
            </a:r>
            <a:r>
              <a:rPr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列的右侧，左补空格。</a:t>
            </a:r>
            <a:endParaRPr lang="zh-CN" altLang="en-US" sz="2400" b="1" dirty="0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611505">
              <a:spcAft>
                <a:spcPts val="500"/>
              </a:spcAft>
              <a:buFontTx/>
            </a:pP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7</a:t>
            </a:r>
            <a:r>
              <a:rPr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） “</a:t>
            </a: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%-m.ns”</a:t>
            </a:r>
            <a:r>
              <a:rPr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m</a:t>
            </a:r>
            <a:r>
              <a:rPr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、</a:t>
            </a: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 </a:t>
            </a:r>
            <a:r>
              <a:rPr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含义同上，</a:t>
            </a: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 </a:t>
            </a:r>
            <a:r>
              <a:rPr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个字符输出在 </a:t>
            </a: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m </a:t>
            </a:r>
            <a:r>
              <a:rPr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列范围的左侧，右补空格，如果 </a:t>
            </a: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n&gt;m</a:t>
            </a:r>
            <a:r>
              <a:rPr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，则 </a:t>
            </a: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m</a:t>
            </a:r>
            <a:r>
              <a:rPr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自动取 </a:t>
            </a: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 </a:t>
            </a:r>
            <a:r>
              <a:rPr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值，即保证 </a:t>
            </a: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 </a:t>
            </a:r>
            <a:r>
              <a:rPr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个字符正常输出。</a:t>
            </a:r>
            <a:endParaRPr lang="zh-CN" altLang="en-US" sz="2400" b="1" dirty="0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611505">
              <a:spcAft>
                <a:spcPts val="500"/>
              </a:spcAft>
              <a:buFontTx/>
            </a:pP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8</a:t>
            </a:r>
            <a:r>
              <a:rPr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） “</a:t>
            </a: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%m.nf”</a:t>
            </a:r>
            <a:r>
              <a:rPr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，输出浮点数，占 </a:t>
            </a: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m </a:t>
            </a:r>
            <a:r>
              <a:rPr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列，其中有 </a:t>
            </a: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 </a:t>
            </a:r>
            <a:r>
              <a:rPr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位小数，如果数值长度小于 </a:t>
            </a: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m</a:t>
            </a:r>
            <a:r>
              <a:rPr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，则左补空格。</a:t>
            </a:r>
            <a:endParaRPr lang="zh-CN" altLang="en-US" sz="2400" b="1" dirty="0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611505">
              <a:spcAft>
                <a:spcPts val="500"/>
              </a:spcAft>
              <a:buFontTx/>
            </a:pP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9</a:t>
            </a:r>
            <a:r>
              <a:rPr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） “</a:t>
            </a: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%-m.nf”</a:t>
            </a:r>
            <a:r>
              <a:rPr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，同上，只是使输出的数值向左端靠齐，右端补空格。</a:t>
            </a:r>
            <a:endParaRPr lang="zh-CN" altLang="en-US" sz="2400" b="1" dirty="0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slow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69" name="标题 1"/>
          <p:cNvSpPr txBox="1"/>
          <p:nvPr/>
        </p:nvSpPr>
        <p:spPr>
          <a:xfrm>
            <a:off x="395288" y="1119188"/>
            <a:ext cx="8280400" cy="725487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>
              <a:buFontTx/>
            </a:pPr>
            <a:r>
              <a:rPr lang="zh-CN" altLang="en-US" sz="2400" b="1" dirty="0">
                <a:solidFill>
                  <a:srgbClr val="8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例</a:t>
            </a:r>
            <a:r>
              <a:rPr lang="en-US" altLang="zh-CN" sz="2400" b="1" dirty="0">
                <a:solidFill>
                  <a:srgbClr val="8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r>
              <a:rPr lang="zh-CN" altLang="en-US" sz="2400" b="1" dirty="0">
                <a:solidFill>
                  <a:srgbClr val="8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、阅读并上机调试程序，体会 </a:t>
            </a:r>
            <a:r>
              <a:rPr lang="en-US" altLang="zh-CN" sz="2400" b="1" dirty="0">
                <a:solidFill>
                  <a:srgbClr val="8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printf </a:t>
            </a:r>
            <a:r>
              <a:rPr lang="zh-CN" altLang="en-US" sz="2400" b="1" dirty="0">
                <a:solidFill>
                  <a:srgbClr val="8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函数的使用。</a:t>
            </a:r>
            <a:endParaRPr lang="en-US" altLang="zh-CN" sz="2400" b="1" dirty="0">
              <a:solidFill>
                <a:srgbClr val="8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170" name="矩形 2"/>
          <p:cNvSpPr/>
          <p:nvPr/>
        </p:nvSpPr>
        <p:spPr>
          <a:xfrm>
            <a:off x="755650" y="1773238"/>
            <a:ext cx="7488238" cy="44005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buFontTx/>
            </a:pP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//p2-10-1</a:t>
            </a:r>
            <a:endParaRPr lang="en-US" altLang="zh-CN" sz="2000" b="1" dirty="0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buFontTx/>
            </a:pP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#include&lt;cstdio&gt;</a:t>
            </a:r>
            <a:endParaRPr lang="en-US" altLang="zh-CN" sz="2000" b="1" dirty="0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buFontTx/>
            </a:pP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using namespace std;</a:t>
            </a:r>
            <a:endParaRPr lang="en-US" altLang="zh-CN" sz="2000" b="1" dirty="0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buFontTx/>
            </a:pP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int main(){</a:t>
            </a:r>
            <a:endParaRPr lang="en-US" altLang="zh-CN" sz="2000" b="1" dirty="0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buFontTx/>
            </a:pP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printf( “ %d ” ,1); // </a:t>
            </a:r>
            <a:r>
              <a:rPr lang="zh-CN" altLang="en-US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输出 </a:t>
            </a: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endParaRPr lang="en-US" altLang="zh-CN" sz="2000" b="1" dirty="0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buFontTx/>
            </a:pP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printf( “ %o ” ,8); // </a:t>
            </a:r>
            <a:r>
              <a:rPr lang="zh-CN" altLang="en-US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输出 </a:t>
            </a: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10</a:t>
            </a:r>
            <a:endParaRPr lang="en-US" altLang="zh-CN" sz="2000" b="1" dirty="0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buFontTx/>
            </a:pP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printf( “ %x ” ,17); // </a:t>
            </a:r>
            <a:r>
              <a:rPr lang="zh-CN" altLang="en-US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输出 </a:t>
            </a: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11</a:t>
            </a:r>
            <a:endParaRPr lang="en-US" altLang="zh-CN" sz="2000" b="1" dirty="0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buFontTx/>
            </a:pP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printf( “ %u ” ,12); // </a:t>
            </a:r>
            <a:r>
              <a:rPr lang="zh-CN" altLang="en-US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输出 </a:t>
            </a: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12</a:t>
            </a:r>
            <a:endParaRPr lang="en-US" altLang="zh-CN" sz="2000" b="1" dirty="0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buFontTx/>
            </a:pP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printf( “ %c ” ,49); // </a:t>
            </a:r>
            <a:r>
              <a:rPr lang="zh-CN" altLang="en-US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输出 </a:t>
            </a: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endParaRPr lang="en-US" altLang="zh-CN" sz="2000" b="1" dirty="0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buFontTx/>
            </a:pP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printf( “ %s ” , ” 1ab11 ” ); // </a:t>
            </a:r>
            <a:r>
              <a:rPr lang="zh-CN" altLang="en-US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输出 </a:t>
            </a: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1ab11</a:t>
            </a:r>
            <a:endParaRPr lang="en-US" altLang="zh-CN" sz="2000" b="1" dirty="0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buFontTx/>
            </a:pP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printf( “ %f ” ,0.14); // </a:t>
            </a:r>
            <a:r>
              <a:rPr lang="zh-CN" altLang="en-US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输出 </a:t>
            </a: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0.140000</a:t>
            </a:r>
            <a:endParaRPr lang="en-US" altLang="zh-CN" sz="2000" b="1" dirty="0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buFontTx/>
            </a:pP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printf( “ %e ” ,0.1); // </a:t>
            </a:r>
            <a:r>
              <a:rPr lang="zh-CN" altLang="en-US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输出 </a:t>
            </a: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1.000000e-001</a:t>
            </a:r>
            <a:endParaRPr lang="en-US" altLang="zh-CN" sz="2000" b="1" dirty="0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buFontTx/>
            </a:pP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printf( “ %lld ” ,21473648); // </a:t>
            </a:r>
            <a:r>
              <a:rPr lang="zh-CN" altLang="en-US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输出 </a:t>
            </a: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21473648</a:t>
            </a:r>
            <a:endParaRPr lang="en-US" altLang="zh-CN" sz="2000" b="1" dirty="0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buFontTx/>
            </a:pP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}</a:t>
            </a:r>
            <a:endParaRPr lang="zh-CN" altLang="en-US" sz="2000" b="1" dirty="0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slow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3" name="标题 1"/>
          <p:cNvSpPr txBox="1"/>
          <p:nvPr/>
        </p:nvSpPr>
        <p:spPr>
          <a:xfrm>
            <a:off x="395288" y="1119188"/>
            <a:ext cx="8280400" cy="725487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>
              <a:buFontTx/>
            </a:pPr>
            <a:r>
              <a:rPr lang="en-US" altLang="zh-CN" sz="2800" b="1" dirty="0">
                <a:solidFill>
                  <a:srgbClr val="8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2. scanf </a:t>
            </a:r>
            <a:r>
              <a:rPr lang="zh-CN" altLang="en-US" sz="2800" b="1" dirty="0">
                <a:solidFill>
                  <a:srgbClr val="8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函数</a:t>
            </a:r>
            <a:endParaRPr lang="en-US" altLang="zh-CN" sz="2800" b="1" dirty="0">
              <a:solidFill>
                <a:srgbClr val="8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194" name="矩形 2"/>
          <p:cNvSpPr/>
          <p:nvPr/>
        </p:nvSpPr>
        <p:spPr>
          <a:xfrm>
            <a:off x="395288" y="1773238"/>
            <a:ext cx="8640762" cy="4148137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indent="611505">
              <a:lnSpc>
                <a:spcPct val="110000"/>
              </a:lnSpc>
              <a:buFontTx/>
            </a:pP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scanf </a:t>
            </a:r>
            <a:r>
              <a:rPr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函数的格式为：</a:t>
            </a:r>
            <a:endParaRPr lang="zh-CN" altLang="en-US" sz="2400" b="1" dirty="0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611505">
              <a:lnSpc>
                <a:spcPct val="110000"/>
              </a:lnSpc>
              <a:buFontTx/>
            </a:pP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scanf</a:t>
            </a:r>
            <a:r>
              <a:rPr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（格式控制字符串 </a:t>
            </a: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地址表列）</a:t>
            </a: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;</a:t>
            </a:r>
            <a:endParaRPr lang="en-US" altLang="zh-CN" sz="2400" b="1" dirty="0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611505">
              <a:lnSpc>
                <a:spcPct val="110000"/>
              </a:lnSpc>
              <a:buFontTx/>
            </a:pP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scanf </a:t>
            </a:r>
            <a:r>
              <a:rPr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的作用是输入指定形式的数据。其中，地址列表可以是变量的地址，也可以是字符串的首地址。</a:t>
            </a:r>
            <a:endParaRPr lang="en-US" altLang="zh-CN" sz="2400" b="1" dirty="0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611505">
              <a:lnSpc>
                <a:spcPct val="110000"/>
              </a:lnSpc>
              <a:buFontTx/>
            </a:pP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</a:t>
            </a:r>
            <a:r>
              <a:rPr lang="zh-CN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例如：</a:t>
            </a: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int a,b;</a:t>
            </a:r>
            <a:endParaRPr lang="zh-CN" altLang="zh-CN" sz="2400" b="1" dirty="0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611505">
              <a:lnSpc>
                <a:spcPct val="110000"/>
              </a:lnSpc>
              <a:buFontTx/>
            </a:pP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       scanf(</a:t>
            </a:r>
            <a:r>
              <a:rPr lang="zh-CN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“</a:t>
            </a: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%d,%d</a:t>
            </a:r>
            <a:r>
              <a:rPr lang="zh-CN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”</a:t>
            </a: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,&amp;a,&amp;b);</a:t>
            </a:r>
            <a:endParaRPr lang="zh-CN" altLang="zh-CN" sz="2400" b="1" dirty="0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611505">
              <a:lnSpc>
                <a:spcPct val="110000"/>
              </a:lnSpc>
              <a:buFontTx/>
            </a:pP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</a:t>
            </a:r>
            <a:r>
              <a:rPr lang="zh-CN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就表示先在内存中各开辟</a:t>
            </a: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4</a:t>
            </a:r>
            <a:r>
              <a:rPr lang="zh-CN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个字节空间给</a:t>
            </a: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zh-CN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和</a:t>
            </a: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r>
              <a:rPr lang="zh-CN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，当遇到</a:t>
            </a: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scanf</a:t>
            </a:r>
            <a:r>
              <a:rPr lang="zh-CN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语句时，就把键盘上输入的</a:t>
            </a: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zh-CN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个数依次存入</a:t>
            </a: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zh-CN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、</a:t>
            </a: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r>
              <a:rPr lang="zh-CN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所在的空间（及地址中）。“</a:t>
            </a: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&amp;a</a:t>
            </a:r>
            <a:r>
              <a:rPr lang="zh-CN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”就表示取</a:t>
            </a: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zh-CN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变量</a:t>
            </a:r>
            <a:r>
              <a:rPr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的</a:t>
            </a:r>
            <a:r>
              <a:rPr lang="zh-CN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地址，“</a:t>
            </a: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&amp;</a:t>
            </a:r>
            <a:r>
              <a:rPr lang="zh-CN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”称为取地址符。简而言之，就是先找地址后放值。</a:t>
            </a:r>
            <a:endParaRPr lang="zh-CN" altLang="en-US" sz="2400" b="1" dirty="0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slow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7" name="标题 1"/>
          <p:cNvSpPr txBox="1"/>
          <p:nvPr/>
        </p:nvSpPr>
        <p:spPr>
          <a:xfrm>
            <a:off x="395288" y="1119188"/>
            <a:ext cx="8280400" cy="725487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>
              <a:buFontTx/>
            </a:pPr>
            <a:r>
              <a:rPr lang="en-US" altLang="zh-CN" sz="2800" b="1" dirty="0">
                <a:solidFill>
                  <a:srgbClr val="8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2. scanf </a:t>
            </a:r>
            <a:r>
              <a:rPr lang="zh-CN" altLang="en-US" sz="2800" b="1" dirty="0">
                <a:solidFill>
                  <a:srgbClr val="8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函数</a:t>
            </a:r>
            <a:endParaRPr lang="en-US" altLang="zh-CN" sz="2800" b="1" dirty="0">
              <a:solidFill>
                <a:srgbClr val="8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9218" name="矩形 2"/>
          <p:cNvSpPr/>
          <p:nvPr/>
        </p:nvSpPr>
        <p:spPr>
          <a:xfrm>
            <a:off x="468313" y="1844675"/>
            <a:ext cx="8280400" cy="449262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lnSpc>
                <a:spcPct val="110000"/>
              </a:lnSpc>
              <a:buFontTx/>
            </a:pP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 </a:t>
            </a:r>
            <a:r>
              <a:rPr lang="zh-CN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使用</a:t>
            </a: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scanf</a:t>
            </a:r>
            <a:r>
              <a:rPr lang="zh-CN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函数时，需要注意以下几个问题：</a:t>
            </a:r>
            <a:endParaRPr lang="zh-CN" altLang="zh-CN" sz="2000" b="1" dirty="0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10000"/>
              </a:lnSpc>
              <a:buFontTx/>
            </a:pP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</a:t>
            </a:r>
            <a:r>
              <a:rPr lang="zh-CN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（</a:t>
            </a: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）如果在格式控制字符串中有其它字符，则运行程序输入数据时，对应的位置也要输入这些相同的字符。</a:t>
            </a:r>
            <a:endParaRPr lang="zh-CN" altLang="zh-CN" sz="2000" b="1" dirty="0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10000"/>
              </a:lnSpc>
              <a:buFontTx/>
            </a:pP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</a:t>
            </a:r>
            <a:r>
              <a:rPr lang="zh-CN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例如：</a:t>
            </a:r>
            <a:r>
              <a:rPr lang="pt-BR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scanf(</a:t>
            </a:r>
            <a:r>
              <a:rPr lang="zh-CN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“</a:t>
            </a:r>
            <a:r>
              <a:rPr lang="pt-BR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%d%d</a:t>
            </a:r>
            <a:r>
              <a:rPr lang="zh-CN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”</a:t>
            </a:r>
            <a:r>
              <a:rPr lang="pt-BR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,&amp;a,&amp;b);</a:t>
            </a:r>
            <a:endParaRPr lang="zh-CN" altLang="zh-CN" sz="2000" b="1" dirty="0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10000"/>
              </a:lnSpc>
              <a:buFontTx/>
            </a:pP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</a:t>
            </a:r>
            <a:r>
              <a:rPr lang="zh-CN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键盘输入应该是“</a:t>
            </a: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3,4</a:t>
            </a:r>
            <a:r>
              <a:rPr lang="zh-CN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”，而不能是“</a:t>
            </a: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3 4</a:t>
            </a:r>
            <a:r>
              <a:rPr lang="zh-CN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”。</a:t>
            </a:r>
            <a:endParaRPr lang="zh-CN" altLang="zh-CN" sz="2000" b="1" dirty="0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10000"/>
              </a:lnSpc>
              <a:buFontTx/>
            </a:pP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 </a:t>
            </a:r>
            <a:endParaRPr lang="zh-CN" altLang="zh-CN" sz="2000" b="1" dirty="0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10000"/>
              </a:lnSpc>
              <a:buFontTx/>
            </a:pP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</a:t>
            </a:r>
            <a:r>
              <a:rPr lang="zh-CN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（</a:t>
            </a: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zh-CN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）</a:t>
            </a: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scanf</a:t>
            </a:r>
            <a:r>
              <a:rPr lang="zh-CN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函数输入时可以过滤掉不想读入的字符。</a:t>
            </a:r>
            <a:endParaRPr lang="zh-CN" altLang="zh-CN" sz="2000" b="1" dirty="0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10000"/>
              </a:lnSpc>
              <a:buFontTx/>
            </a:pP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</a:t>
            </a:r>
            <a:r>
              <a:rPr lang="zh-CN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例如：</a:t>
            </a:r>
            <a:r>
              <a:rPr lang="pt-BR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scanf(</a:t>
            </a:r>
            <a:r>
              <a:rPr lang="zh-CN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“</a:t>
            </a:r>
            <a:r>
              <a:rPr lang="pt-BR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%d+%d+%d</a:t>
            </a:r>
            <a:r>
              <a:rPr lang="zh-CN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”</a:t>
            </a:r>
            <a:r>
              <a:rPr lang="pt-BR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,&amp;a,&amp;b,&amp;c);</a:t>
            </a:r>
            <a:endParaRPr lang="zh-CN" altLang="zh-CN" sz="2000" b="1" dirty="0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10000"/>
              </a:lnSpc>
              <a:buFontTx/>
            </a:pPr>
            <a:r>
              <a:rPr lang="pt-BR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</a:t>
            </a:r>
            <a:r>
              <a:rPr lang="zh-CN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键盘输入：</a:t>
            </a: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1+2+3</a:t>
            </a:r>
            <a:endParaRPr lang="zh-CN" altLang="zh-CN" sz="2000" b="1" dirty="0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10000"/>
              </a:lnSpc>
              <a:buFontTx/>
            </a:pP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</a:t>
            </a:r>
            <a:r>
              <a:rPr lang="zh-CN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则</a:t>
            </a: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scanf</a:t>
            </a:r>
            <a:r>
              <a:rPr lang="zh-CN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可以无视“</a:t>
            </a: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+</a:t>
            </a:r>
            <a:r>
              <a:rPr lang="zh-CN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”，使得</a:t>
            </a: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a,b,c</a:t>
            </a:r>
            <a:r>
              <a:rPr lang="zh-CN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的值分别为</a:t>
            </a: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1,2,3</a:t>
            </a:r>
            <a:r>
              <a:rPr lang="zh-CN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  <a:endParaRPr lang="zh-CN" altLang="zh-CN" sz="2000" b="1" dirty="0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10000"/>
              </a:lnSpc>
              <a:buFontTx/>
            </a:pP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</a:t>
            </a:r>
            <a:r>
              <a:rPr lang="zh-CN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再如：</a:t>
            </a:r>
            <a:r>
              <a:rPr lang="pt-BR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scanf(</a:t>
            </a:r>
            <a:r>
              <a:rPr lang="zh-CN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“</a:t>
            </a:r>
            <a:r>
              <a:rPr lang="pt-BR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%3d %*3d %2d</a:t>
            </a:r>
            <a:r>
              <a:rPr lang="zh-CN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”</a:t>
            </a:r>
            <a:r>
              <a:rPr lang="pt-BR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,&amp;m,&amp;n);</a:t>
            </a:r>
            <a:endParaRPr lang="zh-CN" altLang="zh-CN" sz="2000" b="1" dirty="0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10000"/>
              </a:lnSpc>
              <a:buFontTx/>
            </a:pPr>
            <a:r>
              <a:rPr lang="pt-BR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</a:t>
            </a:r>
            <a:r>
              <a:rPr lang="zh-CN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键盘输入：</a:t>
            </a: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113 118 69</a:t>
            </a:r>
            <a:endParaRPr lang="zh-CN" altLang="zh-CN" sz="2000" b="1" dirty="0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10000"/>
              </a:lnSpc>
              <a:buFontTx/>
            </a:pP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</a:t>
            </a:r>
            <a:r>
              <a:rPr lang="zh-CN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则</a:t>
            </a: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m,n</a:t>
            </a:r>
            <a:r>
              <a:rPr lang="zh-CN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的值分别为</a:t>
            </a: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113,69</a:t>
            </a:r>
            <a:r>
              <a:rPr lang="zh-CN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，因为“</a:t>
            </a: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*</a:t>
            </a:r>
            <a:r>
              <a:rPr lang="zh-CN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”表示跳过相应数据。</a:t>
            </a:r>
            <a:endParaRPr lang="zh-CN" altLang="en-US" sz="2000" b="1" dirty="0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slow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1" name="标题 1"/>
          <p:cNvSpPr txBox="1"/>
          <p:nvPr/>
        </p:nvSpPr>
        <p:spPr>
          <a:xfrm>
            <a:off x="395288" y="981075"/>
            <a:ext cx="8280400" cy="725488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>
              <a:buFontTx/>
            </a:pPr>
            <a:r>
              <a:rPr lang="zh-CN" altLang="en-US" sz="2400" b="1" dirty="0">
                <a:solidFill>
                  <a:srgbClr val="8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例</a:t>
            </a:r>
            <a:r>
              <a:rPr lang="en-US" altLang="zh-CN" sz="2400" b="1" dirty="0">
                <a:solidFill>
                  <a:srgbClr val="8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r>
              <a:rPr lang="zh-CN" altLang="en-US" sz="2400" b="1" dirty="0">
                <a:solidFill>
                  <a:srgbClr val="8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、阅读并上机调试程序，</a:t>
            </a:r>
            <a:r>
              <a:rPr lang="zh-CN" altLang="zh-CN" sz="2400" b="1" dirty="0">
                <a:solidFill>
                  <a:srgbClr val="8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体会</a:t>
            </a:r>
            <a:r>
              <a:rPr lang="en-US" altLang="zh-CN" sz="2400" b="1" dirty="0">
                <a:solidFill>
                  <a:srgbClr val="8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scanf</a:t>
            </a:r>
            <a:r>
              <a:rPr lang="zh-CN" altLang="zh-CN" sz="2400" b="1" dirty="0">
                <a:solidFill>
                  <a:srgbClr val="8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的使用</a:t>
            </a:r>
            <a:r>
              <a:rPr lang="zh-CN" altLang="en-US" sz="2400" b="1" dirty="0">
                <a:solidFill>
                  <a:srgbClr val="8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。</a:t>
            </a:r>
            <a:endParaRPr lang="en-US" altLang="zh-CN" sz="2400" b="1" dirty="0">
              <a:solidFill>
                <a:srgbClr val="8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42" name="矩形 2"/>
          <p:cNvSpPr/>
          <p:nvPr/>
        </p:nvSpPr>
        <p:spPr>
          <a:xfrm>
            <a:off x="755650" y="1773238"/>
            <a:ext cx="7488238" cy="37846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buFontTx/>
            </a:pP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//p2-10-2</a:t>
            </a:r>
            <a:endParaRPr lang="zh-CN" altLang="zh-CN" sz="2400" b="1" dirty="0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buFontTx/>
            </a:pP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#include&lt;cstdio&gt;</a:t>
            </a:r>
            <a:endParaRPr lang="zh-CN" altLang="zh-CN" sz="2400" b="1" dirty="0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buFontTx/>
            </a:pP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#include&lt;cmath&gt;</a:t>
            </a:r>
            <a:endParaRPr lang="zh-CN" altLang="zh-CN" sz="2400" b="1" dirty="0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buFontTx/>
            </a:pP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int main(){</a:t>
            </a:r>
            <a:endParaRPr lang="zh-CN" altLang="zh-CN" sz="2400" b="1" dirty="0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buFontTx/>
            </a:pP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double x1,y1,x2,y2,q;</a:t>
            </a:r>
            <a:endParaRPr lang="zh-CN" altLang="zh-CN" sz="2400" b="1" dirty="0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buFontTx/>
            </a:pP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scanf("%lf %lf %lf %lf",&amp;x1,&amp;y1,&amp;x2,&amp;y2);</a:t>
            </a:r>
            <a:endParaRPr lang="zh-CN" altLang="zh-CN" sz="2400" b="1" dirty="0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buFontTx/>
            </a:pP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q = sqrt((x1-x2)*(x1-x2)+(y1-y2)*(y1-y2));</a:t>
            </a:r>
            <a:endParaRPr lang="zh-CN" altLang="zh-CN" sz="2400" b="1" dirty="0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buFontTx/>
            </a:pP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printf(“%.3f\n”,q);</a:t>
            </a:r>
            <a:endParaRPr lang="zh-CN" altLang="zh-CN" sz="2400" b="1" dirty="0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buFontTx/>
            </a:pP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return 0;</a:t>
            </a:r>
            <a:endParaRPr lang="zh-CN" altLang="zh-CN" sz="2400" b="1" dirty="0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buFontTx/>
            </a:pP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}</a:t>
            </a:r>
            <a:endParaRPr lang="zh-CN" altLang="zh-CN" sz="2400" b="1" dirty="0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755650" y="5732463"/>
            <a:ext cx="7993063" cy="46196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buFontTx/>
            </a:pPr>
            <a:r>
              <a:rPr lang="zh-CN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运行程序，输入：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1.5 2.5 9.3 8.1</a:t>
            </a:r>
            <a:r>
              <a:rPr lang="zh-CN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，输出：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9.602</a:t>
            </a:r>
            <a:r>
              <a:rPr lang="zh-CN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  <a:endParaRPr lang="zh-CN" altLang="zh-CN" sz="24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5" name="标题 1"/>
          <p:cNvSpPr txBox="1"/>
          <p:nvPr/>
        </p:nvSpPr>
        <p:spPr>
          <a:xfrm>
            <a:off x="395288" y="912813"/>
            <a:ext cx="8280400" cy="725487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indent="611505">
              <a:lnSpc>
                <a:spcPct val="150000"/>
              </a:lnSpc>
              <a:buFontTx/>
            </a:pPr>
            <a:r>
              <a:rPr lang="en-US" altLang="zh-CN" sz="2800" b="1" dirty="0">
                <a:solidFill>
                  <a:srgbClr val="8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3. scanf</a:t>
            </a:r>
            <a:r>
              <a:rPr lang="zh-CN" altLang="en-US" sz="2800" b="1" dirty="0">
                <a:solidFill>
                  <a:srgbClr val="8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、</a:t>
            </a:r>
            <a:r>
              <a:rPr lang="en-US" altLang="zh-CN" sz="2800" b="1" dirty="0">
                <a:solidFill>
                  <a:srgbClr val="8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printf </a:t>
            </a:r>
            <a:r>
              <a:rPr lang="zh-CN" altLang="en-US" sz="2800" b="1" dirty="0">
                <a:solidFill>
                  <a:srgbClr val="8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与 </a:t>
            </a:r>
            <a:r>
              <a:rPr lang="en-US" altLang="zh-CN" sz="2800" b="1" dirty="0">
                <a:solidFill>
                  <a:srgbClr val="8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cin</a:t>
            </a:r>
            <a:r>
              <a:rPr lang="zh-CN" altLang="en-US" sz="2800" b="1" dirty="0">
                <a:solidFill>
                  <a:srgbClr val="8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、</a:t>
            </a:r>
            <a:r>
              <a:rPr lang="en-US" altLang="zh-CN" sz="2800" b="1" dirty="0">
                <a:solidFill>
                  <a:srgbClr val="8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cout </a:t>
            </a:r>
            <a:r>
              <a:rPr lang="zh-CN" altLang="en-US" sz="2800" b="1" dirty="0">
                <a:solidFill>
                  <a:srgbClr val="8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的比较</a:t>
            </a:r>
            <a:endParaRPr lang="en-US" altLang="zh-CN" sz="2800" b="1" dirty="0">
              <a:solidFill>
                <a:srgbClr val="8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1266" name="矩形 2"/>
          <p:cNvSpPr/>
          <p:nvPr/>
        </p:nvSpPr>
        <p:spPr>
          <a:xfrm>
            <a:off x="323850" y="1844675"/>
            <a:ext cx="8569325" cy="45148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lnSpc>
                <a:spcPct val="120000"/>
              </a:lnSpc>
              <a:buFontTx/>
            </a:pP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cin </a:t>
            </a:r>
            <a:r>
              <a:rPr lang="zh-CN" altLang="en-US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是输入流，</a:t>
            </a: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cout </a:t>
            </a:r>
            <a:r>
              <a:rPr lang="zh-CN" altLang="en-US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是输出流，重载了“</a:t>
            </a: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&gt;&gt;”“&lt;&lt;”</a:t>
            </a:r>
            <a:r>
              <a:rPr lang="zh-CN" altLang="en-US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运算符，包含在头文件 </a:t>
            </a: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&lt;iostream&gt; </a:t>
            </a:r>
            <a:r>
              <a:rPr lang="zh-CN" altLang="en-US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中。</a:t>
            </a:r>
            <a:endParaRPr lang="zh-CN" altLang="en-US" sz="2000" b="1" dirty="0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  <a:buFontTx/>
            </a:pP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cin </a:t>
            </a:r>
            <a:r>
              <a:rPr lang="zh-CN" altLang="en-US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代表标准输入设备，使用提取运算符“</a:t>
            </a: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&gt;&gt;”</a:t>
            </a:r>
            <a:r>
              <a:rPr lang="zh-CN" altLang="en-US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从键盘取得数据，送到输入流对象 </a:t>
            </a: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cin </a:t>
            </a:r>
            <a:r>
              <a:rPr lang="zh-CN" altLang="en-US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中，然后送到内存。</a:t>
            </a: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cin </a:t>
            </a:r>
            <a:r>
              <a:rPr lang="zh-CN" altLang="en-US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是自动判断变量类型，比如一个 </a:t>
            </a: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char </a:t>
            </a:r>
            <a:r>
              <a:rPr lang="zh-CN" altLang="en-US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数据只能用默认的 </a:t>
            </a: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char </a:t>
            </a:r>
            <a:r>
              <a:rPr lang="zh-CN" altLang="en-US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方法取数据。</a:t>
            </a:r>
            <a:endParaRPr lang="zh-CN" altLang="en-US" sz="2000" b="1" dirty="0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  <a:buFontTx/>
            </a:pP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cout </a:t>
            </a:r>
            <a:r>
              <a:rPr lang="zh-CN" altLang="en-US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先把要输出的东西存入缓冲区，遇到“</a:t>
            </a: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endl”</a:t>
            </a:r>
            <a:r>
              <a:rPr lang="zh-CN" altLang="en-US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或者“</a:t>
            </a: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return 0”</a:t>
            </a:r>
            <a:r>
              <a:rPr lang="zh-CN" altLang="en-US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再输出并刷新缓冲区，导致效率降低。</a:t>
            </a:r>
            <a:endParaRPr lang="zh-CN" altLang="en-US" sz="2000" b="1" dirty="0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  <a:buFontTx/>
            </a:pP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scanf </a:t>
            </a:r>
            <a:r>
              <a:rPr lang="zh-CN" altLang="en-US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是格式化输入，</a:t>
            </a: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printf </a:t>
            </a:r>
            <a:r>
              <a:rPr lang="zh-CN" altLang="en-US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是格式化输出，包含在头文件 </a:t>
            </a: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&lt;cstdio&gt; </a:t>
            </a:r>
            <a:r>
              <a:rPr lang="zh-CN" altLang="en-US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中。</a:t>
            </a:r>
            <a:r>
              <a:rPr lang="zh-CN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因为</a:t>
            </a: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scanf</a:t>
            </a:r>
            <a:r>
              <a:rPr lang="zh-CN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是用指针操作的，没有类型安全机制，比如对于一个</a:t>
            </a: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char</a:t>
            </a:r>
            <a:r>
              <a:rPr lang="zh-CN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类型数据，你就可以用“</a:t>
            </a: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%f</a:t>
            </a:r>
            <a:r>
              <a:rPr lang="zh-CN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”获得输入，而不会报错，但在运行时会出现异常。</a:t>
            </a: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scanf()</a:t>
            </a:r>
            <a:r>
              <a:rPr lang="zh-CN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函数取数据时遇到回车、空格、</a:t>
            </a: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TAB</a:t>
            </a:r>
            <a:r>
              <a:rPr lang="zh-CN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就会停止。</a:t>
            </a:r>
            <a:endParaRPr lang="zh-CN" altLang="zh-CN" sz="2000" b="1" dirty="0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  <a:buFontTx/>
            </a:pP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printf</a:t>
            </a:r>
            <a:r>
              <a:rPr lang="zh-CN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输出效率比较高，但是编写代码相对而言麻烦一些。</a:t>
            </a:r>
            <a:endParaRPr lang="zh-CN" altLang="zh-CN" sz="2000" b="1" dirty="0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slow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289" name="标题 1"/>
          <p:cNvSpPr txBox="1"/>
          <p:nvPr/>
        </p:nvSpPr>
        <p:spPr>
          <a:xfrm>
            <a:off x="395288" y="765175"/>
            <a:ext cx="8569325" cy="725488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>
              <a:buFontTx/>
            </a:pPr>
            <a:r>
              <a:rPr lang="zh-CN" altLang="en-US" sz="2400" b="1" dirty="0">
                <a:solidFill>
                  <a:srgbClr val="8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例</a:t>
            </a:r>
            <a:r>
              <a:rPr lang="zh-CN" altLang="zh-CN" sz="2400" b="1" dirty="0">
                <a:solidFill>
                  <a:srgbClr val="8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3</a:t>
            </a:r>
            <a:r>
              <a:rPr lang="zh-CN" altLang="en-US" sz="2400" b="1" dirty="0">
                <a:solidFill>
                  <a:srgbClr val="8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、</a:t>
            </a:r>
            <a:r>
              <a:rPr lang="zh-CN" altLang="zh-CN" sz="2400" b="1" dirty="0">
                <a:solidFill>
                  <a:srgbClr val="8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阅读并上机调试以下两个程序，观察程序的运行时间，分析比较</a:t>
            </a:r>
            <a:r>
              <a:rPr lang="en-US" altLang="zh-CN" sz="2400" b="1" dirty="0">
                <a:solidFill>
                  <a:srgbClr val="8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cin</a:t>
            </a:r>
            <a:r>
              <a:rPr lang="zh-CN" altLang="zh-CN" sz="2400" b="1" dirty="0">
                <a:solidFill>
                  <a:srgbClr val="8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和</a:t>
            </a:r>
            <a:r>
              <a:rPr lang="en-US" altLang="zh-CN" sz="2400" b="1" dirty="0">
                <a:solidFill>
                  <a:srgbClr val="8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scanf</a:t>
            </a:r>
            <a:r>
              <a:rPr lang="zh-CN" altLang="zh-CN" sz="2400" b="1" dirty="0">
                <a:solidFill>
                  <a:srgbClr val="8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的效率</a:t>
            </a:r>
            <a:r>
              <a:rPr lang="zh-CN" altLang="en-US" sz="2400" b="1" dirty="0">
                <a:solidFill>
                  <a:srgbClr val="8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。</a:t>
            </a:r>
            <a:endParaRPr lang="en-US" altLang="zh-CN" sz="2400" b="1" dirty="0">
              <a:solidFill>
                <a:srgbClr val="8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2290" name="矩形 2"/>
          <p:cNvSpPr/>
          <p:nvPr/>
        </p:nvSpPr>
        <p:spPr>
          <a:xfrm>
            <a:off x="1187450" y="2205038"/>
            <a:ext cx="4392613" cy="12001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buFontTx/>
            </a:pP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p2-10-3a</a:t>
            </a:r>
            <a:endParaRPr lang="en-US" altLang="zh-CN" sz="2400" b="1" dirty="0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buFontTx/>
            </a:pPr>
            <a:endParaRPr lang="en-US" altLang="zh-CN" sz="2400" b="1" dirty="0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buFontTx/>
            </a:pP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p2-10-3b</a:t>
            </a:r>
            <a:endParaRPr lang="zh-CN" altLang="zh-CN" sz="2400" b="1" dirty="0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slow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3" name="标题 1"/>
          <p:cNvSpPr txBox="1"/>
          <p:nvPr/>
        </p:nvSpPr>
        <p:spPr>
          <a:xfrm>
            <a:off x="468313" y="908050"/>
            <a:ext cx="8280400" cy="725488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algn="ctr">
              <a:buFontTx/>
            </a:pPr>
            <a:r>
              <a:rPr lang="zh-CN" altLang="en-US" sz="2800" b="1" dirty="0">
                <a:solidFill>
                  <a:srgbClr val="8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第 </a:t>
            </a:r>
            <a:r>
              <a:rPr lang="en-US" altLang="zh-CN" sz="2800" b="1" dirty="0">
                <a:solidFill>
                  <a:srgbClr val="8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10 </a:t>
            </a:r>
            <a:r>
              <a:rPr lang="zh-CN" altLang="en-US" sz="2800" b="1" dirty="0">
                <a:solidFill>
                  <a:srgbClr val="8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课 格式控制</a:t>
            </a:r>
            <a:endParaRPr lang="zh-CN" altLang="en-US" sz="2800" b="1" dirty="0">
              <a:solidFill>
                <a:srgbClr val="8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314" name="矩形 2"/>
          <p:cNvSpPr/>
          <p:nvPr/>
        </p:nvSpPr>
        <p:spPr>
          <a:xfrm>
            <a:off x="1225550" y="2133600"/>
            <a:ext cx="7523163" cy="226218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Aft>
                <a:spcPts val="180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</a:pPr>
            <a:r>
              <a:rPr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学习目标</a:t>
            </a:r>
            <a:endParaRPr lang="zh-CN" altLang="en-US" sz="2400" b="1" dirty="0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spcAft>
                <a:spcPts val="180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</a:pP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1. </a:t>
            </a:r>
            <a:r>
              <a:rPr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了解 </a:t>
            </a: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C++ </a:t>
            </a:r>
            <a:r>
              <a:rPr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的格式控制。</a:t>
            </a:r>
            <a:endParaRPr lang="zh-CN" altLang="en-US" sz="2400" b="1" dirty="0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spcAft>
                <a:spcPts val="180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</a:pP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2. </a:t>
            </a:r>
            <a:r>
              <a:rPr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学会 </a:t>
            </a: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scanf </a:t>
            </a:r>
            <a:r>
              <a:rPr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和 </a:t>
            </a: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printf </a:t>
            </a:r>
            <a:r>
              <a:rPr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函数的使用。</a:t>
            </a:r>
            <a:endParaRPr lang="zh-CN" altLang="en-US" sz="2400" b="1" dirty="0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spcAft>
                <a:spcPts val="180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</a:pP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3. </a:t>
            </a:r>
            <a:r>
              <a:rPr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知晓 </a:t>
            </a: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scanf</a:t>
            </a:r>
            <a:r>
              <a:rPr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、</a:t>
            </a: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printf </a:t>
            </a:r>
            <a:r>
              <a:rPr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与 </a:t>
            </a: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cin</a:t>
            </a:r>
            <a:r>
              <a:rPr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、</a:t>
            </a: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cout </a:t>
            </a:r>
            <a:r>
              <a:rPr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的区别。</a:t>
            </a:r>
            <a:endParaRPr lang="en-US" altLang="zh-CN" sz="2400" b="1" dirty="0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slow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337" name="矩形 2"/>
          <p:cNvSpPr/>
          <p:nvPr/>
        </p:nvSpPr>
        <p:spPr>
          <a:xfrm>
            <a:off x="371475" y="1557338"/>
            <a:ext cx="8748713" cy="504666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lnSpc>
                <a:spcPct val="150000"/>
              </a:lnSpc>
              <a:buFontTx/>
            </a:pP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C++</a:t>
            </a:r>
            <a:r>
              <a:rPr lang="zh-CN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语言兼容</a:t>
            </a: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</a:t>
            </a:r>
            <a:r>
              <a:rPr lang="zh-CN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语言中的基本语句语法</a:t>
            </a:r>
            <a:r>
              <a:rPr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scanf</a:t>
            </a:r>
            <a:r>
              <a:rPr lang="zh-CN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和</a:t>
            </a: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printf</a:t>
            </a:r>
            <a:r>
              <a:rPr lang="zh-CN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是</a:t>
            </a: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</a:t>
            </a:r>
            <a:r>
              <a:rPr lang="zh-CN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语言中的输入输出函数（语句），在</a:t>
            </a: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C++</a:t>
            </a:r>
            <a:r>
              <a:rPr lang="zh-CN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语言环境中也可以使用。</a:t>
            </a:r>
            <a:endParaRPr lang="en-US" altLang="zh-CN" sz="2400" b="1" dirty="0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  <a:buFontTx/>
            </a:pP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</a:t>
            </a:r>
            <a:r>
              <a:rPr lang="zh-CN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“</a:t>
            </a: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</a:t>
            </a:r>
            <a:r>
              <a:rPr lang="zh-CN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”是</a:t>
            </a: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format(</a:t>
            </a:r>
            <a:r>
              <a:rPr lang="zh-CN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格式</a:t>
            </a: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lang="zh-CN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之意，就是要按照指定的格式输入输出值，所以，又称为格式输入输出函数。</a:t>
            </a:r>
            <a:endParaRPr lang="en-US" altLang="zh-CN" sz="2400" b="1" dirty="0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  <a:buFontTx/>
            </a:pP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</a:t>
            </a:r>
            <a:r>
              <a:rPr lang="zh-CN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对于大数据的输入输出，使用</a:t>
            </a: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scanf</a:t>
            </a:r>
            <a:r>
              <a:rPr lang="zh-CN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和</a:t>
            </a: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printf</a:t>
            </a:r>
            <a:r>
              <a:rPr lang="zh-CN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，比</a:t>
            </a: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C++</a:t>
            </a:r>
            <a:r>
              <a:rPr lang="zh-CN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中的输入输出流语句（</a:t>
            </a: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cin</a:t>
            </a:r>
            <a:r>
              <a:rPr lang="zh-CN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和</a:t>
            </a: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cout</a:t>
            </a:r>
            <a:r>
              <a:rPr lang="zh-CN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）效率更高、速度更快。</a:t>
            </a:r>
            <a:endParaRPr lang="zh-CN" altLang="zh-CN" sz="2400" b="1" dirty="0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  <a:buFontTx/>
            </a:pP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scanf</a:t>
            </a:r>
            <a:r>
              <a:rPr lang="zh-CN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和</a:t>
            </a: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printf</a:t>
            </a:r>
            <a:r>
              <a:rPr lang="zh-CN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是标准库函数，使用前需要加上</a:t>
            </a: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cstdio</a:t>
            </a:r>
            <a:r>
              <a:rPr lang="zh-CN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头文件。</a:t>
            </a:r>
            <a:endParaRPr lang="zh-CN" altLang="zh-CN" sz="2400" b="1" dirty="0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slow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361" name="标题 1"/>
          <p:cNvSpPr txBox="1"/>
          <p:nvPr/>
        </p:nvSpPr>
        <p:spPr>
          <a:xfrm>
            <a:off x="395288" y="1119188"/>
            <a:ext cx="8280400" cy="725487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>
              <a:buFontTx/>
            </a:pPr>
            <a:r>
              <a:rPr lang="en-US" altLang="zh-CN" sz="2800" b="1" dirty="0">
                <a:solidFill>
                  <a:srgbClr val="8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1. printf </a:t>
            </a:r>
            <a:r>
              <a:rPr lang="zh-CN" altLang="en-US" sz="2800" b="1" dirty="0">
                <a:solidFill>
                  <a:srgbClr val="8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函数</a:t>
            </a:r>
            <a:endParaRPr lang="en-US" altLang="zh-CN" sz="2800" b="1" dirty="0">
              <a:solidFill>
                <a:srgbClr val="8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5362" name="矩形 2"/>
          <p:cNvSpPr/>
          <p:nvPr/>
        </p:nvSpPr>
        <p:spPr>
          <a:xfrm>
            <a:off x="395288" y="1628775"/>
            <a:ext cx="8280400" cy="11303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indent="611505">
              <a:lnSpc>
                <a:spcPct val="150000"/>
              </a:lnSpc>
              <a:buFontTx/>
            </a:pP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printf </a:t>
            </a:r>
            <a:r>
              <a:rPr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函数的格式为：</a:t>
            </a:r>
            <a:endParaRPr lang="zh-CN" altLang="en-US" sz="2400" b="1" dirty="0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611505">
              <a:lnSpc>
                <a:spcPct val="150000"/>
              </a:lnSpc>
              <a:buFontTx/>
            </a:pP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printf</a:t>
            </a:r>
            <a:r>
              <a:rPr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（格式控制字符串，输出列表）</a:t>
            </a: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;</a:t>
            </a:r>
            <a:endParaRPr lang="zh-CN" altLang="en-US" sz="2400" b="1" dirty="0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1536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9413" y="2743200"/>
            <a:ext cx="8332787" cy="35909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slow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385" name="标题 1"/>
          <p:cNvSpPr txBox="1"/>
          <p:nvPr/>
        </p:nvSpPr>
        <p:spPr>
          <a:xfrm>
            <a:off x="395288" y="908050"/>
            <a:ext cx="8280400" cy="725488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indent="611505">
              <a:lnSpc>
                <a:spcPct val="150000"/>
              </a:lnSpc>
              <a:buFontTx/>
            </a:pPr>
            <a:r>
              <a:rPr lang="zh-CN" altLang="en-US" sz="2800" b="1" dirty="0">
                <a:solidFill>
                  <a:srgbClr val="8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使用说明</a:t>
            </a:r>
            <a:endParaRPr lang="en-US" altLang="zh-CN" sz="2800" b="1" dirty="0">
              <a:solidFill>
                <a:srgbClr val="8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6386" name="矩形 2"/>
          <p:cNvSpPr/>
          <p:nvPr/>
        </p:nvSpPr>
        <p:spPr>
          <a:xfrm>
            <a:off x="382588" y="1844675"/>
            <a:ext cx="8280400" cy="409416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indent="611505">
              <a:spcAft>
                <a:spcPts val="600"/>
              </a:spcAft>
              <a:buFontTx/>
            </a:pP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） 输出整数形式可以用 </a:t>
            </a: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%d </a:t>
            </a:r>
            <a:r>
              <a:rPr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或 </a:t>
            </a: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%md</a:t>
            </a:r>
            <a:r>
              <a:rPr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m </a:t>
            </a:r>
            <a:r>
              <a:rPr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为指定的输出字符的宽度，输出数据右对齐。</a:t>
            </a:r>
            <a:endParaRPr lang="en-US" altLang="zh-CN" sz="2400" b="1" dirty="0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611505">
              <a:spcAft>
                <a:spcPts val="600"/>
              </a:spcAft>
              <a:buFontTx/>
            </a:pP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） 输出长整型可以用 </a:t>
            </a: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%ld</a:t>
            </a:r>
            <a:r>
              <a:rPr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，一个 </a:t>
            </a: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int </a:t>
            </a:r>
            <a:r>
              <a:rPr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型数据可以用 </a:t>
            </a: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%d </a:t>
            </a:r>
            <a:r>
              <a:rPr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或 </a:t>
            </a: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%ld </a:t>
            </a:r>
            <a:r>
              <a:rPr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格式输出。</a:t>
            </a:r>
            <a:endParaRPr lang="zh-CN" altLang="en-US" sz="2400" b="1" dirty="0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611505">
              <a:spcAft>
                <a:spcPts val="600"/>
              </a:spcAft>
              <a:buFontTx/>
            </a:pP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r>
              <a:rPr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） 输出字符串用 </a:t>
            </a: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%s</a:t>
            </a:r>
            <a:r>
              <a:rPr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，如“</a:t>
            </a: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printf </a:t>
            </a:r>
            <a:r>
              <a:rPr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（ “ </a:t>
            </a: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%s ” </a:t>
            </a:r>
            <a:r>
              <a:rPr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 “ </a:t>
            </a: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hello ” </a:t>
            </a:r>
            <a:r>
              <a:rPr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）；”。</a:t>
            </a:r>
            <a:endParaRPr lang="zh-CN" altLang="en-US" sz="2400" b="1" dirty="0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611505">
              <a:spcAft>
                <a:spcPts val="600"/>
              </a:spcAft>
              <a:buFontTx/>
            </a:pP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4</a:t>
            </a:r>
            <a:r>
              <a:rPr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） “</a:t>
            </a: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%ms”</a:t>
            </a:r>
            <a:r>
              <a:rPr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，输出的字符串占 </a:t>
            </a: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m </a:t>
            </a:r>
            <a:r>
              <a:rPr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列，如字符串本身长度大于 </a:t>
            </a: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m</a:t>
            </a:r>
            <a:r>
              <a:rPr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，则突破 </a:t>
            </a: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m </a:t>
            </a:r>
            <a:r>
              <a:rPr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的限制，将字符串全部输出；若串的长度小于 </a:t>
            </a: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m</a:t>
            </a:r>
            <a:r>
              <a:rPr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，则左补空格。</a:t>
            </a:r>
            <a:endParaRPr lang="zh-CN" altLang="en-US" sz="2400" b="1" dirty="0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611505">
              <a:spcAft>
                <a:spcPts val="600"/>
              </a:spcAft>
              <a:buFontTx/>
            </a:pPr>
            <a:endParaRPr lang="zh-CN" altLang="en-US" sz="2400" b="1" dirty="0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slow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09" name="标题 1"/>
          <p:cNvSpPr txBox="1"/>
          <p:nvPr/>
        </p:nvSpPr>
        <p:spPr>
          <a:xfrm>
            <a:off x="395288" y="912813"/>
            <a:ext cx="8280400" cy="725487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indent="611505">
              <a:lnSpc>
                <a:spcPct val="150000"/>
              </a:lnSpc>
              <a:buFontTx/>
            </a:pPr>
            <a:r>
              <a:rPr lang="zh-CN" altLang="en-US" sz="2800" b="1" dirty="0">
                <a:solidFill>
                  <a:srgbClr val="8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使用说明</a:t>
            </a:r>
            <a:endParaRPr lang="en-US" altLang="zh-CN" sz="2800" b="1" dirty="0">
              <a:solidFill>
                <a:srgbClr val="8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7410" name="矩形 2"/>
          <p:cNvSpPr/>
          <p:nvPr/>
        </p:nvSpPr>
        <p:spPr>
          <a:xfrm>
            <a:off x="395288" y="1717675"/>
            <a:ext cx="8424862" cy="441166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indent="611505">
              <a:spcAft>
                <a:spcPts val="500"/>
              </a:spcAft>
              <a:buFontTx/>
            </a:pP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5</a:t>
            </a:r>
            <a:r>
              <a:rPr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） “</a:t>
            </a: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%-ms”</a:t>
            </a:r>
            <a:r>
              <a:rPr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，若串长小于 </a:t>
            </a: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m</a:t>
            </a:r>
            <a:r>
              <a:rPr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，则在 </a:t>
            </a: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m </a:t>
            </a:r>
            <a:r>
              <a:rPr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列范围内，字符串向左靠，右补空格。</a:t>
            </a:r>
            <a:endParaRPr lang="zh-CN" altLang="en-US" sz="2400" b="1" dirty="0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611505">
              <a:spcAft>
                <a:spcPts val="500"/>
              </a:spcAft>
              <a:buFontTx/>
            </a:pP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6</a:t>
            </a:r>
            <a:r>
              <a:rPr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） “</a:t>
            </a: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%m.ns”</a:t>
            </a:r>
            <a:r>
              <a:rPr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，输出占 </a:t>
            </a: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m </a:t>
            </a:r>
            <a:r>
              <a:rPr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列，但只取字符串中左端 </a:t>
            </a: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 </a:t>
            </a:r>
            <a:r>
              <a:rPr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个字符。这 </a:t>
            </a: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 </a:t>
            </a:r>
            <a:r>
              <a:rPr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个字符输出在 </a:t>
            </a: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m </a:t>
            </a:r>
            <a:r>
              <a:rPr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列的右侧，左补空格。</a:t>
            </a:r>
            <a:endParaRPr lang="zh-CN" altLang="en-US" sz="2400" b="1" dirty="0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611505">
              <a:spcAft>
                <a:spcPts val="500"/>
              </a:spcAft>
              <a:buFontTx/>
            </a:pP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7</a:t>
            </a:r>
            <a:r>
              <a:rPr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） “</a:t>
            </a: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%-m.ns”</a:t>
            </a:r>
            <a:r>
              <a:rPr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m</a:t>
            </a:r>
            <a:r>
              <a:rPr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、</a:t>
            </a: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 </a:t>
            </a:r>
            <a:r>
              <a:rPr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含义同上，</a:t>
            </a: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 </a:t>
            </a:r>
            <a:r>
              <a:rPr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个字符输出在 </a:t>
            </a: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m </a:t>
            </a:r>
            <a:r>
              <a:rPr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列范围的左侧，右补空格，如果 </a:t>
            </a: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n&gt;m</a:t>
            </a:r>
            <a:r>
              <a:rPr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，则 </a:t>
            </a: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m</a:t>
            </a:r>
            <a:r>
              <a:rPr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自动取 </a:t>
            </a: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 </a:t>
            </a:r>
            <a:r>
              <a:rPr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值，即保证 </a:t>
            </a: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 </a:t>
            </a:r>
            <a:r>
              <a:rPr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个字符正常输出。</a:t>
            </a:r>
            <a:endParaRPr lang="zh-CN" altLang="en-US" sz="2400" b="1" dirty="0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611505">
              <a:spcAft>
                <a:spcPts val="500"/>
              </a:spcAft>
              <a:buFontTx/>
            </a:pP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8</a:t>
            </a:r>
            <a:r>
              <a:rPr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） “</a:t>
            </a: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%m.nf”</a:t>
            </a:r>
            <a:r>
              <a:rPr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，输出浮点数，占 </a:t>
            </a: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m </a:t>
            </a:r>
            <a:r>
              <a:rPr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列，其中有 </a:t>
            </a: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 </a:t>
            </a:r>
            <a:r>
              <a:rPr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位小数，如果数值长度小于 </a:t>
            </a: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m</a:t>
            </a:r>
            <a:r>
              <a:rPr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，则左补空格。</a:t>
            </a:r>
            <a:endParaRPr lang="zh-CN" altLang="en-US" sz="2400" b="1" dirty="0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611505">
              <a:spcAft>
                <a:spcPts val="500"/>
              </a:spcAft>
              <a:buFontTx/>
            </a:pP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9</a:t>
            </a:r>
            <a:r>
              <a:rPr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） “</a:t>
            </a: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%-m.nf”</a:t>
            </a:r>
            <a:r>
              <a:rPr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，同上，只是使输出的数值向左端靠齐，右端补空格。</a:t>
            </a:r>
            <a:endParaRPr lang="zh-CN" altLang="en-US" sz="2400" b="1" dirty="0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slow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3" name="标题 1"/>
          <p:cNvSpPr txBox="1"/>
          <p:nvPr/>
        </p:nvSpPr>
        <p:spPr>
          <a:xfrm>
            <a:off x="395288" y="1119188"/>
            <a:ext cx="8280400" cy="725487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>
              <a:buFontTx/>
            </a:pPr>
            <a:r>
              <a:rPr lang="zh-CN" altLang="en-US" sz="2400" b="1" dirty="0">
                <a:solidFill>
                  <a:srgbClr val="8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例</a:t>
            </a:r>
            <a:r>
              <a:rPr lang="en-US" altLang="zh-CN" sz="2400" b="1" dirty="0">
                <a:solidFill>
                  <a:srgbClr val="8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r>
              <a:rPr lang="zh-CN" altLang="en-US" sz="2400" b="1" dirty="0">
                <a:solidFill>
                  <a:srgbClr val="8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、阅读并上机调试程序，体会 </a:t>
            </a:r>
            <a:r>
              <a:rPr lang="en-US" altLang="zh-CN" sz="2400" b="1" dirty="0">
                <a:solidFill>
                  <a:srgbClr val="8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printf </a:t>
            </a:r>
            <a:r>
              <a:rPr lang="zh-CN" altLang="en-US" sz="2400" b="1" dirty="0">
                <a:solidFill>
                  <a:srgbClr val="8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函数的使用。</a:t>
            </a:r>
            <a:endParaRPr lang="en-US" altLang="zh-CN" sz="2400" b="1" dirty="0">
              <a:solidFill>
                <a:srgbClr val="8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8434" name="矩形 2"/>
          <p:cNvSpPr/>
          <p:nvPr/>
        </p:nvSpPr>
        <p:spPr>
          <a:xfrm>
            <a:off x="755650" y="1773238"/>
            <a:ext cx="7488238" cy="44005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buFontTx/>
            </a:pP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//p2-10-1</a:t>
            </a:r>
            <a:endParaRPr lang="en-US" altLang="zh-CN" sz="2000" b="1" dirty="0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buFontTx/>
            </a:pP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#include&lt;cstdio&gt;</a:t>
            </a:r>
            <a:endParaRPr lang="en-US" altLang="zh-CN" sz="2000" b="1" dirty="0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buFontTx/>
            </a:pP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using namespace std;</a:t>
            </a:r>
            <a:endParaRPr lang="en-US" altLang="zh-CN" sz="2000" b="1" dirty="0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buFontTx/>
            </a:pP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int main(){</a:t>
            </a:r>
            <a:endParaRPr lang="en-US" altLang="zh-CN" sz="2000" b="1" dirty="0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buFontTx/>
            </a:pP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printf( “ %d ” ,1); // </a:t>
            </a:r>
            <a:r>
              <a:rPr lang="zh-CN" altLang="en-US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输出 </a:t>
            </a: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endParaRPr lang="en-US" altLang="zh-CN" sz="2000" b="1" dirty="0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buFontTx/>
            </a:pP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printf( “ %o ” ,8); // </a:t>
            </a:r>
            <a:r>
              <a:rPr lang="zh-CN" altLang="en-US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输出 </a:t>
            </a: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10</a:t>
            </a:r>
            <a:endParaRPr lang="en-US" altLang="zh-CN" sz="2000" b="1" dirty="0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buFontTx/>
            </a:pP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printf( “ %x ” ,17); // </a:t>
            </a:r>
            <a:r>
              <a:rPr lang="zh-CN" altLang="en-US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输出 </a:t>
            </a: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11</a:t>
            </a:r>
            <a:endParaRPr lang="en-US" altLang="zh-CN" sz="2000" b="1" dirty="0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buFontTx/>
            </a:pP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printf( “ %u ” ,12); // </a:t>
            </a:r>
            <a:r>
              <a:rPr lang="zh-CN" altLang="en-US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输出 </a:t>
            </a: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12</a:t>
            </a:r>
            <a:endParaRPr lang="en-US" altLang="zh-CN" sz="2000" b="1" dirty="0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buFontTx/>
            </a:pP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printf( “ %c ” ,49); // </a:t>
            </a:r>
            <a:r>
              <a:rPr lang="zh-CN" altLang="en-US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输出 </a:t>
            </a: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endParaRPr lang="en-US" altLang="zh-CN" sz="2000" b="1" dirty="0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buFontTx/>
            </a:pP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printf( “ %s ” , ” 1ab11 ” ); // </a:t>
            </a:r>
            <a:r>
              <a:rPr lang="zh-CN" altLang="en-US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输出 </a:t>
            </a: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1ab11</a:t>
            </a:r>
            <a:endParaRPr lang="en-US" altLang="zh-CN" sz="2000" b="1" dirty="0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buFontTx/>
            </a:pP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printf( “ %f ” ,0.14); // </a:t>
            </a:r>
            <a:r>
              <a:rPr lang="zh-CN" altLang="en-US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输出 </a:t>
            </a: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0.140000</a:t>
            </a:r>
            <a:endParaRPr lang="en-US" altLang="zh-CN" sz="2000" b="1" dirty="0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buFontTx/>
            </a:pP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printf( “ %e ” ,0.1); // </a:t>
            </a:r>
            <a:r>
              <a:rPr lang="zh-CN" altLang="en-US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输出 </a:t>
            </a: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1.000000e-001</a:t>
            </a:r>
            <a:endParaRPr lang="en-US" altLang="zh-CN" sz="2000" b="1" dirty="0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buFontTx/>
            </a:pP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printf( “ %lld ” ,21473648); // </a:t>
            </a:r>
            <a:r>
              <a:rPr lang="zh-CN" altLang="en-US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输出 </a:t>
            </a: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21473648</a:t>
            </a:r>
            <a:endParaRPr lang="en-US" altLang="zh-CN" sz="2000" b="1" dirty="0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buFontTx/>
            </a:pP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}</a:t>
            </a:r>
            <a:endParaRPr lang="zh-CN" altLang="en-US" sz="2000" b="1" dirty="0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slow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457" name="标题 1"/>
          <p:cNvSpPr txBox="1"/>
          <p:nvPr/>
        </p:nvSpPr>
        <p:spPr>
          <a:xfrm>
            <a:off x="395288" y="1119188"/>
            <a:ext cx="8280400" cy="725487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>
              <a:buFontTx/>
            </a:pPr>
            <a:r>
              <a:rPr lang="en-US" altLang="zh-CN" sz="2800" b="1" dirty="0">
                <a:solidFill>
                  <a:srgbClr val="8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2. scanf </a:t>
            </a:r>
            <a:r>
              <a:rPr lang="zh-CN" altLang="en-US" sz="2800" b="1" dirty="0">
                <a:solidFill>
                  <a:srgbClr val="8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函数</a:t>
            </a:r>
            <a:endParaRPr lang="en-US" altLang="zh-CN" sz="2800" b="1" dirty="0">
              <a:solidFill>
                <a:srgbClr val="8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9458" name="矩形 2"/>
          <p:cNvSpPr/>
          <p:nvPr/>
        </p:nvSpPr>
        <p:spPr>
          <a:xfrm>
            <a:off x="395288" y="1773238"/>
            <a:ext cx="8640762" cy="4148137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indent="611505">
              <a:lnSpc>
                <a:spcPct val="110000"/>
              </a:lnSpc>
              <a:buFontTx/>
            </a:pP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scanf </a:t>
            </a:r>
            <a:r>
              <a:rPr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函数的格式为：</a:t>
            </a:r>
            <a:endParaRPr lang="zh-CN" altLang="en-US" sz="2400" b="1" dirty="0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611505">
              <a:lnSpc>
                <a:spcPct val="110000"/>
              </a:lnSpc>
              <a:buFontTx/>
            </a:pP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scanf</a:t>
            </a:r>
            <a:r>
              <a:rPr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（格式控制字符串 </a:t>
            </a: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地址表列）</a:t>
            </a: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;</a:t>
            </a:r>
            <a:endParaRPr lang="en-US" altLang="zh-CN" sz="2400" b="1" dirty="0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611505">
              <a:lnSpc>
                <a:spcPct val="110000"/>
              </a:lnSpc>
              <a:buFontTx/>
            </a:pP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scanf </a:t>
            </a:r>
            <a:r>
              <a:rPr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的作用是输入指定形式的数据。其中，地址列表可以是变量的地址，也可以是字符串的首地址。</a:t>
            </a:r>
            <a:endParaRPr lang="en-US" altLang="zh-CN" sz="2400" b="1" dirty="0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611505">
              <a:lnSpc>
                <a:spcPct val="110000"/>
              </a:lnSpc>
              <a:buFontTx/>
            </a:pP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</a:t>
            </a:r>
            <a:r>
              <a:rPr lang="zh-CN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例如：</a:t>
            </a: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int a,b;</a:t>
            </a:r>
            <a:endParaRPr lang="zh-CN" altLang="zh-CN" sz="2400" b="1" dirty="0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611505">
              <a:lnSpc>
                <a:spcPct val="110000"/>
              </a:lnSpc>
              <a:buFontTx/>
            </a:pP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       scanf(</a:t>
            </a:r>
            <a:r>
              <a:rPr lang="zh-CN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“</a:t>
            </a: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%d,%d</a:t>
            </a:r>
            <a:r>
              <a:rPr lang="zh-CN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”</a:t>
            </a: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,&amp;a,&amp;b);</a:t>
            </a:r>
            <a:endParaRPr lang="zh-CN" altLang="zh-CN" sz="2400" b="1" dirty="0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611505">
              <a:lnSpc>
                <a:spcPct val="110000"/>
              </a:lnSpc>
              <a:buFontTx/>
            </a:pP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</a:t>
            </a:r>
            <a:r>
              <a:rPr lang="zh-CN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就表示先在内存中各开辟</a:t>
            </a: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4</a:t>
            </a:r>
            <a:r>
              <a:rPr lang="zh-CN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个字节空间给</a:t>
            </a: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zh-CN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和</a:t>
            </a: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r>
              <a:rPr lang="zh-CN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，当遇到</a:t>
            </a: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scanf</a:t>
            </a:r>
            <a:r>
              <a:rPr lang="zh-CN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语句时，就把键盘上输入的</a:t>
            </a: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zh-CN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个数依次存入</a:t>
            </a: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zh-CN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、</a:t>
            </a: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r>
              <a:rPr lang="zh-CN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所在的空间（及地址中）。“</a:t>
            </a: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&amp;a</a:t>
            </a:r>
            <a:r>
              <a:rPr lang="zh-CN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”就表示取</a:t>
            </a: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zh-CN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变量</a:t>
            </a:r>
            <a:r>
              <a:rPr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的</a:t>
            </a:r>
            <a:r>
              <a:rPr lang="zh-CN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地址，“</a:t>
            </a: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&amp;</a:t>
            </a:r>
            <a:r>
              <a:rPr lang="zh-CN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”称为取地址符。简而言之，就是先找地址后放值。</a:t>
            </a:r>
            <a:endParaRPr lang="zh-CN" altLang="en-US" sz="2400" b="1" dirty="0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slow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81" name="标题 1"/>
          <p:cNvSpPr txBox="1"/>
          <p:nvPr/>
        </p:nvSpPr>
        <p:spPr>
          <a:xfrm>
            <a:off x="395288" y="1119188"/>
            <a:ext cx="8280400" cy="725487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>
              <a:buFontTx/>
            </a:pPr>
            <a:r>
              <a:rPr lang="en-US" altLang="zh-CN" sz="2800" b="1" dirty="0">
                <a:solidFill>
                  <a:srgbClr val="8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2. scanf </a:t>
            </a:r>
            <a:r>
              <a:rPr lang="zh-CN" altLang="en-US" sz="2800" b="1" dirty="0">
                <a:solidFill>
                  <a:srgbClr val="8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函数</a:t>
            </a:r>
            <a:endParaRPr lang="en-US" altLang="zh-CN" sz="2800" b="1" dirty="0">
              <a:solidFill>
                <a:srgbClr val="8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0482" name="矩形 2"/>
          <p:cNvSpPr/>
          <p:nvPr/>
        </p:nvSpPr>
        <p:spPr>
          <a:xfrm>
            <a:off x="468313" y="1844675"/>
            <a:ext cx="8280400" cy="448786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lnSpc>
                <a:spcPct val="110000"/>
              </a:lnSpc>
              <a:buFontTx/>
            </a:pP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 </a:t>
            </a:r>
            <a:r>
              <a:rPr lang="zh-CN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使用</a:t>
            </a: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scanf</a:t>
            </a:r>
            <a:r>
              <a:rPr lang="zh-CN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函数时，需要注意以下几个问题：</a:t>
            </a:r>
            <a:endParaRPr lang="zh-CN" altLang="zh-CN" sz="2000" b="1" dirty="0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10000"/>
              </a:lnSpc>
              <a:buFontTx/>
            </a:pP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</a:t>
            </a:r>
            <a:r>
              <a:rPr lang="zh-CN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（</a:t>
            </a: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）如果在格式控制字符串中有其它字符，则运行程序输入数据时，对应的位置也要输入这些相同的字符。</a:t>
            </a:r>
            <a:endParaRPr lang="zh-CN" altLang="zh-CN" sz="2000" b="1" dirty="0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10000"/>
              </a:lnSpc>
              <a:buFontTx/>
            </a:pP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</a:t>
            </a:r>
            <a:r>
              <a:rPr lang="zh-CN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例如：</a:t>
            </a:r>
            <a:r>
              <a:rPr lang="pt-BR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scanf(</a:t>
            </a:r>
            <a:r>
              <a:rPr lang="zh-CN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“</a:t>
            </a:r>
            <a:r>
              <a:rPr lang="pt-BR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%d,%d</a:t>
            </a:r>
            <a:r>
              <a:rPr lang="zh-CN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”</a:t>
            </a:r>
            <a:r>
              <a:rPr lang="pt-BR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,&amp;a,&amp;b);</a:t>
            </a:r>
            <a:endParaRPr lang="zh-CN" altLang="zh-CN" sz="2000" b="1" dirty="0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10000"/>
              </a:lnSpc>
              <a:buFontTx/>
            </a:pP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</a:t>
            </a:r>
            <a:r>
              <a:rPr lang="zh-CN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键盘输入应该是“</a:t>
            </a: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3,4</a:t>
            </a:r>
            <a:r>
              <a:rPr lang="zh-CN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”，而不能是“</a:t>
            </a: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3 4</a:t>
            </a:r>
            <a:r>
              <a:rPr lang="zh-CN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”。</a:t>
            </a:r>
            <a:endParaRPr lang="zh-CN" altLang="zh-CN" sz="2000" b="1" dirty="0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10000"/>
              </a:lnSpc>
              <a:buFontTx/>
            </a:pP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 </a:t>
            </a:r>
            <a:endParaRPr lang="zh-CN" altLang="zh-CN" sz="2000" b="1" dirty="0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10000"/>
              </a:lnSpc>
              <a:buFontTx/>
            </a:pP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</a:t>
            </a:r>
            <a:r>
              <a:rPr lang="zh-CN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（</a:t>
            </a: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zh-CN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）</a:t>
            </a: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scanf</a:t>
            </a:r>
            <a:r>
              <a:rPr lang="zh-CN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函数输入时可以过滤掉不想读入的字符。</a:t>
            </a:r>
            <a:endParaRPr lang="zh-CN" altLang="zh-CN" sz="2000" b="1" dirty="0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10000"/>
              </a:lnSpc>
              <a:buFontTx/>
            </a:pP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</a:t>
            </a:r>
            <a:r>
              <a:rPr lang="zh-CN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例如：</a:t>
            </a:r>
            <a:r>
              <a:rPr lang="pt-BR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scanf(</a:t>
            </a:r>
            <a:r>
              <a:rPr lang="zh-CN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“</a:t>
            </a:r>
            <a:r>
              <a:rPr lang="pt-BR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%d+%d+%d</a:t>
            </a:r>
            <a:r>
              <a:rPr lang="zh-CN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”</a:t>
            </a:r>
            <a:r>
              <a:rPr lang="pt-BR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,&amp;a,&amp;b,&amp;c);</a:t>
            </a:r>
            <a:endParaRPr lang="zh-CN" altLang="zh-CN" sz="2000" b="1" dirty="0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10000"/>
              </a:lnSpc>
              <a:buFontTx/>
            </a:pPr>
            <a:r>
              <a:rPr lang="pt-BR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</a:t>
            </a:r>
            <a:r>
              <a:rPr lang="zh-CN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键盘输入：</a:t>
            </a: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1+2+3</a:t>
            </a:r>
            <a:endParaRPr lang="zh-CN" altLang="zh-CN" sz="2000" b="1" dirty="0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10000"/>
              </a:lnSpc>
              <a:buFontTx/>
            </a:pP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</a:t>
            </a:r>
            <a:r>
              <a:rPr lang="zh-CN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则</a:t>
            </a: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scanf</a:t>
            </a:r>
            <a:r>
              <a:rPr lang="zh-CN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可以无视“</a:t>
            </a: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+</a:t>
            </a:r>
            <a:r>
              <a:rPr lang="zh-CN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”，使得</a:t>
            </a: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a,b,c</a:t>
            </a:r>
            <a:r>
              <a:rPr lang="zh-CN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的值分别为</a:t>
            </a: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1,2,3</a:t>
            </a:r>
            <a:r>
              <a:rPr lang="zh-CN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  <a:endParaRPr lang="zh-CN" altLang="zh-CN" sz="2000" b="1" dirty="0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10000"/>
              </a:lnSpc>
              <a:buFontTx/>
            </a:pP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</a:t>
            </a:r>
            <a:r>
              <a:rPr lang="zh-CN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再如：</a:t>
            </a:r>
            <a:r>
              <a:rPr lang="pt-BR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scanf(</a:t>
            </a:r>
            <a:r>
              <a:rPr lang="zh-CN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“</a:t>
            </a:r>
            <a:r>
              <a:rPr lang="pt-BR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%3d %*3d %2d</a:t>
            </a:r>
            <a:r>
              <a:rPr lang="zh-CN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”</a:t>
            </a:r>
            <a:r>
              <a:rPr lang="pt-BR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,&amp;m,&amp;n);</a:t>
            </a:r>
            <a:endParaRPr lang="zh-CN" altLang="zh-CN" sz="2000" b="1" dirty="0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10000"/>
              </a:lnSpc>
              <a:buFontTx/>
            </a:pPr>
            <a:r>
              <a:rPr lang="pt-BR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</a:t>
            </a:r>
            <a:r>
              <a:rPr lang="zh-CN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键盘输入：</a:t>
            </a: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113 118 69</a:t>
            </a:r>
            <a:endParaRPr lang="zh-CN" altLang="zh-CN" sz="2000" b="1" dirty="0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10000"/>
              </a:lnSpc>
              <a:buFontTx/>
            </a:pP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</a:t>
            </a:r>
            <a:r>
              <a:rPr lang="zh-CN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则</a:t>
            </a: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m,n</a:t>
            </a:r>
            <a:r>
              <a:rPr lang="zh-CN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的值分别为</a:t>
            </a: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113,69</a:t>
            </a:r>
            <a:r>
              <a:rPr lang="zh-CN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，因为“</a:t>
            </a: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*</a:t>
            </a:r>
            <a:r>
              <a:rPr lang="zh-CN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”表示跳过相应数据。</a:t>
            </a:r>
            <a:endParaRPr lang="zh-CN" altLang="en-US" sz="2000" b="1" dirty="0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slow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505" name="标题 1"/>
          <p:cNvSpPr txBox="1"/>
          <p:nvPr/>
        </p:nvSpPr>
        <p:spPr>
          <a:xfrm>
            <a:off x="395288" y="981075"/>
            <a:ext cx="8280400" cy="725488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>
              <a:buFontTx/>
            </a:pPr>
            <a:r>
              <a:rPr lang="zh-CN" altLang="en-US" sz="2400" b="1" dirty="0">
                <a:solidFill>
                  <a:srgbClr val="8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例</a:t>
            </a:r>
            <a:r>
              <a:rPr lang="en-US" altLang="zh-CN" sz="2400" b="1" dirty="0">
                <a:solidFill>
                  <a:srgbClr val="8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r>
              <a:rPr lang="zh-CN" altLang="en-US" sz="2400" b="1" dirty="0">
                <a:solidFill>
                  <a:srgbClr val="8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、阅读并上机调试程序，</a:t>
            </a:r>
            <a:r>
              <a:rPr lang="zh-CN" altLang="zh-CN" sz="2400" b="1" dirty="0">
                <a:solidFill>
                  <a:srgbClr val="8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体会</a:t>
            </a:r>
            <a:r>
              <a:rPr lang="en-US" altLang="zh-CN" sz="2400" b="1" dirty="0">
                <a:solidFill>
                  <a:srgbClr val="8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scanf</a:t>
            </a:r>
            <a:r>
              <a:rPr lang="zh-CN" altLang="zh-CN" sz="2400" b="1" dirty="0">
                <a:solidFill>
                  <a:srgbClr val="8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的使用</a:t>
            </a:r>
            <a:r>
              <a:rPr lang="zh-CN" altLang="en-US" sz="2400" b="1" dirty="0">
                <a:solidFill>
                  <a:srgbClr val="8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。</a:t>
            </a:r>
            <a:endParaRPr lang="en-US" altLang="zh-CN" sz="2400" b="1" dirty="0">
              <a:solidFill>
                <a:srgbClr val="8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1506" name="矩形 2"/>
          <p:cNvSpPr/>
          <p:nvPr/>
        </p:nvSpPr>
        <p:spPr>
          <a:xfrm>
            <a:off x="755650" y="1773238"/>
            <a:ext cx="7488238" cy="37846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buFontTx/>
            </a:pP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//p2-10-2</a:t>
            </a:r>
            <a:endParaRPr lang="zh-CN" altLang="zh-CN" sz="2400" b="1" dirty="0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buFontTx/>
            </a:pP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#include&lt;cstdio&gt;</a:t>
            </a:r>
            <a:endParaRPr lang="zh-CN" altLang="zh-CN" sz="2400" b="1" dirty="0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buFontTx/>
            </a:pP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#include&lt;cmath&gt;</a:t>
            </a:r>
            <a:endParaRPr lang="zh-CN" altLang="zh-CN" sz="2400" b="1" dirty="0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buFontTx/>
            </a:pP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int main(){</a:t>
            </a:r>
            <a:endParaRPr lang="zh-CN" altLang="zh-CN" sz="2400" b="1" dirty="0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buFontTx/>
            </a:pP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double x1,y1,x2,y2,q;</a:t>
            </a:r>
            <a:endParaRPr lang="zh-CN" altLang="zh-CN" sz="2400" b="1" dirty="0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buFontTx/>
            </a:pP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scanf("%lf %lf %lf %lf",&amp;x1,&amp;y1,&amp;x2,&amp;y2);</a:t>
            </a:r>
            <a:endParaRPr lang="zh-CN" altLang="zh-CN" sz="2400" b="1" dirty="0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buFontTx/>
            </a:pP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q = sqrt((x1-x2)*(x1-x2)+(y1-y2)*(y1-y2));</a:t>
            </a:r>
            <a:endParaRPr lang="zh-CN" altLang="zh-CN" sz="2400" b="1" dirty="0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buFontTx/>
            </a:pP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printf(“%.3f\n”,q);</a:t>
            </a:r>
            <a:endParaRPr lang="zh-CN" altLang="zh-CN" sz="2400" b="1" dirty="0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buFontTx/>
            </a:pP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return 0;</a:t>
            </a:r>
            <a:endParaRPr lang="zh-CN" altLang="zh-CN" sz="2400" b="1" dirty="0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buFontTx/>
            </a:pP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}</a:t>
            </a:r>
            <a:endParaRPr lang="zh-CN" altLang="zh-CN" sz="2400" b="1" dirty="0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755650" y="5732463"/>
            <a:ext cx="7993063" cy="46196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buFontTx/>
            </a:pPr>
            <a:r>
              <a:rPr lang="zh-CN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运行程序，输入：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1.5 2.5 9.3 8.1</a:t>
            </a:r>
            <a:r>
              <a:rPr lang="zh-CN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，输出：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9.602</a:t>
            </a:r>
            <a:r>
              <a:rPr lang="zh-CN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  <a:endParaRPr lang="zh-CN" altLang="zh-CN" sz="24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529" name="标题 1"/>
          <p:cNvSpPr txBox="1"/>
          <p:nvPr/>
        </p:nvSpPr>
        <p:spPr>
          <a:xfrm>
            <a:off x="395288" y="912813"/>
            <a:ext cx="8280400" cy="725487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indent="611505">
              <a:lnSpc>
                <a:spcPct val="150000"/>
              </a:lnSpc>
              <a:buFontTx/>
            </a:pPr>
            <a:r>
              <a:rPr lang="en-US" altLang="zh-CN" sz="2800" b="1" dirty="0">
                <a:solidFill>
                  <a:srgbClr val="8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3. scanf</a:t>
            </a:r>
            <a:r>
              <a:rPr lang="zh-CN" altLang="en-US" sz="2800" b="1" dirty="0">
                <a:solidFill>
                  <a:srgbClr val="8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、</a:t>
            </a:r>
            <a:r>
              <a:rPr lang="en-US" altLang="zh-CN" sz="2800" b="1" dirty="0">
                <a:solidFill>
                  <a:srgbClr val="8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printf </a:t>
            </a:r>
            <a:r>
              <a:rPr lang="zh-CN" altLang="en-US" sz="2800" b="1" dirty="0">
                <a:solidFill>
                  <a:srgbClr val="8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与 </a:t>
            </a:r>
            <a:r>
              <a:rPr lang="en-US" altLang="zh-CN" sz="2800" b="1" dirty="0">
                <a:solidFill>
                  <a:srgbClr val="8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cin</a:t>
            </a:r>
            <a:r>
              <a:rPr lang="zh-CN" altLang="en-US" sz="2800" b="1" dirty="0">
                <a:solidFill>
                  <a:srgbClr val="8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、</a:t>
            </a:r>
            <a:r>
              <a:rPr lang="en-US" altLang="zh-CN" sz="2800" b="1" dirty="0">
                <a:solidFill>
                  <a:srgbClr val="8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cout </a:t>
            </a:r>
            <a:r>
              <a:rPr lang="zh-CN" altLang="en-US" sz="2800" b="1" dirty="0">
                <a:solidFill>
                  <a:srgbClr val="8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的比较</a:t>
            </a:r>
            <a:endParaRPr lang="en-US" altLang="zh-CN" sz="2800" b="1" dirty="0">
              <a:solidFill>
                <a:srgbClr val="8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2530" name="矩形 2"/>
          <p:cNvSpPr/>
          <p:nvPr/>
        </p:nvSpPr>
        <p:spPr>
          <a:xfrm>
            <a:off x="323850" y="1844675"/>
            <a:ext cx="8569325" cy="45148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lnSpc>
                <a:spcPct val="120000"/>
              </a:lnSpc>
              <a:buFontTx/>
            </a:pP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cin </a:t>
            </a:r>
            <a:r>
              <a:rPr lang="zh-CN" altLang="en-US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是输入流，</a:t>
            </a: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cout </a:t>
            </a:r>
            <a:r>
              <a:rPr lang="zh-CN" altLang="en-US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是输出流，重载了“</a:t>
            </a: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&gt;&gt;”“&lt;&lt;”</a:t>
            </a:r>
            <a:r>
              <a:rPr lang="zh-CN" altLang="en-US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运算符，包含在头文件 </a:t>
            </a: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&lt;iostream&gt; </a:t>
            </a:r>
            <a:r>
              <a:rPr lang="zh-CN" altLang="en-US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中。</a:t>
            </a:r>
            <a:endParaRPr lang="zh-CN" altLang="en-US" sz="2000" b="1" dirty="0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  <a:buFontTx/>
            </a:pP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cin </a:t>
            </a:r>
            <a:r>
              <a:rPr lang="zh-CN" altLang="en-US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代表标准输入设备，使用提取运算符“</a:t>
            </a: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&gt;&gt;”</a:t>
            </a:r>
            <a:r>
              <a:rPr lang="zh-CN" altLang="en-US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从键盘取得数据，送到输入流对象 </a:t>
            </a: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cin </a:t>
            </a:r>
            <a:r>
              <a:rPr lang="zh-CN" altLang="en-US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中，然后送到内存。</a:t>
            </a: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cin </a:t>
            </a:r>
            <a:r>
              <a:rPr lang="zh-CN" altLang="en-US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是自动判断变量类型，比如一个 </a:t>
            </a: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char </a:t>
            </a:r>
            <a:r>
              <a:rPr lang="zh-CN" altLang="en-US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数据只能用默认的 </a:t>
            </a: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char </a:t>
            </a:r>
            <a:r>
              <a:rPr lang="zh-CN" altLang="en-US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方法取数据。</a:t>
            </a:r>
            <a:endParaRPr lang="zh-CN" altLang="en-US" sz="2000" b="1" dirty="0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  <a:buFontTx/>
            </a:pP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cout </a:t>
            </a:r>
            <a:r>
              <a:rPr lang="zh-CN" altLang="en-US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先把要输出的东西存入缓冲区，遇到“</a:t>
            </a: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endl”</a:t>
            </a:r>
            <a:r>
              <a:rPr lang="zh-CN" altLang="en-US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或者“</a:t>
            </a: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return 0”</a:t>
            </a:r>
            <a:r>
              <a:rPr lang="zh-CN" altLang="en-US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再输出并刷新缓冲区，导致效率降低。</a:t>
            </a:r>
            <a:endParaRPr lang="zh-CN" altLang="en-US" sz="2000" b="1" dirty="0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  <a:buFontTx/>
            </a:pP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scanf </a:t>
            </a:r>
            <a:r>
              <a:rPr lang="zh-CN" altLang="en-US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是格式化输入，</a:t>
            </a: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printf </a:t>
            </a:r>
            <a:r>
              <a:rPr lang="zh-CN" altLang="en-US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是格式化输出，包含在头文件 </a:t>
            </a: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&lt;cstdio&gt; </a:t>
            </a:r>
            <a:r>
              <a:rPr lang="zh-CN" altLang="en-US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中。</a:t>
            </a:r>
            <a:r>
              <a:rPr lang="zh-CN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因为</a:t>
            </a: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scanf</a:t>
            </a:r>
            <a:r>
              <a:rPr lang="zh-CN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是用指针操作的，没有类型安全机制，比如对于一个</a:t>
            </a: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char</a:t>
            </a:r>
            <a:r>
              <a:rPr lang="zh-CN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类型数据，你就可以用“</a:t>
            </a: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%f</a:t>
            </a:r>
            <a:r>
              <a:rPr lang="zh-CN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”获得输入，而不会报错，但在运行时会出现异常。</a:t>
            </a: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scanf()</a:t>
            </a:r>
            <a:r>
              <a:rPr lang="zh-CN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函数取数据时遇到回车、空格、</a:t>
            </a: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TAB</a:t>
            </a:r>
            <a:r>
              <a:rPr lang="zh-CN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就会停止。</a:t>
            </a:r>
            <a:endParaRPr lang="zh-CN" altLang="zh-CN" sz="2000" b="1" dirty="0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  <a:buFontTx/>
            </a:pP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printf</a:t>
            </a:r>
            <a:r>
              <a:rPr lang="zh-CN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输出效率比较高，但是编写代码相对而言麻烦一些。</a:t>
            </a:r>
            <a:endParaRPr lang="zh-CN" altLang="zh-CN" sz="2000" b="1" dirty="0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slow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553" name="标题 1"/>
          <p:cNvSpPr txBox="1"/>
          <p:nvPr/>
        </p:nvSpPr>
        <p:spPr>
          <a:xfrm>
            <a:off x="468313" y="908050"/>
            <a:ext cx="8280400" cy="725488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algn="ctr">
              <a:buFontTx/>
            </a:pPr>
            <a:r>
              <a:rPr lang="zh-CN" altLang="en-US" sz="2800" b="1" dirty="0">
                <a:solidFill>
                  <a:srgbClr val="8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第 </a:t>
            </a:r>
            <a:r>
              <a:rPr lang="en-US" altLang="zh-CN" sz="2800" b="1" dirty="0">
                <a:solidFill>
                  <a:srgbClr val="8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10 </a:t>
            </a:r>
            <a:r>
              <a:rPr lang="zh-CN" altLang="en-US" sz="2800" b="1" dirty="0">
                <a:solidFill>
                  <a:srgbClr val="8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课 格式控制</a:t>
            </a:r>
            <a:endParaRPr lang="zh-CN" altLang="en-US" sz="2800" b="1" dirty="0">
              <a:solidFill>
                <a:srgbClr val="8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3554" name="矩形 2"/>
          <p:cNvSpPr/>
          <p:nvPr/>
        </p:nvSpPr>
        <p:spPr>
          <a:xfrm>
            <a:off x="1225550" y="2133600"/>
            <a:ext cx="7523163" cy="226218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Aft>
                <a:spcPts val="180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</a:pPr>
            <a:r>
              <a:rPr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学习目标</a:t>
            </a:r>
            <a:endParaRPr lang="zh-CN" altLang="en-US" sz="2400" b="1" dirty="0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spcAft>
                <a:spcPts val="180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</a:pP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1. </a:t>
            </a:r>
            <a:r>
              <a:rPr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了解 </a:t>
            </a: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C++ </a:t>
            </a:r>
            <a:r>
              <a:rPr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的格式控制。</a:t>
            </a:r>
            <a:endParaRPr lang="zh-CN" altLang="en-US" sz="2400" b="1" dirty="0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spcAft>
                <a:spcPts val="180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</a:pP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2. </a:t>
            </a:r>
            <a:r>
              <a:rPr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学会 </a:t>
            </a: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scanf </a:t>
            </a:r>
            <a:r>
              <a:rPr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和 </a:t>
            </a: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printf </a:t>
            </a:r>
            <a:r>
              <a:rPr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函数的使用。</a:t>
            </a:r>
            <a:endParaRPr lang="zh-CN" altLang="en-US" sz="2400" b="1" dirty="0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spcAft>
                <a:spcPts val="180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</a:pP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3. </a:t>
            </a:r>
            <a:r>
              <a:rPr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知晓 </a:t>
            </a: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scanf</a:t>
            </a:r>
            <a:r>
              <a:rPr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、</a:t>
            </a: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printf </a:t>
            </a:r>
            <a:r>
              <a:rPr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与 </a:t>
            </a: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cin</a:t>
            </a:r>
            <a:r>
              <a:rPr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、</a:t>
            </a: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cout </a:t>
            </a:r>
            <a:r>
              <a:rPr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的区别。</a:t>
            </a:r>
            <a:endParaRPr lang="en-US" altLang="zh-CN" sz="2400" b="1" dirty="0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slow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577" name="矩形 2"/>
          <p:cNvSpPr/>
          <p:nvPr/>
        </p:nvSpPr>
        <p:spPr>
          <a:xfrm>
            <a:off x="371475" y="1557338"/>
            <a:ext cx="8748713" cy="504666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lnSpc>
                <a:spcPct val="150000"/>
              </a:lnSpc>
              <a:buFontTx/>
            </a:pP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C++</a:t>
            </a:r>
            <a:r>
              <a:rPr lang="zh-CN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语言兼容</a:t>
            </a: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</a:t>
            </a:r>
            <a:r>
              <a:rPr lang="zh-CN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语言中的基本语句语法</a:t>
            </a:r>
            <a:r>
              <a:rPr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scanf</a:t>
            </a:r>
            <a:r>
              <a:rPr lang="zh-CN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和</a:t>
            </a: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printf</a:t>
            </a:r>
            <a:r>
              <a:rPr lang="zh-CN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是</a:t>
            </a: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</a:t>
            </a:r>
            <a:r>
              <a:rPr lang="zh-CN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语言中的输入输出函数（语句），在</a:t>
            </a: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C++</a:t>
            </a:r>
            <a:r>
              <a:rPr lang="zh-CN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语言环境中也可以使用。</a:t>
            </a:r>
            <a:endParaRPr lang="en-US" altLang="zh-CN" sz="2400" b="1" dirty="0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  <a:buFontTx/>
            </a:pP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</a:t>
            </a:r>
            <a:r>
              <a:rPr lang="zh-CN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“</a:t>
            </a: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</a:t>
            </a:r>
            <a:r>
              <a:rPr lang="zh-CN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”是</a:t>
            </a: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format(</a:t>
            </a:r>
            <a:r>
              <a:rPr lang="zh-CN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格式</a:t>
            </a: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lang="zh-CN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之意，就是要按照指定的格式输入输出值，所以，又称为格式输入输出函数。</a:t>
            </a:r>
            <a:endParaRPr lang="en-US" altLang="zh-CN" sz="2400" b="1" dirty="0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  <a:buFontTx/>
            </a:pP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</a:t>
            </a:r>
            <a:r>
              <a:rPr lang="zh-CN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对于大数据的输入输出，使用</a:t>
            </a: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scanf</a:t>
            </a:r>
            <a:r>
              <a:rPr lang="zh-CN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和</a:t>
            </a: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printf</a:t>
            </a:r>
            <a:r>
              <a:rPr lang="zh-CN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，比</a:t>
            </a: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C++</a:t>
            </a:r>
            <a:r>
              <a:rPr lang="zh-CN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中的输入输出流语句（</a:t>
            </a: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cin</a:t>
            </a:r>
            <a:r>
              <a:rPr lang="zh-CN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和</a:t>
            </a: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cout</a:t>
            </a:r>
            <a:r>
              <a:rPr lang="zh-CN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）效率更高、速度更快。</a:t>
            </a:r>
            <a:endParaRPr lang="zh-CN" altLang="zh-CN" sz="2400" b="1" dirty="0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  <a:buFontTx/>
            </a:pP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scanf</a:t>
            </a:r>
            <a:r>
              <a:rPr lang="zh-CN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和</a:t>
            </a: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printf</a:t>
            </a:r>
            <a:r>
              <a:rPr lang="zh-CN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是标准库函数，使用前需要加上</a:t>
            </a: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cstdio</a:t>
            </a:r>
            <a:r>
              <a:rPr lang="zh-CN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头文件。</a:t>
            </a:r>
            <a:endParaRPr lang="zh-CN" altLang="zh-CN" sz="2400" b="1" dirty="0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slow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601" name="标题 1"/>
          <p:cNvSpPr txBox="1"/>
          <p:nvPr/>
        </p:nvSpPr>
        <p:spPr>
          <a:xfrm>
            <a:off x="395288" y="1119188"/>
            <a:ext cx="8280400" cy="725487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>
              <a:buFontTx/>
            </a:pPr>
            <a:r>
              <a:rPr lang="en-US" altLang="zh-CN" sz="2800" b="1" dirty="0">
                <a:solidFill>
                  <a:srgbClr val="8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1. printf </a:t>
            </a:r>
            <a:r>
              <a:rPr lang="zh-CN" altLang="en-US" sz="2800" b="1" dirty="0">
                <a:solidFill>
                  <a:srgbClr val="8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函数</a:t>
            </a:r>
            <a:endParaRPr lang="en-US" altLang="zh-CN" sz="2800" b="1" dirty="0">
              <a:solidFill>
                <a:srgbClr val="8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5602" name="矩形 2"/>
          <p:cNvSpPr/>
          <p:nvPr/>
        </p:nvSpPr>
        <p:spPr>
          <a:xfrm>
            <a:off x="395288" y="1628775"/>
            <a:ext cx="8280400" cy="11303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indent="611505">
              <a:lnSpc>
                <a:spcPct val="150000"/>
              </a:lnSpc>
              <a:buFontTx/>
            </a:pP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printf </a:t>
            </a:r>
            <a:r>
              <a:rPr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函数的格式为：</a:t>
            </a:r>
            <a:endParaRPr lang="zh-CN" altLang="en-US" sz="2400" b="1" dirty="0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611505">
              <a:lnSpc>
                <a:spcPct val="150000"/>
              </a:lnSpc>
              <a:buFontTx/>
            </a:pP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printf</a:t>
            </a:r>
            <a:r>
              <a:rPr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（格式控制字符串，输出列表）</a:t>
            </a: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;</a:t>
            </a:r>
            <a:endParaRPr lang="zh-CN" altLang="en-US" sz="2400" b="1" dirty="0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2560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9413" y="2743200"/>
            <a:ext cx="8332787" cy="35909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slow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625" name="标题 1"/>
          <p:cNvSpPr txBox="1"/>
          <p:nvPr/>
        </p:nvSpPr>
        <p:spPr>
          <a:xfrm>
            <a:off x="395288" y="908050"/>
            <a:ext cx="8280400" cy="725488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indent="611505">
              <a:lnSpc>
                <a:spcPct val="150000"/>
              </a:lnSpc>
              <a:buFontTx/>
            </a:pPr>
            <a:r>
              <a:rPr lang="zh-CN" altLang="en-US" sz="2800" b="1" dirty="0">
                <a:solidFill>
                  <a:srgbClr val="8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使用说明</a:t>
            </a:r>
            <a:endParaRPr lang="en-US" altLang="zh-CN" sz="2800" b="1" dirty="0">
              <a:solidFill>
                <a:srgbClr val="8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6626" name="矩形 2"/>
          <p:cNvSpPr/>
          <p:nvPr/>
        </p:nvSpPr>
        <p:spPr>
          <a:xfrm>
            <a:off x="382588" y="1844675"/>
            <a:ext cx="8280400" cy="409416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indent="611505">
              <a:spcAft>
                <a:spcPts val="600"/>
              </a:spcAft>
              <a:buFontTx/>
            </a:pP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） 输出整数形式可以用 </a:t>
            </a: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%d </a:t>
            </a:r>
            <a:r>
              <a:rPr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或 </a:t>
            </a: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%md</a:t>
            </a:r>
            <a:r>
              <a:rPr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m </a:t>
            </a:r>
            <a:r>
              <a:rPr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为指定的输出字符的宽度，输出数据右对齐。</a:t>
            </a:r>
            <a:endParaRPr lang="en-US" altLang="zh-CN" sz="2400" b="1" dirty="0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611505">
              <a:spcAft>
                <a:spcPts val="600"/>
              </a:spcAft>
              <a:buFontTx/>
            </a:pP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） 输出长整型可以用 </a:t>
            </a: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%ld</a:t>
            </a:r>
            <a:r>
              <a:rPr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，一个 </a:t>
            </a: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int </a:t>
            </a:r>
            <a:r>
              <a:rPr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型数据可以用 </a:t>
            </a: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%d </a:t>
            </a:r>
            <a:r>
              <a:rPr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或 </a:t>
            </a: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%ld </a:t>
            </a:r>
            <a:r>
              <a:rPr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格式输出。</a:t>
            </a:r>
            <a:endParaRPr lang="zh-CN" altLang="en-US" sz="2400" b="1" dirty="0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611505">
              <a:spcAft>
                <a:spcPts val="600"/>
              </a:spcAft>
              <a:buFontTx/>
            </a:pP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r>
              <a:rPr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） 输出字符串用 </a:t>
            </a: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%s</a:t>
            </a:r>
            <a:r>
              <a:rPr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，如“</a:t>
            </a: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printf </a:t>
            </a:r>
            <a:r>
              <a:rPr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（ “ </a:t>
            </a: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%s ” </a:t>
            </a:r>
            <a:r>
              <a:rPr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 “ </a:t>
            </a: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hello ” </a:t>
            </a:r>
            <a:r>
              <a:rPr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）；”。</a:t>
            </a:r>
            <a:endParaRPr lang="zh-CN" altLang="en-US" sz="2400" b="1" dirty="0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611505">
              <a:spcAft>
                <a:spcPts val="600"/>
              </a:spcAft>
              <a:buFontTx/>
            </a:pP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4</a:t>
            </a:r>
            <a:r>
              <a:rPr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） “</a:t>
            </a: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%ms”</a:t>
            </a:r>
            <a:r>
              <a:rPr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，输出的字符串占 </a:t>
            </a: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m </a:t>
            </a:r>
            <a:r>
              <a:rPr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列，如字符串本身长度大于 </a:t>
            </a: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m</a:t>
            </a:r>
            <a:r>
              <a:rPr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，则突破 </a:t>
            </a: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m </a:t>
            </a:r>
            <a:r>
              <a:rPr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的限制，将字符串全部输出；若串的长度小于 </a:t>
            </a: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m</a:t>
            </a:r>
            <a:r>
              <a:rPr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，则左补空格。</a:t>
            </a:r>
            <a:endParaRPr lang="zh-CN" altLang="en-US" sz="2400" b="1" dirty="0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611505">
              <a:spcAft>
                <a:spcPts val="600"/>
              </a:spcAft>
              <a:buFontTx/>
            </a:pPr>
            <a:endParaRPr lang="zh-CN" altLang="en-US" sz="2400" b="1" dirty="0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slow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49" name="标题 1"/>
          <p:cNvSpPr txBox="1"/>
          <p:nvPr/>
        </p:nvSpPr>
        <p:spPr>
          <a:xfrm>
            <a:off x="395288" y="912813"/>
            <a:ext cx="8280400" cy="725487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indent="611505">
              <a:lnSpc>
                <a:spcPct val="150000"/>
              </a:lnSpc>
              <a:buFontTx/>
            </a:pPr>
            <a:r>
              <a:rPr lang="zh-CN" altLang="en-US" sz="2800" b="1" dirty="0">
                <a:solidFill>
                  <a:srgbClr val="8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使用说明</a:t>
            </a:r>
            <a:endParaRPr lang="en-US" altLang="zh-CN" sz="2800" b="1" dirty="0">
              <a:solidFill>
                <a:srgbClr val="8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7650" name="矩形 2"/>
          <p:cNvSpPr/>
          <p:nvPr/>
        </p:nvSpPr>
        <p:spPr>
          <a:xfrm>
            <a:off x="395288" y="1717675"/>
            <a:ext cx="8424862" cy="441166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indent="611505">
              <a:spcAft>
                <a:spcPts val="500"/>
              </a:spcAft>
              <a:buFontTx/>
            </a:pP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5</a:t>
            </a:r>
            <a:r>
              <a:rPr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） “</a:t>
            </a: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%-ms”</a:t>
            </a:r>
            <a:r>
              <a:rPr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，若串长小于 </a:t>
            </a: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m</a:t>
            </a:r>
            <a:r>
              <a:rPr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，则在 </a:t>
            </a: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m </a:t>
            </a:r>
            <a:r>
              <a:rPr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列范围内，字符串向左靠，右补空格。</a:t>
            </a:r>
            <a:endParaRPr lang="zh-CN" altLang="en-US" sz="2400" b="1" dirty="0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611505">
              <a:spcAft>
                <a:spcPts val="500"/>
              </a:spcAft>
              <a:buFontTx/>
            </a:pP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6</a:t>
            </a:r>
            <a:r>
              <a:rPr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） “</a:t>
            </a: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%m.ns”</a:t>
            </a:r>
            <a:r>
              <a:rPr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，输出占 </a:t>
            </a: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m </a:t>
            </a:r>
            <a:r>
              <a:rPr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列，但只取字符串中左端 </a:t>
            </a: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 </a:t>
            </a:r>
            <a:r>
              <a:rPr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个字符。这 </a:t>
            </a: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 </a:t>
            </a:r>
            <a:r>
              <a:rPr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个字符输出在 </a:t>
            </a: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m </a:t>
            </a:r>
            <a:r>
              <a:rPr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列的右侧，左补空格。</a:t>
            </a:r>
            <a:endParaRPr lang="zh-CN" altLang="en-US" sz="2400" b="1" dirty="0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611505">
              <a:spcAft>
                <a:spcPts val="500"/>
              </a:spcAft>
              <a:buFontTx/>
            </a:pP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7</a:t>
            </a:r>
            <a:r>
              <a:rPr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） “</a:t>
            </a: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%-m.ns”</a:t>
            </a:r>
            <a:r>
              <a:rPr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m</a:t>
            </a:r>
            <a:r>
              <a:rPr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、</a:t>
            </a: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 </a:t>
            </a:r>
            <a:r>
              <a:rPr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含义同上，</a:t>
            </a: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 </a:t>
            </a:r>
            <a:r>
              <a:rPr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个字符输出在 </a:t>
            </a: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m </a:t>
            </a:r>
            <a:r>
              <a:rPr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列范围的左侧，右补空格，如果 </a:t>
            </a: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n&gt;m</a:t>
            </a:r>
            <a:r>
              <a:rPr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，则 </a:t>
            </a: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m</a:t>
            </a:r>
            <a:r>
              <a:rPr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自动取 </a:t>
            </a: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 </a:t>
            </a:r>
            <a:r>
              <a:rPr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值，即保证 </a:t>
            </a: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 </a:t>
            </a:r>
            <a:r>
              <a:rPr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个字符正常输出。</a:t>
            </a:r>
            <a:endParaRPr lang="zh-CN" altLang="en-US" sz="2400" b="1" dirty="0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611505">
              <a:spcAft>
                <a:spcPts val="500"/>
              </a:spcAft>
              <a:buFontTx/>
            </a:pP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8</a:t>
            </a:r>
            <a:r>
              <a:rPr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） “</a:t>
            </a: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%m.nf”</a:t>
            </a:r>
            <a:r>
              <a:rPr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，输出浮点数，占 </a:t>
            </a: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m </a:t>
            </a:r>
            <a:r>
              <a:rPr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列，其中有 </a:t>
            </a: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 </a:t>
            </a:r>
            <a:r>
              <a:rPr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位小数，如果数值长度小于 </a:t>
            </a: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m</a:t>
            </a:r>
            <a:r>
              <a:rPr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，则左补空格。</a:t>
            </a:r>
            <a:endParaRPr lang="zh-CN" altLang="en-US" sz="2400" b="1" dirty="0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611505">
              <a:spcAft>
                <a:spcPts val="500"/>
              </a:spcAft>
              <a:buFontTx/>
            </a:pP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9</a:t>
            </a:r>
            <a:r>
              <a:rPr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） “</a:t>
            </a: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%-m.nf”</a:t>
            </a:r>
            <a:r>
              <a:rPr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，同上，只是使输出的数值向左端靠齐，右端补空格。</a:t>
            </a:r>
            <a:endParaRPr lang="zh-CN" altLang="en-US" sz="2400" b="1" dirty="0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slow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673" name="标题 1"/>
          <p:cNvSpPr txBox="1"/>
          <p:nvPr/>
        </p:nvSpPr>
        <p:spPr>
          <a:xfrm>
            <a:off x="395288" y="1119188"/>
            <a:ext cx="8280400" cy="725487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>
              <a:buFontTx/>
            </a:pPr>
            <a:r>
              <a:rPr lang="zh-CN" altLang="en-US" sz="2400" b="1" dirty="0">
                <a:solidFill>
                  <a:srgbClr val="8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例</a:t>
            </a:r>
            <a:r>
              <a:rPr lang="en-US" altLang="zh-CN" sz="2400" b="1" dirty="0">
                <a:solidFill>
                  <a:srgbClr val="8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r>
              <a:rPr lang="zh-CN" altLang="en-US" sz="2400" b="1" dirty="0">
                <a:solidFill>
                  <a:srgbClr val="8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、阅读并上机调试程序，体会 </a:t>
            </a:r>
            <a:r>
              <a:rPr lang="en-US" altLang="zh-CN" sz="2400" b="1" dirty="0">
                <a:solidFill>
                  <a:srgbClr val="8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printf </a:t>
            </a:r>
            <a:r>
              <a:rPr lang="zh-CN" altLang="en-US" sz="2400" b="1" dirty="0">
                <a:solidFill>
                  <a:srgbClr val="8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函数的使用。</a:t>
            </a:r>
            <a:endParaRPr lang="en-US" altLang="zh-CN" sz="2400" b="1" dirty="0">
              <a:solidFill>
                <a:srgbClr val="8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8674" name="矩形 2"/>
          <p:cNvSpPr/>
          <p:nvPr/>
        </p:nvSpPr>
        <p:spPr>
          <a:xfrm>
            <a:off x="755650" y="1773238"/>
            <a:ext cx="7488238" cy="44005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buFontTx/>
            </a:pP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//p2-10-1</a:t>
            </a:r>
            <a:endParaRPr lang="en-US" altLang="zh-CN" sz="2000" b="1" dirty="0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buFontTx/>
            </a:pP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#include&lt;cstdio&gt;</a:t>
            </a:r>
            <a:endParaRPr lang="en-US" altLang="zh-CN" sz="2000" b="1" dirty="0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buFontTx/>
            </a:pP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using namespace std;</a:t>
            </a:r>
            <a:endParaRPr lang="en-US" altLang="zh-CN" sz="2000" b="1" dirty="0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buFontTx/>
            </a:pP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int main(){</a:t>
            </a:r>
            <a:endParaRPr lang="en-US" altLang="zh-CN" sz="2000" b="1" dirty="0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buFontTx/>
            </a:pP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printf( “ %d ” ,1); // </a:t>
            </a:r>
            <a:r>
              <a:rPr lang="zh-CN" altLang="en-US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输出 </a:t>
            </a: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endParaRPr lang="en-US" altLang="zh-CN" sz="2000" b="1" dirty="0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buFontTx/>
            </a:pP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printf( “ %o ” ,8); // </a:t>
            </a:r>
            <a:r>
              <a:rPr lang="zh-CN" altLang="en-US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输出 </a:t>
            </a: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10</a:t>
            </a:r>
            <a:endParaRPr lang="en-US" altLang="zh-CN" sz="2000" b="1" dirty="0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buFontTx/>
            </a:pP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printf( “ %x ” ,17); // </a:t>
            </a:r>
            <a:r>
              <a:rPr lang="zh-CN" altLang="en-US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输出 </a:t>
            </a: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11</a:t>
            </a:r>
            <a:endParaRPr lang="en-US" altLang="zh-CN" sz="2000" b="1" dirty="0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buFontTx/>
            </a:pP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printf( “ %u ” ,12); // </a:t>
            </a:r>
            <a:r>
              <a:rPr lang="zh-CN" altLang="en-US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输出 </a:t>
            </a: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12</a:t>
            </a:r>
            <a:endParaRPr lang="en-US" altLang="zh-CN" sz="2000" b="1" dirty="0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buFontTx/>
            </a:pP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printf( “ %c ” ,49); // </a:t>
            </a:r>
            <a:r>
              <a:rPr lang="zh-CN" altLang="en-US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输出 </a:t>
            </a: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endParaRPr lang="en-US" altLang="zh-CN" sz="2000" b="1" dirty="0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buFontTx/>
            </a:pP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printf( “ %s ” , ” 1ab11 ” ); // </a:t>
            </a:r>
            <a:r>
              <a:rPr lang="zh-CN" altLang="en-US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输出 </a:t>
            </a: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1ab11</a:t>
            </a:r>
            <a:endParaRPr lang="en-US" altLang="zh-CN" sz="2000" b="1" dirty="0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buFontTx/>
            </a:pP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printf( “ %f ” ,0.14); // </a:t>
            </a:r>
            <a:r>
              <a:rPr lang="zh-CN" altLang="en-US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输出 </a:t>
            </a: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0.140000</a:t>
            </a:r>
            <a:endParaRPr lang="en-US" altLang="zh-CN" sz="2000" b="1" dirty="0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buFontTx/>
            </a:pP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printf( “ %e ” ,0.1); // </a:t>
            </a:r>
            <a:r>
              <a:rPr lang="zh-CN" altLang="en-US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输出 </a:t>
            </a: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1.000000e-001</a:t>
            </a:r>
            <a:endParaRPr lang="en-US" altLang="zh-CN" sz="2000" b="1" dirty="0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buFontTx/>
            </a:pP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printf( “ %lld ” ,21473648); // </a:t>
            </a:r>
            <a:r>
              <a:rPr lang="zh-CN" altLang="en-US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输出 </a:t>
            </a: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21473648</a:t>
            </a:r>
            <a:endParaRPr lang="en-US" altLang="zh-CN" sz="2000" b="1" dirty="0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buFontTx/>
            </a:pP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}</a:t>
            </a:r>
            <a:endParaRPr lang="zh-CN" altLang="en-US" sz="2000" b="1" dirty="0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slow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9697" name="标题 1"/>
          <p:cNvSpPr txBox="1"/>
          <p:nvPr/>
        </p:nvSpPr>
        <p:spPr>
          <a:xfrm>
            <a:off x="395288" y="1119188"/>
            <a:ext cx="8280400" cy="725487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>
              <a:buFontTx/>
            </a:pPr>
            <a:r>
              <a:rPr lang="en-US" altLang="zh-CN" sz="2800" b="1" dirty="0">
                <a:solidFill>
                  <a:srgbClr val="8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2. scanf </a:t>
            </a:r>
            <a:r>
              <a:rPr lang="zh-CN" altLang="en-US" sz="2800" b="1" dirty="0">
                <a:solidFill>
                  <a:srgbClr val="8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函数</a:t>
            </a:r>
            <a:endParaRPr lang="en-US" altLang="zh-CN" sz="2800" b="1" dirty="0">
              <a:solidFill>
                <a:srgbClr val="8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9698" name="矩形 2"/>
          <p:cNvSpPr/>
          <p:nvPr/>
        </p:nvSpPr>
        <p:spPr>
          <a:xfrm>
            <a:off x="395288" y="1773238"/>
            <a:ext cx="8640762" cy="4148137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indent="611505">
              <a:lnSpc>
                <a:spcPct val="110000"/>
              </a:lnSpc>
              <a:buFontTx/>
            </a:pP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scanf </a:t>
            </a:r>
            <a:r>
              <a:rPr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函数的格式为：</a:t>
            </a:r>
            <a:endParaRPr lang="zh-CN" altLang="en-US" sz="2400" b="1" dirty="0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611505">
              <a:lnSpc>
                <a:spcPct val="110000"/>
              </a:lnSpc>
              <a:buFontTx/>
            </a:pP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scanf</a:t>
            </a:r>
            <a:r>
              <a:rPr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（格式控制字符串 </a:t>
            </a: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地址表列）</a:t>
            </a: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;</a:t>
            </a:r>
            <a:endParaRPr lang="en-US" altLang="zh-CN" sz="2400" b="1" dirty="0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611505">
              <a:lnSpc>
                <a:spcPct val="110000"/>
              </a:lnSpc>
              <a:buFontTx/>
            </a:pP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scanf </a:t>
            </a:r>
            <a:r>
              <a:rPr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的作用是输入指定形式的数据。其中，地址列表可以是变量的地址，也可以是字符串的首地址。</a:t>
            </a:r>
            <a:endParaRPr lang="en-US" altLang="zh-CN" sz="2400" b="1" dirty="0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611505">
              <a:lnSpc>
                <a:spcPct val="110000"/>
              </a:lnSpc>
              <a:buFontTx/>
            </a:pP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</a:t>
            </a:r>
            <a:r>
              <a:rPr lang="zh-CN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例如：</a:t>
            </a: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int a,b;</a:t>
            </a:r>
            <a:endParaRPr lang="zh-CN" altLang="zh-CN" sz="2400" b="1" dirty="0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611505">
              <a:lnSpc>
                <a:spcPct val="110000"/>
              </a:lnSpc>
              <a:buFontTx/>
            </a:pP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       scanf(</a:t>
            </a:r>
            <a:r>
              <a:rPr lang="zh-CN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“</a:t>
            </a: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%d,%d</a:t>
            </a:r>
            <a:r>
              <a:rPr lang="zh-CN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”</a:t>
            </a: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,&amp;a,&amp;b);</a:t>
            </a:r>
            <a:endParaRPr lang="zh-CN" altLang="zh-CN" sz="2400" b="1" dirty="0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611505">
              <a:lnSpc>
                <a:spcPct val="110000"/>
              </a:lnSpc>
              <a:buFontTx/>
            </a:pP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</a:t>
            </a:r>
            <a:r>
              <a:rPr lang="zh-CN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就表示先在内存中各开辟</a:t>
            </a: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4</a:t>
            </a:r>
            <a:r>
              <a:rPr lang="zh-CN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个字节空间给</a:t>
            </a: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zh-CN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和</a:t>
            </a: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r>
              <a:rPr lang="zh-CN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，当遇到</a:t>
            </a: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scanf</a:t>
            </a:r>
            <a:r>
              <a:rPr lang="zh-CN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语句时，就把键盘上输入的</a:t>
            </a: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zh-CN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个数依次存入</a:t>
            </a: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zh-CN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、</a:t>
            </a: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r>
              <a:rPr lang="zh-CN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所在的空间（及地址中）。“</a:t>
            </a: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&amp;a</a:t>
            </a:r>
            <a:r>
              <a:rPr lang="zh-CN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”就表示取</a:t>
            </a: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zh-CN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变量</a:t>
            </a:r>
            <a:r>
              <a:rPr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的</a:t>
            </a:r>
            <a:r>
              <a:rPr lang="zh-CN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地址，“</a:t>
            </a: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&amp;</a:t>
            </a:r>
            <a:r>
              <a:rPr lang="zh-CN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”称为取地址符。简而言之，就是先找地址后放值。</a:t>
            </a:r>
            <a:endParaRPr lang="zh-CN" altLang="en-US" sz="2400" b="1" dirty="0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slow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21" name="标题 1"/>
          <p:cNvSpPr txBox="1"/>
          <p:nvPr/>
        </p:nvSpPr>
        <p:spPr>
          <a:xfrm>
            <a:off x="395288" y="1119188"/>
            <a:ext cx="8280400" cy="725487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>
              <a:buFontTx/>
            </a:pPr>
            <a:r>
              <a:rPr lang="en-US" altLang="zh-CN" sz="2800" b="1" dirty="0">
                <a:solidFill>
                  <a:srgbClr val="8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2. scanf </a:t>
            </a:r>
            <a:r>
              <a:rPr lang="zh-CN" altLang="en-US" sz="2800" b="1" dirty="0">
                <a:solidFill>
                  <a:srgbClr val="8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函数</a:t>
            </a:r>
            <a:endParaRPr lang="en-US" altLang="zh-CN" sz="2800" b="1" dirty="0">
              <a:solidFill>
                <a:srgbClr val="8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0722" name="矩形 2"/>
          <p:cNvSpPr/>
          <p:nvPr/>
        </p:nvSpPr>
        <p:spPr>
          <a:xfrm>
            <a:off x="468313" y="1844675"/>
            <a:ext cx="8280400" cy="448786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lnSpc>
                <a:spcPct val="110000"/>
              </a:lnSpc>
              <a:buFontTx/>
            </a:pP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 </a:t>
            </a:r>
            <a:r>
              <a:rPr lang="zh-CN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使用</a:t>
            </a: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scanf</a:t>
            </a:r>
            <a:r>
              <a:rPr lang="zh-CN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函数时，需要注意以下几个问题：</a:t>
            </a:r>
            <a:endParaRPr lang="zh-CN" altLang="zh-CN" sz="2000" b="1" dirty="0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10000"/>
              </a:lnSpc>
              <a:buFontTx/>
            </a:pP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</a:t>
            </a:r>
            <a:r>
              <a:rPr lang="zh-CN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（</a:t>
            </a: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）如果在格式控制字符串中有其它字符，则运行程序输入数据时，对应的位置也要输入这些相同的字符。</a:t>
            </a:r>
            <a:endParaRPr lang="zh-CN" altLang="zh-CN" sz="2000" b="1" dirty="0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10000"/>
              </a:lnSpc>
              <a:buFontTx/>
            </a:pP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</a:t>
            </a:r>
            <a:r>
              <a:rPr lang="zh-CN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例如：</a:t>
            </a:r>
            <a:r>
              <a:rPr lang="pt-BR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scanf(</a:t>
            </a:r>
            <a:r>
              <a:rPr lang="zh-CN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“</a:t>
            </a:r>
            <a:r>
              <a:rPr lang="pt-BR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%d,%d</a:t>
            </a:r>
            <a:r>
              <a:rPr lang="zh-CN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”</a:t>
            </a:r>
            <a:r>
              <a:rPr lang="pt-BR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,&amp;a,&amp;b);</a:t>
            </a:r>
            <a:endParaRPr lang="zh-CN" altLang="zh-CN" sz="2000" b="1" dirty="0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10000"/>
              </a:lnSpc>
              <a:buFontTx/>
            </a:pP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</a:t>
            </a:r>
            <a:r>
              <a:rPr lang="zh-CN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键盘输入应该是“</a:t>
            </a: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3,4</a:t>
            </a:r>
            <a:r>
              <a:rPr lang="zh-CN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”，而不能是“</a:t>
            </a: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3 4</a:t>
            </a:r>
            <a:r>
              <a:rPr lang="zh-CN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”。</a:t>
            </a:r>
            <a:endParaRPr lang="zh-CN" altLang="zh-CN" sz="2000" b="1" dirty="0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10000"/>
              </a:lnSpc>
              <a:buFontTx/>
            </a:pP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 </a:t>
            </a:r>
            <a:endParaRPr lang="zh-CN" altLang="zh-CN" sz="2000" b="1" dirty="0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10000"/>
              </a:lnSpc>
              <a:buFontTx/>
            </a:pP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</a:t>
            </a:r>
            <a:r>
              <a:rPr lang="zh-CN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（</a:t>
            </a: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zh-CN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）</a:t>
            </a: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scanf</a:t>
            </a:r>
            <a:r>
              <a:rPr lang="zh-CN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函数输入时可以过滤掉不想读入的字符。</a:t>
            </a:r>
            <a:endParaRPr lang="zh-CN" altLang="zh-CN" sz="2000" b="1" dirty="0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10000"/>
              </a:lnSpc>
              <a:buFontTx/>
            </a:pP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</a:t>
            </a:r>
            <a:r>
              <a:rPr lang="zh-CN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例如：</a:t>
            </a:r>
            <a:r>
              <a:rPr lang="pt-BR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scanf(</a:t>
            </a:r>
            <a:r>
              <a:rPr lang="zh-CN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“</a:t>
            </a:r>
            <a:r>
              <a:rPr lang="pt-BR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%d+%d+%d</a:t>
            </a:r>
            <a:r>
              <a:rPr lang="zh-CN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”</a:t>
            </a:r>
            <a:r>
              <a:rPr lang="pt-BR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,&amp;a,&amp;b,&amp;c);</a:t>
            </a:r>
            <a:endParaRPr lang="zh-CN" altLang="zh-CN" sz="2000" b="1" dirty="0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10000"/>
              </a:lnSpc>
              <a:buFontTx/>
            </a:pPr>
            <a:r>
              <a:rPr lang="pt-BR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</a:t>
            </a:r>
            <a:r>
              <a:rPr lang="zh-CN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键盘输入：</a:t>
            </a: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1+2+3</a:t>
            </a:r>
            <a:endParaRPr lang="zh-CN" altLang="zh-CN" sz="2000" b="1" dirty="0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10000"/>
              </a:lnSpc>
              <a:buFontTx/>
            </a:pP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</a:t>
            </a:r>
            <a:r>
              <a:rPr lang="zh-CN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则</a:t>
            </a: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scanf</a:t>
            </a:r>
            <a:r>
              <a:rPr lang="zh-CN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可以无视“</a:t>
            </a: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+</a:t>
            </a:r>
            <a:r>
              <a:rPr lang="zh-CN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”，使得</a:t>
            </a: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a,b,c</a:t>
            </a:r>
            <a:r>
              <a:rPr lang="zh-CN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的值分别为</a:t>
            </a: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1,2,3</a:t>
            </a:r>
            <a:r>
              <a:rPr lang="zh-CN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  <a:endParaRPr lang="zh-CN" altLang="zh-CN" sz="2000" b="1" dirty="0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10000"/>
              </a:lnSpc>
              <a:buFontTx/>
            </a:pP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</a:t>
            </a:r>
            <a:r>
              <a:rPr lang="zh-CN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再如：</a:t>
            </a:r>
            <a:r>
              <a:rPr lang="pt-BR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scanf(</a:t>
            </a:r>
            <a:r>
              <a:rPr lang="zh-CN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“</a:t>
            </a:r>
            <a:r>
              <a:rPr lang="pt-BR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%3d %*3d %2d</a:t>
            </a:r>
            <a:r>
              <a:rPr lang="zh-CN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”</a:t>
            </a:r>
            <a:r>
              <a:rPr lang="pt-BR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,&amp;m,&amp;n);</a:t>
            </a:r>
            <a:endParaRPr lang="zh-CN" altLang="zh-CN" sz="2000" b="1" dirty="0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10000"/>
              </a:lnSpc>
              <a:buFontTx/>
            </a:pPr>
            <a:r>
              <a:rPr lang="pt-BR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</a:t>
            </a:r>
            <a:r>
              <a:rPr lang="zh-CN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键盘输入：</a:t>
            </a: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113 118 69</a:t>
            </a:r>
            <a:endParaRPr lang="zh-CN" altLang="zh-CN" sz="2000" b="1" dirty="0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10000"/>
              </a:lnSpc>
              <a:buFontTx/>
            </a:pP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</a:t>
            </a:r>
            <a:r>
              <a:rPr lang="zh-CN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则</a:t>
            </a: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m,n</a:t>
            </a:r>
            <a:r>
              <a:rPr lang="zh-CN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的值分别为</a:t>
            </a: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113,69</a:t>
            </a:r>
            <a:r>
              <a:rPr lang="zh-CN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，因为“</a:t>
            </a: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*</a:t>
            </a:r>
            <a:r>
              <a:rPr lang="zh-CN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”表示跳过相应数据。</a:t>
            </a:r>
            <a:endParaRPr lang="zh-CN" altLang="en-US" sz="2000" b="1" dirty="0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slow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745" name="标题 1"/>
          <p:cNvSpPr txBox="1"/>
          <p:nvPr/>
        </p:nvSpPr>
        <p:spPr>
          <a:xfrm>
            <a:off x="395288" y="981075"/>
            <a:ext cx="8280400" cy="725488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>
              <a:buFontTx/>
            </a:pPr>
            <a:r>
              <a:rPr lang="zh-CN" altLang="en-US" sz="2400" b="1" dirty="0">
                <a:solidFill>
                  <a:srgbClr val="8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例</a:t>
            </a:r>
            <a:r>
              <a:rPr lang="en-US" altLang="zh-CN" sz="2400" b="1" dirty="0">
                <a:solidFill>
                  <a:srgbClr val="8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r>
              <a:rPr lang="zh-CN" altLang="en-US" sz="2400" b="1" dirty="0">
                <a:solidFill>
                  <a:srgbClr val="8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、阅读并上机调试程序，</a:t>
            </a:r>
            <a:r>
              <a:rPr lang="zh-CN" altLang="zh-CN" sz="2400" b="1" dirty="0">
                <a:solidFill>
                  <a:srgbClr val="8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体会</a:t>
            </a:r>
            <a:r>
              <a:rPr lang="en-US" altLang="zh-CN" sz="2400" b="1" dirty="0">
                <a:solidFill>
                  <a:srgbClr val="8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scanf</a:t>
            </a:r>
            <a:r>
              <a:rPr lang="zh-CN" altLang="zh-CN" sz="2400" b="1" dirty="0">
                <a:solidFill>
                  <a:srgbClr val="8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的使用</a:t>
            </a:r>
            <a:r>
              <a:rPr lang="zh-CN" altLang="en-US" sz="2400" b="1" dirty="0">
                <a:solidFill>
                  <a:srgbClr val="8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。</a:t>
            </a:r>
            <a:endParaRPr lang="en-US" altLang="zh-CN" sz="2400" b="1" dirty="0">
              <a:solidFill>
                <a:srgbClr val="8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1746" name="矩形 2"/>
          <p:cNvSpPr/>
          <p:nvPr/>
        </p:nvSpPr>
        <p:spPr>
          <a:xfrm>
            <a:off x="755650" y="1773238"/>
            <a:ext cx="7488238" cy="37846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buFontTx/>
            </a:pP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//p2-10-2</a:t>
            </a:r>
            <a:endParaRPr lang="zh-CN" altLang="zh-CN" sz="2400" b="1" dirty="0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buFontTx/>
            </a:pP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#include&lt;cstdio&gt;</a:t>
            </a:r>
            <a:endParaRPr lang="zh-CN" altLang="zh-CN" sz="2400" b="1" dirty="0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buFontTx/>
            </a:pP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#include&lt;cmath&gt;</a:t>
            </a:r>
            <a:endParaRPr lang="zh-CN" altLang="zh-CN" sz="2400" b="1" dirty="0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buFontTx/>
            </a:pP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int main(){</a:t>
            </a:r>
            <a:endParaRPr lang="zh-CN" altLang="zh-CN" sz="2400" b="1" dirty="0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buFontTx/>
            </a:pP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double x1,y1,x2,y2,q;</a:t>
            </a:r>
            <a:endParaRPr lang="zh-CN" altLang="zh-CN" sz="2400" b="1" dirty="0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buFontTx/>
            </a:pP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scanf("%lf %lf %lf %lf",&amp;x1,&amp;y1,&amp;x2,&amp;y2);</a:t>
            </a:r>
            <a:endParaRPr lang="zh-CN" altLang="zh-CN" sz="2400" b="1" dirty="0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buFontTx/>
            </a:pP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q = sqrt((x1-x2)*(x1-x2)+(y1-y2)*(y1-y2));</a:t>
            </a:r>
            <a:endParaRPr lang="zh-CN" altLang="zh-CN" sz="2400" b="1" dirty="0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buFontTx/>
            </a:pP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printf(“%.3f\n”,q);</a:t>
            </a:r>
            <a:endParaRPr lang="zh-CN" altLang="zh-CN" sz="2400" b="1" dirty="0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buFontTx/>
            </a:pP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return 0;</a:t>
            </a:r>
            <a:endParaRPr lang="zh-CN" altLang="zh-CN" sz="2400" b="1" dirty="0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buFontTx/>
            </a:pP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}</a:t>
            </a:r>
            <a:endParaRPr lang="zh-CN" altLang="zh-CN" sz="2400" b="1" dirty="0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755650" y="5732463"/>
            <a:ext cx="7993063" cy="46196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buFontTx/>
            </a:pPr>
            <a:r>
              <a:rPr lang="zh-CN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运行程序，输入：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1.5 2.5 9.3 8.1</a:t>
            </a:r>
            <a:r>
              <a:rPr lang="zh-CN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，输出：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9.602</a:t>
            </a:r>
            <a:r>
              <a:rPr lang="zh-CN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  <a:endParaRPr lang="zh-CN" altLang="zh-CN" sz="24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2769" name="标题 1"/>
          <p:cNvSpPr txBox="1"/>
          <p:nvPr/>
        </p:nvSpPr>
        <p:spPr>
          <a:xfrm>
            <a:off x="395288" y="912813"/>
            <a:ext cx="8280400" cy="725487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indent="611505">
              <a:lnSpc>
                <a:spcPct val="150000"/>
              </a:lnSpc>
              <a:buFontTx/>
            </a:pPr>
            <a:r>
              <a:rPr lang="en-US" altLang="zh-CN" sz="2800" b="1" dirty="0">
                <a:solidFill>
                  <a:srgbClr val="8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3. scanf</a:t>
            </a:r>
            <a:r>
              <a:rPr lang="zh-CN" altLang="en-US" sz="2800" b="1" dirty="0">
                <a:solidFill>
                  <a:srgbClr val="8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、</a:t>
            </a:r>
            <a:r>
              <a:rPr lang="en-US" altLang="zh-CN" sz="2800" b="1" dirty="0">
                <a:solidFill>
                  <a:srgbClr val="8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printf </a:t>
            </a:r>
            <a:r>
              <a:rPr lang="zh-CN" altLang="en-US" sz="2800" b="1" dirty="0">
                <a:solidFill>
                  <a:srgbClr val="8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与 </a:t>
            </a:r>
            <a:r>
              <a:rPr lang="en-US" altLang="zh-CN" sz="2800" b="1" dirty="0">
                <a:solidFill>
                  <a:srgbClr val="8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cin</a:t>
            </a:r>
            <a:r>
              <a:rPr lang="zh-CN" altLang="en-US" sz="2800" b="1" dirty="0">
                <a:solidFill>
                  <a:srgbClr val="8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、</a:t>
            </a:r>
            <a:r>
              <a:rPr lang="en-US" altLang="zh-CN" sz="2800" b="1" dirty="0">
                <a:solidFill>
                  <a:srgbClr val="8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cout </a:t>
            </a:r>
            <a:r>
              <a:rPr lang="zh-CN" altLang="en-US" sz="2800" b="1" dirty="0">
                <a:solidFill>
                  <a:srgbClr val="8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的比较</a:t>
            </a:r>
            <a:endParaRPr lang="en-US" altLang="zh-CN" sz="2800" b="1" dirty="0">
              <a:solidFill>
                <a:srgbClr val="8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2770" name="矩形 2"/>
          <p:cNvSpPr/>
          <p:nvPr/>
        </p:nvSpPr>
        <p:spPr>
          <a:xfrm>
            <a:off x="323850" y="1844675"/>
            <a:ext cx="8569325" cy="45148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lnSpc>
                <a:spcPct val="120000"/>
              </a:lnSpc>
              <a:buFontTx/>
            </a:pP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cin </a:t>
            </a:r>
            <a:r>
              <a:rPr lang="zh-CN" altLang="en-US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是输入流，</a:t>
            </a: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cout </a:t>
            </a:r>
            <a:r>
              <a:rPr lang="zh-CN" altLang="en-US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是输出流，重载了“</a:t>
            </a: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&gt;&gt;”“&lt;&lt;”</a:t>
            </a:r>
            <a:r>
              <a:rPr lang="zh-CN" altLang="en-US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运算符，包含在头文件 </a:t>
            </a: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&lt;iostream&gt; </a:t>
            </a:r>
            <a:r>
              <a:rPr lang="zh-CN" altLang="en-US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中。</a:t>
            </a:r>
            <a:endParaRPr lang="zh-CN" altLang="en-US" sz="2000" b="1" dirty="0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  <a:buFontTx/>
            </a:pP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cin </a:t>
            </a:r>
            <a:r>
              <a:rPr lang="zh-CN" altLang="en-US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代表标准输入设备，使用提取运算符“</a:t>
            </a: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&gt;&gt;”</a:t>
            </a:r>
            <a:r>
              <a:rPr lang="zh-CN" altLang="en-US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从键盘取得数据，送到输入流对象 </a:t>
            </a: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cin </a:t>
            </a:r>
            <a:r>
              <a:rPr lang="zh-CN" altLang="en-US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中，然后送到内存。</a:t>
            </a: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cin </a:t>
            </a:r>
            <a:r>
              <a:rPr lang="zh-CN" altLang="en-US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是自动判断变量类型，比如一个 </a:t>
            </a: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char </a:t>
            </a:r>
            <a:r>
              <a:rPr lang="zh-CN" altLang="en-US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数据只能用默认的 </a:t>
            </a: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char </a:t>
            </a:r>
            <a:r>
              <a:rPr lang="zh-CN" altLang="en-US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方法取数据。</a:t>
            </a:r>
            <a:endParaRPr lang="zh-CN" altLang="en-US" sz="2000" b="1" dirty="0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  <a:buFontTx/>
            </a:pP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cout </a:t>
            </a:r>
            <a:r>
              <a:rPr lang="zh-CN" altLang="en-US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先把要输出的东西存入缓冲区，遇到“</a:t>
            </a: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endl”</a:t>
            </a:r>
            <a:r>
              <a:rPr lang="zh-CN" altLang="en-US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或者“</a:t>
            </a: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return 0”</a:t>
            </a:r>
            <a:r>
              <a:rPr lang="zh-CN" altLang="en-US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再输出并刷新缓冲区，导致效率降低。</a:t>
            </a:r>
            <a:endParaRPr lang="zh-CN" altLang="en-US" sz="2000" b="1" dirty="0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  <a:buFontTx/>
            </a:pP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scanf </a:t>
            </a:r>
            <a:r>
              <a:rPr lang="zh-CN" altLang="en-US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是格式化输入，</a:t>
            </a: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printf </a:t>
            </a:r>
            <a:r>
              <a:rPr lang="zh-CN" altLang="en-US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是格式化输出，包含在头文件 </a:t>
            </a: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&lt;cstdio&gt; </a:t>
            </a:r>
            <a:r>
              <a:rPr lang="zh-CN" altLang="en-US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中。</a:t>
            </a:r>
            <a:r>
              <a:rPr lang="zh-CN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因为</a:t>
            </a: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scanf</a:t>
            </a:r>
            <a:r>
              <a:rPr lang="zh-CN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是用指针操作的，没有类型安全机制，比如对于一个</a:t>
            </a: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char</a:t>
            </a:r>
            <a:r>
              <a:rPr lang="zh-CN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类型数据，你就可以用“</a:t>
            </a: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%f</a:t>
            </a:r>
            <a:r>
              <a:rPr lang="zh-CN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”获得输入，而不会报错，但在运行时会出现异常。</a:t>
            </a: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scanf()</a:t>
            </a:r>
            <a:r>
              <a:rPr lang="zh-CN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函数取数据时遇到回车、空格、</a:t>
            </a: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TAB</a:t>
            </a:r>
            <a:r>
              <a:rPr lang="zh-CN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就会停止。</a:t>
            </a:r>
            <a:endParaRPr lang="zh-CN" altLang="zh-CN" sz="2000" b="1" dirty="0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  <a:buFontTx/>
            </a:pP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printf</a:t>
            </a:r>
            <a:r>
              <a:rPr lang="zh-CN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输出效率比较高，但是编写代码相对而言麻烦一些。</a:t>
            </a:r>
            <a:endParaRPr lang="zh-CN" altLang="zh-CN" sz="2000" b="1" dirty="0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slow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3793" name="标题 1"/>
          <p:cNvSpPr txBox="1"/>
          <p:nvPr/>
        </p:nvSpPr>
        <p:spPr>
          <a:xfrm>
            <a:off x="395288" y="765175"/>
            <a:ext cx="8569325" cy="725488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>
              <a:buFontTx/>
            </a:pPr>
            <a:r>
              <a:rPr lang="zh-CN" altLang="en-US" sz="2400" b="1" dirty="0">
                <a:solidFill>
                  <a:srgbClr val="8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例</a:t>
            </a:r>
            <a:r>
              <a:rPr lang="zh-CN" altLang="zh-CN" sz="2400" b="1" dirty="0">
                <a:solidFill>
                  <a:srgbClr val="8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3</a:t>
            </a:r>
            <a:r>
              <a:rPr lang="zh-CN" altLang="en-US" sz="2400" b="1" dirty="0">
                <a:solidFill>
                  <a:srgbClr val="8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、</a:t>
            </a:r>
            <a:r>
              <a:rPr lang="zh-CN" altLang="zh-CN" sz="2400" b="1" dirty="0">
                <a:solidFill>
                  <a:srgbClr val="8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阅读并上机调试以下两个程序，观察程序的运行时间，分析比较</a:t>
            </a:r>
            <a:r>
              <a:rPr lang="en-US" altLang="zh-CN" sz="2400" b="1" dirty="0">
                <a:solidFill>
                  <a:srgbClr val="8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cin</a:t>
            </a:r>
            <a:r>
              <a:rPr lang="zh-CN" altLang="zh-CN" sz="2400" b="1" dirty="0">
                <a:solidFill>
                  <a:srgbClr val="8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和</a:t>
            </a:r>
            <a:r>
              <a:rPr lang="en-US" altLang="zh-CN" sz="2400" b="1" dirty="0">
                <a:solidFill>
                  <a:srgbClr val="8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scanf</a:t>
            </a:r>
            <a:r>
              <a:rPr lang="zh-CN" altLang="zh-CN" sz="2400" b="1" dirty="0">
                <a:solidFill>
                  <a:srgbClr val="8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的效率</a:t>
            </a:r>
            <a:r>
              <a:rPr lang="zh-CN" altLang="en-US" sz="2400" b="1" dirty="0">
                <a:solidFill>
                  <a:srgbClr val="8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。</a:t>
            </a:r>
            <a:endParaRPr lang="en-US" altLang="zh-CN" sz="2400" b="1" dirty="0">
              <a:solidFill>
                <a:srgbClr val="8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3794" name="矩形 2"/>
          <p:cNvSpPr/>
          <p:nvPr/>
        </p:nvSpPr>
        <p:spPr>
          <a:xfrm>
            <a:off x="1187450" y="2205038"/>
            <a:ext cx="4392613" cy="12001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buFontTx/>
            </a:pP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p2-10-3a</a:t>
            </a:r>
            <a:endParaRPr lang="en-US" altLang="zh-CN" sz="2400" b="1" dirty="0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buFontTx/>
            </a:pPr>
            <a:endParaRPr lang="en-US" altLang="zh-CN" sz="2400" b="1" dirty="0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buFontTx/>
            </a:pP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p2-10-3b</a:t>
            </a:r>
            <a:endParaRPr lang="zh-CN" altLang="zh-CN" sz="2400" b="1" dirty="0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slow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4817" name="标题 1"/>
          <p:cNvSpPr txBox="1"/>
          <p:nvPr/>
        </p:nvSpPr>
        <p:spPr>
          <a:xfrm>
            <a:off x="468313" y="908050"/>
            <a:ext cx="8280400" cy="725488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algn="ctr">
              <a:buFontTx/>
            </a:pPr>
            <a:r>
              <a:rPr lang="zh-CN" altLang="en-US" sz="2800" b="1" dirty="0">
                <a:solidFill>
                  <a:srgbClr val="8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第 </a:t>
            </a:r>
            <a:r>
              <a:rPr lang="en-US" altLang="zh-CN" sz="2800" b="1" dirty="0">
                <a:solidFill>
                  <a:srgbClr val="8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10 </a:t>
            </a:r>
            <a:r>
              <a:rPr lang="zh-CN" altLang="en-US" sz="2800" b="1" dirty="0">
                <a:solidFill>
                  <a:srgbClr val="8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课 格式控制</a:t>
            </a:r>
            <a:endParaRPr lang="zh-CN" altLang="en-US" sz="2800" b="1" dirty="0">
              <a:solidFill>
                <a:srgbClr val="8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4818" name="矩形 2"/>
          <p:cNvSpPr/>
          <p:nvPr/>
        </p:nvSpPr>
        <p:spPr>
          <a:xfrm>
            <a:off x="1225550" y="2133600"/>
            <a:ext cx="7523163" cy="226218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Aft>
                <a:spcPts val="180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</a:pPr>
            <a:r>
              <a:rPr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学习目标</a:t>
            </a:r>
            <a:endParaRPr lang="zh-CN" altLang="en-US" sz="2400" b="1" dirty="0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spcAft>
                <a:spcPts val="180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</a:pP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1. </a:t>
            </a:r>
            <a:r>
              <a:rPr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了解 </a:t>
            </a: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C++ </a:t>
            </a:r>
            <a:r>
              <a:rPr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的格式控制。</a:t>
            </a:r>
            <a:endParaRPr lang="zh-CN" altLang="en-US" sz="2400" b="1" dirty="0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spcAft>
                <a:spcPts val="180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</a:pP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2. </a:t>
            </a:r>
            <a:r>
              <a:rPr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学会 </a:t>
            </a: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scanf </a:t>
            </a:r>
            <a:r>
              <a:rPr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和 </a:t>
            </a: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printf </a:t>
            </a:r>
            <a:r>
              <a:rPr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函数的使用。</a:t>
            </a:r>
            <a:endParaRPr lang="zh-CN" altLang="en-US" sz="2400" b="1" dirty="0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spcAft>
                <a:spcPts val="180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</a:pP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3. </a:t>
            </a:r>
            <a:r>
              <a:rPr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知晓 </a:t>
            </a: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scanf</a:t>
            </a:r>
            <a:r>
              <a:rPr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、</a:t>
            </a: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printf </a:t>
            </a:r>
            <a:r>
              <a:rPr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与 </a:t>
            </a: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cin</a:t>
            </a:r>
            <a:r>
              <a:rPr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、</a:t>
            </a: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cout </a:t>
            </a:r>
            <a:r>
              <a:rPr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的区别。</a:t>
            </a:r>
            <a:endParaRPr lang="en-US" altLang="zh-CN" sz="2400" b="1" dirty="0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slow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5841" name="矩形 2"/>
          <p:cNvSpPr/>
          <p:nvPr/>
        </p:nvSpPr>
        <p:spPr>
          <a:xfrm>
            <a:off x="371475" y="1557338"/>
            <a:ext cx="8748713" cy="504666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lnSpc>
                <a:spcPct val="150000"/>
              </a:lnSpc>
              <a:buFontTx/>
            </a:pP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C++</a:t>
            </a:r>
            <a:r>
              <a:rPr lang="zh-CN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语言兼容</a:t>
            </a: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</a:t>
            </a:r>
            <a:r>
              <a:rPr lang="zh-CN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语言中的基本语句语法</a:t>
            </a:r>
            <a:r>
              <a:rPr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scanf</a:t>
            </a:r>
            <a:r>
              <a:rPr lang="zh-CN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和</a:t>
            </a: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printf</a:t>
            </a:r>
            <a:r>
              <a:rPr lang="zh-CN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是</a:t>
            </a: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</a:t>
            </a:r>
            <a:r>
              <a:rPr lang="zh-CN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语言中的输入输出函数（语句），在</a:t>
            </a: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C++</a:t>
            </a:r>
            <a:r>
              <a:rPr lang="zh-CN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语言环境中也可以使用。</a:t>
            </a:r>
            <a:endParaRPr lang="en-US" altLang="zh-CN" sz="2400" b="1" dirty="0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  <a:buFontTx/>
            </a:pP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</a:t>
            </a:r>
            <a:r>
              <a:rPr lang="zh-CN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“</a:t>
            </a: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</a:t>
            </a:r>
            <a:r>
              <a:rPr lang="zh-CN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”是</a:t>
            </a: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format(</a:t>
            </a:r>
            <a:r>
              <a:rPr lang="zh-CN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格式</a:t>
            </a: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lang="zh-CN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之意，就是要按照指定的格式输入输出值，所以，又称为格式输入输出函数。</a:t>
            </a:r>
            <a:endParaRPr lang="en-US" altLang="zh-CN" sz="2400" b="1" dirty="0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  <a:buFontTx/>
            </a:pP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</a:t>
            </a:r>
            <a:r>
              <a:rPr lang="zh-CN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对于大数据的输入输出，使用</a:t>
            </a: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scanf</a:t>
            </a:r>
            <a:r>
              <a:rPr lang="zh-CN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和</a:t>
            </a: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printf</a:t>
            </a:r>
            <a:r>
              <a:rPr lang="zh-CN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，比</a:t>
            </a: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C++</a:t>
            </a:r>
            <a:r>
              <a:rPr lang="zh-CN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中的输入输出流语句（</a:t>
            </a: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cin</a:t>
            </a:r>
            <a:r>
              <a:rPr lang="zh-CN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和</a:t>
            </a: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cout</a:t>
            </a:r>
            <a:r>
              <a:rPr lang="zh-CN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）效率更高、速度更快。</a:t>
            </a:r>
            <a:endParaRPr lang="zh-CN" altLang="zh-CN" sz="2400" b="1" dirty="0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  <a:buFontTx/>
            </a:pP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scanf</a:t>
            </a:r>
            <a:r>
              <a:rPr lang="zh-CN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和</a:t>
            </a: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printf</a:t>
            </a:r>
            <a:r>
              <a:rPr lang="zh-CN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是标准库函数，使用前需要加上</a:t>
            </a: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cstdio</a:t>
            </a:r>
            <a:r>
              <a:rPr lang="zh-CN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头文件。</a:t>
            </a:r>
            <a:endParaRPr lang="zh-CN" altLang="zh-CN" sz="2400" b="1" dirty="0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slow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6865" name="标题 1"/>
          <p:cNvSpPr txBox="1"/>
          <p:nvPr/>
        </p:nvSpPr>
        <p:spPr>
          <a:xfrm>
            <a:off x="395288" y="1119188"/>
            <a:ext cx="8280400" cy="725487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>
              <a:buFontTx/>
            </a:pPr>
            <a:r>
              <a:rPr lang="en-US" altLang="zh-CN" sz="2800" b="1" dirty="0">
                <a:solidFill>
                  <a:srgbClr val="8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1. printf </a:t>
            </a:r>
            <a:r>
              <a:rPr lang="zh-CN" altLang="en-US" sz="2800" b="1" dirty="0">
                <a:solidFill>
                  <a:srgbClr val="8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函数</a:t>
            </a:r>
            <a:endParaRPr lang="en-US" altLang="zh-CN" sz="2800" b="1" dirty="0">
              <a:solidFill>
                <a:srgbClr val="8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6866" name="矩形 2"/>
          <p:cNvSpPr/>
          <p:nvPr/>
        </p:nvSpPr>
        <p:spPr>
          <a:xfrm>
            <a:off x="395288" y="1628775"/>
            <a:ext cx="8280400" cy="11303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indent="611505">
              <a:lnSpc>
                <a:spcPct val="150000"/>
              </a:lnSpc>
              <a:buFontTx/>
            </a:pP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printf </a:t>
            </a:r>
            <a:r>
              <a:rPr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函数的格式为：</a:t>
            </a:r>
            <a:endParaRPr lang="zh-CN" altLang="en-US" sz="2400" b="1" dirty="0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611505">
              <a:lnSpc>
                <a:spcPct val="150000"/>
              </a:lnSpc>
              <a:buFontTx/>
            </a:pP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printf</a:t>
            </a:r>
            <a:r>
              <a:rPr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（格式控制字符串，输出列表）</a:t>
            </a: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;</a:t>
            </a:r>
            <a:endParaRPr lang="zh-CN" altLang="en-US" sz="2400" b="1" dirty="0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36867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9413" y="2743200"/>
            <a:ext cx="8332787" cy="35909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slow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7889" name="标题 1"/>
          <p:cNvSpPr txBox="1"/>
          <p:nvPr/>
        </p:nvSpPr>
        <p:spPr>
          <a:xfrm>
            <a:off x="395288" y="908050"/>
            <a:ext cx="8280400" cy="725488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indent="611505">
              <a:lnSpc>
                <a:spcPct val="150000"/>
              </a:lnSpc>
              <a:buFontTx/>
            </a:pPr>
            <a:r>
              <a:rPr lang="zh-CN" altLang="en-US" sz="2800" b="1" dirty="0">
                <a:solidFill>
                  <a:srgbClr val="8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使用说明</a:t>
            </a:r>
            <a:endParaRPr lang="en-US" altLang="zh-CN" sz="2800" b="1" dirty="0">
              <a:solidFill>
                <a:srgbClr val="8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7890" name="矩形 2"/>
          <p:cNvSpPr/>
          <p:nvPr/>
        </p:nvSpPr>
        <p:spPr>
          <a:xfrm>
            <a:off x="382588" y="1844675"/>
            <a:ext cx="8280400" cy="409416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indent="611505">
              <a:spcAft>
                <a:spcPts val="600"/>
              </a:spcAft>
              <a:buFontTx/>
            </a:pP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） 输出整数形式可以用 </a:t>
            </a: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%d </a:t>
            </a:r>
            <a:r>
              <a:rPr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或 </a:t>
            </a: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%md</a:t>
            </a:r>
            <a:r>
              <a:rPr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m </a:t>
            </a:r>
            <a:r>
              <a:rPr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为指定的输出字符的宽度，输出数据右对齐。</a:t>
            </a:r>
            <a:endParaRPr lang="en-US" altLang="zh-CN" sz="2400" b="1" dirty="0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611505">
              <a:spcAft>
                <a:spcPts val="600"/>
              </a:spcAft>
              <a:buFontTx/>
            </a:pP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） 输出长整型可以用 </a:t>
            </a: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%ld</a:t>
            </a:r>
            <a:r>
              <a:rPr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，一个 </a:t>
            </a: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int </a:t>
            </a:r>
            <a:r>
              <a:rPr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型数据可以用 </a:t>
            </a: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%d </a:t>
            </a:r>
            <a:r>
              <a:rPr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或 </a:t>
            </a: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%ld </a:t>
            </a:r>
            <a:r>
              <a:rPr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格式输出。</a:t>
            </a:r>
            <a:endParaRPr lang="zh-CN" altLang="en-US" sz="2400" b="1" dirty="0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611505">
              <a:spcAft>
                <a:spcPts val="600"/>
              </a:spcAft>
              <a:buFontTx/>
            </a:pP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r>
              <a:rPr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） 输出字符串用 </a:t>
            </a: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%s</a:t>
            </a:r>
            <a:r>
              <a:rPr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，如“</a:t>
            </a: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printf </a:t>
            </a:r>
            <a:r>
              <a:rPr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（ “ </a:t>
            </a: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%s ” </a:t>
            </a:r>
            <a:r>
              <a:rPr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 “ </a:t>
            </a: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hello ” </a:t>
            </a:r>
            <a:r>
              <a:rPr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）；”。</a:t>
            </a:r>
            <a:endParaRPr lang="zh-CN" altLang="en-US" sz="2400" b="1" dirty="0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611505">
              <a:spcAft>
                <a:spcPts val="600"/>
              </a:spcAft>
              <a:buFontTx/>
            </a:pP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4</a:t>
            </a:r>
            <a:r>
              <a:rPr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） “</a:t>
            </a: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%ms”</a:t>
            </a:r>
            <a:r>
              <a:rPr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，输出的字符串占 </a:t>
            </a: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m </a:t>
            </a:r>
            <a:r>
              <a:rPr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列，如字符串本身长度大于 </a:t>
            </a: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m</a:t>
            </a:r>
            <a:r>
              <a:rPr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，则突破 </a:t>
            </a: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m </a:t>
            </a:r>
            <a:r>
              <a:rPr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的限制，将字符串全部输出；若串的长度小于 </a:t>
            </a: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m</a:t>
            </a:r>
            <a:r>
              <a:rPr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，则左补空格。</a:t>
            </a:r>
            <a:endParaRPr lang="zh-CN" altLang="en-US" sz="2400" b="1" dirty="0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611505">
              <a:spcAft>
                <a:spcPts val="600"/>
              </a:spcAft>
              <a:buFontTx/>
            </a:pPr>
            <a:endParaRPr lang="zh-CN" altLang="en-US" sz="2400" b="1" dirty="0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slow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8913" name="标题 1"/>
          <p:cNvSpPr txBox="1"/>
          <p:nvPr/>
        </p:nvSpPr>
        <p:spPr>
          <a:xfrm>
            <a:off x="395288" y="912813"/>
            <a:ext cx="8280400" cy="725487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indent="611505">
              <a:lnSpc>
                <a:spcPct val="150000"/>
              </a:lnSpc>
              <a:buFontTx/>
            </a:pPr>
            <a:r>
              <a:rPr lang="zh-CN" altLang="en-US" sz="2800" b="1" dirty="0">
                <a:solidFill>
                  <a:srgbClr val="8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使用说明</a:t>
            </a:r>
            <a:endParaRPr lang="en-US" altLang="zh-CN" sz="2800" b="1" dirty="0">
              <a:solidFill>
                <a:srgbClr val="8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8914" name="矩形 2"/>
          <p:cNvSpPr/>
          <p:nvPr/>
        </p:nvSpPr>
        <p:spPr>
          <a:xfrm>
            <a:off x="395288" y="1717675"/>
            <a:ext cx="8424862" cy="441166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indent="611505">
              <a:spcAft>
                <a:spcPts val="500"/>
              </a:spcAft>
              <a:buFontTx/>
            </a:pP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5</a:t>
            </a:r>
            <a:r>
              <a:rPr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） “</a:t>
            </a: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%-ms”</a:t>
            </a:r>
            <a:r>
              <a:rPr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，若串长小于 </a:t>
            </a: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m</a:t>
            </a:r>
            <a:r>
              <a:rPr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，则在 </a:t>
            </a: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m </a:t>
            </a:r>
            <a:r>
              <a:rPr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列范围内，字符串向左靠，右补空格。</a:t>
            </a:r>
            <a:endParaRPr lang="zh-CN" altLang="en-US" sz="2400" b="1" dirty="0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611505">
              <a:spcAft>
                <a:spcPts val="500"/>
              </a:spcAft>
              <a:buFontTx/>
            </a:pP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6</a:t>
            </a:r>
            <a:r>
              <a:rPr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） “</a:t>
            </a: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%m.ns”</a:t>
            </a:r>
            <a:r>
              <a:rPr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，输出占 </a:t>
            </a: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m </a:t>
            </a:r>
            <a:r>
              <a:rPr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列，但只取字符串中左端 </a:t>
            </a: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 </a:t>
            </a:r>
            <a:r>
              <a:rPr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个字符。这 </a:t>
            </a: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 </a:t>
            </a:r>
            <a:r>
              <a:rPr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个字符输出在 </a:t>
            </a: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m </a:t>
            </a:r>
            <a:r>
              <a:rPr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列的右侧，左补空格。</a:t>
            </a:r>
            <a:endParaRPr lang="zh-CN" altLang="en-US" sz="2400" b="1" dirty="0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611505">
              <a:spcAft>
                <a:spcPts val="500"/>
              </a:spcAft>
              <a:buFontTx/>
            </a:pP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7</a:t>
            </a:r>
            <a:r>
              <a:rPr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） “</a:t>
            </a: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%-m.ns”</a:t>
            </a:r>
            <a:r>
              <a:rPr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m</a:t>
            </a:r>
            <a:r>
              <a:rPr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、</a:t>
            </a: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 </a:t>
            </a:r>
            <a:r>
              <a:rPr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含义同上，</a:t>
            </a: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 </a:t>
            </a:r>
            <a:r>
              <a:rPr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个字符输出在 </a:t>
            </a: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m </a:t>
            </a:r>
            <a:r>
              <a:rPr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列范围的左侧，右补空格，如果 </a:t>
            </a: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n&gt;m</a:t>
            </a:r>
            <a:r>
              <a:rPr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，则 </a:t>
            </a: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m</a:t>
            </a:r>
            <a:r>
              <a:rPr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自动取 </a:t>
            </a: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 </a:t>
            </a:r>
            <a:r>
              <a:rPr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值，即保证 </a:t>
            </a: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 </a:t>
            </a:r>
            <a:r>
              <a:rPr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个字符正常输出。</a:t>
            </a:r>
            <a:endParaRPr lang="zh-CN" altLang="en-US" sz="2400" b="1" dirty="0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611505">
              <a:spcAft>
                <a:spcPts val="500"/>
              </a:spcAft>
              <a:buFontTx/>
            </a:pP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8</a:t>
            </a:r>
            <a:r>
              <a:rPr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） “</a:t>
            </a: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%m.nf”</a:t>
            </a:r>
            <a:r>
              <a:rPr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，输出浮点数，占 </a:t>
            </a: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m </a:t>
            </a:r>
            <a:r>
              <a:rPr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列，其中有 </a:t>
            </a: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 </a:t>
            </a:r>
            <a:r>
              <a:rPr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位小数，如果数值长度小于 </a:t>
            </a: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m</a:t>
            </a:r>
            <a:r>
              <a:rPr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，则左补空格。</a:t>
            </a:r>
            <a:endParaRPr lang="zh-CN" altLang="en-US" sz="2400" b="1" dirty="0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611505">
              <a:spcAft>
                <a:spcPts val="500"/>
              </a:spcAft>
              <a:buFontTx/>
            </a:pP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9</a:t>
            </a:r>
            <a:r>
              <a:rPr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） “</a:t>
            </a: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%-m.nf”</a:t>
            </a:r>
            <a:r>
              <a:rPr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，同上，只是使输出的数值向左端靠齐，右端补空格。</a:t>
            </a:r>
            <a:endParaRPr lang="zh-CN" altLang="en-US" sz="2400" b="1" dirty="0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slow"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9937" name="标题 1"/>
          <p:cNvSpPr txBox="1"/>
          <p:nvPr/>
        </p:nvSpPr>
        <p:spPr>
          <a:xfrm>
            <a:off x="395288" y="1119188"/>
            <a:ext cx="8280400" cy="725487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>
              <a:buFontTx/>
            </a:pPr>
            <a:r>
              <a:rPr lang="zh-CN" altLang="en-US" sz="2400" b="1" dirty="0">
                <a:solidFill>
                  <a:srgbClr val="8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例</a:t>
            </a:r>
            <a:r>
              <a:rPr lang="en-US" altLang="zh-CN" sz="2400" b="1" dirty="0">
                <a:solidFill>
                  <a:srgbClr val="8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r>
              <a:rPr lang="zh-CN" altLang="en-US" sz="2400" b="1" dirty="0">
                <a:solidFill>
                  <a:srgbClr val="8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、阅读并上机调试程序，体会 </a:t>
            </a:r>
            <a:r>
              <a:rPr lang="en-US" altLang="zh-CN" sz="2400" b="1" dirty="0">
                <a:solidFill>
                  <a:srgbClr val="8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printf </a:t>
            </a:r>
            <a:r>
              <a:rPr lang="zh-CN" altLang="en-US" sz="2400" b="1" dirty="0">
                <a:solidFill>
                  <a:srgbClr val="8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函数的使用。</a:t>
            </a:r>
            <a:endParaRPr lang="en-US" altLang="zh-CN" sz="2400" b="1" dirty="0">
              <a:solidFill>
                <a:srgbClr val="8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9938" name="矩形 2"/>
          <p:cNvSpPr/>
          <p:nvPr/>
        </p:nvSpPr>
        <p:spPr>
          <a:xfrm>
            <a:off x="755650" y="1773238"/>
            <a:ext cx="7488238" cy="44005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buFontTx/>
            </a:pP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//p2-10-1</a:t>
            </a:r>
            <a:endParaRPr lang="en-US" altLang="zh-CN" sz="2000" b="1" dirty="0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buFontTx/>
            </a:pP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#include&lt;cstdio&gt;</a:t>
            </a:r>
            <a:endParaRPr lang="en-US" altLang="zh-CN" sz="2000" b="1" dirty="0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buFontTx/>
            </a:pP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using namespace std;</a:t>
            </a:r>
            <a:endParaRPr lang="en-US" altLang="zh-CN" sz="2000" b="1" dirty="0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buFontTx/>
            </a:pP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int main(){</a:t>
            </a:r>
            <a:endParaRPr lang="en-US" altLang="zh-CN" sz="2000" b="1" dirty="0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buFontTx/>
            </a:pP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printf( “ %d ” ,1); // </a:t>
            </a:r>
            <a:r>
              <a:rPr lang="zh-CN" altLang="en-US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输出 </a:t>
            </a: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endParaRPr lang="en-US" altLang="zh-CN" sz="2000" b="1" dirty="0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buFontTx/>
            </a:pP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printf( “ %o ” ,8); // </a:t>
            </a:r>
            <a:r>
              <a:rPr lang="zh-CN" altLang="en-US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输出 </a:t>
            </a: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10</a:t>
            </a:r>
            <a:endParaRPr lang="en-US" altLang="zh-CN" sz="2000" b="1" dirty="0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buFontTx/>
            </a:pP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printf( “ %x ” ,17); // </a:t>
            </a:r>
            <a:r>
              <a:rPr lang="zh-CN" altLang="en-US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输出 </a:t>
            </a: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11</a:t>
            </a:r>
            <a:endParaRPr lang="en-US" altLang="zh-CN" sz="2000" b="1" dirty="0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buFontTx/>
            </a:pP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printf( “ %u ” ,12); // </a:t>
            </a:r>
            <a:r>
              <a:rPr lang="zh-CN" altLang="en-US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输出 </a:t>
            </a: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12</a:t>
            </a:r>
            <a:endParaRPr lang="en-US" altLang="zh-CN" sz="2000" b="1" dirty="0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buFontTx/>
            </a:pP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printf( “ %c ” ,49); // </a:t>
            </a:r>
            <a:r>
              <a:rPr lang="zh-CN" altLang="en-US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输出 </a:t>
            </a: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endParaRPr lang="en-US" altLang="zh-CN" sz="2000" b="1" dirty="0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buFontTx/>
            </a:pP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printf( “ %s ” , ” 1ab11 ” ); // </a:t>
            </a:r>
            <a:r>
              <a:rPr lang="zh-CN" altLang="en-US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输出 </a:t>
            </a: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1ab11</a:t>
            </a:r>
            <a:endParaRPr lang="en-US" altLang="zh-CN" sz="2000" b="1" dirty="0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buFontTx/>
            </a:pP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printf( “ %f ” ,0.14); // </a:t>
            </a:r>
            <a:r>
              <a:rPr lang="zh-CN" altLang="en-US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输出 </a:t>
            </a: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0.140000</a:t>
            </a:r>
            <a:endParaRPr lang="en-US" altLang="zh-CN" sz="2000" b="1" dirty="0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buFontTx/>
            </a:pP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printf( “ %e ” ,0.1); // </a:t>
            </a:r>
            <a:r>
              <a:rPr lang="zh-CN" altLang="en-US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输出 </a:t>
            </a: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1.000000e-001</a:t>
            </a:r>
            <a:endParaRPr lang="en-US" altLang="zh-CN" sz="2000" b="1" dirty="0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buFontTx/>
            </a:pP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printf( “ %lld ” ,21473648); // </a:t>
            </a:r>
            <a:r>
              <a:rPr lang="zh-CN" altLang="en-US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输出 </a:t>
            </a: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21473648</a:t>
            </a:r>
            <a:endParaRPr lang="en-US" altLang="zh-CN" sz="2000" b="1" dirty="0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buFontTx/>
            </a:pP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}</a:t>
            </a:r>
            <a:endParaRPr lang="zh-CN" altLang="en-US" sz="2000" b="1" dirty="0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slow"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61" name="标题 1"/>
          <p:cNvSpPr txBox="1"/>
          <p:nvPr/>
        </p:nvSpPr>
        <p:spPr>
          <a:xfrm>
            <a:off x="395288" y="1119188"/>
            <a:ext cx="8280400" cy="725487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>
              <a:buFontTx/>
            </a:pPr>
            <a:r>
              <a:rPr lang="en-US" altLang="zh-CN" sz="2800" b="1" dirty="0">
                <a:solidFill>
                  <a:srgbClr val="8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2. scanf </a:t>
            </a:r>
            <a:r>
              <a:rPr lang="zh-CN" altLang="en-US" sz="2800" b="1" dirty="0">
                <a:solidFill>
                  <a:srgbClr val="8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函数</a:t>
            </a:r>
            <a:endParaRPr lang="en-US" altLang="zh-CN" sz="2800" b="1" dirty="0">
              <a:solidFill>
                <a:srgbClr val="8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0962" name="矩形 2"/>
          <p:cNvSpPr/>
          <p:nvPr/>
        </p:nvSpPr>
        <p:spPr>
          <a:xfrm>
            <a:off x="395288" y="1773238"/>
            <a:ext cx="8640762" cy="4148137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indent="611505">
              <a:lnSpc>
                <a:spcPct val="110000"/>
              </a:lnSpc>
              <a:buFontTx/>
            </a:pP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scanf </a:t>
            </a:r>
            <a:r>
              <a:rPr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函数的格式为：</a:t>
            </a:r>
            <a:endParaRPr lang="zh-CN" altLang="en-US" sz="2400" b="1" dirty="0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611505">
              <a:lnSpc>
                <a:spcPct val="110000"/>
              </a:lnSpc>
              <a:buFontTx/>
            </a:pP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scanf</a:t>
            </a:r>
            <a:r>
              <a:rPr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（格式控制字符串 </a:t>
            </a: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地址表列）</a:t>
            </a: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;</a:t>
            </a:r>
            <a:endParaRPr lang="en-US" altLang="zh-CN" sz="2400" b="1" dirty="0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611505">
              <a:lnSpc>
                <a:spcPct val="110000"/>
              </a:lnSpc>
              <a:buFontTx/>
            </a:pP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scanf </a:t>
            </a:r>
            <a:r>
              <a:rPr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的作用是输入指定形式的数据。其中，地址列表可以是变量的地址，也可以是字符串的首地址。</a:t>
            </a:r>
            <a:endParaRPr lang="en-US" altLang="zh-CN" sz="2400" b="1" dirty="0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611505">
              <a:lnSpc>
                <a:spcPct val="110000"/>
              </a:lnSpc>
              <a:buFontTx/>
            </a:pP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</a:t>
            </a:r>
            <a:r>
              <a:rPr lang="zh-CN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例如：</a:t>
            </a: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int a,b;</a:t>
            </a:r>
            <a:endParaRPr lang="zh-CN" altLang="zh-CN" sz="2400" b="1" dirty="0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611505">
              <a:lnSpc>
                <a:spcPct val="110000"/>
              </a:lnSpc>
              <a:buFontTx/>
            </a:pP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       scanf(</a:t>
            </a:r>
            <a:r>
              <a:rPr lang="zh-CN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“</a:t>
            </a: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%d,%d</a:t>
            </a:r>
            <a:r>
              <a:rPr lang="zh-CN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”</a:t>
            </a: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,&amp;a,&amp;b);</a:t>
            </a:r>
            <a:endParaRPr lang="zh-CN" altLang="zh-CN" sz="2400" b="1" dirty="0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611505">
              <a:lnSpc>
                <a:spcPct val="110000"/>
              </a:lnSpc>
              <a:buFontTx/>
            </a:pP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</a:t>
            </a:r>
            <a:r>
              <a:rPr lang="zh-CN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就表示先在内存中各开辟</a:t>
            </a: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4</a:t>
            </a:r>
            <a:r>
              <a:rPr lang="zh-CN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个字节空间给</a:t>
            </a: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zh-CN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和</a:t>
            </a: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r>
              <a:rPr lang="zh-CN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，当遇到</a:t>
            </a: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scanf</a:t>
            </a:r>
            <a:r>
              <a:rPr lang="zh-CN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语句时，就把键盘上输入的</a:t>
            </a: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zh-CN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个数依次存入</a:t>
            </a: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zh-CN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、</a:t>
            </a: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r>
              <a:rPr lang="zh-CN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所在的空间（及地址中）。“</a:t>
            </a: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&amp;a</a:t>
            </a:r>
            <a:r>
              <a:rPr lang="zh-CN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”就表示取</a:t>
            </a: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zh-CN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变量</a:t>
            </a:r>
            <a:r>
              <a:rPr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的</a:t>
            </a:r>
            <a:r>
              <a:rPr lang="zh-CN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地址，“</a:t>
            </a: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&amp;</a:t>
            </a:r>
            <a:r>
              <a:rPr lang="zh-CN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”称为取地址符。简而言之，就是先找地址后放值。</a:t>
            </a:r>
            <a:endParaRPr lang="zh-CN" altLang="en-US" sz="2400" b="1" dirty="0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slow"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1985" name="标题 1"/>
          <p:cNvSpPr txBox="1"/>
          <p:nvPr/>
        </p:nvSpPr>
        <p:spPr>
          <a:xfrm>
            <a:off x="395288" y="1119188"/>
            <a:ext cx="8280400" cy="725487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>
              <a:buFontTx/>
            </a:pPr>
            <a:r>
              <a:rPr lang="en-US" altLang="zh-CN" sz="2800" b="1" dirty="0">
                <a:solidFill>
                  <a:srgbClr val="8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2. scanf </a:t>
            </a:r>
            <a:r>
              <a:rPr lang="zh-CN" altLang="en-US" sz="2800" b="1" dirty="0">
                <a:solidFill>
                  <a:srgbClr val="8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函数</a:t>
            </a:r>
            <a:endParaRPr lang="en-US" altLang="zh-CN" sz="2800" b="1" dirty="0">
              <a:solidFill>
                <a:srgbClr val="8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1986" name="矩形 2"/>
          <p:cNvSpPr/>
          <p:nvPr/>
        </p:nvSpPr>
        <p:spPr>
          <a:xfrm>
            <a:off x="468313" y="1844675"/>
            <a:ext cx="8280400" cy="448786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lnSpc>
                <a:spcPct val="110000"/>
              </a:lnSpc>
              <a:buFontTx/>
            </a:pP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 </a:t>
            </a:r>
            <a:r>
              <a:rPr lang="zh-CN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使用</a:t>
            </a: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scanf</a:t>
            </a:r>
            <a:r>
              <a:rPr lang="zh-CN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函数时，需要注意以下几个问题：</a:t>
            </a:r>
            <a:endParaRPr lang="zh-CN" altLang="zh-CN" sz="2000" b="1" dirty="0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10000"/>
              </a:lnSpc>
              <a:buFontTx/>
            </a:pP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</a:t>
            </a:r>
            <a:r>
              <a:rPr lang="zh-CN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（</a:t>
            </a: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）如果在格式控制字符串中有其它字符，则运行程序输入数据时，对应的位置也要输入这些相同的字符。</a:t>
            </a:r>
            <a:endParaRPr lang="zh-CN" altLang="zh-CN" sz="2000" b="1" dirty="0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10000"/>
              </a:lnSpc>
              <a:buFontTx/>
            </a:pP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</a:t>
            </a:r>
            <a:r>
              <a:rPr lang="zh-CN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例如：</a:t>
            </a:r>
            <a:r>
              <a:rPr lang="pt-BR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scanf(</a:t>
            </a:r>
            <a:r>
              <a:rPr lang="zh-CN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“</a:t>
            </a:r>
            <a:r>
              <a:rPr lang="pt-BR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%d,%d</a:t>
            </a:r>
            <a:r>
              <a:rPr lang="zh-CN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”</a:t>
            </a:r>
            <a:r>
              <a:rPr lang="pt-BR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,&amp;a,&amp;b);</a:t>
            </a:r>
            <a:endParaRPr lang="zh-CN" altLang="zh-CN" sz="2000" b="1" dirty="0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10000"/>
              </a:lnSpc>
              <a:buFontTx/>
            </a:pP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</a:t>
            </a:r>
            <a:r>
              <a:rPr lang="zh-CN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键盘输入应该是“</a:t>
            </a: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3,4</a:t>
            </a:r>
            <a:r>
              <a:rPr lang="zh-CN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”，而不能是“</a:t>
            </a: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3 4</a:t>
            </a:r>
            <a:r>
              <a:rPr lang="zh-CN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”。</a:t>
            </a:r>
            <a:endParaRPr lang="zh-CN" altLang="zh-CN" sz="2000" b="1" dirty="0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10000"/>
              </a:lnSpc>
              <a:buFontTx/>
            </a:pP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 </a:t>
            </a:r>
            <a:endParaRPr lang="zh-CN" altLang="zh-CN" sz="2000" b="1" dirty="0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10000"/>
              </a:lnSpc>
              <a:buFontTx/>
            </a:pP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</a:t>
            </a:r>
            <a:r>
              <a:rPr lang="zh-CN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（</a:t>
            </a: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zh-CN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）</a:t>
            </a: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scanf</a:t>
            </a:r>
            <a:r>
              <a:rPr lang="zh-CN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函数输入时可以过滤掉不想读入的字符。</a:t>
            </a:r>
            <a:endParaRPr lang="zh-CN" altLang="zh-CN" sz="2000" b="1" dirty="0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10000"/>
              </a:lnSpc>
              <a:buFontTx/>
            </a:pP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</a:t>
            </a:r>
            <a:r>
              <a:rPr lang="zh-CN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例如：</a:t>
            </a:r>
            <a:r>
              <a:rPr lang="pt-BR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scanf(</a:t>
            </a:r>
            <a:r>
              <a:rPr lang="zh-CN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“</a:t>
            </a:r>
            <a:r>
              <a:rPr lang="pt-BR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%d+%d+%d</a:t>
            </a:r>
            <a:r>
              <a:rPr lang="zh-CN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”</a:t>
            </a:r>
            <a:r>
              <a:rPr lang="pt-BR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,&amp;a,&amp;b,&amp;c);</a:t>
            </a:r>
            <a:endParaRPr lang="zh-CN" altLang="zh-CN" sz="2000" b="1" dirty="0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10000"/>
              </a:lnSpc>
              <a:buFontTx/>
            </a:pPr>
            <a:r>
              <a:rPr lang="pt-BR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</a:t>
            </a:r>
            <a:r>
              <a:rPr lang="zh-CN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键盘输入：</a:t>
            </a: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1+2+3</a:t>
            </a:r>
            <a:endParaRPr lang="zh-CN" altLang="zh-CN" sz="2000" b="1" dirty="0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10000"/>
              </a:lnSpc>
              <a:buFontTx/>
            </a:pP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</a:t>
            </a:r>
            <a:r>
              <a:rPr lang="zh-CN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则</a:t>
            </a: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scanf</a:t>
            </a:r>
            <a:r>
              <a:rPr lang="zh-CN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可以无视“</a:t>
            </a: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+</a:t>
            </a:r>
            <a:r>
              <a:rPr lang="zh-CN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”，使得</a:t>
            </a: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a,b,c</a:t>
            </a:r>
            <a:r>
              <a:rPr lang="zh-CN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的值分别为</a:t>
            </a: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1,2,3</a:t>
            </a:r>
            <a:r>
              <a:rPr lang="zh-CN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  <a:endParaRPr lang="zh-CN" altLang="zh-CN" sz="2000" b="1" dirty="0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10000"/>
              </a:lnSpc>
              <a:buFontTx/>
            </a:pP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</a:t>
            </a:r>
            <a:r>
              <a:rPr lang="zh-CN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再如：</a:t>
            </a:r>
            <a:r>
              <a:rPr lang="pt-BR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scanf(</a:t>
            </a:r>
            <a:r>
              <a:rPr lang="zh-CN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“</a:t>
            </a:r>
            <a:r>
              <a:rPr lang="pt-BR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%3d %*3d %2d</a:t>
            </a:r>
            <a:r>
              <a:rPr lang="zh-CN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”</a:t>
            </a:r>
            <a:r>
              <a:rPr lang="pt-BR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,&amp;m,&amp;n);</a:t>
            </a:r>
            <a:endParaRPr lang="zh-CN" altLang="zh-CN" sz="2000" b="1" dirty="0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10000"/>
              </a:lnSpc>
              <a:buFontTx/>
            </a:pPr>
            <a:r>
              <a:rPr lang="pt-BR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</a:t>
            </a:r>
            <a:r>
              <a:rPr lang="zh-CN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键盘输入：</a:t>
            </a: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113 118 69</a:t>
            </a:r>
            <a:endParaRPr lang="zh-CN" altLang="zh-CN" sz="2000" b="1" dirty="0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10000"/>
              </a:lnSpc>
              <a:buFontTx/>
            </a:pP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</a:t>
            </a:r>
            <a:r>
              <a:rPr lang="zh-CN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则</a:t>
            </a: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m,n</a:t>
            </a:r>
            <a:r>
              <a:rPr lang="zh-CN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的值分别为</a:t>
            </a: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113,69</a:t>
            </a:r>
            <a:r>
              <a:rPr lang="zh-CN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，因为“</a:t>
            </a: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*</a:t>
            </a:r>
            <a:r>
              <a:rPr lang="zh-CN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”表示跳过相应数据。</a:t>
            </a:r>
            <a:endParaRPr lang="zh-CN" altLang="en-US" sz="2000" b="1" dirty="0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slow"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3009" name="标题 1"/>
          <p:cNvSpPr txBox="1"/>
          <p:nvPr/>
        </p:nvSpPr>
        <p:spPr>
          <a:xfrm>
            <a:off x="395288" y="981075"/>
            <a:ext cx="8280400" cy="725488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>
              <a:buFontTx/>
            </a:pPr>
            <a:r>
              <a:rPr lang="zh-CN" altLang="en-US" sz="2400" b="1" dirty="0">
                <a:solidFill>
                  <a:srgbClr val="8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例</a:t>
            </a:r>
            <a:r>
              <a:rPr lang="en-US" altLang="zh-CN" sz="2400" b="1" dirty="0">
                <a:solidFill>
                  <a:srgbClr val="8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r>
              <a:rPr lang="zh-CN" altLang="en-US" sz="2400" b="1" dirty="0">
                <a:solidFill>
                  <a:srgbClr val="8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、阅读并上机调试程序，</a:t>
            </a:r>
            <a:r>
              <a:rPr lang="zh-CN" altLang="zh-CN" sz="2400" b="1" dirty="0">
                <a:solidFill>
                  <a:srgbClr val="8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体会</a:t>
            </a:r>
            <a:r>
              <a:rPr lang="en-US" altLang="zh-CN" sz="2400" b="1" dirty="0">
                <a:solidFill>
                  <a:srgbClr val="8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scanf</a:t>
            </a:r>
            <a:r>
              <a:rPr lang="zh-CN" altLang="zh-CN" sz="2400" b="1" dirty="0">
                <a:solidFill>
                  <a:srgbClr val="8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的使用</a:t>
            </a:r>
            <a:r>
              <a:rPr lang="zh-CN" altLang="en-US" sz="2400" b="1" dirty="0">
                <a:solidFill>
                  <a:srgbClr val="8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。</a:t>
            </a:r>
            <a:endParaRPr lang="en-US" altLang="zh-CN" sz="2400" b="1" dirty="0">
              <a:solidFill>
                <a:srgbClr val="8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3010" name="矩形 2"/>
          <p:cNvSpPr/>
          <p:nvPr/>
        </p:nvSpPr>
        <p:spPr>
          <a:xfrm>
            <a:off x="755650" y="1773238"/>
            <a:ext cx="7488238" cy="37846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buFontTx/>
            </a:pP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//p2-10-2</a:t>
            </a:r>
            <a:endParaRPr lang="zh-CN" altLang="zh-CN" sz="2400" b="1" dirty="0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buFontTx/>
            </a:pP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#include&lt;cstdio&gt;</a:t>
            </a:r>
            <a:endParaRPr lang="zh-CN" altLang="zh-CN" sz="2400" b="1" dirty="0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buFontTx/>
            </a:pP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#include&lt;cmath&gt;</a:t>
            </a:r>
            <a:endParaRPr lang="zh-CN" altLang="zh-CN" sz="2400" b="1" dirty="0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buFontTx/>
            </a:pP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int main(){</a:t>
            </a:r>
            <a:endParaRPr lang="zh-CN" altLang="zh-CN" sz="2400" b="1" dirty="0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buFontTx/>
            </a:pP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double x1,y1,x2,y2,q;</a:t>
            </a:r>
            <a:endParaRPr lang="zh-CN" altLang="zh-CN" sz="2400" b="1" dirty="0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buFontTx/>
            </a:pP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scanf("%lf %lf %lf %lf",&amp;x1,&amp;y1,&amp;x2,&amp;y2);</a:t>
            </a:r>
            <a:endParaRPr lang="zh-CN" altLang="zh-CN" sz="2400" b="1" dirty="0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buFontTx/>
            </a:pP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q = sqrt((x1-x2)*(x1-x2)+(y1-y2)*(y1-y2));</a:t>
            </a:r>
            <a:endParaRPr lang="zh-CN" altLang="zh-CN" sz="2400" b="1" dirty="0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buFontTx/>
            </a:pP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printf(“%.3f\n”,q);</a:t>
            </a:r>
            <a:endParaRPr lang="zh-CN" altLang="zh-CN" sz="2400" b="1" dirty="0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buFontTx/>
            </a:pP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return 0;</a:t>
            </a:r>
            <a:endParaRPr lang="zh-CN" altLang="zh-CN" sz="2400" b="1" dirty="0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buFontTx/>
            </a:pP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}</a:t>
            </a:r>
            <a:endParaRPr lang="zh-CN" altLang="zh-CN" sz="2400" b="1" dirty="0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755650" y="5732463"/>
            <a:ext cx="7993063" cy="46196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buFontTx/>
            </a:pPr>
            <a:r>
              <a:rPr lang="zh-CN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运行程序，输入：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1.5 2.5 9.3 8.1</a:t>
            </a:r>
            <a:r>
              <a:rPr lang="zh-CN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，输出：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9.602</a:t>
            </a:r>
            <a:r>
              <a:rPr lang="zh-CN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  <a:endParaRPr lang="zh-CN" altLang="zh-CN" sz="24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4033" name="标题 1"/>
          <p:cNvSpPr txBox="1"/>
          <p:nvPr/>
        </p:nvSpPr>
        <p:spPr>
          <a:xfrm>
            <a:off x="395288" y="912813"/>
            <a:ext cx="8280400" cy="725487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indent="611505">
              <a:lnSpc>
                <a:spcPct val="150000"/>
              </a:lnSpc>
              <a:buFontTx/>
            </a:pPr>
            <a:r>
              <a:rPr lang="en-US" altLang="zh-CN" sz="2800" b="1" dirty="0">
                <a:solidFill>
                  <a:srgbClr val="8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3. scanf</a:t>
            </a:r>
            <a:r>
              <a:rPr lang="zh-CN" altLang="en-US" sz="2800" b="1" dirty="0">
                <a:solidFill>
                  <a:srgbClr val="8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、</a:t>
            </a:r>
            <a:r>
              <a:rPr lang="en-US" altLang="zh-CN" sz="2800" b="1" dirty="0">
                <a:solidFill>
                  <a:srgbClr val="8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printf </a:t>
            </a:r>
            <a:r>
              <a:rPr lang="zh-CN" altLang="en-US" sz="2800" b="1" dirty="0">
                <a:solidFill>
                  <a:srgbClr val="8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与 </a:t>
            </a:r>
            <a:r>
              <a:rPr lang="en-US" altLang="zh-CN" sz="2800" b="1" dirty="0">
                <a:solidFill>
                  <a:srgbClr val="8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cin</a:t>
            </a:r>
            <a:r>
              <a:rPr lang="zh-CN" altLang="en-US" sz="2800" b="1" dirty="0">
                <a:solidFill>
                  <a:srgbClr val="8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、</a:t>
            </a:r>
            <a:r>
              <a:rPr lang="en-US" altLang="zh-CN" sz="2800" b="1" dirty="0">
                <a:solidFill>
                  <a:srgbClr val="8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cout </a:t>
            </a:r>
            <a:r>
              <a:rPr lang="zh-CN" altLang="en-US" sz="2800" b="1" dirty="0">
                <a:solidFill>
                  <a:srgbClr val="8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的比较</a:t>
            </a:r>
            <a:endParaRPr lang="en-US" altLang="zh-CN" sz="2800" b="1" dirty="0">
              <a:solidFill>
                <a:srgbClr val="8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4034" name="矩形 2"/>
          <p:cNvSpPr/>
          <p:nvPr/>
        </p:nvSpPr>
        <p:spPr>
          <a:xfrm>
            <a:off x="323850" y="1844675"/>
            <a:ext cx="8569325" cy="45148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lnSpc>
                <a:spcPct val="120000"/>
              </a:lnSpc>
              <a:buFontTx/>
            </a:pP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cin </a:t>
            </a:r>
            <a:r>
              <a:rPr lang="zh-CN" altLang="en-US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是输入流，</a:t>
            </a: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cout </a:t>
            </a:r>
            <a:r>
              <a:rPr lang="zh-CN" altLang="en-US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是输出流，重载了“</a:t>
            </a: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&gt;&gt;”“&lt;&lt;”</a:t>
            </a:r>
            <a:r>
              <a:rPr lang="zh-CN" altLang="en-US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运算符，包含在头文件 </a:t>
            </a: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&lt;iostream&gt; </a:t>
            </a:r>
            <a:r>
              <a:rPr lang="zh-CN" altLang="en-US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中。</a:t>
            </a:r>
            <a:endParaRPr lang="zh-CN" altLang="en-US" sz="2000" b="1" dirty="0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  <a:buFontTx/>
            </a:pP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cin </a:t>
            </a:r>
            <a:r>
              <a:rPr lang="zh-CN" altLang="en-US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代表标准输入设备，使用提取运算符“</a:t>
            </a: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&gt;&gt;”</a:t>
            </a:r>
            <a:r>
              <a:rPr lang="zh-CN" altLang="en-US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从键盘取得数据，送到输入流对象 </a:t>
            </a: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cin </a:t>
            </a:r>
            <a:r>
              <a:rPr lang="zh-CN" altLang="en-US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中，然后送到内存。</a:t>
            </a: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cin </a:t>
            </a:r>
            <a:r>
              <a:rPr lang="zh-CN" altLang="en-US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是自动判断变量类型，比如一个 </a:t>
            </a: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char </a:t>
            </a:r>
            <a:r>
              <a:rPr lang="zh-CN" altLang="en-US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数据只能用默认的 </a:t>
            </a: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char </a:t>
            </a:r>
            <a:r>
              <a:rPr lang="zh-CN" altLang="en-US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方法取数据。</a:t>
            </a:r>
            <a:endParaRPr lang="zh-CN" altLang="en-US" sz="2000" b="1" dirty="0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  <a:buFontTx/>
            </a:pP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cout </a:t>
            </a:r>
            <a:r>
              <a:rPr lang="zh-CN" altLang="en-US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先把要输出的东西存入缓冲区，遇到“</a:t>
            </a: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endl”</a:t>
            </a:r>
            <a:r>
              <a:rPr lang="zh-CN" altLang="en-US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或者“</a:t>
            </a: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return 0”</a:t>
            </a:r>
            <a:r>
              <a:rPr lang="zh-CN" altLang="en-US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再输出并刷新缓冲区，导致效率降低。</a:t>
            </a:r>
            <a:endParaRPr lang="zh-CN" altLang="en-US" sz="2000" b="1" dirty="0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  <a:buFontTx/>
            </a:pP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scanf </a:t>
            </a:r>
            <a:r>
              <a:rPr lang="zh-CN" altLang="en-US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是格式化输入，</a:t>
            </a: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printf </a:t>
            </a:r>
            <a:r>
              <a:rPr lang="zh-CN" altLang="en-US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是格式化输出，包含在头文件 </a:t>
            </a: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&lt;cstdio&gt; </a:t>
            </a:r>
            <a:r>
              <a:rPr lang="zh-CN" altLang="en-US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中。</a:t>
            </a:r>
            <a:r>
              <a:rPr lang="zh-CN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因为</a:t>
            </a: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scanf</a:t>
            </a:r>
            <a:r>
              <a:rPr lang="zh-CN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是用指针操作的，没有类型安全机制，比如对于一个</a:t>
            </a: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char</a:t>
            </a:r>
            <a:r>
              <a:rPr lang="zh-CN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类型数据，你就可以用“</a:t>
            </a: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%f</a:t>
            </a:r>
            <a:r>
              <a:rPr lang="zh-CN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”获得输入，而不会报错，但在运行时会出现异常。</a:t>
            </a: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scanf()</a:t>
            </a:r>
            <a:r>
              <a:rPr lang="zh-CN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函数取数据时遇到回车、空格、</a:t>
            </a: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TAB</a:t>
            </a:r>
            <a:r>
              <a:rPr lang="zh-CN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就会停止。</a:t>
            </a:r>
            <a:endParaRPr lang="zh-CN" altLang="zh-CN" sz="2000" b="1" dirty="0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  <a:buFontTx/>
            </a:pP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printf</a:t>
            </a:r>
            <a:r>
              <a:rPr lang="zh-CN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输出效率比较高，但是编写代码相对而言麻烦一些。</a:t>
            </a:r>
            <a:endParaRPr lang="zh-CN" altLang="zh-CN" sz="2000" b="1" dirty="0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slow"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5057" name="标题 1"/>
          <p:cNvSpPr txBox="1"/>
          <p:nvPr/>
        </p:nvSpPr>
        <p:spPr>
          <a:xfrm>
            <a:off x="395288" y="765175"/>
            <a:ext cx="8569325" cy="725488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>
              <a:buFontTx/>
            </a:pPr>
            <a:r>
              <a:rPr lang="zh-CN" altLang="en-US" sz="2400" b="1" dirty="0">
                <a:solidFill>
                  <a:srgbClr val="8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例</a:t>
            </a:r>
            <a:r>
              <a:rPr lang="zh-CN" altLang="zh-CN" sz="2400" b="1" dirty="0">
                <a:solidFill>
                  <a:srgbClr val="8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3</a:t>
            </a:r>
            <a:r>
              <a:rPr lang="zh-CN" altLang="en-US" sz="2400" b="1" dirty="0">
                <a:solidFill>
                  <a:srgbClr val="8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、</a:t>
            </a:r>
            <a:r>
              <a:rPr lang="zh-CN" altLang="zh-CN" sz="2400" b="1" dirty="0">
                <a:solidFill>
                  <a:srgbClr val="8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阅读并上机调试以下两个程序，观察程序的运行时间，分析比较</a:t>
            </a:r>
            <a:r>
              <a:rPr lang="en-US" altLang="zh-CN" sz="2400" b="1" dirty="0">
                <a:solidFill>
                  <a:srgbClr val="8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cin</a:t>
            </a:r>
            <a:r>
              <a:rPr lang="zh-CN" altLang="zh-CN" sz="2400" b="1" dirty="0">
                <a:solidFill>
                  <a:srgbClr val="8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和</a:t>
            </a:r>
            <a:r>
              <a:rPr lang="en-US" altLang="zh-CN" sz="2400" b="1" dirty="0">
                <a:solidFill>
                  <a:srgbClr val="8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scanf</a:t>
            </a:r>
            <a:r>
              <a:rPr lang="zh-CN" altLang="zh-CN" sz="2400" b="1" dirty="0">
                <a:solidFill>
                  <a:srgbClr val="8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的效率</a:t>
            </a:r>
            <a:r>
              <a:rPr lang="zh-CN" altLang="en-US" sz="2400" b="1" dirty="0">
                <a:solidFill>
                  <a:srgbClr val="8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。</a:t>
            </a:r>
            <a:endParaRPr lang="en-US" altLang="zh-CN" sz="2400" b="1" dirty="0">
              <a:solidFill>
                <a:srgbClr val="8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5058" name="矩形 2"/>
          <p:cNvSpPr/>
          <p:nvPr/>
        </p:nvSpPr>
        <p:spPr>
          <a:xfrm>
            <a:off x="1187450" y="2205038"/>
            <a:ext cx="4392613" cy="12001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buFontTx/>
            </a:pP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p2-10-3a</a:t>
            </a:r>
            <a:endParaRPr lang="en-US" altLang="zh-CN" sz="2400" b="1" dirty="0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buFontTx/>
            </a:pPr>
            <a:endParaRPr lang="en-US" altLang="zh-CN" sz="2400" b="1" dirty="0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buFontTx/>
            </a:pPr>
            <a:r>
              <a:rPr lang="en-US" altLang="zh-CN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p2-10-3b</a:t>
            </a:r>
            <a:endParaRPr lang="zh-CN" altLang="zh-CN" sz="2400" b="1" dirty="0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slow"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6081" name="标题 1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dirty="0">
                <a:ea typeface="宋体" panose="02010600030101010101" pitchFamily="2" charset="-122"/>
              </a:rPr>
              <a:t>实践巩固</a:t>
            </a:r>
            <a:endParaRPr lang="zh-CN" altLang="en-US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slow"/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10467</Words>
  <Application>WPS 演示</Application>
  <PresentationFormat>全屏显示(4:3)</PresentationFormat>
  <Paragraphs>408</Paragraphs>
  <Slides>44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44</vt:i4>
      </vt:variant>
    </vt:vector>
  </HeadingPairs>
  <TitlesOfParts>
    <vt:vector size="54" baseType="lpstr">
      <vt:lpstr>Arial</vt:lpstr>
      <vt:lpstr>宋体</vt:lpstr>
      <vt:lpstr>Wingdings</vt:lpstr>
      <vt:lpstr>Century Gothic</vt:lpstr>
      <vt:lpstr>Calibri</vt:lpstr>
      <vt:lpstr>等线</vt:lpstr>
      <vt:lpstr>Times New Roman</vt:lpstr>
      <vt:lpstr>微软雅黑</vt:lpstr>
      <vt:lpstr>Arial Unicode MS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XH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数据库原理与SQL Server</dc:title>
  <dc:creator>ZZJ</dc:creator>
  <cp:lastModifiedBy>Administrator</cp:lastModifiedBy>
  <cp:revision>292</cp:revision>
  <dcterms:created xsi:type="dcterms:W3CDTF">2008-03-25T01:12:29Z</dcterms:created>
  <dcterms:modified xsi:type="dcterms:W3CDTF">2024-09-13T08:37:59Z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D859D7FF84154D61977A1E639B52AFA2_13</vt:lpwstr>
  </property>
  <property fmtid="{D5CDD505-2E9C-101B-9397-08002B2CF9AE}" pid="3" name="KSOProductBuildVer">
    <vt:lpwstr>2052-12.1.0.18240</vt:lpwstr>
  </property>
</Properties>
</file>