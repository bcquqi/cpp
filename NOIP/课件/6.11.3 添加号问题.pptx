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11088826" r:id="rId2"/>
    <p:sldId id="4873" r:id="rId3"/>
    <p:sldId id="11088832" r:id="rId4"/>
  </p:sldIdLst>
  <p:sldSz cx="9144000" cy="5143500" type="screen16x9"/>
  <p:notesSz cx="6858000" cy="9144000"/>
  <p:custDataLst>
    <p:tags r:id="rId6"/>
  </p:custDataLst>
  <p:defaultTextStyle>
    <a:defPPr>
      <a:defRPr lang="en-US"/>
    </a:defPPr>
    <a:lvl1pPr marL="0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1pPr>
    <a:lvl2pPr marL="67246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2pPr>
    <a:lvl3pPr marL="134429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3pPr>
    <a:lvl4pPr marL="2016760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4pPr>
    <a:lvl5pPr marL="268922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5pPr>
    <a:lvl6pPr marL="336105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6pPr>
    <a:lvl7pPr marL="4033520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7pPr>
    <a:lvl8pPr marL="470598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8pPr>
    <a:lvl9pPr marL="537781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8ED0"/>
    <a:srgbClr val="075AA4"/>
    <a:srgbClr val="2F4732"/>
    <a:srgbClr val="2B44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476" autoAdjust="0"/>
    <p:restoredTop sz="87435" autoAdjust="0"/>
  </p:normalViewPr>
  <p:slideViewPr>
    <p:cSldViewPr snapToGrid="0" showGuides="1">
      <p:cViewPr varScale="1">
        <p:scale>
          <a:sx n="134" d="100"/>
          <a:sy n="134" d="100"/>
        </p:scale>
        <p:origin x="58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2CBD01-EFF3-401D-9E3D-436DA00BC4F9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AD115-59BE-4C7A-B849-7A2D456698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098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399665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2565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AD115-59BE-4C7A-B849-7A2D4566988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78245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147A23-5BA8-44CE-9215-79B767159C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3086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147A23-5BA8-44CE-9215-79B767159C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3740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1772"/>
            <a:ext cx="7772400" cy="17907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35915" indent="0" algn="ctr">
              <a:buNone/>
              <a:defRPr sz="1400"/>
            </a:lvl2pPr>
            <a:lvl3pPr marL="672465" indent="0" algn="ctr">
              <a:buNone/>
              <a:defRPr sz="1400"/>
            </a:lvl3pPr>
            <a:lvl4pPr marL="1008380" indent="0" algn="ctr">
              <a:buNone/>
              <a:defRPr sz="1200"/>
            </a:lvl4pPr>
            <a:lvl5pPr marL="1344295" indent="0" algn="ctr">
              <a:buNone/>
              <a:defRPr sz="1200"/>
            </a:lvl5pPr>
            <a:lvl6pPr marL="1680845" indent="0" algn="ctr">
              <a:buNone/>
              <a:defRPr sz="1200"/>
            </a:lvl6pPr>
            <a:lvl7pPr marL="2016760" indent="0" algn="ctr">
              <a:buNone/>
              <a:defRPr sz="1200"/>
            </a:lvl7pPr>
            <a:lvl8pPr marL="2352675" indent="0" algn="ctr">
              <a:buNone/>
              <a:defRPr sz="1200"/>
            </a:lvl8pPr>
            <a:lvl9pPr marL="2689225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282306"/>
            <a:ext cx="7886700" cy="2139553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3591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7246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0838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4429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68084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1676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352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68922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3" y="273846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35915" indent="0">
              <a:buNone/>
              <a:defRPr sz="1400" b="1"/>
            </a:lvl2pPr>
            <a:lvl3pPr marL="672465" indent="0">
              <a:buNone/>
              <a:defRPr sz="1400" b="1"/>
            </a:lvl3pPr>
            <a:lvl4pPr marL="1008380" indent="0">
              <a:buNone/>
              <a:defRPr sz="1200" b="1"/>
            </a:lvl4pPr>
            <a:lvl5pPr marL="1344295" indent="0">
              <a:buNone/>
              <a:defRPr sz="1200" b="1"/>
            </a:lvl5pPr>
            <a:lvl6pPr marL="1680845" indent="0">
              <a:buNone/>
              <a:defRPr sz="1200" b="1"/>
            </a:lvl6pPr>
            <a:lvl7pPr marL="2016760" indent="0">
              <a:buNone/>
              <a:defRPr sz="1200" b="1"/>
            </a:lvl7pPr>
            <a:lvl8pPr marL="2352675" indent="0">
              <a:buNone/>
              <a:defRPr sz="1200" b="1"/>
            </a:lvl8pPr>
            <a:lvl9pPr marL="268922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2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35915" indent="0">
              <a:buNone/>
              <a:defRPr sz="1400" b="1"/>
            </a:lvl2pPr>
            <a:lvl3pPr marL="672465" indent="0">
              <a:buNone/>
              <a:defRPr sz="1400" b="1"/>
            </a:lvl3pPr>
            <a:lvl4pPr marL="1008380" indent="0">
              <a:buNone/>
              <a:defRPr sz="1200" b="1"/>
            </a:lvl4pPr>
            <a:lvl5pPr marL="1344295" indent="0">
              <a:buNone/>
              <a:defRPr sz="1200" b="1"/>
            </a:lvl5pPr>
            <a:lvl6pPr marL="1680845" indent="0">
              <a:buNone/>
              <a:defRPr sz="1200" b="1"/>
            </a:lvl6pPr>
            <a:lvl7pPr marL="2016760" indent="0">
              <a:buNone/>
              <a:defRPr sz="1200" b="1"/>
            </a:lvl7pPr>
            <a:lvl8pPr marL="2352675" indent="0">
              <a:buNone/>
              <a:defRPr sz="1200" b="1"/>
            </a:lvl8pPr>
            <a:lvl9pPr marL="268922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2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4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1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4" y="1543051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35915" indent="0">
              <a:buNone/>
              <a:defRPr sz="1000"/>
            </a:lvl2pPr>
            <a:lvl3pPr marL="672465" indent="0">
              <a:buNone/>
              <a:defRPr sz="900"/>
            </a:lvl3pPr>
            <a:lvl4pPr marL="1008380" indent="0">
              <a:buNone/>
              <a:defRPr sz="800"/>
            </a:lvl4pPr>
            <a:lvl5pPr marL="1344295" indent="0">
              <a:buNone/>
              <a:defRPr sz="800"/>
            </a:lvl5pPr>
            <a:lvl6pPr marL="1680845" indent="0">
              <a:buNone/>
              <a:defRPr sz="800"/>
            </a:lvl6pPr>
            <a:lvl7pPr marL="2016760" indent="0">
              <a:buNone/>
              <a:defRPr sz="800"/>
            </a:lvl7pPr>
            <a:lvl8pPr marL="2352675" indent="0">
              <a:buNone/>
              <a:defRPr sz="800"/>
            </a:lvl8pPr>
            <a:lvl9pPr marL="2689225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4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1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35915" indent="0">
              <a:buNone/>
              <a:defRPr sz="2000"/>
            </a:lvl2pPr>
            <a:lvl3pPr marL="672465" indent="0">
              <a:buNone/>
              <a:defRPr sz="1800"/>
            </a:lvl3pPr>
            <a:lvl4pPr marL="1008380" indent="0">
              <a:buNone/>
              <a:defRPr sz="1400"/>
            </a:lvl4pPr>
            <a:lvl5pPr marL="1344295" indent="0">
              <a:buNone/>
              <a:defRPr sz="1400"/>
            </a:lvl5pPr>
            <a:lvl6pPr marL="1680845" indent="0">
              <a:buNone/>
              <a:defRPr sz="1400"/>
            </a:lvl6pPr>
            <a:lvl7pPr marL="2016760" indent="0">
              <a:buNone/>
              <a:defRPr sz="1400"/>
            </a:lvl7pPr>
            <a:lvl8pPr marL="2352675" indent="0">
              <a:buNone/>
              <a:defRPr sz="1400"/>
            </a:lvl8pPr>
            <a:lvl9pPr marL="2689225" indent="0">
              <a:buNone/>
              <a:defRPr sz="14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4" y="1543051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35915" indent="0">
              <a:buNone/>
              <a:defRPr sz="1000"/>
            </a:lvl2pPr>
            <a:lvl3pPr marL="672465" indent="0">
              <a:buNone/>
              <a:defRPr sz="900"/>
            </a:lvl3pPr>
            <a:lvl4pPr marL="1008380" indent="0">
              <a:buNone/>
              <a:defRPr sz="800"/>
            </a:lvl4pPr>
            <a:lvl5pPr marL="1344295" indent="0">
              <a:buNone/>
              <a:defRPr sz="800"/>
            </a:lvl5pPr>
            <a:lvl6pPr marL="1680845" indent="0">
              <a:buNone/>
              <a:defRPr sz="800"/>
            </a:lvl6pPr>
            <a:lvl7pPr marL="2016760" indent="0">
              <a:buNone/>
              <a:defRPr sz="800"/>
            </a:lvl7pPr>
            <a:lvl8pPr marL="2352675" indent="0">
              <a:buNone/>
              <a:defRPr sz="800"/>
            </a:lvl8pPr>
            <a:lvl9pPr marL="2689225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5"/>
            <a:ext cx="1971676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273845"/>
            <a:ext cx="5800726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3801" y="4830418"/>
            <a:ext cx="9140200" cy="3130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273846"/>
            <a:ext cx="7886700" cy="994172"/>
          </a:xfrm>
          <a:prstGeom prst="rect">
            <a:avLst/>
          </a:prstGeom>
        </p:spPr>
        <p:txBody>
          <a:bodyPr vert="horz" lIns="134452" tIns="67226" rIns="134452" bIns="67226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369219"/>
            <a:ext cx="7886700" cy="3263504"/>
          </a:xfrm>
          <a:prstGeom prst="rect">
            <a:avLst/>
          </a:prstGeom>
        </p:spPr>
        <p:txBody>
          <a:bodyPr vert="horz" lIns="134452" tIns="67226" rIns="134452" bIns="67226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134452" tIns="67226" rIns="134452" bIns="67226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4767264"/>
            <a:ext cx="3086100" cy="273844"/>
          </a:xfrm>
          <a:prstGeom prst="rect">
            <a:avLst/>
          </a:prstGeom>
        </p:spPr>
        <p:txBody>
          <a:bodyPr vert="horz" lIns="134452" tIns="67226" rIns="134452" bIns="67226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134452" tIns="67226" rIns="134452" bIns="67226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672465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8275" indent="-168275" algn="l" defTabSz="672465" rtl="0" eaLnBrk="1" latinLnBrk="0" hangingPunct="1">
        <a:lnSpc>
          <a:spcPct val="90000"/>
        </a:lnSpc>
        <a:spcBef>
          <a:spcPts val="73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4190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40105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176655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12570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48485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85035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20950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856865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3591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7246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8380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4429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8084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16760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5267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8922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19"/>
          <p:cNvSpPr txBox="1"/>
          <p:nvPr/>
        </p:nvSpPr>
        <p:spPr>
          <a:xfrm>
            <a:off x="834888" y="2109253"/>
            <a:ext cx="7255566" cy="1043706"/>
          </a:xfrm>
          <a:prstGeom prst="rect">
            <a:avLst/>
          </a:prstGeom>
          <a:noFill/>
        </p:spPr>
        <p:txBody>
          <a:bodyPr wrap="square" lIns="134452" tIns="67226" rIns="134452" bIns="67226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 defTabSz="252095">
              <a:defRPr/>
            </a:pPr>
            <a:r>
              <a:rPr lang="en-US" altLang="zh-CN" sz="5900" b="1" dirty="0" smtClean="0">
                <a:solidFill>
                  <a:srgbClr val="075AA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 </a:t>
            </a:r>
            <a:r>
              <a:rPr lang="zh-CN" altLang="en-US" sz="5900" b="1" dirty="0">
                <a:solidFill>
                  <a:srgbClr val="075AA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添加号问题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32564" y="4777318"/>
            <a:ext cx="9176564" cy="366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0" y="10780"/>
            <a:ext cx="9144000" cy="5183301"/>
          </a:xfrm>
          <a:prstGeom prst="rect">
            <a:avLst/>
          </a:prstGeom>
        </p:spPr>
        <p:txBody>
          <a:bodyPr wrap="square" lIns="134452" tIns="67226" rIns="134452" bIns="67226">
            <a:spAutoFit/>
          </a:bodyPr>
          <a:lstStyle/>
          <a:p>
            <a:pPr indent="279400" algn="just">
              <a:spcAft>
                <a:spcPts val="0"/>
              </a:spcAft>
            </a:pP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一个由数字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1,2,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…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,9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组成的数字串（长度不超过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200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），如何将</a:t>
            </a:r>
            <a:r>
              <a:rPr lang="en-US" altLang="zh-CN" sz="2000" i="1" kern="100" dirty="0">
                <a:latin typeface="Times New Roman" panose="02020603050405020304"/>
                <a:ea typeface="宋体" panose="02010600030101010101" pitchFamily="2" charset="-122"/>
              </a:rPr>
              <a:t>M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（</a:t>
            </a:r>
            <a:r>
              <a:rPr lang="en-US" altLang="zh-CN" sz="2000" i="1" kern="100" dirty="0">
                <a:latin typeface="Times New Roman" panose="02020603050405020304"/>
                <a:ea typeface="宋体" panose="02010600030101010101" pitchFamily="2" charset="-122"/>
              </a:rPr>
              <a:t>M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≤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20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，小于数字串的长度）个加号（“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+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”）插入到这个数字串中，使所形成的算术表达式的值最小。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79400" algn="just">
              <a:spcAft>
                <a:spcPts val="0"/>
              </a:spcAft>
            </a:pP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注意加号不能加在数字串的最前面或最末尾，也不应有两个或两个以上的加号相邻。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79400" algn="just">
              <a:spcAft>
                <a:spcPts val="0"/>
              </a:spcAft>
            </a:pP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例如：数字串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79846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，若需要加入两个加号，则最佳方案为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79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＋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8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＋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46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，算术表达式的值为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133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。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algn="just">
              <a:spcAft>
                <a:spcPts val="0"/>
              </a:spcAft>
            </a:pP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【输入格式】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79400" algn="just">
              <a:spcAft>
                <a:spcPts val="0"/>
              </a:spcAft>
            </a:pP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数字串在输入文件的第一行行首（数字串中间无空格且不折行），</a:t>
            </a:r>
            <a:r>
              <a:rPr lang="en-US" altLang="zh-CN" sz="2000" i="1" kern="100" dirty="0">
                <a:latin typeface="Times New Roman" panose="02020603050405020304"/>
                <a:ea typeface="宋体" panose="02010600030101010101" pitchFamily="2" charset="-122"/>
              </a:rPr>
              <a:t>M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的值在输入文件的第二行行首。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algn="just">
              <a:spcAft>
                <a:spcPts val="0"/>
              </a:spcAft>
            </a:pPr>
            <a:r>
              <a:rPr lang="zh-CN" altLang="zh-CN" sz="2000" kern="100" dirty="0" smtClean="0">
                <a:latin typeface="Times New Roman" panose="02020603050405020304"/>
                <a:ea typeface="宋体" panose="02010600030101010101" pitchFamily="2" charset="-122"/>
              </a:rPr>
              <a:t>【输出格式】在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屏幕上输出所求得的最小和的精确值。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algn="just">
              <a:spcAft>
                <a:spcPts val="0"/>
              </a:spcAft>
            </a:pP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【输入样例】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79400" algn="just"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79846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79400" algn="just"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2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algn="just">
              <a:spcAft>
                <a:spcPts val="0"/>
              </a:spcAft>
            </a:pP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【输出样例】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79400" algn="just"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133</a:t>
            </a:r>
            <a:endParaRPr lang="zh-CN" altLang="zh-CN" sz="1800" kern="100" dirty="0">
              <a:effectLst/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32564" y="4777318"/>
            <a:ext cx="9176564" cy="366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0" y="10780"/>
            <a:ext cx="9144000" cy="4567748"/>
          </a:xfrm>
          <a:prstGeom prst="rect">
            <a:avLst/>
          </a:prstGeom>
        </p:spPr>
        <p:txBody>
          <a:bodyPr wrap="square" lIns="134452" tIns="67226" rIns="134452" bIns="67226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cin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&gt;&gt;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str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&gt;&gt;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m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endParaRPr lang="en-US" altLang="zh-CN" sz="2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4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</a:rPr>
              <a:t>for</a:t>
            </a:r>
            <a:r>
              <a:rPr lang="en-US" altLang="zh-CN" sz="24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en-US" altLang="zh-CN" sz="2400" dirty="0" err="1" smtClean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</a:rPr>
              <a:t>int</a:t>
            </a:r>
            <a:r>
              <a:rPr lang="en-US" altLang="zh-CN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=</a:t>
            </a:r>
            <a:r>
              <a:rPr lang="en-US" altLang="zh-CN" sz="2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0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&lt;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str</a:t>
            </a:r>
            <a:r>
              <a:rPr lang="en-US" altLang="zh-CN" sz="24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.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size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();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++)</a:t>
            </a:r>
            <a:endParaRPr lang="en-US" altLang="zh-CN" sz="2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f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][</a:t>
            </a:r>
            <a:r>
              <a:rPr lang="en-US" altLang="zh-CN" sz="2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0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]=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g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en-US" altLang="zh-CN" sz="2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0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);</a:t>
            </a:r>
            <a:endParaRPr lang="en-US" altLang="zh-CN" sz="2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4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</a:rPr>
              <a:t>for</a:t>
            </a:r>
            <a:r>
              <a:rPr lang="en-US" altLang="zh-CN" sz="24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en-US" altLang="zh-CN" sz="2400" dirty="0" err="1" smtClean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</a:rPr>
              <a:t>int</a:t>
            </a:r>
            <a:r>
              <a:rPr lang="en-US" altLang="zh-CN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=</a:t>
            </a:r>
            <a:r>
              <a:rPr lang="en-US" altLang="zh-CN" sz="2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&lt;=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m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++)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400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/>
              </a:rPr>
              <a:t>//</a:t>
            </a:r>
            <a:r>
              <a:rPr lang="zh-CN" altLang="en-US" sz="2400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/>
              </a:rPr>
              <a:t>枚举加号</a:t>
            </a:r>
            <a:endParaRPr lang="zh-CN" altLang="en-US" sz="2400" dirty="0">
              <a:solidFill>
                <a:srgbClr val="008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</a:t>
            </a:r>
            <a:r>
              <a:rPr lang="en-US" altLang="zh-CN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</a:rPr>
              <a:t>for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en-US" altLang="zh-CN" sz="2400" dirty="0" err="1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j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=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j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&lt;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str</a:t>
            </a:r>
            <a:r>
              <a:rPr lang="en-US" altLang="zh-CN" sz="24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.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size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();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j</a:t>
            </a:r>
            <a:r>
              <a:rPr lang="en-US" altLang="zh-CN" sz="24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++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)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400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/>
              </a:rPr>
              <a:t>//</a:t>
            </a:r>
            <a:r>
              <a:rPr lang="zh-CN" alt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/>
              </a:rPr>
              <a:t>枚举字符串</a:t>
            </a:r>
          </a:p>
          <a:p>
            <a:r>
              <a:rPr lang="zh-CN" alt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zh-CN" alt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{</a:t>
            </a:r>
            <a:endParaRPr lang="zh-CN" altLang="en-US" sz="2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f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j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][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]=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Add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f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j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-</a:t>
            </a:r>
            <a:r>
              <a:rPr lang="en-US" altLang="zh-CN" sz="2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][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-</a:t>
            </a:r>
            <a:r>
              <a:rPr lang="en-US" altLang="zh-CN" sz="2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],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g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j</a:t>
            </a:r>
            <a:r>
              <a:rPr lang="en-US" altLang="zh-CN" sz="24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,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j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));</a:t>
            </a:r>
            <a:endParaRPr lang="en-US" altLang="zh-CN" sz="2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</a:rPr>
              <a:t>for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en-US" altLang="zh-CN" sz="2400" dirty="0" err="1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h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=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j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-</a:t>
            </a:r>
            <a:r>
              <a:rPr lang="en-US" altLang="zh-CN" sz="2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h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&gt;=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h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--)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</a:t>
            </a:r>
            <a:r>
              <a:rPr lang="en-US" altLang="zh-CN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400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/>
              </a:rPr>
              <a:t>//</a:t>
            </a:r>
            <a:r>
              <a:rPr lang="zh-CN" alt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/>
              </a:rPr>
              <a:t>枚举切割点</a:t>
            </a:r>
          </a:p>
          <a:p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  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f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j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][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]=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GetMin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Add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f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h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-</a:t>
            </a:r>
            <a:r>
              <a:rPr lang="en-US" altLang="zh-CN" sz="2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][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-</a:t>
            </a:r>
            <a:r>
              <a:rPr lang="en-US" altLang="zh-CN" sz="2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],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g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h</a:t>
            </a:r>
            <a:r>
              <a:rPr lang="en-US" altLang="zh-CN" sz="24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,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j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)),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f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j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][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]);</a:t>
            </a:r>
            <a:endParaRPr lang="en-US" altLang="zh-CN" sz="2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zh-CN" alt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zh-CN" alt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}</a:t>
            </a:r>
            <a:endParaRPr lang="zh-CN" altLang="en-US" sz="2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4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cout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&lt;&lt;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f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str</a:t>
            </a:r>
            <a:r>
              <a:rPr lang="en-US" altLang="zh-CN" sz="24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.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size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()-</a:t>
            </a:r>
            <a:r>
              <a:rPr lang="en-US" altLang="zh-CN" sz="2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][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m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]&lt;&lt;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endl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endParaRPr lang="zh-CN" altLang="en-US" sz="2400" kern="100" dirty="0"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5-0315-3小清新手绘唯美教育教学PPT模板"/>
  <p:tag name="KSO_WPP_MARK_KEY" val="d01cfa50-5024-4f5e-bc69-658c84c6509a"/>
  <p:tag name="COMMONDATA" val="eyJoZGlkIjoiZWNkNzQwYjliNGZkYjkxNzQ5NTNjZWEyZGU4NWM2NWIifQ=="/>
</p:tagLst>
</file>

<file path=ppt/theme/theme1.xml><?xml version="1.0" encoding="utf-8"?>
<a:theme xmlns:a="http://schemas.openxmlformats.org/drawingml/2006/main" name="AAAAAAAAAAAAAAAAAAAAAAAAAAA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263</Words>
  <Application>Microsoft Office PowerPoint</Application>
  <PresentationFormat>全屏显示(16:9)</PresentationFormat>
  <Paragraphs>26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Source Han Serif SC</vt:lpstr>
      <vt:lpstr>等线</vt:lpstr>
      <vt:lpstr>等线 Light</vt:lpstr>
      <vt:lpstr>宋体</vt:lpstr>
      <vt:lpstr>微软雅黑</vt:lpstr>
      <vt:lpstr>Arial</vt:lpstr>
      <vt:lpstr>Calibri</vt:lpstr>
      <vt:lpstr>Calibri Light</vt:lpstr>
      <vt:lpstr>Courier New</vt:lpstr>
      <vt:lpstr>Times New Roman</vt:lpstr>
      <vt:lpstr>AAAAAAAAAAAAAAAAAAAAAAAAAAA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5-0315-3小清新手绘唯美教育教学PPT模板</dc:title>
  <dc:creator>Administrator</dc:creator>
  <cp:lastModifiedBy>微软用户</cp:lastModifiedBy>
  <cp:revision>208</cp:revision>
  <dcterms:created xsi:type="dcterms:W3CDTF">2019-03-15T02:52:00Z</dcterms:created>
  <dcterms:modified xsi:type="dcterms:W3CDTF">2024-10-12T10:24:08Z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027E671477FC46978CEC78F98AF38E12</vt:lpwstr>
  </property>
  <property fmtid="{D5CDD505-2E9C-101B-9397-08002B2CF9AE}" pid="3" name="KSOProductBuildVer">
    <vt:lpwstr>2052-11.1.0.12763</vt:lpwstr>
  </property>
</Properties>
</file>