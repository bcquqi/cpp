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11088826" r:id="rId2"/>
    <p:sldId id="4873" r:id="rId3"/>
    <p:sldId id="11088827" r:id="rId4"/>
    <p:sldId id="11088828" r:id="rId5"/>
    <p:sldId id="11088829" r:id="rId6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7246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4429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201676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8922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36105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403352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70598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37781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ED0"/>
    <a:srgbClr val="075AA4"/>
    <a:srgbClr val="2F4732"/>
    <a:srgbClr val="2B4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76" autoAdjust="0"/>
    <p:restoredTop sz="87435" autoAdjust="0"/>
  </p:normalViewPr>
  <p:slideViewPr>
    <p:cSldViewPr snapToGrid="0" showGuides="1">
      <p:cViewPr varScale="1">
        <p:scale>
          <a:sx n="134" d="100"/>
          <a:sy n="134" d="100"/>
        </p:scale>
        <p:origin x="54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CBD01-EFF3-401D-9E3D-436DA00BC4F9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AD115-59BE-4C7A-B849-7A2D456698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93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6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337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4977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28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984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2559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35915" indent="0" algn="ctr">
              <a:buNone/>
              <a:defRPr sz="1400"/>
            </a:lvl2pPr>
            <a:lvl3pPr marL="672465" indent="0" algn="ctr">
              <a:buNone/>
              <a:defRPr sz="1400"/>
            </a:lvl3pPr>
            <a:lvl4pPr marL="1008380" indent="0" algn="ctr">
              <a:buNone/>
              <a:defRPr sz="1200"/>
            </a:lvl4pPr>
            <a:lvl5pPr marL="1344295" indent="0" algn="ctr">
              <a:buNone/>
              <a:defRPr sz="1200"/>
            </a:lvl5pPr>
            <a:lvl6pPr marL="1680845" indent="0" algn="ctr">
              <a:buNone/>
              <a:defRPr sz="1200"/>
            </a:lvl6pPr>
            <a:lvl7pPr marL="2016760" indent="0" algn="ctr">
              <a:buNone/>
              <a:defRPr sz="1200"/>
            </a:lvl7pPr>
            <a:lvl8pPr marL="2352675" indent="0" algn="ctr">
              <a:buNone/>
              <a:defRPr sz="1200"/>
            </a:lvl8pPr>
            <a:lvl9pPr marL="2689225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282306"/>
            <a:ext cx="7886700" cy="2139553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359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724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083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442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6808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167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52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6892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6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2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2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35915" indent="0">
              <a:buNone/>
              <a:defRPr sz="2000"/>
            </a:lvl2pPr>
            <a:lvl3pPr marL="672465" indent="0">
              <a:buNone/>
              <a:defRPr sz="1800"/>
            </a:lvl3pPr>
            <a:lvl4pPr marL="1008380" indent="0">
              <a:buNone/>
              <a:defRPr sz="1400"/>
            </a:lvl4pPr>
            <a:lvl5pPr marL="1344295" indent="0">
              <a:buNone/>
              <a:defRPr sz="1400"/>
            </a:lvl5pPr>
            <a:lvl6pPr marL="1680845" indent="0">
              <a:buNone/>
              <a:defRPr sz="1400"/>
            </a:lvl6pPr>
            <a:lvl7pPr marL="2016760" indent="0">
              <a:buNone/>
              <a:defRPr sz="1400"/>
            </a:lvl7pPr>
            <a:lvl8pPr marL="2352675" indent="0">
              <a:buNone/>
              <a:defRPr sz="1400"/>
            </a:lvl8pPr>
            <a:lvl9pPr marL="2689225" indent="0">
              <a:buNone/>
              <a:defRPr sz="14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6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6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3801" y="4830418"/>
            <a:ext cx="9140200" cy="313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6"/>
            <a:ext cx="7886700" cy="994172"/>
          </a:xfrm>
          <a:prstGeom prst="rect">
            <a:avLst/>
          </a:prstGeom>
        </p:spPr>
        <p:txBody>
          <a:bodyPr vert="horz" lIns="134452" tIns="67226" rIns="134452" bIns="6722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134452" tIns="67226" rIns="134452" bIns="6722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4"/>
            <a:ext cx="30861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67246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672465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7665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1257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4848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8503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95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5686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3591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7246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38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429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8084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1676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5267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8922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9"/>
          <p:cNvSpPr txBox="1"/>
          <p:nvPr/>
        </p:nvSpPr>
        <p:spPr>
          <a:xfrm>
            <a:off x="834888" y="2109253"/>
            <a:ext cx="7255566" cy="1043706"/>
          </a:xfrm>
          <a:prstGeom prst="rect">
            <a:avLst/>
          </a:prstGeom>
          <a:noFill/>
        </p:spPr>
        <p:txBody>
          <a:bodyPr wrap="square" lIns="134452" tIns="67226" rIns="134452" bIns="67226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252095">
              <a:defRPr/>
            </a:pPr>
            <a:r>
              <a:rPr lang="zh-CN" altLang="en-US" sz="5900" b="1" dirty="0">
                <a:solidFill>
                  <a:srgbClr val="075A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乘积最大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10780"/>
            <a:ext cx="9144000" cy="4136860"/>
          </a:xfrm>
          <a:prstGeom prst="rect">
            <a:avLst/>
          </a:prstGeom>
        </p:spPr>
        <p:txBody>
          <a:bodyPr wrap="square" lIns="134452" tIns="67226" rIns="134452" bIns="67226">
            <a:spAutoFit/>
          </a:bodyPr>
          <a:lstStyle/>
          <a:p>
            <a:pPr indent="279400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将一个长度为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的十进制数字字符串用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个乘号将它分成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个部分，使得这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个部分的乘积为最大。例如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6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，且数字字符串为“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310143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”时，此时可能有的情况有下列各种：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   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143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0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   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01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43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129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   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014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126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   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10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43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1290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   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10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14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1260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   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101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3630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   31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43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0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   31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01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372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34925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310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3720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349250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从上面的结果可以看出，最大乘积为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310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3720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zh-CN" sz="18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7825"/>
            <a:ext cx="917656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09550" algn="just">
              <a:spcAft>
                <a:spcPts val="0"/>
              </a:spcAft>
            </a:pPr>
            <a:r>
              <a:rPr lang="zh-CN" altLang="zh-CN" sz="2000" kern="100" dirty="0">
                <a:ea typeface="宋体" panose="02010600030101010101" pitchFamily="2" charset="-122"/>
              </a:rPr>
              <a:t>设十进制数字字符串为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：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0955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当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时，最大值为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max{a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1 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×( 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),(a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)×(a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…a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),</a:t>
            </a: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,(a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n-1</a:t>
            </a: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}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，这相当于穷举法。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0955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当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时，最大值为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max{(a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n-2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)×a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n-1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,(a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n-3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)×(a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n-2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n-1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)×a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,(a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n-3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)×a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n-2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×(a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n-1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),</a:t>
            </a: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, 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×(a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en-US" altLang="zh-CN" sz="2000" kern="100" baseline="-250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 }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09550" algn="just">
              <a:spcAft>
                <a:spcPts val="0"/>
              </a:spcAft>
            </a:pPr>
            <a:r>
              <a:rPr lang="en-US" altLang="zh-CN" sz="2000" kern="100" dirty="0">
                <a:ea typeface="宋体" panose="02010600030101010101" pitchFamily="2" charset="-122"/>
                <a:cs typeface="Times New Roman" panose="02020603050405020304"/>
              </a:rPr>
              <a:t> </a:t>
            </a:r>
            <a:r>
              <a:rPr lang="zh-CN" altLang="zh-CN" sz="2000" kern="100" dirty="0">
                <a:ea typeface="宋体" panose="02010600030101010101" pitchFamily="2" charset="-122"/>
              </a:rPr>
              <a:t>设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f[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][j][s]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表示从</a:t>
            </a:r>
            <a:r>
              <a:rPr lang="en-US" altLang="zh-CN" sz="2000" i="1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到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j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个乘号取得的最大值，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g(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i,j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表示从</a:t>
            </a:r>
            <a:r>
              <a:rPr lang="en-US" altLang="zh-CN" sz="2000" i="1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到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j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的数字队列，则：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0955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时，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f[1][n][1]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max{g(1,1) ×g(2,n),g(1,2) ×g(3,n),</a:t>
            </a: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,g(1,n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1) ×g(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n,n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)}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09550" algn="just">
              <a:spcAft>
                <a:spcPts val="0"/>
              </a:spcAft>
            </a:pP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 k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时，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f[1][n][2]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max{f[1][n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1][1] ×g(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n,n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),f[1][n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2][1] ×g(n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1,n),</a:t>
            </a: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,f[1][2][1] ×g(3,n)}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0955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由此可推出：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0955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f[1][n][k]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max{f[1][n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1][k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1]×g(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n,n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),f[1][n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2][k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1] ×g(n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1,n),</a:t>
            </a:r>
            <a:r>
              <a:rPr lang="en-US" altLang="zh-CN" sz="20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,f[1][k][k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1] ×g(k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1,n)}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我们可以看出，要想计算出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f[1][n][k]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，必须要计算出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f[1][n</a:t>
            </a:r>
            <a:r>
              <a:rPr lang="en-US" altLang="zh-CN" sz="16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1][k</a:t>
            </a:r>
            <a:r>
              <a:rPr lang="en-US" altLang="zh-CN" sz="16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1],f[1][n</a:t>
            </a:r>
            <a:r>
              <a:rPr lang="en-US" altLang="zh-CN" sz="16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2][k</a:t>
            </a:r>
            <a:r>
              <a:rPr lang="en-US" altLang="zh-CN" sz="16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1],</a:t>
            </a:r>
            <a:r>
              <a:rPr lang="en-US" altLang="zh-CN" sz="2000" kern="100" dirty="0">
                <a:latin typeface="宋体" panose="02010600030101010101" pitchFamily="2" charset="-122"/>
                <a:cs typeface="Times New Roman" panose="02020603050405020304"/>
              </a:rPr>
              <a:t>…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,f[1][k][k</a:t>
            </a:r>
            <a:r>
              <a:rPr lang="en-US" altLang="zh-CN" sz="16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1]</a:t>
            </a:r>
            <a:endParaRPr lang="zh-CN" altLang="zh-CN" sz="18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564" y="0"/>
            <a:ext cx="904030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kern="100" dirty="0">
                <a:ea typeface="宋体" panose="02010600030101010101" pitchFamily="2" charset="-122"/>
              </a:rPr>
              <a:t>以字符串为</a:t>
            </a: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310143</a:t>
            </a: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zh-CN" sz="2400" kern="100" dirty="0">
                <a:ea typeface="宋体" panose="02010600030101010101" pitchFamily="2" charset="-122"/>
              </a:rPr>
              <a:t>，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为例来说明计算过程：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，表示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个乘法：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f[1][2][1]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3×1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                 f[1][3][1]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max{31×0,3×10}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30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                 f[1][4][1]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max{310×1,31×1,3×101}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310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                 </a:t>
            </a: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，表示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个乘法：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f[1][3][2]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3×1×0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0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                 f[1][4][2]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max{f[1][3][1] ×1,f[1][2][1] ×1}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30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                 </a:t>
            </a: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进一步，将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f[1][j][s]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简化为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f[j][s]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，则动态转移方程为：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f[n][k]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max{f[n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1][k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1]×g(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n,n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f[n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2][k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1]×g(n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1,n),</a:t>
            </a: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</a:rPr>
              <a:t>…,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f[k][k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1] ×g(k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1,n}</a:t>
            </a:r>
            <a:endParaRPr lang="zh-CN" altLang="zh-CN" sz="20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564" y="0"/>
            <a:ext cx="910843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unsigned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long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long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g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L</a:t>
            </a:r>
            <a:r>
              <a:rPr lang="en-US" altLang="zh-CN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R</a:t>
            </a:r>
            <a:r>
              <a:rPr lang="en-US" altLang="zh-CN" sz="20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){</a:t>
            </a:r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ans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L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]-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</a:rPr>
              <a:t>'0'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nn-NO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n-NO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L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nn-NO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R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endParaRPr lang="nn-NO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ans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ans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*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10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+(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]-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</a:rPr>
              <a:t>'0'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ans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}</a:t>
            </a:r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en-US" altLang="zh-CN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cin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&gt;&gt;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&gt;&gt;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&gt;&gt;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f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g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r>
              <a:rPr lang="en-US" altLang="zh-CN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           </a:t>
            </a:r>
            <a:r>
              <a:rPr lang="en-US" altLang="zh-CN" sz="2000" smtClean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枚举乘号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      </a:t>
            </a:r>
            <a:r>
              <a:rPr lang="en-US" altLang="zh-CN" sz="20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枚举字符串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h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h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&gt;=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h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--)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      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枚举切割点</a:t>
            </a:r>
          </a:p>
          <a:p>
            <a:r>
              <a:rPr lang="pt-B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  f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pt-B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pt-B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pt-B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max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pt-B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pt-B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pt-B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],</a:t>
            </a:r>
            <a:r>
              <a:rPr lang="pt-B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pt-B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h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pt-BR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pt-B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pt-BR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]*</a:t>
            </a:r>
            <a:r>
              <a:rPr lang="pt-B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g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pt-B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h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pt-BR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));</a:t>
            </a:r>
            <a:endParaRPr lang="pt-BR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cout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endl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zh-CN" altLang="zh-CN" sz="18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5-0315-3小清新手绘唯美教育教学PPT模板"/>
  <p:tag name="KSO_WPP_MARK_KEY" val="b1a8fefa-2948-49a8-bc7a-aee3d49ed308"/>
  <p:tag name="COMMONDATA" val="eyJoZGlkIjoiZWNkNzQwYjliNGZkYjkxNzQ5NTNjZWEyZGU4NWM2NWIifQ=="/>
</p:tagLst>
</file>

<file path=ppt/theme/theme1.xml><?xml version="1.0" encoding="utf-8"?>
<a:theme xmlns:a="http://schemas.openxmlformats.org/drawingml/2006/main" name="AAAAAAAAAAAAAAAAAAAAAAAAAAA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710</Words>
  <Application>Microsoft Office PowerPoint</Application>
  <PresentationFormat>全屏显示(16:9)</PresentationFormat>
  <Paragraphs>53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Source Han Serif SC</vt:lpstr>
      <vt:lpstr>YaHei Consolas Hybrid</vt:lpstr>
      <vt:lpstr>等线</vt:lpstr>
      <vt:lpstr>等线 Light</vt:lpstr>
      <vt:lpstr>宋体</vt:lpstr>
      <vt:lpstr>微软雅黑</vt:lpstr>
      <vt:lpstr>Arial</vt:lpstr>
      <vt:lpstr>Calibri</vt:lpstr>
      <vt:lpstr>Calibri Light</vt:lpstr>
      <vt:lpstr>Courier New</vt:lpstr>
      <vt:lpstr>Times New Roman</vt:lpstr>
      <vt:lpstr>AAAAAAAAAAAAAAAAAAAAAAAAAAA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5-0315-3小清新手绘唯美教育教学PPT模板</dc:title>
  <dc:creator>Administrator</dc:creator>
  <cp:lastModifiedBy>微软用户</cp:lastModifiedBy>
  <cp:revision>199</cp:revision>
  <dcterms:created xsi:type="dcterms:W3CDTF">2019-03-15T02:52:00Z</dcterms:created>
  <dcterms:modified xsi:type="dcterms:W3CDTF">2024-10-12T10:15:04Z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9AA08914B4064488A0EEAA7A2AF56D46</vt:lpwstr>
  </property>
  <property fmtid="{D5CDD505-2E9C-101B-9397-08002B2CF9AE}" pid="3" name="KSOProductBuildVer">
    <vt:lpwstr>2052-11.1.0.12763</vt:lpwstr>
  </property>
</Properties>
</file>