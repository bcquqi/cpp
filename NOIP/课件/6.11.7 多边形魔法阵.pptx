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11088826" r:id="rId2"/>
    <p:sldId id="4873" r:id="rId3"/>
    <p:sldId id="11088832" r:id="rId4"/>
    <p:sldId id="11088833" r:id="rId5"/>
    <p:sldId id="11088834" r:id="rId6"/>
    <p:sldId id="11088835" r:id="rId7"/>
    <p:sldId id="11088836" r:id="rId8"/>
    <p:sldId id="11088837" r:id="rId9"/>
    <p:sldId id="11088838" r:id="rId10"/>
  </p:sldIdLst>
  <p:sldSz cx="9144000" cy="5143500" type="screen16x9"/>
  <p:notesSz cx="6858000" cy="9144000"/>
  <p:custDataLst>
    <p:tags r:id="rId12"/>
  </p:custDataLst>
  <p:defaultTextStyle>
    <a:defPPr>
      <a:defRPr lang="en-US"/>
    </a:defPPr>
    <a:lvl1pPr marL="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7246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4429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201676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8922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36105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4033520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70598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377815" algn="l" defTabSz="67246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8ED0"/>
    <a:srgbClr val="075AA4"/>
    <a:srgbClr val="2F4732"/>
    <a:srgbClr val="2B44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76" autoAdjust="0"/>
    <p:restoredTop sz="87435" autoAdjust="0"/>
  </p:normalViewPr>
  <p:slideViewPr>
    <p:cSldViewPr snapToGrid="0" showGuides="1">
      <p:cViewPr varScale="1">
        <p:scale>
          <a:sx n="134" d="100"/>
          <a:sy n="134" d="100"/>
        </p:scale>
        <p:origin x="54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CBD01-EFF3-401D-9E3D-436DA00BC4F9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AD115-59BE-4C7A-B849-7A2D456698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869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6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595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0830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2288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4215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2576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7743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1450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6104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6439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35915" indent="0" algn="ctr">
              <a:buNone/>
              <a:defRPr sz="1400"/>
            </a:lvl2pPr>
            <a:lvl3pPr marL="672465" indent="0" algn="ctr">
              <a:buNone/>
              <a:defRPr sz="1400"/>
            </a:lvl3pPr>
            <a:lvl4pPr marL="1008380" indent="0" algn="ctr">
              <a:buNone/>
              <a:defRPr sz="1200"/>
            </a:lvl4pPr>
            <a:lvl5pPr marL="1344295" indent="0" algn="ctr">
              <a:buNone/>
              <a:defRPr sz="1200"/>
            </a:lvl5pPr>
            <a:lvl6pPr marL="1680845" indent="0" algn="ctr">
              <a:buNone/>
              <a:defRPr sz="1200"/>
            </a:lvl6pPr>
            <a:lvl7pPr marL="2016760" indent="0" algn="ctr">
              <a:buNone/>
              <a:defRPr sz="1200"/>
            </a:lvl7pPr>
            <a:lvl8pPr marL="2352675" indent="0" algn="ctr">
              <a:buNone/>
              <a:defRPr sz="1200"/>
            </a:lvl8pPr>
            <a:lvl9pPr marL="2689225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282306"/>
            <a:ext cx="7886700" cy="2139553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3591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724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083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4429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6808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167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52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68922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3" y="273846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5915" indent="0">
              <a:buNone/>
              <a:defRPr sz="1400" b="1"/>
            </a:lvl2pPr>
            <a:lvl3pPr marL="672465" indent="0">
              <a:buNone/>
              <a:defRPr sz="1400" b="1"/>
            </a:lvl3pPr>
            <a:lvl4pPr marL="1008380" indent="0">
              <a:buNone/>
              <a:defRPr sz="1200" b="1"/>
            </a:lvl4pPr>
            <a:lvl5pPr marL="1344295" indent="0">
              <a:buNone/>
              <a:defRPr sz="1200" b="1"/>
            </a:lvl5pPr>
            <a:lvl6pPr marL="1680845" indent="0">
              <a:buNone/>
              <a:defRPr sz="1200" b="1"/>
            </a:lvl6pPr>
            <a:lvl7pPr marL="2016760" indent="0">
              <a:buNone/>
              <a:defRPr sz="1200" b="1"/>
            </a:lvl7pPr>
            <a:lvl8pPr marL="2352675" indent="0">
              <a:buNone/>
              <a:defRPr sz="1200" b="1"/>
            </a:lvl8pPr>
            <a:lvl9pPr marL="268922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2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5915" indent="0">
              <a:buNone/>
              <a:defRPr sz="1400" b="1"/>
            </a:lvl2pPr>
            <a:lvl3pPr marL="672465" indent="0">
              <a:buNone/>
              <a:defRPr sz="1400" b="1"/>
            </a:lvl3pPr>
            <a:lvl4pPr marL="1008380" indent="0">
              <a:buNone/>
              <a:defRPr sz="1200" b="1"/>
            </a:lvl4pPr>
            <a:lvl5pPr marL="1344295" indent="0">
              <a:buNone/>
              <a:defRPr sz="1200" b="1"/>
            </a:lvl5pPr>
            <a:lvl6pPr marL="1680845" indent="0">
              <a:buNone/>
              <a:defRPr sz="1200" b="1"/>
            </a:lvl6pPr>
            <a:lvl7pPr marL="2016760" indent="0">
              <a:buNone/>
              <a:defRPr sz="1200" b="1"/>
            </a:lvl7pPr>
            <a:lvl8pPr marL="2352675" indent="0">
              <a:buNone/>
              <a:defRPr sz="1200" b="1"/>
            </a:lvl8pPr>
            <a:lvl9pPr marL="2689225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2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4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4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35915" indent="0">
              <a:buNone/>
              <a:defRPr sz="1000"/>
            </a:lvl2pPr>
            <a:lvl3pPr marL="672465" indent="0">
              <a:buNone/>
              <a:defRPr sz="900"/>
            </a:lvl3pPr>
            <a:lvl4pPr marL="1008380" indent="0">
              <a:buNone/>
              <a:defRPr sz="800"/>
            </a:lvl4pPr>
            <a:lvl5pPr marL="1344295" indent="0">
              <a:buNone/>
              <a:defRPr sz="800"/>
            </a:lvl5pPr>
            <a:lvl6pPr marL="1680845" indent="0">
              <a:buNone/>
              <a:defRPr sz="800"/>
            </a:lvl6pPr>
            <a:lvl7pPr marL="2016760" indent="0">
              <a:buNone/>
              <a:defRPr sz="800"/>
            </a:lvl7pPr>
            <a:lvl8pPr marL="2352675" indent="0">
              <a:buNone/>
              <a:defRPr sz="800"/>
            </a:lvl8pPr>
            <a:lvl9pPr marL="2689225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4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35915" indent="0">
              <a:buNone/>
              <a:defRPr sz="2000"/>
            </a:lvl2pPr>
            <a:lvl3pPr marL="672465" indent="0">
              <a:buNone/>
              <a:defRPr sz="1800"/>
            </a:lvl3pPr>
            <a:lvl4pPr marL="1008380" indent="0">
              <a:buNone/>
              <a:defRPr sz="1400"/>
            </a:lvl4pPr>
            <a:lvl5pPr marL="1344295" indent="0">
              <a:buNone/>
              <a:defRPr sz="1400"/>
            </a:lvl5pPr>
            <a:lvl6pPr marL="1680845" indent="0">
              <a:buNone/>
              <a:defRPr sz="1400"/>
            </a:lvl6pPr>
            <a:lvl7pPr marL="2016760" indent="0">
              <a:buNone/>
              <a:defRPr sz="1400"/>
            </a:lvl7pPr>
            <a:lvl8pPr marL="2352675" indent="0">
              <a:buNone/>
              <a:defRPr sz="1400"/>
            </a:lvl8pPr>
            <a:lvl9pPr marL="2689225" indent="0">
              <a:buNone/>
              <a:defRPr sz="14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4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35915" indent="0">
              <a:buNone/>
              <a:defRPr sz="1000"/>
            </a:lvl2pPr>
            <a:lvl3pPr marL="672465" indent="0">
              <a:buNone/>
              <a:defRPr sz="900"/>
            </a:lvl3pPr>
            <a:lvl4pPr marL="1008380" indent="0">
              <a:buNone/>
              <a:defRPr sz="800"/>
            </a:lvl4pPr>
            <a:lvl5pPr marL="1344295" indent="0">
              <a:buNone/>
              <a:defRPr sz="800"/>
            </a:lvl5pPr>
            <a:lvl6pPr marL="1680845" indent="0">
              <a:buNone/>
              <a:defRPr sz="800"/>
            </a:lvl6pPr>
            <a:lvl7pPr marL="2016760" indent="0">
              <a:buNone/>
              <a:defRPr sz="800"/>
            </a:lvl7pPr>
            <a:lvl8pPr marL="2352675" indent="0">
              <a:buNone/>
              <a:defRPr sz="800"/>
            </a:lvl8pPr>
            <a:lvl9pPr marL="2689225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6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5"/>
            <a:ext cx="5800726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3801" y="4830418"/>
            <a:ext cx="9140200" cy="313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6"/>
            <a:ext cx="7886700" cy="994172"/>
          </a:xfrm>
          <a:prstGeom prst="rect">
            <a:avLst/>
          </a:prstGeom>
        </p:spPr>
        <p:txBody>
          <a:bodyPr vert="horz" lIns="134452" tIns="67226" rIns="134452" bIns="67226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134452" tIns="67226" rIns="134452" bIns="67226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A0673-328F-4FB6-8972-97C9BE18F66D}" type="datetimeFigureOut">
              <a:rPr lang="zh-CN" altLang="en-US" smtClean="0"/>
              <a:t>2024-10-12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4"/>
            <a:ext cx="30861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134452" tIns="67226" rIns="134452" bIns="67226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672465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275" indent="-168275" algn="l" defTabSz="672465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7665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1257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4848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8503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20950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56865" indent="-168275" algn="l" defTabSz="672465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3591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7246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38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4429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8084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16760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5267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89225" algn="l" defTabSz="672465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9"/>
          <p:cNvSpPr txBox="1"/>
          <p:nvPr/>
        </p:nvSpPr>
        <p:spPr>
          <a:xfrm>
            <a:off x="834888" y="2109253"/>
            <a:ext cx="7255566" cy="1043706"/>
          </a:xfrm>
          <a:prstGeom prst="rect">
            <a:avLst/>
          </a:prstGeom>
          <a:noFill/>
        </p:spPr>
        <p:txBody>
          <a:bodyPr wrap="square" lIns="134452" tIns="67226" rIns="134452" bIns="67226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252095">
              <a:defRPr/>
            </a:pPr>
            <a:r>
              <a:rPr lang="zh-CN" altLang="en-US" sz="5900" b="1" dirty="0">
                <a:solidFill>
                  <a:srgbClr val="075A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多边形魔法阵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7565" y="23773"/>
            <a:ext cx="91435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9400" algn="just">
              <a:spcAft>
                <a:spcPts val="0"/>
              </a:spcAft>
            </a:pP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多边形魔法阵启动规则是这样的：开始时有一个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个顶点的多边形。如</a:t>
            </a:r>
            <a:r>
              <a:rPr lang="zh-CN" altLang="en-US" sz="2400" kern="100" dirty="0" smtClean="0">
                <a:latin typeface="Times New Roman" panose="02020603050405020304"/>
                <a:ea typeface="宋体" panose="02010600030101010101" pitchFamily="2" charset="-122"/>
              </a:rPr>
              <a:t>图所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示，这里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。每个顶点有一个整数标记，每条边上有一个“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+”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号或“*”号。边从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编号到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zh-CN" altLang="zh-CN" sz="20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21137" y="1224102"/>
            <a:ext cx="3005645" cy="195463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/>
          <p:cNvSpPr/>
          <p:nvPr/>
        </p:nvSpPr>
        <p:spPr>
          <a:xfrm>
            <a:off x="120407" y="3204508"/>
            <a:ext cx="899788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第一步，一条边被拿走；随后各步包括如下：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 algn="just"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选择一条边</a:t>
            </a: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E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和连接着</a:t>
            </a: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E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的两个顶点</a:t>
            </a: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V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和 </a:t>
            </a: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V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；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 algn="just"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得到一个新的顶点，标记为</a:t>
            </a: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V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与</a:t>
            </a: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V</a:t>
            </a:r>
            <a:r>
              <a:rPr lang="en-US" altLang="zh-CN" sz="2400" kern="100" baseline="-250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通过边</a:t>
            </a: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E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上的运算符运算的结果。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 algn="just"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最后，游戏中没有边，游戏的得分为仅剩余的一个顶点的值。 </a:t>
            </a:r>
            <a:endParaRPr lang="zh-CN" altLang="zh-CN" sz="20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0" y="10780"/>
            <a:ext cx="9144000" cy="505097"/>
          </a:xfrm>
          <a:prstGeom prst="rect">
            <a:avLst/>
          </a:prstGeom>
        </p:spPr>
        <p:txBody>
          <a:bodyPr wrap="square" lIns="134452" tIns="67226" rIns="134452" bIns="67226"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写一个程序，对于给定一个多边形，计算出可能的最高得分。</a:t>
            </a:r>
            <a:endParaRPr lang="zh-CN" altLang="zh-CN" sz="24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9636" y="1257607"/>
            <a:ext cx="5253971" cy="217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0" y="10780"/>
            <a:ext cx="9144000" cy="1982424"/>
          </a:xfrm>
          <a:prstGeom prst="rect">
            <a:avLst/>
          </a:prstGeom>
        </p:spPr>
        <p:txBody>
          <a:bodyPr wrap="square" lIns="134452" tIns="67226" rIns="134452" bIns="67226"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拿到题目之后，我们马上可以想到用枚举法──枚举删边的先后顺序。但边数最大可以达到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50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，枚举的复杂将会有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50</a:t>
            </a: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！。因此枚举算法马上被排除了。 </a:t>
            </a:r>
          </a:p>
          <a:p>
            <a:pPr indent="266700" algn="just">
              <a:spcAft>
                <a:spcPts val="0"/>
              </a:spcAft>
            </a:pPr>
            <a:r>
              <a:rPr lang="zh-CN" altLang="en-US" sz="2400" kern="100" dirty="0">
                <a:latin typeface="Times New Roman" panose="02020603050405020304"/>
                <a:ea typeface="宋体" panose="02010600030101010101" pitchFamily="2" charset="-122"/>
              </a:rPr>
              <a:t>对最优化问题的求解，我们往往可以使用动态规划来解决。这道题是不是可以使用动态规划呢？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69" y="105054"/>
            <a:ext cx="7247298" cy="4738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13009"/>
            <a:ext cx="917699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这类似于合并魔法石问题，但问题关键在于乘法运算同号得正，异号得负，如果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b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都是负数，那么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a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×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b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有可能得到一个很大的正数。因此需要同时保存子问题的最大值和最小值。</a:t>
            </a:r>
          </a:p>
          <a:p>
            <a:pPr indent="276225"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设以节点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为首按顺时针长度为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L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的链的计算结果最小值为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F</a:t>
            </a:r>
            <a:r>
              <a:rPr lang="en-US" altLang="zh-CN" sz="2000" kern="100" baseline="-25000" dirty="0" err="1">
                <a:latin typeface="Times New Roman" panose="02020603050405020304"/>
                <a:ea typeface="宋体" panose="02010600030101010101" pitchFamily="2" charset="-122"/>
              </a:rPr>
              <a:t>min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L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），最大值为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F</a:t>
            </a:r>
            <a:r>
              <a:rPr lang="en-US" altLang="zh-CN" sz="2000" kern="100" baseline="-25000" dirty="0" err="1">
                <a:latin typeface="Times New Roman" panose="02020603050405020304"/>
                <a:ea typeface="宋体" panose="02010600030101010101" pitchFamily="2" charset="-122"/>
              </a:rPr>
              <a:t>max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L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），联结第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个节点和其顺时针方向的下一个节点（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 % n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）＋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的边上的运算符记为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opr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），则可以得到以下公式：</a:t>
            </a:r>
            <a:endParaRPr lang="zh-CN" altLang="zh-CN" sz="20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25" y="1867160"/>
            <a:ext cx="6254324" cy="319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13009"/>
            <a:ext cx="917699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其中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(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t)% n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是节点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顺时针方向的第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t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个节点的编号，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opr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）为联结第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个节点和其顺时针方向的下一个节点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(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 % n)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的边上的运算符。</a:t>
            </a:r>
          </a:p>
          <a:p>
            <a:pPr indent="266700"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边界条件为：</a:t>
            </a:r>
          </a:p>
          <a:p>
            <a:pPr indent="266700" algn="just">
              <a:spcAft>
                <a:spcPts val="0"/>
              </a:spcAft>
            </a:pP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F</a:t>
            </a:r>
            <a:r>
              <a:rPr lang="en-US" altLang="zh-CN" sz="2000" kern="100" baseline="-25000" dirty="0" err="1">
                <a:latin typeface="Times New Roman" panose="02020603050405020304"/>
                <a:ea typeface="宋体" panose="02010600030101010101" pitchFamily="2" charset="-122"/>
              </a:rPr>
              <a:t>min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(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0)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V(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) 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；其中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V(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)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为节点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上标的数字</a:t>
            </a:r>
          </a:p>
          <a:p>
            <a:pPr indent="266700" algn="just">
              <a:spcAft>
                <a:spcPts val="0"/>
              </a:spcAft>
            </a:pP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F</a:t>
            </a:r>
            <a:r>
              <a:rPr lang="en-US" altLang="zh-CN" sz="2000" kern="100" baseline="-25000" dirty="0" err="1">
                <a:latin typeface="Times New Roman" panose="02020603050405020304"/>
                <a:ea typeface="宋体" panose="02010600030101010101" pitchFamily="2" charset="-122"/>
              </a:rPr>
              <a:t>max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(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0)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V(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)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66700"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由此，我们可以递推求出所有的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F(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n)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，…，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zh-CN" sz="2000" kern="100">
                <a:latin typeface="Times New Roman" panose="02020603050405020304"/>
                <a:ea typeface="宋体" panose="02010600030101010101" pitchFamily="2" charset="-122"/>
              </a:rPr>
              <a:t>，其中的最大值就是所求。</a:t>
            </a:r>
            <a:endParaRPr lang="zh-CN" altLang="zh-CN" sz="2000" kern="10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13009"/>
            <a:ext cx="917699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main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endParaRPr lang="zh-CN" altLang="en-US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cin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&gt;&gt;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n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nn-NO" altLang="zh-CN" sz="2000" b="1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nn-NO" altLang="zh-CN" sz="200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i 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n-NO" altLang="zh-CN" sz="2000" dirty="0">
                <a:solidFill>
                  <a:srgbClr val="FF8000"/>
                </a:solidFill>
                <a:highlight>
                  <a:srgbClr val="FFFFFF"/>
                </a:highlight>
              </a:rPr>
              <a:t>0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i 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&lt;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n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nn-NO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i</a:t>
            </a:r>
            <a:r>
              <a:rPr lang="nn-NO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++)</a:t>
            </a:r>
            <a:endParaRPr lang="nn-NO" altLang="zh-CN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cin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&gt;&gt;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arr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]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&gt;&gt;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opr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[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];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zh-CN" altLang="en-US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ans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</a:rPr>
              <a:t>0x80000000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t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      </a:t>
            </a:r>
            <a:r>
              <a:rPr lang="en-US" altLang="zh-CN" sz="2000" dirty="0">
                <a:solidFill>
                  <a:srgbClr val="008000"/>
                </a:solidFill>
                <a:highlight>
                  <a:srgbClr val="FFFFFF"/>
                </a:highlight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</a:rPr>
              <a:t>初始化为最小值</a:t>
            </a: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2000" dirty="0" err="1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</a:rPr>
              <a:t>0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n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++)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    </a:t>
            </a:r>
            <a:r>
              <a:rPr lang="en-US" altLang="zh-CN" sz="2000" dirty="0">
                <a:solidFill>
                  <a:srgbClr val="008000"/>
                </a:solidFill>
                <a:highlight>
                  <a:srgbClr val="FFFFFF"/>
                </a:highlight>
              </a:rPr>
              <a:t>//</a:t>
            </a:r>
            <a:r>
              <a:rPr lang="zh-CN" altLang="en-US" sz="2000" dirty="0">
                <a:solidFill>
                  <a:srgbClr val="008000"/>
                </a:solidFill>
                <a:highlight>
                  <a:srgbClr val="FFFFFF"/>
                </a:highlight>
              </a:rPr>
              <a:t>循环每个结点开始链</a:t>
            </a:r>
          </a:p>
          <a:p>
            <a:r>
              <a:rPr lang="fr-FR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fr-FR" altLang="zh-CN" sz="2000" b="1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fr-FR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((</a:t>
            </a:r>
            <a:r>
              <a:rPr lang="fr-FR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t </a:t>
            </a:r>
            <a:r>
              <a:rPr lang="fr-FR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fr-FR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calcmax</a:t>
            </a:r>
            <a:r>
              <a:rPr lang="fr-FR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fr-FR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fr-FR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fr-FR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n</a:t>
            </a:r>
            <a:r>
              <a:rPr lang="fr-FR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))</a:t>
            </a:r>
            <a:r>
              <a:rPr lang="fr-FR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&gt;</a:t>
            </a:r>
            <a:r>
              <a:rPr lang="fr-FR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ans</a:t>
            </a:r>
            <a:r>
              <a:rPr lang="fr-FR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fr-FR" altLang="zh-CN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ans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t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cout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ans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&lt;&lt;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dirty="0">
                <a:solidFill>
                  <a:srgbClr val="808080"/>
                </a:solidFill>
                <a:highlight>
                  <a:srgbClr val="FFFFFF"/>
                </a:highlight>
              </a:rPr>
              <a:t>'\n'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20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2000" dirty="0">
                <a:solidFill>
                  <a:srgbClr val="FF8000"/>
                </a:solidFill>
                <a:highlight>
                  <a:srgbClr val="FFFFFF"/>
                </a:highlight>
              </a:rPr>
              <a:t>0</a:t>
            </a:r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altLang="zh-CN" sz="20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20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zh-CN" altLang="zh-CN" sz="20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-43547"/>
            <a:ext cx="9176994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zh-CN" sz="1400" dirty="0" smtClean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fr-FR" altLang="zh-CN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calcmax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fr-FR" altLang="zh-CN" sz="140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i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altLang="zh-CN" sz="140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l</a:t>
            </a:r>
            <a:r>
              <a:rPr lang="fr-FR" altLang="zh-CN" sz="14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en-US" altLang="zh-CN" sz="1400" dirty="0" smtClean="0">
                <a:solidFill>
                  <a:srgbClr val="008000"/>
                </a:solidFill>
                <a:highlight>
                  <a:srgbClr val="FFFFFF"/>
                </a:highlight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求下标为</a:t>
            </a:r>
            <a:r>
              <a:rPr lang="en-US" altLang="zh-CN" sz="1400" dirty="0" err="1">
                <a:solidFill>
                  <a:srgbClr val="008000"/>
                </a:solidFill>
                <a:highlight>
                  <a:srgbClr val="FFFFFF"/>
                </a:highlight>
              </a:rPr>
              <a:t>i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开始，长度为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</a:rPr>
              <a:t>l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的链最大值</a:t>
            </a:r>
          </a:p>
          <a:p>
            <a:r>
              <a:rPr lang="en-US" altLang="zh-CN" sz="14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  if</a:t>
            </a:r>
            <a:r>
              <a:rPr lang="en-US" altLang="zh-CN" sz="14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l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&lt;=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en-US" altLang="zh-CN" sz="14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arr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[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];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zh-CN" altLang="en-US" sz="140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b="1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bmax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[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][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l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r>
              <a:rPr lang="zh-CN" altLang="en-US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Fmax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[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][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l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];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dirty="0" smtClean="0">
                <a:solidFill>
                  <a:srgbClr val="008000"/>
                </a:solidFill>
                <a:highlight>
                  <a:srgbClr val="FFFFFF"/>
                </a:highlight>
              </a:rPr>
              <a:t>//</a:t>
            </a:r>
            <a:r>
              <a:rPr lang="zh-CN" altLang="en-US" sz="1400" dirty="0" smtClean="0">
                <a:solidFill>
                  <a:srgbClr val="008000"/>
                </a:solidFill>
                <a:highlight>
                  <a:srgbClr val="FFFFFF"/>
                </a:highlight>
              </a:rPr>
              <a:t>用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数组记录是否</a:t>
            </a:r>
            <a:r>
              <a:rPr lang="zh-CN" altLang="en-US" sz="1400" dirty="0" smtClean="0">
                <a:solidFill>
                  <a:srgbClr val="008000"/>
                </a:solidFill>
                <a:highlight>
                  <a:srgbClr val="FFFFFF"/>
                </a:highlight>
              </a:rPr>
              <a:t>已计算</a:t>
            </a:r>
            <a:r>
              <a:rPr lang="en-US" altLang="zh-CN" sz="1400" dirty="0" smtClean="0">
                <a:solidFill>
                  <a:srgbClr val="008000"/>
                </a:solidFill>
                <a:highlight>
                  <a:srgbClr val="FFFFFF"/>
                </a:highlight>
              </a:rPr>
              <a:t>,</a:t>
            </a:r>
            <a:r>
              <a:rPr lang="zh-CN" altLang="en-US" sz="1400" dirty="0" smtClean="0">
                <a:solidFill>
                  <a:srgbClr val="008000"/>
                </a:solidFill>
                <a:highlight>
                  <a:srgbClr val="FFFFFF"/>
                </a:highlight>
              </a:rPr>
              <a:t>如果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已计算就返回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 err="1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ret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dirty="0">
                <a:solidFill>
                  <a:srgbClr val="FF8000"/>
                </a:solidFill>
                <a:highlight>
                  <a:srgbClr val="FFFFFF"/>
                </a:highlight>
              </a:rPr>
              <a:t>0x80000000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       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初始化为最小值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b="1" dirty="0">
                <a:solidFill>
                  <a:srgbClr val="0000FF"/>
                </a:solidFill>
                <a:highlight>
                  <a:srgbClr val="FFFFFF"/>
                </a:highlight>
              </a:rPr>
              <a:t>for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1400" dirty="0" err="1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t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dirty="0">
                <a:solidFill>
                  <a:srgbClr val="FF8000"/>
                </a:solidFill>
                <a:highlight>
                  <a:srgbClr val="FFFFFF"/>
                </a:highlight>
              </a:rPr>
              <a:t>0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t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&lt;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l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t</a:t>
            </a:r>
            <a:r>
              <a:rPr lang="en-US" altLang="zh-CN" sz="14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++){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altLang="zh-CN" sz="1400" dirty="0" err="1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tmp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opr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[(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t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%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n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]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==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dirty="0" smtClean="0">
                <a:solidFill>
                  <a:srgbClr val="808080"/>
                </a:solidFill>
                <a:highlight>
                  <a:srgbClr val="FFFFFF"/>
                </a:highlight>
              </a:rPr>
              <a:t>'+'</a:t>
            </a:r>
            <a:r>
              <a:rPr lang="en-US" altLang="zh-CN" sz="14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 {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加号只用计算两边最大值</a:t>
            </a:r>
          </a:p>
          <a:p>
            <a:r>
              <a:rPr lang="en-US" altLang="zh-CN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en-US" altLang="zh-CN" sz="1400" dirty="0" err="1" smtClean="0">
                <a:solidFill>
                  <a:srgbClr val="000000"/>
                </a:solidFill>
                <a:highlight>
                  <a:srgbClr val="FFFFFF"/>
                </a:highlight>
              </a:rPr>
              <a:t>tmp</a:t>
            </a:r>
            <a:r>
              <a:rPr lang="en-US" altLang="zh-CN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calcmax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t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fr-FR" altLang="zh-CN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calcmax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((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i 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t 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altLang="zh-CN" sz="140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%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n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l 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t 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altLang="zh-CN" sz="140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fr-FR" altLang="zh-CN"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en-US" altLang="zh-CN" sz="1400" b="1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tmp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&gt;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ret</a:t>
            </a:r>
            <a:r>
              <a:rPr lang="en-US" altLang="zh-CN" sz="14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ret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tmp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zh-CN" altLang="en-US" sz="14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altLang="zh-CN" sz="1400" b="1" dirty="0" smtClean="0">
                <a:solidFill>
                  <a:srgbClr val="0000FF"/>
                </a:solidFill>
                <a:highlight>
                  <a:srgbClr val="FFFFFF"/>
                </a:highlight>
              </a:rPr>
              <a:t>else</a:t>
            </a:r>
            <a:r>
              <a:rPr lang="en-US" altLang="zh-CN" sz="14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{</a:t>
            </a:r>
            <a:r>
              <a:rPr lang="zh-CN" altLang="en-US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乘法对两边最大、最小值求解，统计最大值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tmp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calcmax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t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*</a:t>
            </a:r>
            <a:r>
              <a:rPr lang="fr-FR" altLang="zh-CN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calcmax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((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i 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t 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altLang="zh-CN" sz="140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%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n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l 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t 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altLang="zh-CN" sz="140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fr-FR" altLang="zh-CN"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en-US" altLang="zh-CN" sz="1400" b="1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tmp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&gt;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ret</a:t>
            </a:r>
            <a:r>
              <a:rPr lang="en-US" altLang="zh-CN" sz="14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ret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tmp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    tmp 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calcmax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t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fr-FR" altLang="zh-CN" sz="140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)*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calcmin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((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t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fr-FR" altLang="zh-CN" sz="140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)%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n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l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t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fr-FR" altLang="zh-CN" sz="140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fr-FR" altLang="zh-CN"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en-US" altLang="zh-CN" sz="1400" b="1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tmp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&gt;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ret</a:t>
            </a:r>
            <a:r>
              <a:rPr lang="en-US" altLang="zh-CN" sz="14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ret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tmp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    tmp 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calcmin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t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fr-FR" altLang="zh-CN" sz="140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)*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calcmax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((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t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fr-FR" altLang="zh-CN" sz="140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)%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n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l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t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fr-FR" altLang="zh-CN" sz="140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fr-FR" altLang="zh-CN"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en-US" altLang="zh-CN" sz="1400" b="1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tmp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&gt;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ret</a:t>
            </a:r>
            <a:r>
              <a:rPr lang="en-US" altLang="zh-CN" sz="14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ret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tmp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    tmp 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calcmin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t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fr-FR" altLang="zh-CN" sz="140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)*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calcmin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((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t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fr-FR" altLang="zh-CN" sz="140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)%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n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l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fr-FR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t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fr-FR" altLang="zh-CN" sz="1400" dirty="0">
                <a:solidFill>
                  <a:srgbClr val="FF8000"/>
                </a:solidFill>
                <a:highlight>
                  <a:srgbClr val="FFFFFF"/>
                </a:highlight>
              </a:rPr>
              <a:t>1</a:t>
            </a:r>
            <a:r>
              <a:rPr lang="fr-FR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fr-FR" altLang="zh-CN"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    </a:t>
            </a:r>
            <a:r>
              <a:rPr lang="en-US" altLang="zh-CN" sz="1400" b="1" dirty="0">
                <a:solidFill>
                  <a:srgbClr val="0000FF"/>
                </a:solidFill>
                <a:highlight>
                  <a:srgbClr val="FFFFFF"/>
                </a:highlight>
              </a:rPr>
              <a:t>if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tmp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&gt;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ret</a:t>
            </a:r>
            <a:r>
              <a:rPr lang="en-US" altLang="zh-CN" sz="1400" b="1" dirty="0" smtClean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en-US" altLang="zh-CN" sz="1400" dirty="0" smtClean="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ret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tmp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zh-CN" altLang="en-US" sz="140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zh-CN" altLang="en-US" sz="140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zh-CN" altLang="en-US"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bmax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[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][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l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]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b="1" dirty="0">
                <a:solidFill>
                  <a:srgbClr val="0000FF"/>
                </a:solidFill>
                <a:highlight>
                  <a:srgbClr val="FFFFFF"/>
                </a:highlight>
              </a:rPr>
              <a:t>true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设置已经计算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Fmax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[</a:t>
            </a:r>
            <a:r>
              <a:rPr lang="en-US" altLang="zh-CN" sz="1400" dirty="0" err="1">
                <a:solidFill>
                  <a:srgbClr val="000000"/>
                </a:solidFill>
                <a:highlight>
                  <a:srgbClr val="FFFFFF"/>
                </a:highlight>
              </a:rPr>
              <a:t>i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][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l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]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ret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               </a:t>
            </a:r>
            <a:r>
              <a:rPr lang="en-US" altLang="zh-CN" sz="1400" dirty="0">
                <a:solidFill>
                  <a:srgbClr val="008000"/>
                </a:solidFill>
                <a:highlight>
                  <a:srgbClr val="FFFFFF"/>
                </a:highlight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highlight>
                  <a:srgbClr val="FFFFFF"/>
                </a:highlight>
              </a:rPr>
              <a:t>保存结果</a:t>
            </a:r>
          </a:p>
          <a:p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altLang="zh-CN" sz="14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highlight>
                  <a:srgbClr val="FFFFFF"/>
                </a:highlight>
              </a:rPr>
              <a:t> ret</a:t>
            </a:r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en-US" altLang="zh-CN" sz="1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altLang="zh-CN" sz="1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zh-CN" altLang="zh-CN" sz="14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5-0315-3小清新手绘唯美教育教学PPT模板"/>
  <p:tag name="KSO_WPP_MARK_KEY" val="70f1c00c-b231-4498-8855-8023d1cde6c9"/>
  <p:tag name="COMMONDATA" val="eyJoZGlkIjoiZWNkNzQwYjliNGZkYjkxNzQ5NTNjZWEyZGU4NWM2NWIifQ=="/>
</p:tagLst>
</file>

<file path=ppt/theme/theme1.xml><?xml version="1.0" encoding="utf-8"?>
<a:theme xmlns:a="http://schemas.openxmlformats.org/drawingml/2006/main" name="AAAAAAAAAAAAAAAAAAAAAAAAAAA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834</Words>
  <Application>Microsoft Office PowerPoint</Application>
  <PresentationFormat>全屏显示(16:9)</PresentationFormat>
  <Paragraphs>63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Source Han Serif SC</vt:lpstr>
      <vt:lpstr>等线</vt:lpstr>
      <vt:lpstr>等线 Light</vt:lpstr>
      <vt:lpstr>宋体</vt:lpstr>
      <vt:lpstr>微软雅黑</vt:lpstr>
      <vt:lpstr>Arial</vt:lpstr>
      <vt:lpstr>Calibri</vt:lpstr>
      <vt:lpstr>Calibri Light</vt:lpstr>
      <vt:lpstr>Times New Roman</vt:lpstr>
      <vt:lpstr>AAAAAAAAAAAAAAAAAAAAAAAAAAA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5-0315-3小清新手绘唯美教育教学PPT模板</dc:title>
  <dc:creator>Administrator</dc:creator>
  <cp:lastModifiedBy>微软用户</cp:lastModifiedBy>
  <cp:revision>212</cp:revision>
  <dcterms:created xsi:type="dcterms:W3CDTF">2019-03-15T02:52:00Z</dcterms:created>
  <dcterms:modified xsi:type="dcterms:W3CDTF">2024-10-12T10:35:28Z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7BC8374161D9484CB89B34F032933979</vt:lpwstr>
  </property>
  <property fmtid="{D5CDD505-2E9C-101B-9397-08002B2CF9AE}" pid="3" name="KSOProductBuildVer">
    <vt:lpwstr>2052-11.1.0.12763</vt:lpwstr>
  </property>
</Properties>
</file>