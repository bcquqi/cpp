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11088826" r:id="rId2"/>
    <p:sldId id="11088827" r:id="rId3"/>
    <p:sldId id="11088828" r:id="rId4"/>
    <p:sldId id="11088829" r:id="rId5"/>
    <p:sldId id="11088830" r:id="rId6"/>
    <p:sldId id="11088831" r:id="rId7"/>
    <p:sldId id="11088832" r:id="rId8"/>
    <p:sldId id="11088833" r:id="rId9"/>
    <p:sldId id="11088834" r:id="rId10"/>
    <p:sldId id="11088835" r:id="rId11"/>
    <p:sldId id="11088837" r:id="rId12"/>
    <p:sldId id="11088836" r:id="rId13"/>
    <p:sldId id="11088838" r:id="rId14"/>
    <p:sldId id="11088840" r:id="rId15"/>
    <p:sldId id="11088839" r:id="rId16"/>
    <p:sldId id="11088842" r:id="rId17"/>
    <p:sldId id="11088841" r:id="rId18"/>
    <p:sldId id="11088843" r:id="rId19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76" autoAdjust="0"/>
    <p:restoredTop sz="87435" autoAdjust="0"/>
  </p:normalViewPr>
  <p:slideViewPr>
    <p:cSldViewPr snapToGrid="0" showGuides="1">
      <p:cViewPr varScale="1">
        <p:scale>
          <a:sx n="83" d="100"/>
          <a:sy n="83" d="100"/>
        </p:scale>
        <p:origin x="54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2024-08-29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链表</a:t>
            </a:r>
          </a:p>
        </p:txBody>
      </p:sp>
      <p:sp>
        <p:nvSpPr>
          <p:cNvPr id="6" name="椭圆 5"/>
          <p:cNvSpPr/>
          <p:nvPr/>
        </p:nvSpPr>
        <p:spPr>
          <a:xfrm>
            <a:off x="2957345" y="1313633"/>
            <a:ext cx="3273786" cy="65421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 defTabSz="252095">
              <a:defRPr/>
            </a:pPr>
            <a:r>
              <a:rPr lang="zh-CN" altLang="en-US" sz="3700" dirty="0">
                <a:solidFill>
                  <a:schemeClr val="bg1"/>
                </a:solidFill>
                <a:latin typeface="Arial" panose="020B0604020202020204" pitchFamily="34" charset="0"/>
                <a:ea typeface="Source Han Serif SC" panose="02020400000000000000" pitchFamily="18" charset="-122"/>
                <a:cs typeface="Arial" panose="020B0604020202020204" pitchFamily="34" charset="0"/>
                <a:sym typeface="Source Han Serif SC" panose="02020400000000000000" pitchFamily="18" charset="-122"/>
              </a:rPr>
              <a:t>第一章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09063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1.1  </a:t>
            </a:r>
            <a:r>
              <a:rPr lang="zh-CN" altLang="en-US" b="1" dirty="0"/>
              <a:t>何谓链表</a:t>
            </a:r>
          </a:p>
        </p:txBody>
      </p:sp>
      <p:sp>
        <p:nvSpPr>
          <p:cNvPr id="3" name="矩形 2"/>
          <p:cNvSpPr/>
          <p:nvPr/>
        </p:nvSpPr>
        <p:spPr>
          <a:xfrm>
            <a:off x="556181" y="907324"/>
            <a:ext cx="82296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链表可以根据需要动态开辟内存单元，是一种常见的重要数据结构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4028" y="2199005"/>
            <a:ext cx="7351560" cy="1326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2969"/>
            <a:ext cx="2937022" cy="837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Cambria" panose="02040503050406030204"/>
              </a:rPr>
              <a:t>1.2 </a:t>
            </a: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简单静态链表</a:t>
            </a:r>
            <a:endParaRPr lang="zh-CN" altLang="zh-CN" sz="2800" b="1" kern="100" dirty="0">
              <a:effectLst/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273" y="1066456"/>
            <a:ext cx="899788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student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long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学号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float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score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成绩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student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*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该指针指向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student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类型的结构体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注意必须有分号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90874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student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b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34341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//a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学生赋值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score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81.5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b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34343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//b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学生赋值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b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score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97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34344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//c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学生赋值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score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82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student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*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//head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指向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a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的地址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a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b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将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b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的地址给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a.next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，即链接下一结构体元素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b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.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最后一个元素指向空地址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student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*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定义指针变量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P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指向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do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                            </a:t>
            </a:r>
            <a:r>
              <a:rPr lang="en-US" altLang="zh-CN" sz="2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输出记录</a:t>
            </a:r>
            <a:endParaRPr lang="zh-CN" altLang="zh-CN" sz="2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cout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num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 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score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&lt;&lt;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endl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//p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指向下一结点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02010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1.3 </a:t>
            </a:r>
            <a:r>
              <a:rPr lang="zh-CN" altLang="zh-CN" b="1" dirty="0"/>
              <a:t>动态链表</a:t>
            </a:r>
          </a:p>
        </p:txBody>
      </p:sp>
      <p:sp>
        <p:nvSpPr>
          <p:cNvPr id="3" name="矩形 2"/>
          <p:cNvSpPr/>
          <p:nvPr/>
        </p:nvSpPr>
        <p:spPr>
          <a:xfrm>
            <a:off x="44009" y="783619"/>
            <a:ext cx="909999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en-US" altLang="zh-CN" sz="2000" kern="0" dirty="0" err="1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typedef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为复杂的声明定义简单的别名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 err="1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typedef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List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*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//Link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代表链表指针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 err="1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typedef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List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Lnode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en-US" altLang="zh-CN" sz="2000" kern="0" dirty="0" err="1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Lnode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代表链表结点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 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List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此处仅以一个整型变量为例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struct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List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*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};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611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1.3.1 </a:t>
            </a:r>
            <a:r>
              <a:rPr lang="zh-CN" altLang="zh-CN" b="1" dirty="0"/>
              <a:t>链表的建立</a:t>
            </a:r>
          </a:p>
        </p:txBody>
      </p:sp>
      <p:sp>
        <p:nvSpPr>
          <p:cNvPr id="3" name="矩形 2"/>
          <p:cNvSpPr/>
          <p:nvPr/>
        </p:nvSpPr>
        <p:spPr>
          <a:xfrm>
            <a:off x="131974" y="492443"/>
            <a:ext cx="893189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未建立链表之前，</a:t>
            </a:r>
            <a:r>
              <a:rPr lang="en-US" altLang="zh-CN" dirty="0"/>
              <a:t>Head</a:t>
            </a:r>
            <a:r>
              <a:rPr lang="zh-CN" altLang="zh-CN" dirty="0"/>
              <a:t>指向空地址（</a:t>
            </a:r>
            <a:r>
              <a:rPr lang="en-US" altLang="zh-CN" dirty="0"/>
              <a:t>NULL</a:t>
            </a:r>
            <a:r>
              <a:rPr lang="zh-CN" altLang="zh-CN" dirty="0"/>
              <a:t>），随后每次新建一个结点连接到链表时，首先使新建结点的指针域指向</a:t>
            </a:r>
            <a:r>
              <a:rPr lang="en-US" altLang="zh-CN" dirty="0"/>
              <a:t>Head</a:t>
            </a:r>
            <a:r>
              <a:rPr lang="zh-CN" altLang="zh-CN" dirty="0"/>
              <a:t>指向的地址，再将</a:t>
            </a:r>
            <a:r>
              <a:rPr lang="en-US" altLang="zh-CN" dirty="0"/>
              <a:t>Head</a:t>
            </a:r>
            <a:r>
              <a:rPr lang="zh-CN" altLang="zh-CN" dirty="0"/>
              <a:t>指向新建结点的地址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8972" y="1941508"/>
            <a:ext cx="7069354" cy="2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561" y="66150"/>
            <a:ext cx="901673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Create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建立链表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Link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Lnode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开辟空间保存结点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NewPoint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,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如失败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NewPoint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=NULL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输入链表元素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: 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结束输入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'-1'\n"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scanf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"%d"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==-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如果输入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-1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则创建完毕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返回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赋值给结点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新结点链接到链表头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更新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，即指向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NewPoint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18874" cy="837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Cambria" panose="02040503050406030204"/>
              </a:rPr>
              <a:t>1.3.2 </a:t>
            </a: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链表的显示</a:t>
            </a:r>
            <a:endParaRPr lang="zh-CN" altLang="zh-CN" sz="2800" b="1" kern="100" dirty="0">
              <a:effectLst/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" y="848201"/>
            <a:ext cx="910157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void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Display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显示链表结点元素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由指针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p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代替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来完成扫描任务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"\n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链表为空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\n"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/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"%d 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输出指针指向地址的值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指针移到下一个结点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"\n"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9919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1.3.3 </a:t>
            </a:r>
            <a:r>
              <a:rPr lang="zh-CN" altLang="zh-CN" b="1" dirty="0"/>
              <a:t>查找结点元素</a:t>
            </a:r>
            <a:r>
              <a:rPr lang="en-US" altLang="zh-CN" b="1" dirty="0"/>
              <a:t>x</a:t>
            </a:r>
            <a:r>
              <a:rPr lang="zh-CN" altLang="zh-CN" b="1" dirty="0"/>
              <a:t>的位置</a:t>
            </a:r>
          </a:p>
        </p:txBody>
      </p:sp>
      <p:sp>
        <p:nvSpPr>
          <p:cNvPr id="3" name="矩形 2"/>
          <p:cNvSpPr/>
          <p:nvPr/>
        </p:nvSpPr>
        <p:spPr>
          <a:xfrm>
            <a:off x="32994" y="1002090"/>
            <a:ext cx="911100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Locate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查找结点元素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x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在链表中的位置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由指针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p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代替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来完成扫描任务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&amp;&amp;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data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?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: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2969"/>
            <a:ext cx="3594254" cy="837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Cambria" panose="02040503050406030204"/>
              </a:rPr>
              <a:t>1.3.4 </a:t>
            </a: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返回链表的长度</a:t>
            </a:r>
            <a:endParaRPr lang="zh-CN" altLang="zh-CN" sz="2800" b="1" kern="100" dirty="0">
              <a:effectLst/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567" y="1114273"/>
            <a:ext cx="8879949" cy="3476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Lenth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返回链表的长度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len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由指针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p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代替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来完成扫描任务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len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len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6713"/>
            <a:ext cx="3594254" cy="837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Cambria" panose="02040503050406030204"/>
              </a:rPr>
              <a:t>1.3.5 </a:t>
            </a: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获得结点元素值</a:t>
            </a:r>
            <a:endParaRPr lang="zh-CN" altLang="zh-CN" sz="2800" b="1" kern="100" dirty="0">
              <a:effectLst/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840" y="540300"/>
            <a:ext cx="894603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Get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获得第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i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个位置的结点元素值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        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定义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j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为计数器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&amp;&amp;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直到找到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i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结点位置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data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zh-CN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输入数据错误</a:t>
            </a:r>
            <a:r>
              <a:rPr lang="en-US" altLang="zh-CN" sz="20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!"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4713"/>
            <a:ext cx="2787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1.3.6 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结点的插入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597895" y="393742"/>
            <a:ext cx="6942841" cy="483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Insert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14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14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x</a:t>
            </a:r>
            <a:r>
              <a:rPr lang="en-US" altLang="zh-CN" sz="14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14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 {</a:t>
            </a:r>
            <a:r>
              <a:rPr lang="en-US" altLang="zh-CN" sz="1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插入元素</a:t>
            </a:r>
            <a:r>
              <a:rPr lang="en-US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x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到</a:t>
            </a:r>
            <a:r>
              <a:rPr lang="en-US" altLang="zh-CN" sz="14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i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的位置 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Lnode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</a:t>
            </a:r>
            <a:r>
              <a:rPr lang="en-US" altLang="zh-CN" sz="1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新建结点</a:t>
            </a:r>
            <a:r>
              <a:rPr lang="zh-CN" altLang="en-US" sz="1400" kern="0" dirty="0">
                <a:solidFill>
                  <a:srgbClr val="008000"/>
                </a:solidFill>
                <a:latin typeface="Times New Roman" panose="020206030504050203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new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用于动态开辟内存空间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data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x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</a:t>
            </a:r>
            <a:r>
              <a:rPr lang="en-US" altLang="zh-CN" sz="1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结点赋值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14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 {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</a:t>
            </a:r>
            <a:r>
              <a:rPr lang="en-US" altLang="zh-CN" sz="1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如果插入位置为第一个结点时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Head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Link p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14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&amp;&amp;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p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 {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</a:t>
            </a:r>
            <a:r>
              <a:rPr lang="en-US" altLang="zh-CN" sz="14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找到</a:t>
            </a:r>
            <a:r>
              <a:rPr lang="en-US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i-1</a:t>
            </a:r>
            <a:r>
              <a:rPr lang="zh-CN" altLang="zh-CN" sz="14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处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p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14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14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){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p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NewPoint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4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zh-CN" altLang="zh-CN" sz="14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插入元素失败</a:t>
            </a:r>
            <a:r>
              <a:rPr lang="en-US" altLang="zh-CN" sz="14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,</a:t>
            </a:r>
            <a:r>
              <a:rPr lang="zh-CN" altLang="zh-CN" sz="14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输入的值错误</a:t>
            </a:r>
            <a:r>
              <a:rPr lang="en-US" altLang="zh-CN" sz="1400" kern="0" dirty="0">
                <a:solidFill>
                  <a:srgbClr val="80808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!"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4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14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Head</a:t>
            </a:r>
            <a:r>
              <a:rPr lang="en-US" altLang="zh-CN" sz="14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6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1127" y="-190705"/>
            <a:ext cx="2872902" cy="837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latin typeface="Cambria" panose="02040503050406030204"/>
              </a:rPr>
              <a:t>1.3.7 </a:t>
            </a:r>
            <a:r>
              <a:rPr lang="zh-CN" altLang="zh-CN" sz="2800" b="1" kern="100" dirty="0">
                <a:latin typeface="Cambria" panose="02040503050406030204"/>
                <a:ea typeface="宋体" panose="02010600030101010101" pitchFamily="2" charset="-122"/>
              </a:rPr>
              <a:t>结点的删除</a:t>
            </a:r>
            <a:endParaRPr lang="zh-CN" altLang="zh-CN" sz="2800" b="1" kern="100" dirty="0">
              <a:effectLst/>
              <a:latin typeface="Cambria" panose="02040503050406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463259"/>
            <a:ext cx="914400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         </a:t>
            </a:r>
            <a:r>
              <a:rPr lang="zh-CN" altLang="zh-CN" sz="2400" dirty="0"/>
              <a:t>因为链表中唯一能够找到元素的办法是通过它上一个元素的指针，所以如果我们将某个元素直接删去，这个元素所指向的元素和它之后的所有元素都没有办法再找到了。为了解决这个问题，一般采取这样的办法：记录下要删除的元素之前的那个元素，在删除元素之前，把这个元素的指针指向要删除的那个元素指针指向的元素。比如说现在要删除图</a:t>
            </a:r>
            <a:r>
              <a:rPr lang="en-US" altLang="zh-CN" sz="2400" dirty="0"/>
              <a:t>1.3</a:t>
            </a:r>
            <a:r>
              <a:rPr lang="zh-CN" altLang="zh-CN" sz="2400" dirty="0"/>
              <a:t>所示链表的元素</a:t>
            </a:r>
            <a:r>
              <a:rPr lang="en-US" altLang="zh-CN" sz="2400" dirty="0"/>
              <a:t>t</a:t>
            </a:r>
            <a:r>
              <a:rPr lang="zh-CN" altLang="zh-CN" sz="2400" dirty="0"/>
              <a:t>，先找到它之前的元素</a:t>
            </a:r>
            <a:r>
              <a:rPr lang="en-US" altLang="zh-CN" sz="2400" dirty="0"/>
              <a:t>P</a:t>
            </a:r>
            <a:r>
              <a:rPr lang="zh-CN" altLang="zh-CN" sz="2400" dirty="0"/>
              <a:t>，在删除</a:t>
            </a:r>
            <a:r>
              <a:rPr lang="en-US" altLang="zh-CN" sz="2400" dirty="0"/>
              <a:t>t</a:t>
            </a:r>
            <a:r>
              <a:rPr lang="zh-CN" altLang="zh-CN" sz="2400" dirty="0"/>
              <a:t>之前将</a:t>
            </a:r>
            <a:r>
              <a:rPr lang="en-US" altLang="zh-CN" sz="2400" dirty="0"/>
              <a:t>P</a:t>
            </a:r>
            <a:r>
              <a:rPr lang="zh-CN" altLang="zh-CN" sz="2400" dirty="0"/>
              <a:t>的指针指向</a:t>
            </a:r>
            <a:r>
              <a:rPr lang="en-US" altLang="zh-CN" sz="2400" dirty="0"/>
              <a:t>C</a:t>
            </a:r>
            <a:r>
              <a:rPr lang="zh-CN" altLang="zh-CN" sz="2400" dirty="0"/>
              <a:t>，然后再删除</a:t>
            </a:r>
            <a:r>
              <a:rPr lang="en-US" altLang="zh-CN" sz="2400" dirty="0"/>
              <a:t>t</a:t>
            </a:r>
            <a:r>
              <a:rPr lang="zh-CN" altLang="zh-CN" sz="2400" dirty="0"/>
              <a:t>，这样在删除</a:t>
            </a:r>
            <a:r>
              <a:rPr lang="en-US" altLang="zh-CN" sz="2400" dirty="0"/>
              <a:t>t</a:t>
            </a:r>
            <a:r>
              <a:rPr lang="zh-CN" altLang="zh-CN" sz="2400" dirty="0"/>
              <a:t>之前，就已经把</a:t>
            </a:r>
            <a:r>
              <a:rPr lang="en-US" altLang="zh-CN" sz="2400" dirty="0"/>
              <a:t>t</a:t>
            </a:r>
            <a:r>
              <a:rPr lang="zh-CN" altLang="zh-CN" sz="2400" dirty="0"/>
              <a:t>从链表里面剔除出来了。</a:t>
            </a: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3730" y="3451778"/>
            <a:ext cx="3574265" cy="1691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8408" y="41622"/>
            <a:ext cx="900731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Del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</a:t>
            </a:r>
            <a:r>
              <a:rPr lang="en-US" altLang="zh-CN" sz="16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16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16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</a:t>
            </a:r>
            <a:r>
              <a:rPr lang="en-US" altLang="zh-CN" sz="16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删除</a:t>
            </a:r>
            <a:r>
              <a:rPr lang="en-US" altLang="zh-CN" sz="16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i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位置上的结点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6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16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16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16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           </a:t>
            </a:r>
            <a:r>
              <a:rPr lang="en-US" altLang="zh-CN" sz="16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如果是第一个结点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Head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delete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        </a:t>
            </a:r>
            <a:r>
              <a:rPr lang="en-US" altLang="zh-CN" sz="16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删除</a:t>
            </a:r>
            <a:r>
              <a:rPr lang="en-US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Head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结点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else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6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16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              //j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为计数器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16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&amp;&amp;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</a:t>
            </a:r>
            <a:r>
              <a:rPr lang="en-US" altLang="zh-CN" sz="16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找到删除的前一个位置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</a:t>
            </a:r>
            <a:r>
              <a:rPr lang="en-US" altLang="zh-CN" sz="16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16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&amp;&amp;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==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16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{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p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if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1800" kern="100" dirty="0">
                <a:latin typeface="Times New Roman" panose="02020603050405020304"/>
                <a:ea typeface="宋体" panose="02010600030101010101" pitchFamily="2" charset="-122"/>
              </a:rPr>
              <a:t>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delete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t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16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16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释放该结点内存空间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16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16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Head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27818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1.3.8 </a:t>
            </a:r>
            <a:r>
              <a:rPr lang="zh-CN" altLang="zh-CN" b="1" dirty="0"/>
              <a:t>释放链表</a:t>
            </a:r>
          </a:p>
        </p:txBody>
      </p:sp>
      <p:sp>
        <p:nvSpPr>
          <p:cNvPr id="3" name="矩形 2"/>
          <p:cNvSpPr/>
          <p:nvPr/>
        </p:nvSpPr>
        <p:spPr>
          <a:xfrm>
            <a:off x="344733" y="844038"/>
            <a:ext cx="841707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SetNull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Link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释放链表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Link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while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!=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NULL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逐个结点的释放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-&gt;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next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delete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Head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latin typeface="YaHei Consolas Hybrid"/>
                <a:cs typeface="Courier New" panose="02070309020205020404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535"/>
            <a:ext cx="335380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1.4 </a:t>
            </a:r>
            <a:r>
              <a:rPr lang="zh-CN" altLang="zh-CN" b="1" dirty="0"/>
              <a:t>数组与链表的比较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48596" y="983503"/>
          <a:ext cx="691496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存储器名称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存取速度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CPU </a:t>
                      </a:r>
                      <a:r>
                        <a:rPr lang="zh-CN" sz="2000" kern="100" dirty="0">
                          <a:effectLst/>
                        </a:rPr>
                        <a:t>寄存器（</a:t>
                      </a:r>
                      <a:r>
                        <a:rPr lang="en-US" sz="2000" kern="100" dirty="0">
                          <a:effectLst/>
                        </a:rPr>
                        <a:t>CPU Registers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0~1</a:t>
                      </a:r>
                      <a:r>
                        <a:rPr lang="zh-CN" sz="2000" kern="100" dirty="0">
                          <a:effectLst/>
                        </a:rPr>
                        <a:t>个</a:t>
                      </a:r>
                      <a:r>
                        <a:rPr lang="en-US" sz="2000" kern="100" dirty="0">
                          <a:effectLst/>
                        </a:rPr>
                        <a:t>CPU</a:t>
                      </a:r>
                      <a:r>
                        <a:rPr lang="zh-CN" sz="2000" kern="100" dirty="0">
                          <a:effectLst/>
                        </a:rPr>
                        <a:t>时钟周期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CPU L1 </a:t>
                      </a:r>
                      <a:r>
                        <a:rPr lang="zh-CN" sz="2000" kern="100" dirty="0">
                          <a:effectLst/>
                        </a:rPr>
                        <a:t>缓存（</a:t>
                      </a:r>
                      <a:r>
                        <a:rPr lang="en-US" sz="2000" kern="100" dirty="0">
                          <a:effectLst/>
                        </a:rPr>
                        <a:t>L1 CPU caches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r>
                        <a:rPr lang="zh-CN" sz="2000" kern="100">
                          <a:effectLst/>
                        </a:rPr>
                        <a:t>个</a:t>
                      </a:r>
                      <a:r>
                        <a:rPr lang="en-US" sz="2000" kern="100">
                          <a:effectLst/>
                        </a:rPr>
                        <a:t>CPU</a:t>
                      </a:r>
                      <a:r>
                        <a:rPr lang="zh-CN" sz="2000" kern="100">
                          <a:effectLst/>
                        </a:rPr>
                        <a:t>时钟周期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CPU L2 </a:t>
                      </a:r>
                      <a:r>
                        <a:rPr lang="zh-CN" sz="2000" kern="100" dirty="0">
                          <a:effectLst/>
                        </a:rPr>
                        <a:t>缓存（</a:t>
                      </a:r>
                      <a:r>
                        <a:rPr lang="en-US" sz="2000" kern="100" dirty="0">
                          <a:effectLst/>
                        </a:rPr>
                        <a:t>L2 CPU caches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r>
                        <a:rPr lang="zh-CN" sz="2000" kern="100" dirty="0">
                          <a:effectLst/>
                        </a:rPr>
                        <a:t>个</a:t>
                      </a:r>
                      <a:r>
                        <a:rPr lang="en-US" sz="2000" kern="100" dirty="0">
                          <a:effectLst/>
                        </a:rPr>
                        <a:t>CPU</a:t>
                      </a:r>
                      <a:r>
                        <a:rPr lang="zh-CN" sz="2000" kern="100" dirty="0">
                          <a:effectLst/>
                        </a:rPr>
                        <a:t>时钟周期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内存（</a:t>
                      </a:r>
                      <a:r>
                        <a:rPr lang="en-US" sz="2000" kern="100" dirty="0">
                          <a:effectLst/>
                        </a:rPr>
                        <a:t>RAM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100</a:t>
                      </a:r>
                      <a:r>
                        <a:rPr lang="zh-CN" sz="2000" kern="100" dirty="0">
                          <a:effectLst/>
                        </a:rPr>
                        <a:t>个</a:t>
                      </a:r>
                      <a:r>
                        <a:rPr lang="en-US" sz="2000" kern="100" dirty="0">
                          <a:effectLst/>
                        </a:rPr>
                        <a:t>CPU</a:t>
                      </a:r>
                      <a:r>
                        <a:rPr lang="zh-CN" sz="2000" kern="100" dirty="0">
                          <a:effectLst/>
                        </a:rPr>
                        <a:t>时钟周期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硬盘（</a:t>
                      </a:r>
                      <a:r>
                        <a:rPr lang="en-US" sz="2000" kern="100" dirty="0">
                          <a:effectLst/>
                        </a:rPr>
                        <a:t>Disk</a:t>
                      </a:r>
                      <a:r>
                        <a:rPr lang="zh-CN" sz="2000" kern="100" dirty="0">
                          <a:effectLst/>
                        </a:rPr>
                        <a:t>）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大于</a:t>
                      </a:r>
                      <a:r>
                        <a:rPr lang="en-US" sz="2000" kern="100" dirty="0">
                          <a:effectLst/>
                        </a:rPr>
                        <a:t>1 000 000</a:t>
                      </a:r>
                      <a:r>
                        <a:rPr lang="zh-CN" sz="2000" kern="100" dirty="0">
                          <a:effectLst/>
                        </a:rPr>
                        <a:t>个</a:t>
                      </a:r>
                      <a:r>
                        <a:rPr lang="en-US" sz="2000" kern="100" dirty="0">
                          <a:effectLst/>
                        </a:rPr>
                        <a:t>CPU</a:t>
                      </a:r>
                      <a:r>
                        <a:rPr lang="zh-CN" sz="2000" kern="100" dirty="0">
                          <a:effectLst/>
                        </a:rPr>
                        <a:t>时钟周期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21904" y="614576"/>
            <a:ext cx="3005951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279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各存储器的平均存取速度</a:t>
            </a:r>
            <a:endParaRPr kumimoji="0" lang="zh-CN" altLang="zh-CN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279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0256" y="3312144"/>
            <a:ext cx="878106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       </a:t>
            </a:r>
            <a:r>
              <a:rPr lang="zh-CN" altLang="zh-CN" dirty="0"/>
              <a:t>各级别的存储器速度差异非常大，</a:t>
            </a:r>
            <a:r>
              <a:rPr lang="en-US" altLang="zh-CN" dirty="0"/>
              <a:t>CPU</a:t>
            </a:r>
            <a:r>
              <a:rPr lang="zh-CN" altLang="zh-CN" dirty="0"/>
              <a:t>寄存器速度是内存速度的</a:t>
            </a:r>
            <a:r>
              <a:rPr lang="en-US" altLang="zh-CN" dirty="0"/>
              <a:t>100</a:t>
            </a:r>
            <a:r>
              <a:rPr lang="zh-CN" altLang="zh-CN" dirty="0"/>
              <a:t>倍！这就是为什么</a:t>
            </a:r>
            <a:r>
              <a:rPr lang="en-US" altLang="zh-CN" dirty="0"/>
              <a:t>CPU</a:t>
            </a:r>
            <a:r>
              <a:rPr lang="zh-CN" altLang="zh-CN" dirty="0"/>
              <a:t>生产厂家发明了</a:t>
            </a:r>
            <a:r>
              <a:rPr lang="en-US" altLang="zh-CN" dirty="0"/>
              <a:t>CPU</a:t>
            </a:r>
            <a:r>
              <a:rPr lang="zh-CN" altLang="zh-CN" dirty="0"/>
              <a:t>缓存。而这个</a:t>
            </a:r>
            <a:r>
              <a:rPr lang="en-US" altLang="zh-CN" dirty="0"/>
              <a:t>CPU</a:t>
            </a:r>
            <a:r>
              <a:rPr lang="zh-CN" altLang="zh-CN" dirty="0"/>
              <a:t>缓存，就是数组链表和指针链表的关键区别所在。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262" y="679546"/>
            <a:ext cx="881406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CPU</a:t>
            </a:r>
            <a:r>
              <a:rPr lang="zh-CN" altLang="zh-CN" dirty="0"/>
              <a:t>缓存会把一片连续的内存空间读入，因为数组结构是连续的内存地址，所以数组全部或者部分元素被连续存在</a:t>
            </a:r>
            <a:r>
              <a:rPr lang="en-US" altLang="zh-CN" dirty="0"/>
              <a:t>CPU</a:t>
            </a:r>
            <a:r>
              <a:rPr lang="zh-CN" altLang="zh-CN" dirty="0"/>
              <a:t>缓存里面，平均读取每个元素的时间只要</a:t>
            </a:r>
            <a:r>
              <a:rPr lang="en-US" altLang="zh-CN" dirty="0"/>
              <a:t>3</a:t>
            </a:r>
            <a:r>
              <a:rPr lang="zh-CN" altLang="zh-CN" dirty="0"/>
              <a:t>个</a:t>
            </a:r>
            <a:r>
              <a:rPr lang="en-US" altLang="zh-CN" dirty="0"/>
              <a:t>CPU</a:t>
            </a:r>
            <a:r>
              <a:rPr lang="zh-CN" altLang="zh-CN" dirty="0"/>
              <a:t>时钟周期。而链表的结点是分散在堆空间里面的，这时候</a:t>
            </a:r>
            <a:r>
              <a:rPr lang="en-US" altLang="zh-CN" dirty="0"/>
              <a:t>CPU</a:t>
            </a:r>
            <a:r>
              <a:rPr lang="zh-CN" altLang="zh-CN" dirty="0"/>
              <a:t>缓存帮不上忙，只能是去读取内存，平均读取时间需要</a:t>
            </a:r>
            <a:r>
              <a:rPr lang="en-US" altLang="zh-CN" dirty="0"/>
              <a:t>100</a:t>
            </a:r>
            <a:r>
              <a:rPr lang="zh-CN" altLang="zh-CN" dirty="0"/>
              <a:t>个</a:t>
            </a:r>
            <a:r>
              <a:rPr lang="en-US" altLang="zh-CN" dirty="0"/>
              <a:t>CPU</a:t>
            </a:r>
            <a:r>
              <a:rPr lang="zh-CN" altLang="zh-CN" dirty="0"/>
              <a:t>时钟周期。这样算下来，数组访问的速度比链表快</a:t>
            </a:r>
            <a:r>
              <a:rPr lang="en-US" altLang="zh-CN" dirty="0"/>
              <a:t>33</a:t>
            </a:r>
            <a:r>
              <a:rPr lang="zh-CN" altLang="zh-CN" dirty="0"/>
              <a:t>倍！（以上皆为理论数字，具体的数字视</a:t>
            </a:r>
            <a:r>
              <a:rPr lang="en-US" altLang="zh-CN" dirty="0"/>
              <a:t>CPU</a:t>
            </a:r>
            <a:r>
              <a:rPr lang="zh-CN" altLang="zh-CN" dirty="0"/>
              <a:t>型号及环境不同而略有差异）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78295"/>
            <a:ext cx="4572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b="1" dirty="0"/>
              <a:t>课后练习</a:t>
            </a:r>
            <a:r>
              <a:rPr lang="en-US" altLang="zh-CN" b="1" dirty="0"/>
              <a:t> </a:t>
            </a:r>
            <a:endParaRPr lang="zh-CN" altLang="zh-CN" b="1" dirty="0"/>
          </a:p>
        </p:txBody>
      </p:sp>
      <p:sp>
        <p:nvSpPr>
          <p:cNvPr id="3" name="矩形 2"/>
          <p:cNvSpPr/>
          <p:nvPr/>
        </p:nvSpPr>
        <p:spPr>
          <a:xfrm>
            <a:off x="367645" y="570738"/>
            <a:ext cx="85925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试用单链表编写一个学生成绩管理系统，该系统具有添加学生及成绩、显示全部学生记录、按座位号删除学生记录、按座位号修改学生成绩等功能。数据格式大致如表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49939" y="2631245"/>
          <a:ext cx="5772150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学生座位号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学生姓名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语文成绩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英语成绩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数学成绩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6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Mike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86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87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74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15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Rose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70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74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54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17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Bill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95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64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86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21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Peter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64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86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63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23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Jack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78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82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74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34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Helen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92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73</a:t>
                      </a:r>
                      <a:endParaRPr lang="zh-CN" sz="16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83</a:t>
                      </a:r>
                      <a:endParaRPr lang="zh-CN" sz="16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a3bd208c-5a92-4a3a-a40a-a1e0c098dc06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1701</Words>
  <Application>Microsoft Office PowerPoint</Application>
  <PresentationFormat>全屏显示(16:9)</PresentationFormat>
  <Paragraphs>238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YaHei Consolas Hybrid</vt:lpstr>
      <vt:lpstr>等线</vt:lpstr>
      <vt:lpstr>微软雅黑</vt:lpstr>
      <vt:lpstr>Arial</vt:lpstr>
      <vt:lpstr>Calibri</vt:lpstr>
      <vt:lpstr>Calibri Light</vt:lpstr>
      <vt:lpstr>Cambria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立军 袁</cp:lastModifiedBy>
  <cp:revision>180</cp:revision>
  <dcterms:created xsi:type="dcterms:W3CDTF">2019-03-15T02:52:00Z</dcterms:created>
  <dcterms:modified xsi:type="dcterms:W3CDTF">2024-08-29T12:38:42Z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4FE1EDCBEB604DC383E63834D58CF7A7</vt:lpwstr>
  </property>
  <property fmtid="{D5CDD505-2E9C-101B-9397-08002B2CF9AE}" pid="3" name="KSOProductBuildVer">
    <vt:lpwstr>2052-11.1.0.12763</vt:lpwstr>
  </property>
</Properties>
</file>