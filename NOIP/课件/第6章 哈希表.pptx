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11088826" r:id="rId2"/>
    <p:sldId id="11088827" r:id="rId3"/>
    <p:sldId id="11088828" r:id="rId4"/>
    <p:sldId id="11088829" r:id="rId5"/>
    <p:sldId id="11088830" r:id="rId6"/>
    <p:sldId id="11088831" r:id="rId7"/>
    <p:sldId id="11088832" r:id="rId8"/>
    <p:sldId id="11088833" r:id="rId9"/>
    <p:sldId id="11088834" r:id="rId10"/>
    <p:sldId id="11088837" r:id="rId11"/>
    <p:sldId id="11088836" r:id="rId12"/>
    <p:sldId id="11088835" r:id="rId13"/>
    <p:sldId id="11088838" r:id="rId14"/>
    <p:sldId id="11088840" r:id="rId15"/>
    <p:sldId id="11088839" r:id="rId16"/>
    <p:sldId id="11088841" r:id="rId17"/>
    <p:sldId id="11088842" r:id="rId18"/>
    <p:sldId id="11088844" r:id="rId19"/>
    <p:sldId id="11088843" r:id="rId20"/>
    <p:sldId id="11088845" r:id="rId21"/>
    <p:sldId id="11088846" r:id="rId22"/>
    <p:sldId id="11088847" r:id="rId23"/>
    <p:sldId id="11088848" r:id="rId24"/>
  </p:sldIdLst>
  <p:sldSz cx="9144000" cy="5143500" type="screen16x9"/>
  <p:notesSz cx="6858000" cy="9144000"/>
  <p:custDataLst>
    <p:tags r:id="rId26"/>
  </p:custDataLst>
  <p:defaultTextStyle>
    <a:defPPr>
      <a:defRPr lang="en-US"/>
    </a:defPPr>
    <a:lvl1pPr marL="0" algn="l" defTabSz="672465" rtl="0" eaLnBrk="1" latinLnBrk="0" hangingPunct="1">
      <a:defRPr sz="2600" kern="1200">
        <a:solidFill>
          <a:schemeClr val="tx1"/>
        </a:solidFill>
        <a:latin typeface="+mn-lt"/>
        <a:ea typeface="+mn-ea"/>
        <a:cs typeface="+mn-cs"/>
      </a:defRPr>
    </a:lvl1pPr>
    <a:lvl2pPr marL="672465" algn="l" defTabSz="672465" rtl="0" eaLnBrk="1" latinLnBrk="0" hangingPunct="1">
      <a:defRPr sz="2600" kern="1200">
        <a:solidFill>
          <a:schemeClr val="tx1"/>
        </a:solidFill>
        <a:latin typeface="+mn-lt"/>
        <a:ea typeface="+mn-ea"/>
        <a:cs typeface="+mn-cs"/>
      </a:defRPr>
    </a:lvl2pPr>
    <a:lvl3pPr marL="1344295" algn="l" defTabSz="672465" rtl="0" eaLnBrk="1" latinLnBrk="0" hangingPunct="1">
      <a:defRPr sz="2600" kern="1200">
        <a:solidFill>
          <a:schemeClr val="tx1"/>
        </a:solidFill>
        <a:latin typeface="+mn-lt"/>
        <a:ea typeface="+mn-ea"/>
        <a:cs typeface="+mn-cs"/>
      </a:defRPr>
    </a:lvl3pPr>
    <a:lvl4pPr marL="2016760" algn="l" defTabSz="672465" rtl="0" eaLnBrk="1" latinLnBrk="0" hangingPunct="1">
      <a:defRPr sz="2600" kern="1200">
        <a:solidFill>
          <a:schemeClr val="tx1"/>
        </a:solidFill>
        <a:latin typeface="+mn-lt"/>
        <a:ea typeface="+mn-ea"/>
        <a:cs typeface="+mn-cs"/>
      </a:defRPr>
    </a:lvl4pPr>
    <a:lvl5pPr marL="2689225" algn="l" defTabSz="672465" rtl="0" eaLnBrk="1" latinLnBrk="0" hangingPunct="1">
      <a:defRPr sz="2600" kern="1200">
        <a:solidFill>
          <a:schemeClr val="tx1"/>
        </a:solidFill>
        <a:latin typeface="+mn-lt"/>
        <a:ea typeface="+mn-ea"/>
        <a:cs typeface="+mn-cs"/>
      </a:defRPr>
    </a:lvl5pPr>
    <a:lvl6pPr marL="3361055" algn="l" defTabSz="672465" rtl="0" eaLnBrk="1" latinLnBrk="0" hangingPunct="1">
      <a:defRPr sz="2600" kern="1200">
        <a:solidFill>
          <a:schemeClr val="tx1"/>
        </a:solidFill>
        <a:latin typeface="+mn-lt"/>
        <a:ea typeface="+mn-ea"/>
        <a:cs typeface="+mn-cs"/>
      </a:defRPr>
    </a:lvl6pPr>
    <a:lvl7pPr marL="4033520" algn="l" defTabSz="672465" rtl="0" eaLnBrk="1" latinLnBrk="0" hangingPunct="1">
      <a:defRPr sz="2600" kern="1200">
        <a:solidFill>
          <a:schemeClr val="tx1"/>
        </a:solidFill>
        <a:latin typeface="+mn-lt"/>
        <a:ea typeface="+mn-ea"/>
        <a:cs typeface="+mn-cs"/>
      </a:defRPr>
    </a:lvl7pPr>
    <a:lvl8pPr marL="4705985" algn="l" defTabSz="672465" rtl="0" eaLnBrk="1" latinLnBrk="0" hangingPunct="1">
      <a:defRPr sz="2600" kern="1200">
        <a:solidFill>
          <a:schemeClr val="tx1"/>
        </a:solidFill>
        <a:latin typeface="+mn-lt"/>
        <a:ea typeface="+mn-ea"/>
        <a:cs typeface="+mn-cs"/>
      </a:defRPr>
    </a:lvl8pPr>
    <a:lvl9pPr marL="5377815" algn="l" defTabSz="672465" rtl="0" eaLnBrk="1" latinLnBrk="0" hangingPunct="1">
      <a:defRPr sz="2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8ED0"/>
    <a:srgbClr val="075AA4"/>
    <a:srgbClr val="2F4732"/>
    <a:srgbClr val="2B44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76" autoAdjust="0"/>
    <p:restoredTop sz="87435" autoAdjust="0"/>
  </p:normalViewPr>
  <p:slideViewPr>
    <p:cSldViewPr snapToGrid="0" showGuides="1">
      <p:cViewPr varScale="1">
        <p:scale>
          <a:sx n="83" d="100"/>
          <a:sy n="83" d="100"/>
        </p:scale>
        <p:origin x="540" y="90"/>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CBD01-EFF3-401D-9E3D-436DA00BC4F9}" type="datetimeFigureOut">
              <a:rPr lang="zh-CN" altLang="en-US" smtClean="0"/>
              <a:t>2024-08-07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AD115-59BE-4C7A-B849-7A2D4566988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399665" algn="l" defTabSz="685800" rtl="0" eaLnBrk="1" latinLnBrk="0" hangingPunct="1">
      <a:defRPr sz="900" kern="1200">
        <a:solidFill>
          <a:schemeClr val="tx1"/>
        </a:solidFill>
        <a:latin typeface="+mn-lt"/>
        <a:ea typeface="+mn-ea"/>
        <a:cs typeface="+mn-cs"/>
      </a:defRPr>
    </a:lvl8pPr>
    <a:lvl9pPr marL="2742565"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41772"/>
            <a:ext cx="7772400" cy="1790700"/>
          </a:xfrm>
        </p:spPr>
        <p:txBody>
          <a:bodyPr anchor="b"/>
          <a:lstStyle>
            <a:lvl1pPr algn="ctr">
              <a:defRPr sz="44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35915" indent="0" algn="ctr">
              <a:buNone/>
              <a:defRPr sz="1400"/>
            </a:lvl2pPr>
            <a:lvl3pPr marL="672465" indent="0" algn="ctr">
              <a:buNone/>
              <a:defRPr sz="1400"/>
            </a:lvl3pPr>
            <a:lvl4pPr marL="1008380" indent="0" algn="ctr">
              <a:buNone/>
              <a:defRPr sz="1200"/>
            </a:lvl4pPr>
            <a:lvl5pPr marL="1344295" indent="0" algn="ctr">
              <a:buNone/>
              <a:defRPr sz="1200"/>
            </a:lvl5pPr>
            <a:lvl6pPr marL="1680845" indent="0" algn="ctr">
              <a:buNone/>
              <a:defRPr sz="1200"/>
            </a:lvl6pPr>
            <a:lvl7pPr marL="2016760" indent="0" algn="ctr">
              <a:buNone/>
              <a:defRPr sz="1200"/>
            </a:lvl7pPr>
            <a:lvl8pPr marL="2352675" indent="0" algn="ctr">
              <a:buNone/>
              <a:defRPr sz="1200"/>
            </a:lvl8pPr>
            <a:lvl9pPr marL="2689225"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9" y="1282306"/>
            <a:ext cx="7886700" cy="2139553"/>
          </a:xfrm>
        </p:spPr>
        <p:txBody>
          <a:bodyPr anchor="b"/>
          <a:lstStyle>
            <a:lvl1pPr>
              <a:defRPr sz="44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9" y="3442099"/>
            <a:ext cx="7886700" cy="1125140"/>
          </a:xfrm>
        </p:spPr>
        <p:txBody>
          <a:bodyPr/>
          <a:lstStyle>
            <a:lvl1pPr marL="0" indent="0">
              <a:buNone/>
              <a:defRPr sz="1800">
                <a:solidFill>
                  <a:schemeClr val="tx1"/>
                </a:solidFill>
              </a:defRPr>
            </a:lvl1pPr>
            <a:lvl2pPr marL="335915" indent="0">
              <a:buNone/>
              <a:defRPr sz="1400">
                <a:solidFill>
                  <a:schemeClr val="tx1">
                    <a:tint val="75000"/>
                  </a:schemeClr>
                </a:solidFill>
              </a:defRPr>
            </a:lvl2pPr>
            <a:lvl3pPr marL="672465" indent="0">
              <a:buNone/>
              <a:defRPr sz="1400">
                <a:solidFill>
                  <a:schemeClr val="tx1">
                    <a:tint val="75000"/>
                  </a:schemeClr>
                </a:solidFill>
              </a:defRPr>
            </a:lvl3pPr>
            <a:lvl4pPr marL="1008380" indent="0">
              <a:buNone/>
              <a:defRPr sz="1200">
                <a:solidFill>
                  <a:schemeClr val="tx1">
                    <a:tint val="75000"/>
                  </a:schemeClr>
                </a:solidFill>
              </a:defRPr>
            </a:lvl4pPr>
            <a:lvl5pPr marL="1344295" indent="0">
              <a:buNone/>
              <a:defRPr sz="1200">
                <a:solidFill>
                  <a:schemeClr val="tx1">
                    <a:tint val="75000"/>
                  </a:schemeClr>
                </a:solidFill>
              </a:defRPr>
            </a:lvl5pPr>
            <a:lvl6pPr marL="1680845" indent="0">
              <a:buNone/>
              <a:defRPr sz="1200">
                <a:solidFill>
                  <a:schemeClr val="tx1">
                    <a:tint val="75000"/>
                  </a:schemeClr>
                </a:solidFill>
              </a:defRPr>
            </a:lvl6pPr>
            <a:lvl7pPr marL="2016760" indent="0">
              <a:buNone/>
              <a:defRPr sz="1200">
                <a:solidFill>
                  <a:schemeClr val="tx1">
                    <a:tint val="75000"/>
                  </a:schemeClr>
                </a:solidFill>
              </a:defRPr>
            </a:lvl7pPr>
            <a:lvl8pPr marL="2352675" indent="0">
              <a:buNone/>
              <a:defRPr sz="1200">
                <a:solidFill>
                  <a:schemeClr val="tx1">
                    <a:tint val="75000"/>
                  </a:schemeClr>
                </a:solidFill>
              </a:defRPr>
            </a:lvl8pPr>
            <a:lvl9pPr marL="2689225"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3" y="273846"/>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35915" indent="0">
              <a:buNone/>
              <a:defRPr sz="1400" b="1"/>
            </a:lvl2pPr>
            <a:lvl3pPr marL="672465" indent="0">
              <a:buNone/>
              <a:defRPr sz="1400" b="1"/>
            </a:lvl3pPr>
            <a:lvl4pPr marL="1008380" indent="0">
              <a:buNone/>
              <a:defRPr sz="1200" b="1"/>
            </a:lvl4pPr>
            <a:lvl5pPr marL="1344295" indent="0">
              <a:buNone/>
              <a:defRPr sz="1200" b="1"/>
            </a:lvl5pPr>
            <a:lvl6pPr marL="1680845" indent="0">
              <a:buNone/>
              <a:defRPr sz="1200" b="1"/>
            </a:lvl6pPr>
            <a:lvl7pPr marL="2016760" indent="0">
              <a:buNone/>
              <a:defRPr sz="1200" b="1"/>
            </a:lvl7pPr>
            <a:lvl8pPr marL="2352675" indent="0">
              <a:buNone/>
              <a:defRPr sz="1200" b="1"/>
            </a:lvl8pPr>
            <a:lvl9pPr marL="2689225"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1" y="1260872"/>
            <a:ext cx="3887392" cy="617934"/>
          </a:xfrm>
        </p:spPr>
        <p:txBody>
          <a:bodyPr anchor="b"/>
          <a:lstStyle>
            <a:lvl1pPr marL="0" indent="0">
              <a:buNone/>
              <a:defRPr sz="1800" b="1"/>
            </a:lvl1pPr>
            <a:lvl2pPr marL="335915" indent="0">
              <a:buNone/>
              <a:defRPr sz="1400" b="1"/>
            </a:lvl2pPr>
            <a:lvl3pPr marL="672465" indent="0">
              <a:buNone/>
              <a:defRPr sz="1400" b="1"/>
            </a:lvl3pPr>
            <a:lvl4pPr marL="1008380" indent="0">
              <a:buNone/>
              <a:defRPr sz="1200" b="1"/>
            </a:lvl4pPr>
            <a:lvl5pPr marL="1344295" indent="0">
              <a:buNone/>
              <a:defRPr sz="1200" b="1"/>
            </a:lvl5pPr>
            <a:lvl6pPr marL="1680845" indent="0">
              <a:buNone/>
              <a:defRPr sz="1200" b="1"/>
            </a:lvl6pPr>
            <a:lvl7pPr marL="2016760" indent="0">
              <a:buNone/>
              <a:defRPr sz="1200" b="1"/>
            </a:lvl7pPr>
            <a:lvl8pPr marL="2352675" indent="0">
              <a:buNone/>
              <a:defRPr sz="1200" b="1"/>
            </a:lvl8pPr>
            <a:lvl9pPr marL="2689225"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1" y="1878806"/>
            <a:ext cx="3887392"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4"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1"/>
            <a:ext cx="4629150" cy="3655219"/>
          </a:xfrm>
        </p:spPr>
        <p:txBody>
          <a:bodyPr/>
          <a:lstStyle>
            <a:lvl1pPr>
              <a:defRPr sz="2400"/>
            </a:lvl1pPr>
            <a:lvl2pPr>
              <a:defRPr sz="2000"/>
            </a:lvl2pPr>
            <a:lvl3pPr>
              <a:defRPr sz="18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4" y="1543051"/>
            <a:ext cx="2949178" cy="2858691"/>
          </a:xfrm>
        </p:spPr>
        <p:txBody>
          <a:bodyPr/>
          <a:lstStyle>
            <a:lvl1pPr marL="0" indent="0">
              <a:buNone/>
              <a:defRPr sz="1200"/>
            </a:lvl1pPr>
            <a:lvl2pPr marL="335915" indent="0">
              <a:buNone/>
              <a:defRPr sz="1000"/>
            </a:lvl2pPr>
            <a:lvl3pPr marL="672465" indent="0">
              <a:buNone/>
              <a:defRPr sz="900"/>
            </a:lvl3pPr>
            <a:lvl4pPr marL="1008380" indent="0">
              <a:buNone/>
              <a:defRPr sz="800"/>
            </a:lvl4pPr>
            <a:lvl5pPr marL="1344295" indent="0">
              <a:buNone/>
              <a:defRPr sz="800"/>
            </a:lvl5pPr>
            <a:lvl6pPr marL="1680845" indent="0">
              <a:buNone/>
              <a:defRPr sz="800"/>
            </a:lvl6pPr>
            <a:lvl7pPr marL="2016760" indent="0">
              <a:buNone/>
              <a:defRPr sz="800"/>
            </a:lvl7pPr>
            <a:lvl8pPr marL="2352675" indent="0">
              <a:buNone/>
              <a:defRPr sz="800"/>
            </a:lvl8pPr>
            <a:lvl9pPr marL="2689225" indent="0">
              <a:buNone/>
              <a:defRPr sz="8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4"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1"/>
            <a:ext cx="4629150" cy="3655219"/>
          </a:xfrm>
        </p:spPr>
        <p:txBody>
          <a:bodyPr anchor="t"/>
          <a:lstStyle>
            <a:lvl1pPr marL="0" indent="0">
              <a:buNone/>
              <a:defRPr sz="2400"/>
            </a:lvl1pPr>
            <a:lvl2pPr marL="335915" indent="0">
              <a:buNone/>
              <a:defRPr sz="2000"/>
            </a:lvl2pPr>
            <a:lvl3pPr marL="672465" indent="0">
              <a:buNone/>
              <a:defRPr sz="1800"/>
            </a:lvl3pPr>
            <a:lvl4pPr marL="1008380" indent="0">
              <a:buNone/>
              <a:defRPr sz="1400"/>
            </a:lvl4pPr>
            <a:lvl5pPr marL="1344295" indent="0">
              <a:buNone/>
              <a:defRPr sz="1400"/>
            </a:lvl5pPr>
            <a:lvl6pPr marL="1680845" indent="0">
              <a:buNone/>
              <a:defRPr sz="1400"/>
            </a:lvl6pPr>
            <a:lvl7pPr marL="2016760" indent="0">
              <a:buNone/>
              <a:defRPr sz="1400"/>
            </a:lvl7pPr>
            <a:lvl8pPr marL="2352675" indent="0">
              <a:buNone/>
              <a:defRPr sz="1400"/>
            </a:lvl8pPr>
            <a:lvl9pPr marL="2689225" indent="0">
              <a:buNone/>
              <a:defRPr sz="1400"/>
            </a:lvl9pPr>
          </a:lstStyle>
          <a:p>
            <a:r>
              <a:rPr lang="zh-CN" altLang="en-US"/>
              <a:t>单击图标添加图片</a:t>
            </a:r>
            <a:endParaRPr lang="en-US" dirty="0"/>
          </a:p>
        </p:txBody>
      </p:sp>
      <p:sp>
        <p:nvSpPr>
          <p:cNvPr id="4" name="Text Placeholder 3"/>
          <p:cNvSpPr>
            <a:spLocks noGrp="1"/>
          </p:cNvSpPr>
          <p:nvPr>
            <p:ph type="body" sz="half" idx="2"/>
          </p:nvPr>
        </p:nvSpPr>
        <p:spPr>
          <a:xfrm>
            <a:off x="629844" y="1543051"/>
            <a:ext cx="2949178" cy="2858691"/>
          </a:xfrm>
        </p:spPr>
        <p:txBody>
          <a:bodyPr/>
          <a:lstStyle>
            <a:lvl1pPr marL="0" indent="0">
              <a:buNone/>
              <a:defRPr sz="1200"/>
            </a:lvl1pPr>
            <a:lvl2pPr marL="335915" indent="0">
              <a:buNone/>
              <a:defRPr sz="1000"/>
            </a:lvl2pPr>
            <a:lvl3pPr marL="672465" indent="0">
              <a:buNone/>
              <a:defRPr sz="900"/>
            </a:lvl3pPr>
            <a:lvl4pPr marL="1008380" indent="0">
              <a:buNone/>
              <a:defRPr sz="800"/>
            </a:lvl4pPr>
            <a:lvl5pPr marL="1344295" indent="0">
              <a:buNone/>
              <a:defRPr sz="800"/>
            </a:lvl5pPr>
            <a:lvl6pPr marL="1680845" indent="0">
              <a:buNone/>
              <a:defRPr sz="800"/>
            </a:lvl6pPr>
            <a:lvl7pPr marL="2016760" indent="0">
              <a:buNone/>
              <a:defRPr sz="800"/>
            </a:lvl7pPr>
            <a:lvl8pPr marL="2352675" indent="0">
              <a:buNone/>
              <a:defRPr sz="800"/>
            </a:lvl8pPr>
            <a:lvl9pPr marL="2689225" indent="0">
              <a:buNone/>
              <a:defRPr sz="8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6"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1" y="273845"/>
            <a:ext cx="5800726" cy="435887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页-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ส่วนหัวของส่วน">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0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Main">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273846"/>
            <a:ext cx="7886700" cy="994172"/>
          </a:xfrm>
          <a:prstGeom prst="rect">
            <a:avLst/>
          </a:prstGeom>
        </p:spPr>
        <p:txBody>
          <a:bodyPr vert="horz" lIns="134452" tIns="67226" rIns="134452" bIns="67226"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1" y="1369219"/>
            <a:ext cx="7886700" cy="3263504"/>
          </a:xfrm>
          <a:prstGeom prst="rect">
            <a:avLst/>
          </a:prstGeom>
        </p:spPr>
        <p:txBody>
          <a:bodyPr vert="horz" lIns="134452" tIns="67226" rIns="134452" bIns="67226"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134452" tIns="67226" rIns="134452" bIns="67226" rtlCol="0" anchor="ctr"/>
          <a:lstStyle>
            <a:lvl1pPr algn="l">
              <a:defRPr sz="900">
                <a:solidFill>
                  <a:schemeClr val="tx1">
                    <a:tint val="75000"/>
                  </a:schemeClr>
                </a:solidFill>
              </a:defRPr>
            </a:lvl1p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3"/>
          </p:nvPr>
        </p:nvSpPr>
        <p:spPr>
          <a:xfrm>
            <a:off x="3028951" y="4767264"/>
            <a:ext cx="3086100" cy="273844"/>
          </a:xfrm>
          <a:prstGeom prst="rect">
            <a:avLst/>
          </a:prstGeom>
        </p:spPr>
        <p:txBody>
          <a:bodyPr vert="horz" lIns="134452" tIns="67226" rIns="134452" bIns="67226"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134452" tIns="67226" rIns="134452" bIns="67226" rtlCol="0" anchor="ctr"/>
          <a:lstStyle>
            <a:lvl1pPr algn="r">
              <a:defRPr sz="900">
                <a:solidFill>
                  <a:schemeClr val="tx1">
                    <a:tint val="75000"/>
                  </a:schemeClr>
                </a:solidFill>
              </a:defRPr>
            </a:lvl1pPr>
          </a:lstStyle>
          <a:p>
            <a:fld id="{A3537275-CEF5-4616-BE4A-1CDBC8BDCA2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672465"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168275" indent="-168275" algn="l" defTabSz="672465" rtl="0" eaLnBrk="1" latinLnBrk="0" hangingPunct="1">
        <a:lnSpc>
          <a:spcPct val="90000"/>
        </a:lnSpc>
        <a:spcBef>
          <a:spcPts val="735"/>
        </a:spcBef>
        <a:buFont typeface="Arial" panose="020B0604020202020204" pitchFamily="34" charset="0"/>
        <a:buChar char="•"/>
        <a:defRPr sz="2000" kern="1200">
          <a:solidFill>
            <a:schemeClr val="tx1"/>
          </a:solidFill>
          <a:latin typeface="+mn-lt"/>
          <a:ea typeface="+mn-ea"/>
          <a:cs typeface="+mn-cs"/>
        </a:defRPr>
      </a:lvl1pPr>
      <a:lvl2pPr marL="504190" indent="-168275" algn="l" defTabSz="672465" rtl="0" eaLnBrk="1" latinLnBrk="0" hangingPunct="1">
        <a:lnSpc>
          <a:spcPct val="90000"/>
        </a:lnSpc>
        <a:spcBef>
          <a:spcPts val="365"/>
        </a:spcBef>
        <a:buFont typeface="Arial" panose="020B0604020202020204" pitchFamily="34" charset="0"/>
        <a:buChar char="•"/>
        <a:defRPr sz="1800" kern="1200">
          <a:solidFill>
            <a:schemeClr val="tx1"/>
          </a:solidFill>
          <a:latin typeface="+mn-lt"/>
          <a:ea typeface="+mn-ea"/>
          <a:cs typeface="+mn-cs"/>
        </a:defRPr>
      </a:lvl2pPr>
      <a:lvl3pPr marL="84010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3pPr>
      <a:lvl4pPr marL="117665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4pPr>
      <a:lvl5pPr marL="1512570"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5pPr>
      <a:lvl6pPr marL="184848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6pPr>
      <a:lvl7pPr marL="218503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7pPr>
      <a:lvl8pPr marL="2520950"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8pPr>
      <a:lvl9pPr marL="285686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72465" rtl="0" eaLnBrk="1" latinLnBrk="0" hangingPunct="1">
        <a:defRPr sz="1400" kern="1200">
          <a:solidFill>
            <a:schemeClr val="tx1"/>
          </a:solidFill>
          <a:latin typeface="+mn-lt"/>
          <a:ea typeface="+mn-ea"/>
          <a:cs typeface="+mn-cs"/>
        </a:defRPr>
      </a:lvl1pPr>
      <a:lvl2pPr marL="335915" algn="l" defTabSz="672465" rtl="0" eaLnBrk="1" latinLnBrk="0" hangingPunct="1">
        <a:defRPr sz="1400" kern="1200">
          <a:solidFill>
            <a:schemeClr val="tx1"/>
          </a:solidFill>
          <a:latin typeface="+mn-lt"/>
          <a:ea typeface="+mn-ea"/>
          <a:cs typeface="+mn-cs"/>
        </a:defRPr>
      </a:lvl2pPr>
      <a:lvl3pPr marL="672465" algn="l" defTabSz="672465" rtl="0" eaLnBrk="1" latinLnBrk="0" hangingPunct="1">
        <a:defRPr sz="1400" kern="1200">
          <a:solidFill>
            <a:schemeClr val="tx1"/>
          </a:solidFill>
          <a:latin typeface="+mn-lt"/>
          <a:ea typeface="+mn-ea"/>
          <a:cs typeface="+mn-cs"/>
        </a:defRPr>
      </a:lvl3pPr>
      <a:lvl4pPr marL="1008380" algn="l" defTabSz="672465" rtl="0" eaLnBrk="1" latinLnBrk="0" hangingPunct="1">
        <a:defRPr sz="1400" kern="1200">
          <a:solidFill>
            <a:schemeClr val="tx1"/>
          </a:solidFill>
          <a:latin typeface="+mn-lt"/>
          <a:ea typeface="+mn-ea"/>
          <a:cs typeface="+mn-cs"/>
        </a:defRPr>
      </a:lvl4pPr>
      <a:lvl5pPr marL="1344295" algn="l" defTabSz="672465" rtl="0" eaLnBrk="1" latinLnBrk="0" hangingPunct="1">
        <a:defRPr sz="1400" kern="1200">
          <a:solidFill>
            <a:schemeClr val="tx1"/>
          </a:solidFill>
          <a:latin typeface="+mn-lt"/>
          <a:ea typeface="+mn-ea"/>
          <a:cs typeface="+mn-cs"/>
        </a:defRPr>
      </a:lvl5pPr>
      <a:lvl6pPr marL="1680845" algn="l" defTabSz="672465" rtl="0" eaLnBrk="1" latinLnBrk="0" hangingPunct="1">
        <a:defRPr sz="1400" kern="1200">
          <a:solidFill>
            <a:schemeClr val="tx1"/>
          </a:solidFill>
          <a:latin typeface="+mn-lt"/>
          <a:ea typeface="+mn-ea"/>
          <a:cs typeface="+mn-cs"/>
        </a:defRPr>
      </a:lvl6pPr>
      <a:lvl7pPr marL="2016760" algn="l" defTabSz="672465" rtl="0" eaLnBrk="1" latinLnBrk="0" hangingPunct="1">
        <a:defRPr sz="1400" kern="1200">
          <a:solidFill>
            <a:schemeClr val="tx1"/>
          </a:solidFill>
          <a:latin typeface="+mn-lt"/>
          <a:ea typeface="+mn-ea"/>
          <a:cs typeface="+mn-cs"/>
        </a:defRPr>
      </a:lvl7pPr>
      <a:lvl8pPr marL="2352675" algn="l" defTabSz="672465" rtl="0" eaLnBrk="1" latinLnBrk="0" hangingPunct="1">
        <a:defRPr sz="1400" kern="1200">
          <a:solidFill>
            <a:schemeClr val="tx1"/>
          </a:solidFill>
          <a:latin typeface="+mn-lt"/>
          <a:ea typeface="+mn-ea"/>
          <a:cs typeface="+mn-cs"/>
        </a:defRPr>
      </a:lvl8pPr>
      <a:lvl9pPr marL="2689225" algn="l" defTabSz="672465"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9"/>
          <p:cNvSpPr txBox="1"/>
          <p:nvPr/>
        </p:nvSpPr>
        <p:spPr>
          <a:xfrm>
            <a:off x="834888" y="2109253"/>
            <a:ext cx="7255566" cy="1043706"/>
          </a:xfrm>
          <a:prstGeom prst="rect">
            <a:avLst/>
          </a:prstGeom>
          <a:noFill/>
        </p:spPr>
        <p:txBody>
          <a:bodyPr wrap="square" lIns="134452" tIns="67226" rIns="134452" bIns="67226" rtlCol="0">
            <a:spAutoFit/>
            <a:scene3d>
              <a:camera prst="orthographicFront"/>
              <a:lightRig rig="threePt" dir="t"/>
            </a:scene3d>
            <a:sp3d contourW="12700"/>
          </a:bodyPr>
          <a:lstStyle/>
          <a:p>
            <a:pPr algn="ctr" defTabSz="252095">
              <a:defRPr/>
            </a:pPr>
            <a:r>
              <a:rPr lang="zh-CN" altLang="en-US" sz="5900" b="1" dirty="0">
                <a:solidFill>
                  <a:srgbClr val="075AA4"/>
                </a:solidFill>
                <a:latin typeface="微软雅黑" panose="020B0503020204020204" pitchFamily="34" charset="-122"/>
                <a:ea typeface="微软雅黑" panose="020B0503020204020204" pitchFamily="34" charset="-122"/>
                <a:cs typeface="+mn-ea"/>
                <a:sym typeface="Source Han Serif SC" panose="02020400000000000000" pitchFamily="18" charset="-122"/>
              </a:rPr>
              <a:t>哈希表</a:t>
            </a:r>
          </a:p>
        </p:txBody>
      </p:sp>
      <p:sp>
        <p:nvSpPr>
          <p:cNvPr id="6" name="椭圆 5"/>
          <p:cNvSpPr/>
          <p:nvPr/>
        </p:nvSpPr>
        <p:spPr>
          <a:xfrm>
            <a:off x="2957345" y="1313633"/>
            <a:ext cx="3273786" cy="654217"/>
          </a:xfrm>
          <a:prstGeom prst="ellipse">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34452" tIns="67226" rIns="134452" bIns="67226" rtlCol="0" anchor="ctr"/>
          <a:lstStyle/>
          <a:p>
            <a:pPr algn="ctr" defTabSz="252095">
              <a:defRPr/>
            </a:pPr>
            <a:r>
              <a:rPr lang="zh-CN" altLang="en-US" sz="3700" dirty="0">
                <a:solidFill>
                  <a:schemeClr val="bg1"/>
                </a:solidFill>
                <a:latin typeface="Arial" panose="020B0604020202020204" pitchFamily="34" charset="0"/>
                <a:ea typeface="Source Han Serif SC" panose="02020400000000000000" pitchFamily="18" charset="-122"/>
                <a:cs typeface="Arial" panose="020B0604020202020204" pitchFamily="34" charset="0"/>
                <a:sym typeface="Source Han Serif SC" panose="02020400000000000000" pitchFamily="18" charset="-122"/>
              </a:rPr>
              <a:t>第六章</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686680" cy="492443"/>
          </a:xfrm>
          <a:prstGeom prst="rect">
            <a:avLst/>
          </a:prstGeom>
        </p:spPr>
        <p:txBody>
          <a:bodyPr wrap="none">
            <a:spAutoFit/>
          </a:bodyPr>
          <a:lstStyle/>
          <a:p>
            <a:r>
              <a:rPr lang="en-US" altLang="zh-CN" b="1" dirty="0"/>
              <a:t>6.1 </a:t>
            </a:r>
            <a:r>
              <a:rPr lang="zh-CN" altLang="zh-CN" b="1" dirty="0"/>
              <a:t>哈希表</a:t>
            </a:r>
          </a:p>
        </p:txBody>
      </p:sp>
      <p:sp>
        <p:nvSpPr>
          <p:cNvPr id="3" name="矩形 2"/>
          <p:cNvSpPr/>
          <p:nvPr/>
        </p:nvSpPr>
        <p:spPr>
          <a:xfrm>
            <a:off x="0" y="319656"/>
            <a:ext cx="9144000" cy="4893647"/>
          </a:xfrm>
          <a:prstGeom prst="rect">
            <a:avLst/>
          </a:prstGeom>
        </p:spPr>
        <p:txBody>
          <a:bodyPr wrap="square">
            <a:spAutoFit/>
          </a:bodyPr>
          <a:lstStyle/>
          <a:p>
            <a:pPr indent="276225" algn="just">
              <a:spcAft>
                <a:spcPts val="0"/>
              </a:spcAft>
            </a:pPr>
            <a:r>
              <a:rPr lang="zh-CN" altLang="zh-CN" sz="2400" kern="100" dirty="0">
                <a:latin typeface="Times New Roman" panose="02020603050405020304"/>
                <a:ea typeface="宋体" panose="02010600030101010101" pitchFamily="2" charset="-122"/>
              </a:rPr>
              <a:t>在编程实现中，常常面临着两个问题：存储和查找，存储和查找的效率往往决定了整个程序的效率。</a:t>
            </a:r>
            <a:endParaRPr lang="zh-CN" altLang="zh-CN" sz="2000" kern="100" dirty="0">
              <a:latin typeface="Times New Roman" panose="02020603050405020304"/>
              <a:ea typeface="宋体" panose="02010600030101010101" pitchFamily="2" charset="-122"/>
            </a:endParaRPr>
          </a:p>
          <a:p>
            <a:pPr indent="276225" algn="just">
              <a:spcAft>
                <a:spcPts val="0"/>
              </a:spcAft>
            </a:pPr>
            <a:r>
              <a:rPr lang="zh-CN" altLang="zh-CN" sz="2400" kern="100" dirty="0">
                <a:latin typeface="Times New Roman" panose="02020603050405020304"/>
                <a:ea typeface="宋体" panose="02010600030101010101" pitchFamily="2" charset="-122"/>
              </a:rPr>
              <a:t>理想的情况是不经过任何比较，一次就能找到所查的记录，那就必须在记录的存储位置和它的关键字之间建立一个确定的对应关系</a:t>
            </a:r>
            <a:r>
              <a:rPr lang="en-US" altLang="zh-CN" sz="2400" kern="100" dirty="0">
                <a:latin typeface="Times New Roman" panose="02020603050405020304"/>
                <a:ea typeface="宋体" panose="02010600030101010101" pitchFamily="2" charset="-122"/>
              </a:rPr>
              <a:t>H</a:t>
            </a:r>
            <a:r>
              <a:rPr lang="zh-CN" altLang="zh-CN" sz="2400" kern="100" dirty="0">
                <a:latin typeface="Times New Roman" panose="02020603050405020304"/>
                <a:ea typeface="宋体" panose="02010600030101010101" pitchFamily="2" charset="-122"/>
              </a:rPr>
              <a:t>，使每个关键字和一个唯一的存储位置相对应。我们称这个对应关系为哈希（</a:t>
            </a:r>
            <a:r>
              <a:rPr lang="en-US" altLang="zh-CN" sz="2400" kern="100" dirty="0">
                <a:latin typeface="Times New Roman" panose="02020603050405020304"/>
                <a:ea typeface="宋体" panose="02010600030101010101" pitchFamily="2" charset="-122"/>
              </a:rPr>
              <a:t>Hash</a:t>
            </a:r>
            <a:r>
              <a:rPr lang="zh-CN" altLang="zh-CN" sz="2400" kern="100" dirty="0">
                <a:latin typeface="Times New Roman" panose="02020603050405020304"/>
                <a:ea typeface="宋体" panose="02010600030101010101" pitchFamily="2" charset="-122"/>
              </a:rPr>
              <a:t>）函数，按这个思想建立的表为哈希表。例如使用康托展开式来作为对</a:t>
            </a:r>
            <a:r>
              <a:rPr lang="en-US" altLang="zh-CN" sz="2400" i="1" kern="100" dirty="0">
                <a:latin typeface="Times New Roman" panose="02020603050405020304"/>
                <a:ea typeface="宋体" panose="02010600030101010101" pitchFamily="2" charset="-122"/>
              </a:rPr>
              <a:t>n</a:t>
            </a:r>
            <a:r>
              <a:rPr lang="zh-CN" altLang="zh-CN" sz="2400" kern="100" dirty="0">
                <a:latin typeface="Times New Roman" panose="02020603050405020304"/>
                <a:ea typeface="宋体" panose="02010600030101010101" pitchFamily="2" charset="-122"/>
              </a:rPr>
              <a:t>个数的排列进行状态的压缩和存储的哈希函数，这种映射是一对一的关系，不会产生冲突。</a:t>
            </a:r>
            <a:endParaRPr lang="zh-CN" altLang="zh-CN" sz="2000" kern="100" dirty="0">
              <a:latin typeface="Times New Roman" panose="02020603050405020304"/>
              <a:ea typeface="宋体" panose="02010600030101010101" pitchFamily="2" charset="-122"/>
            </a:endParaRPr>
          </a:p>
          <a:p>
            <a:pPr indent="276225" algn="just">
              <a:spcAft>
                <a:spcPts val="0"/>
              </a:spcAft>
            </a:pPr>
            <a:r>
              <a:rPr lang="zh-CN" altLang="zh-CN" sz="2400" kern="100" dirty="0">
                <a:latin typeface="Times New Roman" panose="02020603050405020304"/>
                <a:ea typeface="宋体" panose="02010600030101010101" pitchFamily="2" charset="-122"/>
              </a:rPr>
              <a:t>但在更广泛的范围内，我们很难设计出一个均匀映射的哈希函数</a:t>
            </a:r>
            <a:r>
              <a:rPr lang="en-US" altLang="zh-CN" sz="2400" i="1" kern="100" dirty="0">
                <a:latin typeface="Times New Roman" panose="02020603050405020304"/>
                <a:ea typeface="宋体" panose="02010600030101010101" pitchFamily="2" charset="-122"/>
              </a:rPr>
              <a:t>H</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来保证对于任意不同的</a:t>
            </a:r>
            <a:r>
              <a:rPr lang="en-US" altLang="zh-CN" sz="2400" i="1" kern="100" dirty="0">
                <a:latin typeface="Times New Roman" panose="02020603050405020304"/>
                <a:ea typeface="宋体" panose="02010600030101010101" pitchFamily="2" charset="-122"/>
              </a:rPr>
              <a:t>K</a:t>
            </a:r>
            <a:r>
              <a:rPr lang="en-US" altLang="zh-CN" sz="2400" i="1" kern="100" baseline="-25000" dirty="0">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rPr>
              <a:t>和</a:t>
            </a:r>
            <a:r>
              <a:rPr lang="en-US" altLang="zh-CN" sz="2400" i="1" kern="100" dirty="0" err="1">
                <a:latin typeface="Times New Roman" panose="02020603050405020304"/>
                <a:ea typeface="宋体" panose="02010600030101010101" pitchFamily="2" charset="-122"/>
              </a:rPr>
              <a:t>K</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，有</a:t>
            </a:r>
            <a:r>
              <a:rPr lang="en-US" altLang="zh-CN" sz="2400" i="1" kern="100" dirty="0">
                <a:latin typeface="Times New Roman" panose="02020603050405020304"/>
                <a:ea typeface="宋体" panose="02010600030101010101" pitchFamily="2" charset="-122"/>
              </a:rPr>
              <a:t>H</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K</a:t>
            </a:r>
            <a:r>
              <a:rPr lang="en-US" altLang="zh-CN" sz="2400" i="1" kern="100" baseline="-25000" dirty="0">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H</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K</a:t>
            </a:r>
            <a:r>
              <a:rPr lang="en-US" altLang="zh-CN" sz="2400" i="1" kern="100" baseline="-25000" dirty="0" err="1">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K</a:t>
            </a:r>
            <a:r>
              <a:rPr lang="en-US" altLang="zh-CN" sz="2400" i="1" kern="100" baseline="-25000" dirty="0">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K</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，而</a:t>
            </a:r>
            <a:r>
              <a:rPr lang="en-US" altLang="zh-CN" sz="2400" i="1" kern="100" dirty="0">
                <a:latin typeface="Times New Roman" panose="02020603050405020304"/>
                <a:ea typeface="宋体" panose="02010600030101010101" pitchFamily="2" charset="-122"/>
              </a:rPr>
              <a:t>H</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K</a:t>
            </a:r>
            <a:r>
              <a:rPr lang="en-US" altLang="zh-CN" sz="2400" i="1" kern="100" baseline="-25000" dirty="0" err="1">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H</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K</a:t>
            </a:r>
            <a:r>
              <a:rPr lang="en-US" altLang="zh-CN" sz="2400" i="1" kern="100" baseline="-25000" dirty="0">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的现象称为冲突现象。由于冲突是难免的，所以当发生冲突时，必须要有相应的解决冲突的方法，因此构造合适的哈希函数和建立解决冲突的方法是哈希表查找的两个任务。</a:t>
            </a:r>
            <a:endParaRPr lang="zh-CN" altLang="zh-CN" sz="2000" kern="100" dirty="0">
              <a:effectLst/>
              <a:latin typeface="Times New Roman" panose="02020603050405020304"/>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5212"/>
            <a:ext cx="9144000" cy="3293209"/>
          </a:xfrm>
          <a:prstGeom prst="rect">
            <a:avLst/>
          </a:prstGeom>
        </p:spPr>
        <p:txBody>
          <a:bodyPr wrap="square">
            <a:spAutoFit/>
          </a:bodyPr>
          <a:lstStyle/>
          <a:p>
            <a:r>
              <a:rPr lang="zh-CN" altLang="zh-CN" dirty="0"/>
              <a:t>现以一种简单易实现的哈希表为例，通过模拟数据的插入与查找方法以进一步理解哈希表。假设有</a:t>
            </a:r>
            <a:r>
              <a:rPr lang="en-US" altLang="zh-CN" dirty="0"/>
              <a:t>16</a:t>
            </a:r>
            <a:r>
              <a:rPr lang="zh-CN" altLang="zh-CN" dirty="0"/>
              <a:t>个数要插入哈希表：</a:t>
            </a:r>
            <a:r>
              <a:rPr lang="en-US" altLang="zh-CN" dirty="0"/>
              <a:t>13,7,15,21,58,89,25,87,92,33,74,65,97,14,18,37</a:t>
            </a:r>
            <a:r>
              <a:rPr lang="zh-CN" altLang="zh-CN" dirty="0"/>
              <a:t>。</a:t>
            </a:r>
          </a:p>
          <a:p>
            <a:r>
              <a:rPr lang="zh-CN" altLang="zh-CN" dirty="0"/>
              <a:t>首先定义一个有</a:t>
            </a:r>
            <a:r>
              <a:rPr lang="en-US" altLang="zh-CN" dirty="0"/>
              <a:t>19</a:t>
            </a:r>
            <a:r>
              <a:rPr lang="zh-CN" altLang="zh-CN" dirty="0"/>
              <a:t>个元素的数组，令哈希函数为</a:t>
            </a:r>
            <a:r>
              <a:rPr lang="en-US" altLang="zh-CN" dirty="0"/>
              <a:t>x%19</a:t>
            </a:r>
            <a:r>
              <a:rPr lang="zh-CN" altLang="zh-CN" dirty="0"/>
              <a:t>，则哈希表的形成过程如下：</a:t>
            </a:r>
          </a:p>
          <a:p>
            <a:r>
              <a:rPr lang="zh-CN" altLang="zh-CN" dirty="0"/>
              <a:t>插入</a:t>
            </a:r>
            <a:r>
              <a:rPr lang="en-US" altLang="zh-CN" dirty="0"/>
              <a:t>13,7,15,21,58</a:t>
            </a:r>
            <a:r>
              <a:rPr lang="zh-CN" altLang="zh-CN" dirty="0"/>
              <a:t>的过程非常顺利，但插入</a:t>
            </a:r>
            <a:r>
              <a:rPr lang="en-US" altLang="zh-CN" dirty="0"/>
              <a:t>89</a:t>
            </a:r>
            <a:r>
              <a:rPr lang="zh-CN" altLang="zh-CN" dirty="0"/>
              <a:t>时，由于</a:t>
            </a:r>
            <a:r>
              <a:rPr lang="en-US" altLang="zh-CN" dirty="0"/>
              <a:t>89%19</a:t>
            </a:r>
            <a:r>
              <a:rPr lang="zh-CN" altLang="zh-CN" dirty="0"/>
              <a:t>＝</a:t>
            </a:r>
            <a:r>
              <a:rPr lang="en-US" altLang="zh-CN" dirty="0"/>
              <a:t>13</a:t>
            </a:r>
            <a:r>
              <a:rPr lang="zh-CN" altLang="zh-CN" dirty="0"/>
              <a:t>，而</a:t>
            </a:r>
            <a:r>
              <a:rPr lang="en-US" altLang="zh-CN" dirty="0"/>
              <a:t>13</a:t>
            </a:r>
            <a:r>
              <a:rPr lang="zh-CN" altLang="zh-CN" dirty="0"/>
              <a:t>的位置先前已经插入</a:t>
            </a:r>
            <a:r>
              <a:rPr lang="en-US" altLang="zh-CN" dirty="0"/>
              <a:t>13</a:t>
            </a:r>
            <a:r>
              <a:rPr lang="zh-CN" altLang="zh-CN" dirty="0"/>
              <a:t>这个数了，这就造成了冲突，则将</a:t>
            </a:r>
            <a:r>
              <a:rPr lang="en-US" altLang="zh-CN" dirty="0"/>
              <a:t>89</a:t>
            </a:r>
            <a:r>
              <a:rPr lang="zh-CN" altLang="zh-CN" dirty="0"/>
              <a:t>插入到</a:t>
            </a:r>
            <a:r>
              <a:rPr lang="en-US" altLang="zh-CN" dirty="0"/>
              <a:t>13</a:t>
            </a:r>
            <a:r>
              <a:rPr lang="zh-CN" altLang="zh-CN" dirty="0"/>
              <a:t>后的空位上，如表</a:t>
            </a:r>
            <a:endParaRPr lang="zh-CN"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41935"/>
            <a:ext cx="9050880" cy="7028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63625"/>
            <a:ext cx="9045019" cy="892552"/>
          </a:xfrm>
          <a:prstGeom prst="rect">
            <a:avLst/>
          </a:prstGeom>
        </p:spPr>
        <p:txBody>
          <a:bodyPr wrap="square">
            <a:spAutoFit/>
          </a:bodyPr>
          <a:lstStyle/>
          <a:p>
            <a:r>
              <a:rPr lang="zh-CN" altLang="zh-CN" dirty="0"/>
              <a:t>以后各数的插入过程类似，特别是插入</a:t>
            </a:r>
            <a:r>
              <a:rPr lang="en-US" altLang="zh-CN" dirty="0"/>
              <a:t>37</a:t>
            </a:r>
            <a:r>
              <a:rPr lang="zh-CN" altLang="zh-CN" dirty="0"/>
              <a:t>时，在表尾冲突而插入到了表头</a:t>
            </a:r>
            <a:endParaRPr lang="zh-CN"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265" y="1960171"/>
            <a:ext cx="8957771" cy="7264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5987" y="209741"/>
            <a:ext cx="8946037" cy="891540"/>
          </a:xfrm>
          <a:prstGeom prst="rect">
            <a:avLst/>
          </a:prstGeom>
        </p:spPr>
        <p:txBody>
          <a:bodyPr wrap="square">
            <a:spAutoFit/>
          </a:bodyPr>
          <a:lstStyle/>
          <a:p>
            <a:r>
              <a:rPr lang="zh-CN" altLang="zh-CN" dirty="0"/>
              <a:t>再来模拟哈希表的查找过程，假设待查数列为</a:t>
            </a:r>
            <a:r>
              <a:rPr lang="en-US" altLang="zh-CN" dirty="0"/>
              <a:t>7,24,89,14,93</a:t>
            </a:r>
            <a:r>
              <a:rPr lang="zh-CN" altLang="zh-CN" dirty="0"/>
              <a:t>，则查找过程如下表。</a:t>
            </a:r>
            <a:endParaRPr lang="zh-CN" altLang="en-US" dirty="0"/>
          </a:p>
        </p:txBody>
      </p:sp>
      <p:graphicFrame>
        <p:nvGraphicFramePr>
          <p:cNvPr id="3" name="表格 2"/>
          <p:cNvGraphicFramePr>
            <a:graphicFrameLocks noGrp="1"/>
          </p:cNvGraphicFramePr>
          <p:nvPr/>
        </p:nvGraphicFramePr>
        <p:xfrm>
          <a:off x="2152332" y="2498249"/>
          <a:ext cx="5481003" cy="1280160"/>
        </p:xfrm>
        <a:graphic>
          <a:graphicData uri="http://schemas.openxmlformats.org/drawingml/2006/table">
            <a:tbl>
              <a:tblPr firstRow="1" firstCol="1" bandRow="1">
                <a:tableStyleId>{5C22544A-7EE6-4342-B048-85BDC9FD1C3A}</a:tableStyleId>
              </a:tblPr>
              <a:tblGrid>
                <a:gridCol w="71501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2272348">
                  <a:extLst>
                    <a:ext uri="{9D8B030D-6E8A-4147-A177-3AD203B41FA5}">
                      <a16:colId xmlns:a16="http://schemas.microsoft.com/office/drawing/2014/main" val="20002"/>
                    </a:ext>
                  </a:extLst>
                </a:gridCol>
                <a:gridCol w="915035">
                  <a:extLst>
                    <a:ext uri="{9D8B030D-6E8A-4147-A177-3AD203B41FA5}">
                      <a16:colId xmlns:a16="http://schemas.microsoft.com/office/drawing/2014/main" val="20003"/>
                    </a:ext>
                  </a:extLst>
                </a:gridCol>
                <a:gridCol w="892810">
                  <a:extLst>
                    <a:ext uri="{9D8B030D-6E8A-4147-A177-3AD203B41FA5}">
                      <a16:colId xmlns:a16="http://schemas.microsoft.com/office/drawing/2014/main" val="20004"/>
                    </a:ext>
                  </a:extLst>
                </a:gridCol>
              </a:tblGrid>
              <a:tr h="0">
                <a:tc>
                  <a:txBody>
                    <a:bodyPr/>
                    <a:lstStyle/>
                    <a:p>
                      <a:pPr algn="just">
                        <a:spcAft>
                          <a:spcPts val="0"/>
                        </a:spcAft>
                      </a:pPr>
                      <a:r>
                        <a:rPr lang="zh-CN" sz="1400" kern="100" dirty="0">
                          <a:effectLst/>
                        </a:rPr>
                        <a:t>待查数</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400" kern="100">
                          <a:effectLst/>
                        </a:rPr>
                        <a:t>哈希值</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400" kern="100">
                          <a:effectLst/>
                        </a:rPr>
                        <a:t>查找过程</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400" kern="100">
                          <a:effectLst/>
                        </a:rPr>
                        <a:t>停止位置</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400" kern="100">
                          <a:effectLst/>
                        </a:rPr>
                        <a:t>查找结论</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0"/>
                  </a:ext>
                </a:extLst>
              </a:tr>
              <a:tr h="0">
                <a:tc>
                  <a:txBody>
                    <a:bodyPr/>
                    <a:lstStyle/>
                    <a:p>
                      <a:pPr algn="just">
                        <a:spcAft>
                          <a:spcPts val="0"/>
                        </a:spcAft>
                      </a:pPr>
                      <a:r>
                        <a:rPr lang="en-US" sz="1400" kern="100" dirty="0">
                          <a:effectLst/>
                        </a:rPr>
                        <a:t>7</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dirty="0">
                          <a:effectLst/>
                        </a:rPr>
                        <a:t>7</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a:effectLst/>
                        </a:rPr>
                        <a:t>a[7]</a:t>
                      </a:r>
                      <a:r>
                        <a:rPr lang="zh-CN" sz="1400" kern="100">
                          <a:effectLst/>
                        </a:rPr>
                        <a:t>＝</a:t>
                      </a:r>
                      <a:r>
                        <a:rPr lang="en-US" sz="1400" kern="100">
                          <a:effectLst/>
                        </a:rPr>
                        <a:t>7</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a:effectLst/>
                        </a:rPr>
                        <a:t>a[7]</a:t>
                      </a:r>
                      <a:r>
                        <a:rPr lang="zh-CN" sz="1400" kern="100">
                          <a:effectLst/>
                        </a:rPr>
                        <a:t>＝</a:t>
                      </a:r>
                      <a:r>
                        <a:rPr lang="en-US" sz="1400" kern="100">
                          <a:effectLst/>
                        </a:rPr>
                        <a:t>7</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400" kern="100">
                          <a:effectLst/>
                        </a:rPr>
                        <a:t>成功</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1"/>
                  </a:ext>
                </a:extLst>
              </a:tr>
              <a:tr h="0">
                <a:tc>
                  <a:txBody>
                    <a:bodyPr/>
                    <a:lstStyle/>
                    <a:p>
                      <a:pPr algn="just">
                        <a:spcAft>
                          <a:spcPts val="0"/>
                        </a:spcAft>
                      </a:pPr>
                      <a:r>
                        <a:rPr lang="en-US" sz="1400" kern="100">
                          <a:effectLst/>
                        </a:rPr>
                        <a:t>24</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dirty="0">
                          <a:effectLst/>
                        </a:rPr>
                        <a:t>5</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dirty="0">
                          <a:effectLst/>
                        </a:rPr>
                        <a:t>a[5]</a:t>
                      </a:r>
                      <a:r>
                        <a:rPr lang="zh-CN" sz="1400" kern="100" dirty="0">
                          <a:effectLst/>
                        </a:rPr>
                        <a:t>＝</a:t>
                      </a:r>
                      <a:r>
                        <a:rPr lang="en-US" sz="1400" kern="100" dirty="0">
                          <a:effectLst/>
                        </a:rPr>
                        <a:t>0</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a:effectLst/>
                        </a:rPr>
                        <a:t>a[5]</a:t>
                      </a:r>
                      <a:r>
                        <a:rPr lang="zh-CN" sz="1400" kern="100">
                          <a:effectLst/>
                        </a:rPr>
                        <a:t>＝</a:t>
                      </a:r>
                      <a:r>
                        <a:rPr lang="en-US" sz="1400" kern="100">
                          <a:effectLst/>
                        </a:rPr>
                        <a:t>0</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400" kern="100">
                          <a:effectLst/>
                        </a:rPr>
                        <a:t>失败</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2"/>
                  </a:ext>
                </a:extLst>
              </a:tr>
              <a:tr h="0">
                <a:tc>
                  <a:txBody>
                    <a:bodyPr/>
                    <a:lstStyle/>
                    <a:p>
                      <a:pPr algn="just">
                        <a:spcAft>
                          <a:spcPts val="0"/>
                        </a:spcAft>
                      </a:pPr>
                      <a:r>
                        <a:rPr lang="en-US" sz="1400" kern="100">
                          <a:effectLst/>
                        </a:rPr>
                        <a:t>89</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a:effectLst/>
                        </a:rPr>
                        <a:t>13</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dirty="0">
                          <a:effectLst/>
                        </a:rPr>
                        <a:t>a[13]</a:t>
                      </a:r>
                      <a:r>
                        <a:rPr lang="zh-CN" sz="1400" kern="100" dirty="0">
                          <a:effectLst/>
                        </a:rPr>
                        <a:t>＞</a:t>
                      </a:r>
                      <a:r>
                        <a:rPr lang="en-US" sz="1400" kern="100" dirty="0">
                          <a:effectLst/>
                        </a:rPr>
                        <a:t>0 and a[13]</a:t>
                      </a:r>
                      <a:r>
                        <a:rPr lang="zh-CN" sz="1400" kern="100" dirty="0">
                          <a:effectLst/>
                        </a:rPr>
                        <a:t>≠</a:t>
                      </a:r>
                      <a:r>
                        <a:rPr lang="en-US" sz="1400" kern="100" dirty="0">
                          <a:effectLst/>
                        </a:rPr>
                        <a:t>89</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a:effectLst/>
                        </a:rPr>
                        <a:t>a[14]</a:t>
                      </a:r>
                      <a:r>
                        <a:rPr lang="zh-CN" sz="1400" kern="100">
                          <a:effectLst/>
                        </a:rPr>
                        <a:t>＝</a:t>
                      </a:r>
                      <a:r>
                        <a:rPr lang="en-US" sz="1400" kern="100">
                          <a:effectLst/>
                        </a:rPr>
                        <a:t>89</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400" kern="100">
                          <a:effectLst/>
                        </a:rPr>
                        <a:t>成功</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3"/>
                  </a:ext>
                </a:extLst>
              </a:tr>
              <a:tr h="0">
                <a:tc>
                  <a:txBody>
                    <a:bodyPr/>
                    <a:lstStyle/>
                    <a:p>
                      <a:pPr algn="just">
                        <a:spcAft>
                          <a:spcPts val="0"/>
                        </a:spcAft>
                      </a:pPr>
                      <a:r>
                        <a:rPr lang="en-US" sz="1400" kern="100">
                          <a:effectLst/>
                        </a:rPr>
                        <a:t>14</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a:effectLst/>
                        </a:rPr>
                        <a:t>14</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dirty="0">
                          <a:effectLst/>
                        </a:rPr>
                        <a:t>a[14..17]</a:t>
                      </a:r>
                      <a:r>
                        <a:rPr lang="zh-CN" sz="1400" kern="100" dirty="0">
                          <a:effectLst/>
                        </a:rPr>
                        <a:t>≠</a:t>
                      </a:r>
                      <a:r>
                        <a:rPr lang="en-US" sz="1400" kern="100" dirty="0">
                          <a:effectLst/>
                        </a:rPr>
                        <a:t>0 and a[14..17]</a:t>
                      </a:r>
                      <a:r>
                        <a:rPr lang="zh-CN" sz="1400" kern="100" dirty="0">
                          <a:effectLst/>
                        </a:rPr>
                        <a:t>≠</a:t>
                      </a:r>
                      <a:r>
                        <a:rPr lang="en-US" sz="1400" kern="100" dirty="0">
                          <a:effectLst/>
                        </a:rPr>
                        <a:t>14</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dirty="0">
                          <a:effectLst/>
                        </a:rPr>
                        <a:t>a[18]</a:t>
                      </a:r>
                      <a:r>
                        <a:rPr lang="zh-CN" sz="1400" kern="100" dirty="0">
                          <a:effectLst/>
                        </a:rPr>
                        <a:t>＝</a:t>
                      </a:r>
                      <a:r>
                        <a:rPr lang="en-US" sz="1400" kern="100" dirty="0">
                          <a:effectLst/>
                        </a:rPr>
                        <a:t>14</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400" kern="100" dirty="0">
                          <a:effectLst/>
                        </a:rPr>
                        <a:t>成功</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4"/>
                  </a:ext>
                </a:extLst>
              </a:tr>
              <a:tr h="0">
                <a:tc>
                  <a:txBody>
                    <a:bodyPr/>
                    <a:lstStyle/>
                    <a:p>
                      <a:pPr algn="just">
                        <a:spcAft>
                          <a:spcPts val="0"/>
                        </a:spcAft>
                      </a:pPr>
                      <a:r>
                        <a:rPr lang="en-US" sz="1400" kern="100">
                          <a:effectLst/>
                        </a:rPr>
                        <a:t>93</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a:effectLst/>
                        </a:rPr>
                        <a:t>17</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a:effectLst/>
                        </a:rPr>
                        <a:t>a[17..19]~a[0..4]</a:t>
                      </a:r>
                      <a:r>
                        <a:rPr lang="zh-CN" sz="1400" kern="100">
                          <a:effectLst/>
                        </a:rPr>
                        <a:t>≠</a:t>
                      </a:r>
                      <a:r>
                        <a:rPr lang="en-US" sz="1400" kern="100">
                          <a:effectLst/>
                        </a:rPr>
                        <a:t>0 and </a:t>
                      </a:r>
                      <a:r>
                        <a:rPr lang="zh-CN" sz="1400" kern="100">
                          <a:effectLst/>
                        </a:rPr>
                        <a:t>≠</a:t>
                      </a:r>
                      <a:r>
                        <a:rPr lang="en-US" sz="1400" kern="100">
                          <a:effectLst/>
                        </a:rPr>
                        <a:t>93</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400" kern="100">
                          <a:effectLst/>
                        </a:rPr>
                        <a:t>a[5]</a:t>
                      </a:r>
                      <a:r>
                        <a:rPr lang="zh-CN" sz="1400" kern="100">
                          <a:effectLst/>
                        </a:rPr>
                        <a:t>＝</a:t>
                      </a:r>
                      <a:r>
                        <a:rPr lang="en-US" sz="1400" kern="100">
                          <a:effectLst/>
                        </a:rPr>
                        <a:t>0</a:t>
                      </a:r>
                      <a:endParaRPr lang="zh-CN" sz="12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zh-CN" sz="1400" kern="100" dirty="0">
                          <a:effectLst/>
                        </a:rPr>
                        <a:t>失败</a:t>
                      </a:r>
                      <a:endParaRPr lang="zh-CN" sz="1200" kern="100" dirty="0">
                        <a:effectLst/>
                        <a:latin typeface="Times New Roman" panose="020206030504050203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413" y="124927"/>
            <a:ext cx="8979031" cy="2893100"/>
          </a:xfrm>
          <a:prstGeom prst="rect">
            <a:avLst/>
          </a:prstGeom>
        </p:spPr>
        <p:txBody>
          <a:bodyPr wrap="square">
            <a:spAutoFit/>
          </a:bodyPr>
          <a:lstStyle/>
          <a:p>
            <a:r>
              <a:rPr lang="zh-CN" altLang="zh-CN" dirty="0"/>
              <a:t>由此可得出以下结论：</a:t>
            </a:r>
          </a:p>
          <a:p>
            <a:r>
              <a:rPr lang="zh-CN" altLang="zh-CN" dirty="0"/>
              <a:t>（</a:t>
            </a:r>
            <a:r>
              <a:rPr lang="en-US" altLang="zh-CN" dirty="0"/>
              <a:t>1</a:t>
            </a:r>
            <a:r>
              <a:rPr lang="zh-CN" altLang="zh-CN" dirty="0"/>
              <a:t>）应定义合适长度的哈希表，表越长，冲突的可能性越小，查找速度越快，但浪费的空间越多，表越小，则冲突的次数就会升高，查找时间就会延长，最坏的是哈希表充满了数据，则一个失败的查询可能永远无法完成。</a:t>
            </a:r>
          </a:p>
          <a:p>
            <a:r>
              <a:rPr lang="zh-CN" altLang="zh-CN" dirty="0"/>
              <a:t>（</a:t>
            </a:r>
            <a:r>
              <a:rPr lang="en-US" altLang="zh-CN" dirty="0"/>
              <a:t>2</a:t>
            </a:r>
            <a:r>
              <a:rPr lang="zh-CN" altLang="zh-CN" dirty="0"/>
              <a:t>）应尽可能设计好哈希函数使数据分布比较分散，例如，哈希表的最大下标选择质数等。</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14929"/>
            <a:ext cx="9101579" cy="1291590"/>
          </a:xfrm>
          <a:prstGeom prst="rect">
            <a:avLst/>
          </a:prstGeom>
        </p:spPr>
        <p:txBody>
          <a:bodyPr wrap="square">
            <a:spAutoFit/>
          </a:bodyPr>
          <a:lstStyle/>
          <a:p>
            <a:r>
              <a:rPr lang="zh-CN" altLang="zh-CN" dirty="0"/>
              <a:t>实际应用一般是使用类似于邻接表的方式存储数据，以</a:t>
            </a:r>
            <a:r>
              <a:rPr lang="en-US" altLang="zh-CN" dirty="0"/>
              <a:t>13,7,15,21,58,89,25,87,92,33,74,65,97,14,18,37</a:t>
            </a:r>
            <a:r>
              <a:rPr lang="zh-CN" altLang="zh-CN" dirty="0"/>
              <a:t>共</a:t>
            </a:r>
            <a:r>
              <a:rPr lang="en-US" altLang="zh-CN" dirty="0"/>
              <a:t>16</a:t>
            </a:r>
            <a:r>
              <a:rPr lang="zh-CN" altLang="zh-CN" dirty="0"/>
              <a:t>个数为例，设哈希函数</a:t>
            </a:r>
            <a:r>
              <a:rPr lang="en-US" altLang="zh-CN" i="1" dirty="0"/>
              <a:t>H</a:t>
            </a:r>
            <a:r>
              <a:rPr lang="en-US" altLang="zh-CN" dirty="0"/>
              <a:t>(</a:t>
            </a:r>
            <a:r>
              <a:rPr lang="en-US" altLang="zh-CN" i="1" dirty="0"/>
              <a:t>k</a:t>
            </a:r>
            <a:r>
              <a:rPr lang="en-US" altLang="zh-CN" dirty="0"/>
              <a:t>)</a:t>
            </a:r>
            <a:r>
              <a:rPr lang="zh-CN" altLang="zh-CN" dirty="0"/>
              <a:t>＝</a:t>
            </a:r>
            <a:r>
              <a:rPr lang="en-US" altLang="zh-CN" i="1" dirty="0"/>
              <a:t>k</a:t>
            </a:r>
            <a:r>
              <a:rPr lang="en-US" altLang="zh-CN" dirty="0"/>
              <a:t>%13</a:t>
            </a:r>
            <a:r>
              <a:rPr lang="zh-CN" altLang="zh-CN" dirty="0"/>
              <a:t>，则存储效果如下图。</a:t>
            </a:r>
            <a:endParaRPr lang="zh-CN" altLang="en-US" dirty="0"/>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a:xfrm>
            <a:off x="3012440" y="1387704"/>
            <a:ext cx="2535234" cy="35283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146" y="225293"/>
            <a:ext cx="9111006" cy="4707890"/>
          </a:xfrm>
          <a:prstGeom prst="rect">
            <a:avLst/>
          </a:prstGeom>
        </p:spPr>
        <p:txBody>
          <a:bodyPr wrap="square">
            <a:spAutoFit/>
          </a:bodyPr>
          <a:lstStyle/>
          <a:p>
            <a:r>
              <a:rPr lang="zh-CN" altLang="zh-CN" sz="2000" dirty="0"/>
              <a:t>常用的哈希函数的构建方法有以下几种。</a:t>
            </a:r>
          </a:p>
          <a:p>
            <a:r>
              <a:rPr lang="zh-CN" altLang="zh-CN" sz="2000" dirty="0"/>
              <a:t>（</a:t>
            </a:r>
            <a:r>
              <a:rPr lang="en-US" altLang="zh-CN" sz="2000" dirty="0"/>
              <a:t>1</a:t>
            </a:r>
            <a:r>
              <a:rPr lang="zh-CN" altLang="zh-CN" sz="2000" dirty="0"/>
              <a:t>）数字分析法：从数据结点中提取数字分布比较均匀的若干位作为哈希地址。如对于</a:t>
            </a:r>
            <a:r>
              <a:rPr lang="en-US" altLang="zh-CN" sz="2000" i="1" dirty="0"/>
              <a:t>K</a:t>
            </a:r>
            <a:r>
              <a:rPr lang="en-US" altLang="zh-CN" sz="2000" baseline="-25000" dirty="0"/>
              <a:t>1</a:t>
            </a:r>
            <a:r>
              <a:rPr lang="en-US" altLang="zh-CN" sz="2000" dirty="0"/>
              <a:t>~</a:t>
            </a:r>
            <a:r>
              <a:rPr lang="en-US" altLang="zh-CN" sz="2000" i="1" dirty="0"/>
              <a:t>K</a:t>
            </a:r>
            <a:r>
              <a:rPr lang="en-US" altLang="zh-CN" sz="2000" baseline="-25000" dirty="0"/>
              <a:t>4</a:t>
            </a:r>
            <a:r>
              <a:rPr lang="zh-CN" altLang="zh-CN" sz="2000" dirty="0"/>
              <a:t>的数据序列（</a:t>
            </a:r>
            <a:r>
              <a:rPr lang="en-US" altLang="zh-CN" sz="2000" dirty="0"/>
              <a:t>1100001134,1100001214,1000001316,1000001523</a:t>
            </a:r>
            <a:r>
              <a:rPr lang="zh-CN" altLang="zh-CN" sz="2000" dirty="0"/>
              <a:t>），可以取第</a:t>
            </a:r>
            <a:r>
              <a:rPr lang="en-US" altLang="zh-CN" sz="2000" dirty="0"/>
              <a:t>7</a:t>
            </a:r>
            <a:r>
              <a:rPr lang="zh-CN" altLang="zh-CN" sz="2000" dirty="0"/>
              <a:t>位和第</a:t>
            </a:r>
            <a:r>
              <a:rPr lang="en-US" altLang="zh-CN" sz="2000" dirty="0"/>
              <a:t>8</a:t>
            </a:r>
            <a:r>
              <a:rPr lang="zh-CN" altLang="zh-CN" sz="2000" dirty="0"/>
              <a:t>位作为哈希地址。即</a:t>
            </a:r>
            <a:r>
              <a:rPr lang="en-US" altLang="zh-CN" sz="2000" i="1" dirty="0"/>
              <a:t>H</a:t>
            </a:r>
            <a:r>
              <a:rPr lang="en-US" altLang="zh-CN" sz="2000" dirty="0"/>
              <a:t>(</a:t>
            </a:r>
            <a:r>
              <a:rPr lang="en-US" altLang="zh-CN" sz="2000" i="1" dirty="0"/>
              <a:t>K</a:t>
            </a:r>
            <a:r>
              <a:rPr lang="en-US" altLang="zh-CN" sz="2000" baseline="-25000" dirty="0"/>
              <a:t>1</a:t>
            </a:r>
            <a:r>
              <a:rPr lang="en-US" altLang="zh-CN" sz="2000" dirty="0"/>
              <a:t>)</a:t>
            </a:r>
            <a:r>
              <a:rPr lang="zh-CN" altLang="zh-CN" sz="2000" dirty="0"/>
              <a:t>＝</a:t>
            </a:r>
            <a:r>
              <a:rPr lang="en-US" altLang="zh-CN" sz="2000" dirty="0"/>
              <a:t>11</a:t>
            </a:r>
            <a:r>
              <a:rPr lang="zh-CN" altLang="zh-CN" sz="2000" dirty="0"/>
              <a:t>，</a:t>
            </a:r>
            <a:r>
              <a:rPr lang="en-US" altLang="zh-CN" sz="2000" i="1" dirty="0"/>
              <a:t>H</a:t>
            </a:r>
            <a:r>
              <a:rPr lang="en-US" altLang="zh-CN" sz="2000" dirty="0"/>
              <a:t>(</a:t>
            </a:r>
            <a:r>
              <a:rPr lang="en-US" altLang="zh-CN" sz="2000" i="1" dirty="0"/>
              <a:t>K</a:t>
            </a:r>
            <a:r>
              <a:rPr lang="en-US" altLang="zh-CN" sz="2000" baseline="-25000" dirty="0"/>
              <a:t>2</a:t>
            </a:r>
            <a:r>
              <a:rPr lang="en-US" altLang="zh-CN" sz="2000" dirty="0"/>
              <a:t>)</a:t>
            </a:r>
            <a:r>
              <a:rPr lang="zh-CN" altLang="zh-CN" sz="2000" dirty="0"/>
              <a:t>＝</a:t>
            </a:r>
            <a:r>
              <a:rPr lang="en-US" altLang="zh-CN" sz="2000" dirty="0"/>
              <a:t>12</a:t>
            </a:r>
            <a:r>
              <a:rPr lang="zh-CN" altLang="zh-CN" sz="2000" dirty="0"/>
              <a:t>，</a:t>
            </a:r>
            <a:r>
              <a:rPr lang="en-US" altLang="zh-CN" sz="2000" i="1" dirty="0"/>
              <a:t>H</a:t>
            </a:r>
            <a:r>
              <a:rPr lang="en-US" altLang="zh-CN" sz="2000" dirty="0"/>
              <a:t>(</a:t>
            </a:r>
            <a:r>
              <a:rPr lang="en-US" altLang="zh-CN" sz="2000" i="1" dirty="0"/>
              <a:t>K</a:t>
            </a:r>
            <a:r>
              <a:rPr lang="en-US" altLang="zh-CN" sz="2000" baseline="-25000" dirty="0"/>
              <a:t>3</a:t>
            </a:r>
            <a:r>
              <a:rPr lang="en-US" altLang="zh-CN" sz="2000" dirty="0"/>
              <a:t>)</a:t>
            </a:r>
            <a:r>
              <a:rPr lang="zh-CN" altLang="zh-CN" sz="2000" dirty="0"/>
              <a:t>＝</a:t>
            </a:r>
            <a:r>
              <a:rPr lang="en-US" altLang="zh-CN" sz="2000" dirty="0"/>
              <a:t>13</a:t>
            </a:r>
            <a:r>
              <a:rPr lang="zh-CN" altLang="zh-CN" sz="2000" dirty="0"/>
              <a:t>，</a:t>
            </a:r>
            <a:r>
              <a:rPr lang="en-US" altLang="zh-CN" sz="2000" i="1" dirty="0"/>
              <a:t>H</a:t>
            </a:r>
            <a:r>
              <a:rPr lang="en-US" altLang="zh-CN" sz="2000" dirty="0"/>
              <a:t>(</a:t>
            </a:r>
            <a:r>
              <a:rPr lang="en-US" altLang="zh-CN" sz="2000" i="1" dirty="0"/>
              <a:t>K</a:t>
            </a:r>
            <a:r>
              <a:rPr lang="en-US" altLang="zh-CN" sz="2000" baseline="-25000" dirty="0"/>
              <a:t>4</a:t>
            </a:r>
            <a:r>
              <a:rPr lang="en-US" altLang="zh-CN" sz="2000" dirty="0"/>
              <a:t>)</a:t>
            </a:r>
            <a:r>
              <a:rPr lang="zh-CN" altLang="zh-CN" sz="2000" dirty="0"/>
              <a:t>＝</a:t>
            </a:r>
            <a:r>
              <a:rPr lang="en-US" altLang="zh-CN" sz="2000" dirty="0"/>
              <a:t>15</a:t>
            </a:r>
            <a:r>
              <a:rPr lang="zh-CN" altLang="zh-CN" sz="2000" dirty="0"/>
              <a:t>。</a:t>
            </a:r>
          </a:p>
          <a:p>
            <a:r>
              <a:rPr lang="zh-CN" altLang="zh-CN" sz="2000" dirty="0"/>
              <a:t>（</a:t>
            </a:r>
            <a:r>
              <a:rPr lang="en-US" altLang="zh-CN" sz="2000" dirty="0"/>
              <a:t>2</a:t>
            </a:r>
            <a:r>
              <a:rPr lang="zh-CN" altLang="zh-CN" sz="2000" dirty="0"/>
              <a:t>）除留余数法：用关键字</a:t>
            </a:r>
            <a:r>
              <a:rPr lang="en-US" altLang="zh-CN" sz="2000" i="1" dirty="0"/>
              <a:t>K</a:t>
            </a:r>
            <a:r>
              <a:rPr lang="en-US" altLang="zh-CN" sz="2000" i="1" baseline="-25000" dirty="0"/>
              <a:t>i</a:t>
            </a:r>
            <a:r>
              <a:rPr lang="zh-CN" altLang="zh-CN" sz="2000" dirty="0"/>
              <a:t>除以一个合适的不大于哈希表长度的正整数</a:t>
            </a:r>
            <a:r>
              <a:rPr lang="en-US" altLang="zh-CN" sz="2000" i="1" dirty="0"/>
              <a:t>P</a:t>
            </a:r>
            <a:r>
              <a:rPr lang="zh-CN" altLang="zh-CN" sz="2000" dirty="0"/>
              <a:t>，所得余数作为哈希地址的方法。对应的哈希函数</a:t>
            </a:r>
            <a:r>
              <a:rPr lang="en-US" altLang="zh-CN" sz="2000" dirty="0"/>
              <a:t>H(</a:t>
            </a:r>
            <a:r>
              <a:rPr lang="en-US" altLang="zh-CN" sz="2000" i="1" dirty="0"/>
              <a:t>K</a:t>
            </a:r>
            <a:r>
              <a:rPr lang="en-US" altLang="zh-CN" sz="2000" i="1" baseline="-25000" dirty="0"/>
              <a:t>i</a:t>
            </a:r>
            <a:r>
              <a:rPr lang="en-US" altLang="zh-CN" sz="2000" dirty="0"/>
              <a:t>)</a:t>
            </a:r>
            <a:r>
              <a:rPr lang="zh-CN" altLang="zh-CN" sz="2000" dirty="0"/>
              <a:t>为</a:t>
            </a:r>
            <a:r>
              <a:rPr lang="en-US" altLang="zh-CN" sz="2000" dirty="0"/>
              <a:t>H(</a:t>
            </a:r>
            <a:r>
              <a:rPr lang="en-US" altLang="zh-CN" sz="2000" i="1" dirty="0"/>
              <a:t>K</a:t>
            </a:r>
            <a:r>
              <a:rPr lang="en-US" altLang="zh-CN" sz="2000" i="1" baseline="-25000" dirty="0"/>
              <a:t>i</a:t>
            </a:r>
            <a:r>
              <a:rPr lang="en-US" altLang="zh-CN" sz="2000" dirty="0"/>
              <a:t>)</a:t>
            </a:r>
            <a:r>
              <a:rPr lang="zh-CN" altLang="zh-CN" sz="2000" dirty="0"/>
              <a:t>＝</a:t>
            </a:r>
            <a:r>
              <a:rPr lang="en-US" altLang="zh-CN" sz="2000" i="1" dirty="0" err="1"/>
              <a:t>K</a:t>
            </a:r>
            <a:r>
              <a:rPr lang="en-US" altLang="zh-CN" sz="2000" baseline="-25000" dirty="0" err="1"/>
              <a:t>i</a:t>
            </a:r>
            <a:r>
              <a:rPr lang="en-US" altLang="zh-CN" sz="2000" dirty="0" err="1"/>
              <a:t>%</a:t>
            </a:r>
            <a:r>
              <a:rPr lang="en-US" altLang="zh-CN" sz="2000" i="1" dirty="0" err="1"/>
              <a:t>P</a:t>
            </a:r>
            <a:r>
              <a:rPr lang="zh-CN" altLang="zh-CN" sz="2000" dirty="0"/>
              <a:t>。由此方法产生的哈希函数的好坏由</a:t>
            </a:r>
            <a:r>
              <a:rPr lang="en-US" altLang="zh-CN" sz="2000" i="1" dirty="0"/>
              <a:t>P</a:t>
            </a:r>
            <a:r>
              <a:rPr lang="zh-CN" altLang="zh-CN" sz="2000" dirty="0"/>
              <a:t>决定，当</a:t>
            </a:r>
            <a:r>
              <a:rPr lang="en-US" altLang="zh-CN" sz="2000" i="1" dirty="0"/>
              <a:t>P</a:t>
            </a:r>
            <a:r>
              <a:rPr lang="zh-CN" altLang="zh-CN" sz="2000" dirty="0"/>
              <a:t>取小于哈希表长的最大质数时，产生的哈希函数较好。该方法是一种简单而有效的构造哈希函数的方法。经验上一般选择在元素值域的</a:t>
            </a:r>
            <a:r>
              <a:rPr lang="en-US" altLang="zh-CN" sz="2000" dirty="0"/>
              <a:t>1~2</a:t>
            </a:r>
            <a:r>
              <a:rPr lang="zh-CN" altLang="zh-CN" sz="2000" dirty="0"/>
              <a:t>倍的范围内的素数，例如当值域在</a:t>
            </a:r>
            <a:r>
              <a:rPr lang="en-US" altLang="zh-CN" sz="2000" dirty="0"/>
              <a:t>[0,600]</a:t>
            </a:r>
            <a:r>
              <a:rPr lang="zh-CN" altLang="zh-CN" sz="2000" dirty="0"/>
              <a:t>，那么</a:t>
            </a:r>
            <a:r>
              <a:rPr lang="en-US" altLang="zh-CN" sz="2000" dirty="0"/>
              <a:t>701</a:t>
            </a:r>
            <a:r>
              <a:rPr lang="zh-CN" altLang="zh-CN" sz="2000" dirty="0"/>
              <a:t>即是一个不错的选择。</a:t>
            </a:r>
          </a:p>
          <a:p>
            <a:r>
              <a:rPr lang="zh-CN" altLang="zh-CN" sz="2000" dirty="0"/>
              <a:t>（</a:t>
            </a:r>
            <a:r>
              <a:rPr lang="en-US" altLang="zh-CN" sz="2000" dirty="0"/>
              <a:t>3</a:t>
            </a:r>
            <a:r>
              <a:rPr lang="zh-CN" altLang="zh-CN" sz="2000" dirty="0"/>
              <a:t>）乘积取整法：用关键字</a:t>
            </a:r>
            <a:r>
              <a:rPr lang="en-US" altLang="zh-CN" sz="2000" i="1" dirty="0"/>
              <a:t>K</a:t>
            </a:r>
            <a:r>
              <a:rPr lang="zh-CN" altLang="zh-CN" sz="2000" dirty="0"/>
              <a:t>乘以一个在（</a:t>
            </a:r>
            <a:r>
              <a:rPr lang="en-US" altLang="zh-CN" sz="2000" dirty="0"/>
              <a:t>0~1</a:t>
            </a:r>
            <a:r>
              <a:rPr lang="zh-CN" altLang="zh-CN" sz="2000" dirty="0"/>
              <a:t>）中的实数种子</a:t>
            </a:r>
            <a:r>
              <a:rPr lang="en-US" altLang="zh-CN" sz="2000" i="1" dirty="0"/>
              <a:t>A</a:t>
            </a:r>
            <a:r>
              <a:rPr lang="zh-CN" altLang="zh-CN" sz="2000" dirty="0"/>
              <a:t>（最好是无理数），得到一个</a:t>
            </a:r>
            <a:r>
              <a:rPr lang="en-US" altLang="zh-CN" sz="2000" dirty="0"/>
              <a:t>(0,</a:t>
            </a:r>
            <a:r>
              <a:rPr lang="en-US" altLang="zh-CN" sz="2000" i="1" dirty="0"/>
              <a:t>k</a:t>
            </a:r>
            <a:r>
              <a:rPr lang="en-US" altLang="zh-CN" sz="2000" dirty="0"/>
              <a:t>)</a:t>
            </a:r>
            <a:r>
              <a:rPr lang="zh-CN" altLang="zh-CN" sz="2000" dirty="0"/>
              <a:t>之间的实数；取出其小数部分，乘以表容量</a:t>
            </a:r>
            <a:r>
              <a:rPr lang="en-US" altLang="zh-CN" sz="2000" i="1" dirty="0"/>
              <a:t>M</a:t>
            </a:r>
            <a:r>
              <a:rPr lang="zh-CN" altLang="zh-CN" sz="2000" dirty="0"/>
              <a:t>，再取积的整数部分，即得到在哈希表中的位置。例如表容量</a:t>
            </a:r>
            <a:r>
              <a:rPr lang="en-US" altLang="zh-CN" sz="2000" i="1" dirty="0"/>
              <a:t>M</a:t>
            </a:r>
            <a:r>
              <a:rPr lang="zh-CN" altLang="zh-CN" sz="2000" dirty="0"/>
              <a:t>＝</a:t>
            </a:r>
            <a:r>
              <a:rPr lang="en-US" altLang="zh-CN" sz="2000" dirty="0"/>
              <a:t>12</a:t>
            </a:r>
            <a:r>
              <a:rPr lang="zh-CN" altLang="zh-CN" sz="2000" dirty="0"/>
              <a:t>，种子</a:t>
            </a:r>
            <a:r>
              <a:rPr lang="en-US" altLang="zh-CN" sz="2000" i="1" dirty="0"/>
              <a:t>A</a:t>
            </a:r>
            <a:r>
              <a:rPr lang="zh-CN" altLang="zh-CN" sz="2000" dirty="0"/>
              <a:t>＝</a:t>
            </a:r>
            <a:r>
              <a:rPr lang="en-US" altLang="zh-CN" sz="2000" dirty="0"/>
              <a:t>(</a:t>
            </a:r>
            <a:r>
              <a:rPr lang="en-US" altLang="zh-CN" sz="2000" dirty="0" err="1"/>
              <a:t>sqrt</a:t>
            </a:r>
            <a:r>
              <a:rPr lang="en-US" altLang="zh-CN" sz="2000" dirty="0"/>
              <a:t>(5)</a:t>
            </a:r>
            <a:r>
              <a:rPr lang="zh-CN" altLang="zh-CN" sz="2000" dirty="0"/>
              <a:t>－</a:t>
            </a:r>
            <a:r>
              <a:rPr lang="en-US" altLang="zh-CN" sz="2000" dirty="0"/>
              <a:t>1)/2</a:t>
            </a:r>
            <a:r>
              <a:rPr lang="zh-CN" altLang="zh-CN" sz="2000" dirty="0"/>
              <a:t>时，关键值</a:t>
            </a:r>
            <a:r>
              <a:rPr lang="en-US" altLang="zh-CN" sz="2000" i="1" dirty="0"/>
              <a:t>K</a:t>
            </a:r>
            <a:r>
              <a:rPr lang="zh-CN" altLang="zh-CN" sz="2000" dirty="0"/>
              <a:t>＝</a:t>
            </a:r>
            <a:r>
              <a:rPr lang="en-US" altLang="zh-CN" sz="2000" dirty="0"/>
              <a:t>100</a:t>
            </a:r>
            <a:r>
              <a:rPr lang="zh-CN" altLang="zh-CN" sz="2000" dirty="0"/>
              <a:t>的哈希表位置即</a:t>
            </a:r>
            <a:r>
              <a:rPr lang="en-US" altLang="zh-CN" sz="2000" i="1" dirty="0"/>
              <a:t>H</a:t>
            </a:r>
            <a:r>
              <a:rPr lang="en-US" altLang="zh-CN" sz="2000" dirty="0"/>
              <a:t>(100)</a:t>
            </a:r>
            <a:r>
              <a:rPr lang="zh-CN" altLang="zh-CN" sz="2000" dirty="0"/>
              <a:t>＝</a:t>
            </a:r>
            <a:r>
              <a:rPr lang="en-US" altLang="zh-CN" sz="2000" dirty="0"/>
              <a:t>9</a:t>
            </a:r>
            <a:r>
              <a:rPr lang="zh-CN" altLang="zh-CN" sz="2000" dirty="0"/>
              <a:t>。这类函数主要适用于小数。</a:t>
            </a:r>
            <a:endParaRPr lang="zh-CN"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50600"/>
            <a:ext cx="9144000" cy="3785652"/>
          </a:xfrm>
          <a:prstGeom prst="rect">
            <a:avLst/>
          </a:prstGeom>
        </p:spPr>
        <p:txBody>
          <a:bodyPr wrap="square">
            <a:spAutoFit/>
          </a:bodyPr>
          <a:lstStyle/>
          <a:p>
            <a:r>
              <a:rPr lang="zh-CN" altLang="zh-CN" sz="2000" dirty="0"/>
              <a:t>【题目描述】单词拼写检查（</a:t>
            </a:r>
            <a:r>
              <a:rPr lang="en-US" altLang="zh-CN" sz="2000" dirty="0"/>
              <a:t>word</a:t>
            </a:r>
            <a:r>
              <a:rPr lang="zh-CN" altLang="zh-CN" sz="2000" dirty="0"/>
              <a:t>）</a:t>
            </a:r>
          </a:p>
          <a:p>
            <a:r>
              <a:rPr lang="zh-CN" altLang="zh-CN" sz="2000" dirty="0"/>
              <a:t>宠物机器人可以检查主人输入的单词是否有拼写错误。这是因为宠物机器人内置有一单词库，里面存有常用的单词。待主人输入一个单词后，它就到库中查找是否有这种拼写，以判断正误。</a:t>
            </a:r>
          </a:p>
          <a:p>
            <a:r>
              <a:rPr lang="zh-CN" altLang="zh-CN" sz="2000" dirty="0"/>
              <a:t>现给定一个单词库，库中存入</a:t>
            </a:r>
            <a:r>
              <a:rPr lang="en-US" altLang="zh-CN" sz="2000" dirty="0"/>
              <a:t>10 000</a:t>
            </a:r>
            <a:r>
              <a:rPr lang="zh-CN" altLang="zh-CN" sz="2000" dirty="0"/>
              <a:t>个以下的单词（单词长度为</a:t>
            </a:r>
            <a:r>
              <a:rPr lang="en-US" altLang="zh-CN" sz="2000" dirty="0"/>
              <a:t>3~20</a:t>
            </a:r>
            <a:r>
              <a:rPr lang="zh-CN" altLang="zh-CN" sz="2000" dirty="0"/>
              <a:t>），且单词没有按任何顺序排列，另给定</a:t>
            </a:r>
            <a:r>
              <a:rPr lang="en-US" altLang="zh-CN" sz="2000" dirty="0"/>
              <a:t>10 000</a:t>
            </a:r>
            <a:r>
              <a:rPr lang="zh-CN" altLang="zh-CN" sz="2000" dirty="0"/>
              <a:t>个以下的待查单词，要求编程输出这些待查单词中有多少个词拼写错误。题中单词均由小写字母组成。</a:t>
            </a:r>
          </a:p>
          <a:p>
            <a:r>
              <a:rPr lang="zh-CN" altLang="zh-CN" sz="2000" dirty="0"/>
              <a:t>【输入格式】</a:t>
            </a:r>
          </a:p>
          <a:p>
            <a:r>
              <a:rPr lang="zh-CN" altLang="zh-CN" sz="2000" dirty="0"/>
              <a:t>第一行为一个数字</a:t>
            </a:r>
            <a:r>
              <a:rPr lang="en-US" altLang="zh-CN" sz="2000" i="1" dirty="0"/>
              <a:t>N</a:t>
            </a:r>
            <a:r>
              <a:rPr lang="zh-CN" altLang="zh-CN" sz="2000" dirty="0"/>
              <a:t>，表示单词库里有</a:t>
            </a:r>
            <a:r>
              <a:rPr lang="en-US" altLang="zh-CN" sz="2000" i="1" dirty="0"/>
              <a:t>N</a:t>
            </a:r>
            <a:r>
              <a:rPr lang="zh-CN" altLang="zh-CN" sz="2000" dirty="0"/>
              <a:t>个单词，随后是</a:t>
            </a:r>
            <a:r>
              <a:rPr lang="en-US" altLang="zh-CN" sz="2000" i="1" dirty="0"/>
              <a:t>N</a:t>
            </a:r>
            <a:r>
              <a:rPr lang="zh-CN" altLang="zh-CN" sz="2000" dirty="0"/>
              <a:t>行单词。紧接着一个数</a:t>
            </a:r>
            <a:r>
              <a:rPr lang="en-US" altLang="zh-CN" sz="2000" i="1" dirty="0"/>
              <a:t>M</a:t>
            </a:r>
            <a:r>
              <a:rPr lang="zh-CN" altLang="zh-CN" sz="2000" dirty="0"/>
              <a:t>，表示待查单词数，随后是</a:t>
            </a:r>
            <a:r>
              <a:rPr lang="en-US" altLang="zh-CN" sz="2000" i="1" dirty="0"/>
              <a:t>M</a:t>
            </a:r>
            <a:r>
              <a:rPr lang="zh-CN" altLang="zh-CN" sz="2000" dirty="0"/>
              <a:t>行待查单词。</a:t>
            </a:r>
          </a:p>
          <a:p>
            <a:r>
              <a:rPr lang="zh-CN" altLang="zh-CN" sz="2000" dirty="0"/>
              <a:t>【输出格式】</a:t>
            </a:r>
          </a:p>
          <a:p>
            <a:r>
              <a:rPr lang="zh-CN" altLang="zh-CN" sz="2000" dirty="0"/>
              <a:t>输出拼写错误的单词数。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21612"/>
            <a:ext cx="9144000" cy="4092575"/>
          </a:xfrm>
          <a:prstGeom prst="rect">
            <a:avLst/>
          </a:prstGeom>
        </p:spPr>
        <p:txBody>
          <a:bodyPr wrap="square">
            <a:spAutoFit/>
          </a:bodyPr>
          <a:lstStyle/>
          <a:p>
            <a:pPr algn="just">
              <a:spcAft>
                <a:spcPts val="0"/>
              </a:spcAft>
            </a:pPr>
            <a:r>
              <a:rPr lang="zh-CN" altLang="zh-CN" sz="2000" kern="100" dirty="0">
                <a:latin typeface="Times New Roman" panose="02020603050405020304"/>
                <a:ea typeface="宋体" panose="02010600030101010101" pitchFamily="2" charset="-122"/>
              </a:rPr>
              <a:t>【题目描述】相同的雪花（</a:t>
            </a:r>
            <a:r>
              <a:rPr lang="en-US" altLang="zh-CN" sz="2000" kern="100" dirty="0">
                <a:latin typeface="Times New Roman" panose="02020603050405020304"/>
                <a:ea typeface="宋体" panose="02010600030101010101" pitchFamily="2" charset="-122"/>
              </a:rPr>
              <a:t>snow</a:t>
            </a:r>
            <a:r>
              <a:rPr lang="zh-CN" altLang="zh-CN" sz="2000" kern="100" dirty="0">
                <a:latin typeface="Times New Roman" panose="02020603050405020304"/>
                <a:ea typeface="宋体" panose="02010600030101010101" pitchFamily="2" charset="-122"/>
              </a:rPr>
              <a:t>） </a:t>
            </a:r>
            <a:r>
              <a:rPr lang="en-US" altLang="zh-CN" sz="2000" kern="100" dirty="0">
                <a:latin typeface="Times New Roman" panose="02020603050405020304"/>
                <a:ea typeface="宋体" panose="02010600030101010101" pitchFamily="2" charset="-122"/>
              </a:rPr>
              <a:t>POJ 3349</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en-US" altLang="zh-CN" sz="2000" kern="100" dirty="0">
                <a:latin typeface="宋体" panose="02010600030101010101" pitchFamily="2" charset="-122"/>
                <a:ea typeface="宋体" panose="02010600030101010101" pitchFamily="2" charset="-122"/>
              </a:rPr>
              <a:t> </a:t>
            </a:r>
            <a:r>
              <a:rPr lang="zh-CN" altLang="zh-CN" sz="2000" kern="100" dirty="0">
                <a:latin typeface="Times New Roman" panose="02020603050405020304"/>
                <a:ea typeface="宋体" panose="02010600030101010101" pitchFamily="2" charset="-122"/>
              </a:rPr>
              <a:t>“在真实的世界中，没有两片相同的雪花。”现在你的任务是编写一个程序比较你所处的世界是否有相同的雪花，已知每朵雪花有六瓣，如果两朵雪花彼此对应的花瓣有相同的长度则说明是一样的。</a:t>
            </a:r>
            <a:endParaRPr lang="zh-CN" altLang="zh-CN" sz="1800" kern="100" dirty="0">
              <a:latin typeface="Times New Roman" panose="02020603050405020304"/>
              <a:ea typeface="宋体" panose="02010600030101010101" pitchFamily="2" charset="-122"/>
            </a:endParaRPr>
          </a:p>
          <a:p>
            <a:pPr algn="just">
              <a:spcAft>
                <a:spcPts val="0"/>
              </a:spcAft>
            </a:pPr>
            <a:r>
              <a:rPr lang="zh-CN" altLang="zh-CN" sz="2000" kern="100" dirty="0">
                <a:latin typeface="Times New Roman" panose="02020603050405020304"/>
                <a:ea typeface="宋体" panose="02010600030101010101" pitchFamily="2" charset="-122"/>
              </a:rPr>
              <a:t>【输入格式】</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zh-CN" altLang="zh-CN" sz="2000" kern="100" dirty="0">
                <a:latin typeface="Times New Roman" panose="02020603050405020304"/>
                <a:ea typeface="宋体" panose="02010600030101010101" pitchFamily="2" charset="-122"/>
              </a:rPr>
              <a:t>第一行包括一个整数</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0</a:t>
            </a:r>
            <a:r>
              <a:rPr lang="zh-CN"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100 000</a:t>
            </a:r>
            <a:r>
              <a:rPr lang="zh-CN" altLang="zh-CN" sz="2000" kern="100" dirty="0">
                <a:latin typeface="Times New Roman" panose="02020603050405020304"/>
                <a:ea typeface="宋体" panose="02010600030101010101" pitchFamily="2" charset="-122"/>
              </a:rPr>
              <a:t>）表示雪花的数目。随后</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行描述每一朵雪花。每朵雪花有</a:t>
            </a:r>
            <a:r>
              <a:rPr lang="en-US" altLang="zh-CN" sz="2000" kern="100" dirty="0">
                <a:latin typeface="Times New Roman" panose="02020603050405020304"/>
                <a:ea typeface="宋体" panose="02010600030101010101" pitchFamily="2" charset="-122"/>
              </a:rPr>
              <a:t>6</a:t>
            </a:r>
            <a:r>
              <a:rPr lang="zh-CN" altLang="zh-CN" sz="2000" kern="100" dirty="0">
                <a:latin typeface="Times New Roman" panose="02020603050405020304"/>
                <a:ea typeface="宋体" panose="02010600030101010101" pitchFamily="2" charset="-122"/>
              </a:rPr>
              <a:t>个整数，每个整数范围在</a:t>
            </a:r>
            <a:r>
              <a:rPr lang="en-US" altLang="zh-CN" sz="2000" kern="100" dirty="0">
                <a:latin typeface="Times New Roman" panose="02020603050405020304"/>
                <a:ea typeface="宋体" panose="02010600030101010101" pitchFamily="2" charset="-122"/>
              </a:rPr>
              <a:t>0~10 000 000</a:t>
            </a:r>
            <a:r>
              <a:rPr lang="zh-CN" altLang="zh-CN" sz="2000" kern="100" dirty="0">
                <a:latin typeface="Times New Roman" panose="02020603050405020304"/>
                <a:ea typeface="宋体" panose="02010600030101010101" pitchFamily="2" charset="-122"/>
              </a:rPr>
              <a:t>，表示雪花六个花瓣的长度。</a:t>
            </a:r>
            <a:r>
              <a:rPr lang="en-US" altLang="zh-CN" sz="2000" kern="100" dirty="0">
                <a:latin typeface="Times New Roman" panose="02020603050405020304"/>
                <a:ea typeface="宋体" panose="02010600030101010101" pitchFamily="2" charset="-122"/>
              </a:rPr>
              <a:t>6</a:t>
            </a:r>
            <a:r>
              <a:rPr lang="zh-CN" altLang="zh-CN" sz="2000" kern="100" dirty="0">
                <a:latin typeface="Times New Roman" panose="02020603050405020304"/>
                <a:ea typeface="宋体" panose="02010600030101010101" pitchFamily="2" charset="-122"/>
              </a:rPr>
              <a:t>个整数的先后出现顺序可能是雪花花瓣的顺时针顺序也可能是逆时针顺序，并且可能是从任一个花瓣位置开始的。比如说，对同一个雪花，描述的方法可能是</a:t>
            </a:r>
            <a:r>
              <a:rPr lang="en-US" altLang="zh-CN" sz="2000" kern="100" dirty="0">
                <a:latin typeface="Times New Roman" panose="02020603050405020304"/>
                <a:ea typeface="宋体" panose="02010600030101010101" pitchFamily="2" charset="-122"/>
              </a:rPr>
              <a:t>1 2 3 4 5 6 </a:t>
            </a:r>
            <a:r>
              <a:rPr lang="zh-CN" altLang="zh-CN" sz="2000" kern="100" dirty="0">
                <a:latin typeface="Times New Roman" panose="02020603050405020304"/>
                <a:ea typeface="宋体" panose="02010600030101010101" pitchFamily="2" charset="-122"/>
              </a:rPr>
              <a:t>或者</a:t>
            </a:r>
            <a:r>
              <a:rPr lang="en-US" altLang="zh-CN" sz="2000" kern="100" dirty="0">
                <a:latin typeface="Times New Roman" panose="02020603050405020304"/>
                <a:ea typeface="宋体" panose="02010600030101010101" pitchFamily="2" charset="-122"/>
              </a:rPr>
              <a:t> 4 3 2 1 6 5</a:t>
            </a:r>
            <a:r>
              <a:rPr lang="zh-CN" altLang="zh-CN" sz="2000" kern="100" dirty="0">
                <a:latin typeface="Times New Roman" panose="02020603050405020304"/>
                <a:ea typeface="宋体" panose="02010600030101010101" pitchFamily="2" charset="-122"/>
              </a:rPr>
              <a:t>。</a:t>
            </a:r>
            <a:endParaRPr lang="zh-CN" altLang="zh-CN" sz="1800" kern="100" dirty="0">
              <a:latin typeface="Times New Roman" panose="02020603050405020304"/>
              <a:ea typeface="宋体" panose="02010600030101010101" pitchFamily="2" charset="-122"/>
            </a:endParaRPr>
          </a:p>
          <a:p>
            <a:pPr algn="just">
              <a:spcAft>
                <a:spcPts val="0"/>
              </a:spcAft>
            </a:pPr>
            <a:r>
              <a:rPr lang="zh-CN" altLang="zh-CN" sz="2000" kern="100" dirty="0">
                <a:latin typeface="Times New Roman" panose="02020603050405020304"/>
                <a:ea typeface="宋体" panose="02010600030101010101" pitchFamily="2" charset="-122"/>
              </a:rPr>
              <a:t>【输出格式】</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zh-CN" altLang="zh-CN" sz="2000" kern="100" dirty="0">
                <a:latin typeface="Times New Roman" panose="02020603050405020304"/>
                <a:ea typeface="宋体" panose="02010600030101010101" pitchFamily="2" charset="-122"/>
              </a:rPr>
              <a:t>如果没有相同的雪花，输出“</a:t>
            </a:r>
            <a:r>
              <a:rPr lang="en-US" altLang="zh-CN" sz="2000" kern="100" dirty="0">
                <a:latin typeface="Times New Roman" panose="02020603050405020304"/>
                <a:ea typeface="宋体" panose="02010600030101010101" pitchFamily="2" charset="-122"/>
              </a:rPr>
              <a:t>No two snowflakes are alike.</a:t>
            </a:r>
            <a:r>
              <a:rPr lang="zh-CN" altLang="zh-CN" sz="2000" kern="100" dirty="0">
                <a:latin typeface="Times New Roman" panose="02020603050405020304"/>
                <a:ea typeface="宋体" panose="02010600030101010101" pitchFamily="2" charset="-122"/>
              </a:rPr>
              <a:t>”，否则输出“</a:t>
            </a:r>
            <a:r>
              <a:rPr lang="en-US" altLang="zh-CN" sz="2000" kern="100" dirty="0">
                <a:latin typeface="Times New Roman" panose="02020603050405020304"/>
                <a:ea typeface="宋体" panose="02010600030101010101" pitchFamily="2" charset="-122"/>
              </a:rPr>
              <a:t>Twin snowflakes found.</a:t>
            </a:r>
            <a:r>
              <a:rPr lang="zh-CN" altLang="zh-CN" sz="2000" kern="100" dirty="0">
                <a:latin typeface="Times New Roman" panose="02020603050405020304"/>
                <a:ea typeface="宋体" panose="02010600030101010101" pitchFamily="2" charset="-122"/>
              </a:rPr>
              <a:t>”。</a:t>
            </a:r>
            <a:endParaRPr lang="zh-CN" altLang="zh-CN" sz="1800" kern="100" dirty="0">
              <a:effectLst/>
              <a:latin typeface="Times New Roman" panose="02020603050405020304"/>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292"/>
            <a:ext cx="9035590" cy="5078313"/>
          </a:xfrm>
          <a:prstGeom prst="rect">
            <a:avLst/>
          </a:prstGeom>
        </p:spPr>
        <p:txBody>
          <a:bodyPr wrap="square">
            <a:spAutoFit/>
          </a:bodyPr>
          <a:lstStyle/>
          <a:p>
            <a:r>
              <a:rPr lang="zh-CN" altLang="zh-CN" sz="1800" dirty="0"/>
              <a:t>【题目描述】零和游戏（</a:t>
            </a:r>
            <a:r>
              <a:rPr lang="en-US" altLang="zh-CN" sz="1800" dirty="0"/>
              <a:t>zero</a:t>
            </a:r>
            <a:r>
              <a:rPr lang="zh-CN" altLang="zh-CN" sz="1800" dirty="0"/>
              <a:t>）</a:t>
            </a:r>
            <a:r>
              <a:rPr lang="en-US" altLang="zh-CN" sz="1800" dirty="0"/>
              <a:t>POJ 2785</a:t>
            </a:r>
            <a:endParaRPr lang="zh-CN" altLang="zh-CN" sz="1800" dirty="0"/>
          </a:p>
          <a:p>
            <a:r>
              <a:rPr lang="zh-CN" altLang="zh-CN" sz="1800" dirty="0"/>
              <a:t>有一个</a:t>
            </a:r>
            <a:r>
              <a:rPr lang="en-US" altLang="zh-CN" sz="1800" i="1" dirty="0"/>
              <a:t>N</a:t>
            </a:r>
            <a:r>
              <a:rPr lang="zh-CN" altLang="zh-CN" sz="1800" dirty="0"/>
              <a:t>行</a:t>
            </a:r>
            <a:r>
              <a:rPr lang="en-US" altLang="zh-CN" sz="1800" dirty="0"/>
              <a:t>4</a:t>
            </a:r>
            <a:r>
              <a:rPr lang="zh-CN" altLang="zh-CN" sz="1800" dirty="0"/>
              <a:t>列的数字矩阵中，从四列中分别选取一个数使得总和为</a:t>
            </a:r>
            <a:r>
              <a:rPr lang="en-US" altLang="zh-CN" sz="1800" dirty="0"/>
              <a:t>0</a:t>
            </a:r>
            <a:r>
              <a:rPr lang="zh-CN" altLang="zh-CN" sz="1800" dirty="0"/>
              <a:t>，问一共有多少种取法？</a:t>
            </a:r>
          </a:p>
          <a:p>
            <a:r>
              <a:rPr lang="zh-CN" altLang="zh-CN" sz="1800" dirty="0"/>
              <a:t>【输入格式】</a:t>
            </a:r>
          </a:p>
          <a:p>
            <a:r>
              <a:rPr lang="zh-CN" altLang="zh-CN" sz="1800" dirty="0"/>
              <a:t>第一行为一个数字</a:t>
            </a:r>
            <a:r>
              <a:rPr lang="en-US" altLang="zh-CN" sz="1800" i="1" dirty="0"/>
              <a:t>N</a:t>
            </a:r>
            <a:r>
              <a:rPr lang="zh-CN" altLang="zh-CN" sz="1800" dirty="0"/>
              <a:t>，表示</a:t>
            </a:r>
            <a:r>
              <a:rPr lang="en-US" altLang="zh-CN" sz="1800" i="1" dirty="0"/>
              <a:t>N</a:t>
            </a:r>
            <a:r>
              <a:rPr lang="zh-CN" altLang="zh-CN" sz="1800" dirty="0"/>
              <a:t>行，</a:t>
            </a:r>
            <a:r>
              <a:rPr lang="en-US" altLang="zh-CN" sz="1800" i="1" dirty="0"/>
              <a:t>N</a:t>
            </a:r>
            <a:r>
              <a:rPr lang="zh-CN" altLang="zh-CN" sz="1800" dirty="0"/>
              <a:t>不超过</a:t>
            </a:r>
            <a:r>
              <a:rPr lang="en-US" altLang="zh-CN" sz="1800" dirty="0"/>
              <a:t>4 000</a:t>
            </a:r>
            <a:r>
              <a:rPr lang="zh-CN" altLang="zh-CN" sz="1800" dirty="0"/>
              <a:t>，</a:t>
            </a:r>
            <a:r>
              <a:rPr lang="en-US" altLang="zh-CN" sz="1800" i="1" dirty="0"/>
              <a:t>N</a:t>
            </a:r>
            <a:r>
              <a:rPr lang="zh-CN" altLang="zh-CN" sz="1800" dirty="0"/>
              <a:t>行</a:t>
            </a:r>
            <a:r>
              <a:rPr lang="en-US" altLang="zh-CN" sz="1800" dirty="0"/>
              <a:t>4</a:t>
            </a:r>
            <a:r>
              <a:rPr lang="zh-CN" altLang="zh-CN" sz="1800" dirty="0"/>
              <a:t>列的矩阵中每个数的绝对值不超过</a:t>
            </a:r>
            <a:r>
              <a:rPr lang="en-US" altLang="zh-CN" sz="1800" dirty="0"/>
              <a:t>2</a:t>
            </a:r>
            <a:r>
              <a:rPr lang="en-US" altLang="zh-CN" sz="1800" baseline="30000" dirty="0"/>
              <a:t>28</a:t>
            </a:r>
            <a:r>
              <a:rPr lang="zh-CN" altLang="zh-CN" sz="1800" dirty="0"/>
              <a:t>。</a:t>
            </a:r>
          </a:p>
          <a:p>
            <a:r>
              <a:rPr lang="zh-CN" altLang="zh-CN" sz="1800" dirty="0"/>
              <a:t>【输出格式】</a:t>
            </a:r>
          </a:p>
          <a:p>
            <a:r>
              <a:rPr lang="zh-CN" altLang="zh-CN" sz="1800" dirty="0"/>
              <a:t>输出共有多少种和为零的取法。</a:t>
            </a:r>
          </a:p>
          <a:p>
            <a:r>
              <a:rPr lang="zh-CN" altLang="zh-CN" sz="1800" dirty="0"/>
              <a:t>【输入样例】</a:t>
            </a:r>
          </a:p>
          <a:p>
            <a:r>
              <a:rPr lang="en-US" altLang="zh-CN" sz="1800" dirty="0"/>
              <a:t>6</a:t>
            </a:r>
            <a:endParaRPr lang="zh-CN" altLang="zh-CN" sz="1800" dirty="0"/>
          </a:p>
          <a:p>
            <a:r>
              <a:rPr lang="en-US" altLang="zh-CN" sz="1800" dirty="0"/>
              <a:t>-45 22 42 -16</a:t>
            </a:r>
            <a:endParaRPr lang="zh-CN" altLang="zh-CN" sz="1800" dirty="0"/>
          </a:p>
          <a:p>
            <a:r>
              <a:rPr lang="en-US" altLang="zh-CN" sz="1800" dirty="0"/>
              <a:t>-41 -27 56 30</a:t>
            </a:r>
            <a:endParaRPr lang="zh-CN" altLang="zh-CN" sz="1800" dirty="0"/>
          </a:p>
          <a:p>
            <a:r>
              <a:rPr lang="en-US" altLang="zh-CN" sz="1800" dirty="0"/>
              <a:t>-36 53 -37 77</a:t>
            </a:r>
            <a:endParaRPr lang="zh-CN" altLang="zh-CN" sz="1800" dirty="0"/>
          </a:p>
          <a:p>
            <a:r>
              <a:rPr lang="en-US" altLang="zh-CN" sz="1800" dirty="0"/>
              <a:t>-36 30 -75 -46</a:t>
            </a:r>
            <a:endParaRPr lang="zh-CN" altLang="zh-CN" sz="1800" dirty="0"/>
          </a:p>
          <a:p>
            <a:r>
              <a:rPr lang="en-US" altLang="zh-CN" sz="1800" dirty="0"/>
              <a:t>26 -38 -10 62</a:t>
            </a:r>
            <a:endParaRPr lang="zh-CN" altLang="zh-CN" sz="1800" dirty="0"/>
          </a:p>
          <a:p>
            <a:r>
              <a:rPr lang="en-US" altLang="zh-CN" sz="1800" dirty="0"/>
              <a:t>-32 -54 -6 45</a:t>
            </a:r>
            <a:endParaRPr lang="zh-CN" altLang="zh-CN" sz="1800" dirty="0"/>
          </a:p>
          <a:p>
            <a:r>
              <a:rPr lang="zh-CN" altLang="zh-CN" sz="1800" dirty="0"/>
              <a:t>【输出样例】</a:t>
            </a:r>
          </a:p>
          <a:p>
            <a:r>
              <a:rPr lang="en-US" altLang="zh-CN" sz="1800" dirty="0"/>
              <a:t>5</a:t>
            </a:r>
            <a:endParaRPr lang="zh-CN" altLang="zh-CN"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249"/>
            <a:ext cx="2353529" cy="492443"/>
          </a:xfrm>
          <a:prstGeom prst="rect">
            <a:avLst/>
          </a:prstGeom>
        </p:spPr>
        <p:txBody>
          <a:bodyPr wrap="none">
            <a:spAutoFit/>
          </a:bodyPr>
          <a:lstStyle/>
          <a:p>
            <a:r>
              <a:rPr lang="en-US" altLang="zh-CN" b="1" dirty="0"/>
              <a:t>6.2 </a:t>
            </a:r>
            <a:r>
              <a:rPr lang="zh-CN" altLang="zh-CN" b="1" dirty="0"/>
              <a:t>字符串哈希</a:t>
            </a:r>
          </a:p>
        </p:txBody>
      </p:sp>
      <p:sp>
        <p:nvSpPr>
          <p:cNvPr id="3" name="矩形 2"/>
          <p:cNvSpPr/>
          <p:nvPr/>
        </p:nvSpPr>
        <p:spPr>
          <a:xfrm>
            <a:off x="0" y="693858"/>
            <a:ext cx="9144000" cy="4401205"/>
          </a:xfrm>
          <a:prstGeom prst="rect">
            <a:avLst/>
          </a:prstGeom>
        </p:spPr>
        <p:txBody>
          <a:bodyPr wrap="square">
            <a:spAutoFit/>
          </a:bodyPr>
          <a:lstStyle/>
          <a:p>
            <a:r>
              <a:rPr lang="zh-CN" altLang="zh-CN" sz="2000" dirty="0"/>
              <a:t>考虑将每一个字符串都能够映射到一个整数上，其做法是首先将每个字符映射为一个整数，例如</a:t>
            </a:r>
            <a:r>
              <a:rPr lang="en-US" altLang="zh-CN" sz="2000" dirty="0"/>
              <a:t>a</a:t>
            </a:r>
            <a:r>
              <a:rPr lang="zh-CN" altLang="zh-CN" sz="2000" dirty="0"/>
              <a:t>映射为</a:t>
            </a:r>
            <a:r>
              <a:rPr lang="en-US" altLang="zh-CN" sz="2000" dirty="0"/>
              <a:t>1</a:t>
            </a:r>
            <a:r>
              <a:rPr lang="zh-CN" altLang="zh-CN" sz="2000" dirty="0"/>
              <a:t>（注意不要映射为</a:t>
            </a:r>
            <a:r>
              <a:rPr lang="en-US" altLang="zh-CN" sz="2000" dirty="0"/>
              <a:t>0</a:t>
            </a:r>
            <a:r>
              <a:rPr lang="zh-CN" altLang="zh-CN" sz="2000" dirty="0"/>
              <a:t>），</a:t>
            </a:r>
            <a:r>
              <a:rPr lang="en-US" altLang="zh-CN" sz="2000" dirty="0"/>
              <a:t>b</a:t>
            </a:r>
            <a:r>
              <a:rPr lang="zh-CN" altLang="zh-CN" sz="2000" dirty="0"/>
              <a:t>映射为</a:t>
            </a:r>
            <a:r>
              <a:rPr lang="en-US" altLang="zh-CN" sz="2000" dirty="0"/>
              <a:t>2</a:t>
            </a:r>
            <a:r>
              <a:rPr lang="zh-CN" altLang="zh-CN" sz="2000" dirty="0"/>
              <a:t>，</a:t>
            </a:r>
            <a:r>
              <a:rPr lang="en-US" altLang="zh-CN" sz="2000" dirty="0"/>
              <a:t>c</a:t>
            </a:r>
            <a:r>
              <a:rPr lang="zh-CN" altLang="zh-CN" sz="2000" dirty="0"/>
              <a:t>映射为</a:t>
            </a:r>
            <a:r>
              <a:rPr lang="en-US" altLang="zh-CN" sz="2000" dirty="0"/>
              <a:t>3……</a:t>
            </a:r>
            <a:r>
              <a:rPr lang="zh-CN" altLang="zh-CN" sz="2000" dirty="0"/>
              <a:t>即设</a:t>
            </a:r>
            <a:r>
              <a:rPr lang="en-US" altLang="zh-CN" sz="2000" i="1" dirty="0"/>
              <a:t>C</a:t>
            </a:r>
            <a:r>
              <a:rPr lang="en-US" altLang="zh-CN" sz="2000" dirty="0"/>
              <a:t>(a)</a:t>
            </a:r>
            <a:r>
              <a:rPr lang="zh-CN" altLang="zh-CN" sz="2000" dirty="0"/>
              <a:t>＝</a:t>
            </a:r>
            <a:r>
              <a:rPr lang="en-US" altLang="zh-CN" sz="2000" dirty="0"/>
              <a:t>1</a:t>
            </a:r>
            <a:r>
              <a:rPr lang="zh-CN" altLang="zh-CN" sz="2000" dirty="0"/>
              <a:t>，</a:t>
            </a:r>
            <a:r>
              <a:rPr lang="en-US" altLang="zh-CN" sz="2000" i="1" dirty="0"/>
              <a:t>C</a:t>
            </a:r>
            <a:r>
              <a:rPr lang="en-US" altLang="zh-CN" sz="2000" dirty="0"/>
              <a:t>(b)</a:t>
            </a:r>
            <a:r>
              <a:rPr lang="zh-CN" altLang="zh-CN" sz="2000" dirty="0"/>
              <a:t>＝</a:t>
            </a:r>
            <a:r>
              <a:rPr lang="en-US" altLang="zh-CN" sz="2000" dirty="0"/>
              <a:t>2</a:t>
            </a:r>
            <a:r>
              <a:rPr lang="zh-CN" altLang="zh-CN" sz="2000" dirty="0"/>
              <a:t>，</a:t>
            </a:r>
            <a:r>
              <a:rPr lang="en-US" altLang="zh-CN" sz="2000" i="1" dirty="0"/>
              <a:t>C</a:t>
            </a:r>
            <a:r>
              <a:rPr lang="en-US" altLang="zh-CN" sz="2000" dirty="0"/>
              <a:t>(c)</a:t>
            </a:r>
            <a:r>
              <a:rPr lang="zh-CN" altLang="zh-CN" sz="2000" dirty="0"/>
              <a:t>＝</a:t>
            </a:r>
            <a:r>
              <a:rPr lang="en-US" altLang="zh-CN" sz="2000" dirty="0"/>
              <a:t>3……</a:t>
            </a:r>
            <a:endParaRPr lang="zh-CN" altLang="zh-CN" sz="2000" dirty="0"/>
          </a:p>
          <a:p>
            <a:r>
              <a:rPr lang="zh-CN" altLang="zh-CN" sz="2000" dirty="0"/>
              <a:t>再设计</a:t>
            </a:r>
            <a:r>
              <a:rPr lang="en-US" altLang="zh-CN" sz="2000" dirty="0"/>
              <a:t>hash</a:t>
            </a:r>
            <a:r>
              <a:rPr lang="zh-CN" altLang="zh-CN" sz="2000" dirty="0"/>
              <a:t>函数为：</a:t>
            </a:r>
            <a:r>
              <a:rPr lang="en-US" altLang="zh-CN" sz="2000" i="1" dirty="0"/>
              <a:t>H</a:t>
            </a:r>
            <a:r>
              <a:rPr lang="en-US" altLang="zh-CN" sz="2000" dirty="0"/>
              <a:t>(</a:t>
            </a:r>
            <a:r>
              <a:rPr lang="en-US" altLang="zh-CN" sz="2000" i="1" dirty="0" err="1"/>
              <a:t>i</a:t>
            </a:r>
            <a:r>
              <a:rPr lang="en-US" altLang="zh-CN" sz="2000" dirty="0"/>
              <a:t>)</a:t>
            </a:r>
            <a:r>
              <a:rPr lang="zh-CN" altLang="zh-CN" sz="2000" dirty="0"/>
              <a:t>＝</a:t>
            </a:r>
            <a:r>
              <a:rPr lang="en-US" altLang="zh-CN" sz="2000" dirty="0"/>
              <a:t>(</a:t>
            </a:r>
            <a:r>
              <a:rPr lang="en-US" altLang="zh-CN" sz="2000" i="1" dirty="0"/>
              <a:t>H</a:t>
            </a:r>
            <a:r>
              <a:rPr lang="en-US" altLang="zh-CN" sz="2000" dirty="0"/>
              <a:t>(</a:t>
            </a:r>
            <a:r>
              <a:rPr lang="en-US" altLang="zh-CN" sz="2000" i="1" dirty="0" err="1"/>
              <a:t>i</a:t>
            </a:r>
            <a:r>
              <a:rPr lang="zh-CN" altLang="zh-CN" sz="2000" dirty="0"/>
              <a:t>－</a:t>
            </a:r>
            <a:r>
              <a:rPr lang="en-US" altLang="zh-CN" sz="2000" dirty="0"/>
              <a:t>1)</a:t>
            </a:r>
            <a:r>
              <a:rPr lang="zh-CN" altLang="zh-CN" sz="2000" dirty="0"/>
              <a:t>×</a:t>
            </a:r>
            <a:r>
              <a:rPr lang="en-US" altLang="zh-CN" sz="2000" i="1" dirty="0"/>
              <a:t>p</a:t>
            </a:r>
            <a:r>
              <a:rPr lang="zh-CN" altLang="zh-CN" sz="2000" dirty="0"/>
              <a:t>＋</a:t>
            </a:r>
            <a:r>
              <a:rPr lang="en-US" altLang="zh-CN" sz="2000" i="1" dirty="0"/>
              <a:t>C</a:t>
            </a:r>
            <a:r>
              <a:rPr lang="en-US" altLang="zh-CN" sz="2000" dirty="0"/>
              <a:t>(</a:t>
            </a:r>
            <a:r>
              <a:rPr lang="en-US" altLang="zh-CN" sz="2000" i="1" dirty="0" err="1"/>
              <a:t>i</a:t>
            </a:r>
            <a:r>
              <a:rPr lang="en-US" altLang="zh-CN" sz="2000" dirty="0"/>
              <a:t>))%</a:t>
            </a:r>
            <a:r>
              <a:rPr lang="en-US" altLang="zh-CN" sz="2000" i="1" dirty="0"/>
              <a:t>m</a:t>
            </a:r>
            <a:r>
              <a:rPr lang="zh-CN" altLang="zh-CN" sz="2000" dirty="0"/>
              <a:t>，其中</a:t>
            </a:r>
            <a:r>
              <a:rPr lang="en-US" altLang="zh-CN" sz="2000" i="1" dirty="0"/>
              <a:t>p</a:t>
            </a:r>
            <a:r>
              <a:rPr lang="zh-CN" altLang="zh-CN" sz="2000" dirty="0"/>
              <a:t>和</a:t>
            </a:r>
            <a:r>
              <a:rPr lang="en-US" altLang="zh-CN" sz="2000" i="1" dirty="0"/>
              <a:t>m</a:t>
            </a:r>
            <a:r>
              <a:rPr lang="zh-CN" altLang="zh-CN" sz="2000" dirty="0"/>
              <a:t>两个数互质（</a:t>
            </a:r>
            <a:r>
              <a:rPr lang="en-US" altLang="zh-CN" sz="2000" i="1" dirty="0"/>
              <a:t>p</a:t>
            </a:r>
            <a:r>
              <a:rPr lang="zh-CN" altLang="zh-CN" sz="2000" dirty="0"/>
              <a:t>＜</a:t>
            </a:r>
            <a:r>
              <a:rPr lang="en-US" altLang="zh-CN" sz="2000" i="1" dirty="0"/>
              <a:t>m</a:t>
            </a:r>
            <a:r>
              <a:rPr lang="zh-CN" altLang="zh-CN" sz="2000" dirty="0"/>
              <a:t>）。</a:t>
            </a:r>
          </a:p>
          <a:p>
            <a:r>
              <a:rPr lang="zh-CN" altLang="zh-CN" sz="2000" dirty="0"/>
              <a:t>例如将字符串“</a:t>
            </a:r>
            <a:r>
              <a:rPr lang="en-US" altLang="zh-CN" sz="2000" dirty="0" err="1"/>
              <a:t>abc</a:t>
            </a:r>
            <a:r>
              <a:rPr lang="zh-CN" altLang="zh-CN" sz="2000" dirty="0"/>
              <a:t>”映射为一个整数（下标从</a:t>
            </a:r>
            <a:r>
              <a:rPr lang="en-US" altLang="zh-CN" sz="2000" dirty="0"/>
              <a:t>0</a:t>
            </a:r>
            <a:r>
              <a:rPr lang="zh-CN" altLang="zh-CN" sz="2000" dirty="0"/>
              <a:t>开始），设</a:t>
            </a:r>
            <a:r>
              <a:rPr lang="en-US" altLang="zh-CN" sz="2000" i="1" dirty="0"/>
              <a:t>p</a:t>
            </a:r>
            <a:r>
              <a:rPr lang="zh-CN" altLang="zh-CN" sz="2000" dirty="0"/>
              <a:t>＝</a:t>
            </a:r>
            <a:r>
              <a:rPr lang="en-US" altLang="zh-CN" sz="2000" dirty="0"/>
              <a:t>13</a:t>
            </a:r>
            <a:r>
              <a:rPr lang="zh-CN" altLang="zh-CN" sz="2000" dirty="0"/>
              <a:t>，</a:t>
            </a:r>
            <a:r>
              <a:rPr lang="en-US" altLang="zh-CN" sz="2000" i="1" dirty="0"/>
              <a:t>m</a:t>
            </a:r>
            <a:r>
              <a:rPr lang="zh-CN" altLang="zh-CN" sz="2000" dirty="0"/>
              <a:t>＝</a:t>
            </a:r>
            <a:r>
              <a:rPr lang="en-US" altLang="zh-CN" sz="2000" dirty="0"/>
              <a:t>101</a:t>
            </a:r>
            <a:r>
              <a:rPr lang="zh-CN" altLang="zh-CN" sz="2000" dirty="0"/>
              <a:t>，则有：</a:t>
            </a:r>
          </a:p>
          <a:p>
            <a:r>
              <a:rPr lang="en-US" altLang="zh-CN" sz="2000" i="1" dirty="0"/>
              <a:t>H</a:t>
            </a:r>
            <a:r>
              <a:rPr lang="en-US" altLang="zh-CN" sz="2000" dirty="0"/>
              <a:t>(0)</a:t>
            </a:r>
            <a:r>
              <a:rPr lang="zh-CN" altLang="zh-CN" sz="2000" dirty="0"/>
              <a:t>＝</a:t>
            </a:r>
            <a:r>
              <a:rPr lang="en-US" altLang="zh-CN" sz="2000" dirty="0"/>
              <a:t>1</a:t>
            </a:r>
            <a:r>
              <a:rPr lang="zh-CN" altLang="zh-CN" sz="2000" dirty="0"/>
              <a:t>，表示</a:t>
            </a:r>
            <a:r>
              <a:rPr lang="en-US" altLang="zh-CN" sz="2000" dirty="0"/>
              <a:t>a</a:t>
            </a:r>
            <a:r>
              <a:rPr lang="zh-CN" altLang="zh-CN" sz="2000" dirty="0"/>
              <a:t>映射为</a:t>
            </a:r>
            <a:r>
              <a:rPr lang="en-US" altLang="zh-CN" sz="2000" dirty="0"/>
              <a:t>1;</a:t>
            </a:r>
            <a:endParaRPr lang="zh-CN" altLang="zh-CN" sz="2000" dirty="0"/>
          </a:p>
          <a:p>
            <a:r>
              <a:rPr lang="en-US" altLang="zh-CN" sz="2000" i="1" dirty="0"/>
              <a:t>H</a:t>
            </a:r>
            <a:r>
              <a:rPr lang="en-US" altLang="zh-CN" sz="2000" dirty="0"/>
              <a:t>(1)</a:t>
            </a:r>
            <a:r>
              <a:rPr lang="zh-CN" altLang="zh-CN" sz="2000" dirty="0"/>
              <a:t>＝</a:t>
            </a:r>
            <a:r>
              <a:rPr lang="en-US" altLang="zh-CN" sz="2000" dirty="0"/>
              <a:t>(</a:t>
            </a:r>
            <a:r>
              <a:rPr lang="en-US" altLang="zh-CN" sz="2000" i="1" dirty="0"/>
              <a:t>H</a:t>
            </a:r>
            <a:r>
              <a:rPr lang="en-US" altLang="zh-CN" sz="2000" dirty="0"/>
              <a:t>(0)</a:t>
            </a:r>
            <a:r>
              <a:rPr lang="zh-CN" altLang="zh-CN" sz="2000" dirty="0"/>
              <a:t>×</a:t>
            </a:r>
            <a:r>
              <a:rPr lang="en-US" altLang="zh-CN" sz="2000" i="1" dirty="0"/>
              <a:t>p</a:t>
            </a:r>
            <a:r>
              <a:rPr lang="zh-CN" altLang="zh-CN" sz="2000" dirty="0"/>
              <a:t>＋</a:t>
            </a:r>
            <a:r>
              <a:rPr lang="en-US" altLang="zh-CN" sz="2000" i="1" dirty="0"/>
              <a:t>C</a:t>
            </a:r>
            <a:r>
              <a:rPr lang="en-US" altLang="zh-CN" sz="2000" dirty="0"/>
              <a:t>(b))%</a:t>
            </a:r>
            <a:r>
              <a:rPr lang="en-US" altLang="zh-CN" sz="2000" i="1" dirty="0"/>
              <a:t>m</a:t>
            </a:r>
            <a:r>
              <a:rPr lang="zh-CN" altLang="zh-CN" sz="2000" dirty="0"/>
              <a:t>＝</a:t>
            </a:r>
            <a:r>
              <a:rPr lang="en-US" altLang="zh-CN" sz="2000" dirty="0"/>
              <a:t>(1</a:t>
            </a:r>
            <a:r>
              <a:rPr lang="zh-CN" altLang="zh-CN" sz="2000" dirty="0"/>
              <a:t>×</a:t>
            </a:r>
            <a:r>
              <a:rPr lang="en-US" altLang="zh-CN" sz="2000" dirty="0"/>
              <a:t>13</a:t>
            </a:r>
            <a:r>
              <a:rPr lang="zh-CN" altLang="zh-CN" sz="2000" dirty="0"/>
              <a:t>＋</a:t>
            </a:r>
            <a:r>
              <a:rPr lang="en-US" altLang="zh-CN" sz="2000" dirty="0"/>
              <a:t>2)%101</a:t>
            </a:r>
            <a:r>
              <a:rPr lang="zh-CN" altLang="zh-CN" sz="2000" dirty="0"/>
              <a:t>＝</a:t>
            </a:r>
            <a:r>
              <a:rPr lang="en-US" altLang="zh-CN" sz="2000" dirty="0"/>
              <a:t>15</a:t>
            </a:r>
            <a:r>
              <a:rPr lang="zh-CN" altLang="zh-CN" sz="2000" dirty="0"/>
              <a:t>，表示</a:t>
            </a:r>
            <a:r>
              <a:rPr lang="en-US" altLang="zh-CN" sz="2000" dirty="0"/>
              <a:t>ab</a:t>
            </a:r>
            <a:r>
              <a:rPr lang="zh-CN" altLang="zh-CN" sz="2000" dirty="0"/>
              <a:t>映射为</a:t>
            </a:r>
            <a:r>
              <a:rPr lang="en-US" altLang="zh-CN" sz="2000" dirty="0"/>
              <a:t>15</a:t>
            </a:r>
            <a:r>
              <a:rPr lang="zh-CN" altLang="zh-CN" sz="2000" dirty="0"/>
              <a:t>；</a:t>
            </a:r>
          </a:p>
          <a:p>
            <a:r>
              <a:rPr lang="en-US" altLang="zh-CN" sz="2000" dirty="0"/>
              <a:t>    </a:t>
            </a:r>
            <a:r>
              <a:rPr lang="en-US" altLang="zh-CN" sz="2000" i="1" dirty="0"/>
              <a:t>H</a:t>
            </a:r>
            <a:r>
              <a:rPr lang="en-US" altLang="zh-CN" sz="2000" dirty="0"/>
              <a:t>(2)</a:t>
            </a:r>
            <a:r>
              <a:rPr lang="zh-CN" altLang="zh-CN" sz="2000" dirty="0"/>
              <a:t>＝</a:t>
            </a:r>
            <a:r>
              <a:rPr lang="en-US" altLang="zh-CN" sz="2000" dirty="0"/>
              <a:t>(</a:t>
            </a:r>
            <a:r>
              <a:rPr lang="en-US" altLang="zh-CN" sz="2000" i="1" dirty="0"/>
              <a:t>H</a:t>
            </a:r>
            <a:r>
              <a:rPr lang="en-US" altLang="zh-CN" sz="2000" dirty="0"/>
              <a:t>(1)</a:t>
            </a:r>
            <a:r>
              <a:rPr lang="zh-CN" altLang="zh-CN" sz="2000" dirty="0"/>
              <a:t>×</a:t>
            </a:r>
            <a:r>
              <a:rPr lang="en-US" altLang="zh-CN" sz="2000" i="1" dirty="0"/>
              <a:t>p</a:t>
            </a:r>
            <a:r>
              <a:rPr lang="zh-CN" altLang="zh-CN" sz="2000" dirty="0"/>
              <a:t>＋</a:t>
            </a:r>
            <a:r>
              <a:rPr lang="en-US" altLang="zh-CN" sz="2000" i="1" dirty="0"/>
              <a:t>C</a:t>
            </a:r>
            <a:r>
              <a:rPr lang="en-US" altLang="zh-CN" sz="2000" dirty="0"/>
              <a:t>(c))%</a:t>
            </a:r>
            <a:r>
              <a:rPr lang="en-US" altLang="zh-CN" sz="2000" i="1" dirty="0"/>
              <a:t>m</a:t>
            </a:r>
            <a:r>
              <a:rPr lang="zh-CN" altLang="zh-CN" sz="2000" dirty="0"/>
              <a:t>＝</a:t>
            </a:r>
            <a:r>
              <a:rPr lang="en-US" altLang="zh-CN" sz="2000" dirty="0"/>
              <a:t>(15</a:t>
            </a:r>
            <a:r>
              <a:rPr lang="zh-CN" altLang="zh-CN" sz="2000" dirty="0"/>
              <a:t>×</a:t>
            </a:r>
            <a:r>
              <a:rPr lang="en-US" altLang="zh-CN" sz="2000" dirty="0"/>
              <a:t>13</a:t>
            </a:r>
            <a:r>
              <a:rPr lang="zh-CN" altLang="zh-CN" sz="2000" dirty="0"/>
              <a:t>＋</a:t>
            </a:r>
            <a:r>
              <a:rPr lang="en-US" altLang="zh-CN" sz="2000" dirty="0"/>
              <a:t>3)%101</a:t>
            </a:r>
            <a:r>
              <a:rPr lang="zh-CN" altLang="zh-CN" sz="2000" dirty="0"/>
              <a:t>＝</a:t>
            </a:r>
            <a:r>
              <a:rPr lang="en-US" altLang="zh-CN" sz="2000" dirty="0"/>
              <a:t>97</a:t>
            </a:r>
            <a:r>
              <a:rPr lang="zh-CN" altLang="zh-CN" sz="2000" dirty="0"/>
              <a:t>，表示</a:t>
            </a:r>
            <a:r>
              <a:rPr lang="en-US" altLang="zh-CN" sz="2000" dirty="0" err="1"/>
              <a:t>abc</a:t>
            </a:r>
            <a:r>
              <a:rPr lang="zh-CN" altLang="zh-CN" sz="2000" dirty="0"/>
              <a:t>映射为</a:t>
            </a:r>
            <a:r>
              <a:rPr lang="en-US" altLang="zh-CN" sz="2000" dirty="0"/>
              <a:t>97</a:t>
            </a:r>
            <a:r>
              <a:rPr lang="zh-CN" altLang="zh-CN" sz="2000" dirty="0"/>
              <a:t>。</a:t>
            </a:r>
          </a:p>
          <a:p>
            <a:r>
              <a:rPr lang="zh-CN" altLang="zh-CN" sz="2000" dirty="0"/>
              <a:t>这样，字符串“</a:t>
            </a:r>
            <a:r>
              <a:rPr lang="en-US" altLang="zh-CN" sz="2000" dirty="0" err="1"/>
              <a:t>abc</a:t>
            </a:r>
            <a:r>
              <a:rPr lang="zh-CN" altLang="zh-CN" sz="2000" dirty="0"/>
              <a:t>”就映射为</a:t>
            </a:r>
            <a:r>
              <a:rPr lang="en-US" altLang="zh-CN" sz="2000" dirty="0"/>
              <a:t>97</a:t>
            </a:r>
            <a:r>
              <a:rPr lang="zh-CN" altLang="zh-CN" sz="2000" dirty="0"/>
              <a:t>这个数字了。</a:t>
            </a:r>
          </a:p>
          <a:p>
            <a:r>
              <a:rPr lang="zh-CN" altLang="zh-CN" sz="2000" dirty="0"/>
              <a:t>用同样的方法，可以把诸如“</a:t>
            </a:r>
            <a:r>
              <a:rPr lang="en-US" altLang="zh-CN" sz="2000" dirty="0" err="1"/>
              <a:t>bbc</a:t>
            </a:r>
            <a:r>
              <a:rPr lang="zh-CN" altLang="zh-CN" sz="2000" dirty="0"/>
              <a:t>”，“</a:t>
            </a:r>
            <a:r>
              <a:rPr lang="en-US" altLang="zh-CN" sz="2000" dirty="0"/>
              <a:t>aba</a:t>
            </a:r>
            <a:r>
              <a:rPr lang="zh-CN" altLang="zh-CN" sz="2000" dirty="0"/>
              <a:t>”，“</a:t>
            </a:r>
            <a:r>
              <a:rPr lang="en-US" altLang="zh-CN" sz="2000" dirty="0" err="1"/>
              <a:t>aadaabac</a:t>
            </a:r>
            <a:r>
              <a:rPr lang="en-US" altLang="zh-CN" sz="2000" dirty="0"/>
              <a:t>”</a:t>
            </a:r>
            <a:r>
              <a:rPr lang="zh-CN" altLang="zh-CN" sz="2000" dirty="0"/>
              <a:t>这样的字符串都映射到一个整数，即：</a:t>
            </a:r>
          </a:p>
          <a:p>
            <a:r>
              <a:rPr lang="en-US" altLang="zh-CN" sz="2000" dirty="0" err="1"/>
              <a:t>bbc</a:t>
            </a:r>
            <a:r>
              <a:rPr lang="zh-CN" altLang="zh-CN" sz="2000" dirty="0"/>
              <a:t>→</a:t>
            </a:r>
            <a:r>
              <a:rPr lang="en-US" altLang="zh-CN" sz="2000" dirty="0"/>
              <a:t>64</a:t>
            </a:r>
            <a:endParaRPr lang="zh-CN" altLang="zh-CN" sz="2000" dirty="0"/>
          </a:p>
          <a:p>
            <a:r>
              <a:rPr lang="en-US" altLang="zh-CN" sz="2000" dirty="0"/>
              <a:t>aba</a:t>
            </a:r>
            <a:r>
              <a:rPr lang="zh-CN" altLang="zh-CN" sz="2000" dirty="0"/>
              <a:t>→</a:t>
            </a:r>
            <a:r>
              <a:rPr lang="en-US" altLang="zh-CN" sz="2000" dirty="0"/>
              <a:t>95</a:t>
            </a:r>
            <a:endParaRPr lang="zh-CN" altLang="zh-CN" sz="2000" dirty="0"/>
          </a:p>
          <a:p>
            <a:r>
              <a:rPr lang="en-US" altLang="zh-CN" sz="2000" dirty="0" err="1"/>
              <a:t>aadaabac</a:t>
            </a:r>
            <a:r>
              <a:rPr lang="zh-CN" altLang="zh-CN" sz="2000" dirty="0"/>
              <a:t>→</a:t>
            </a:r>
            <a:r>
              <a:rPr lang="en-US" altLang="zh-CN" sz="2000" dirty="0"/>
              <a:t>35</a:t>
            </a:r>
            <a:endParaRPr lang="zh-CN" altLang="zh-CN"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2492990"/>
          </a:xfrm>
          <a:prstGeom prst="rect">
            <a:avLst/>
          </a:prstGeom>
        </p:spPr>
        <p:txBody>
          <a:bodyPr wrap="square">
            <a:spAutoFit/>
          </a:bodyPr>
          <a:lstStyle/>
          <a:p>
            <a:r>
              <a:rPr lang="zh-CN" altLang="zh-CN" dirty="0"/>
              <a:t>我们记录下每个字符串对应的整数，当下一次出现了一个已经出现的字符串时，查询整数是否出现过，就可以知道字符串是否重复出现了。</a:t>
            </a:r>
          </a:p>
          <a:p>
            <a:r>
              <a:rPr lang="zh-CN" altLang="zh-CN" dirty="0"/>
              <a:t>为了防止冲突，可以调整</a:t>
            </a:r>
            <a:r>
              <a:rPr lang="en-US" altLang="zh-CN" i="1" dirty="0"/>
              <a:t>p</a:t>
            </a:r>
            <a:r>
              <a:rPr lang="zh-CN" altLang="zh-CN" dirty="0"/>
              <a:t>和</a:t>
            </a:r>
            <a:r>
              <a:rPr lang="en-US" altLang="zh-CN" i="1" dirty="0"/>
              <a:t>m</a:t>
            </a:r>
            <a:r>
              <a:rPr lang="zh-CN" altLang="zh-CN" dirty="0"/>
              <a:t>的值，使得冲突概率减小。一般 </a:t>
            </a:r>
            <a:r>
              <a:rPr lang="en-US" altLang="zh-CN" i="1" dirty="0"/>
              <a:t>p</a:t>
            </a:r>
            <a:r>
              <a:rPr lang="zh-CN" altLang="zh-CN" dirty="0"/>
              <a:t>取一个较大的素数（</a:t>
            </a:r>
            <a:r>
              <a:rPr lang="en-US" altLang="zh-CN" dirty="0"/>
              <a:t>5</a:t>
            </a:r>
            <a:r>
              <a:rPr lang="zh-CN" altLang="zh-CN" dirty="0"/>
              <a:t>位到</a:t>
            </a:r>
            <a:r>
              <a:rPr lang="en-US" altLang="zh-CN" dirty="0"/>
              <a:t>8</a:t>
            </a:r>
            <a:r>
              <a:rPr lang="zh-CN" altLang="zh-CN" dirty="0"/>
              <a:t>位，如</a:t>
            </a:r>
            <a:r>
              <a:rPr lang="en-US" altLang="zh-CN" dirty="0"/>
              <a:t>13 331</a:t>
            </a:r>
            <a:r>
              <a:rPr lang="zh-CN" altLang="zh-CN" dirty="0"/>
              <a:t>），</a:t>
            </a:r>
            <a:r>
              <a:rPr lang="en-US" altLang="zh-CN" i="1" dirty="0"/>
              <a:t>m</a:t>
            </a:r>
            <a:r>
              <a:rPr lang="zh-CN" altLang="zh-CN" dirty="0"/>
              <a:t>取</a:t>
            </a:r>
            <a:r>
              <a:rPr lang="en-US" altLang="zh-CN" dirty="0"/>
              <a:t>1 000 000 007</a:t>
            </a:r>
            <a:r>
              <a:rPr lang="zh-CN" altLang="zh-CN" dirty="0"/>
              <a:t>和</a:t>
            </a:r>
            <a:r>
              <a:rPr lang="en-US" altLang="zh-CN" dirty="0"/>
              <a:t>1 000 000 009</a:t>
            </a:r>
            <a:r>
              <a:rPr lang="zh-CN" altLang="zh-CN" dirty="0"/>
              <a:t>即可。</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416" y="295917"/>
            <a:ext cx="9068584" cy="3970318"/>
          </a:xfrm>
          <a:prstGeom prst="rect">
            <a:avLst/>
          </a:prstGeom>
        </p:spPr>
        <p:txBody>
          <a:bodyPr wrap="square">
            <a:spAutoFit/>
          </a:bodyPr>
          <a:lstStyle/>
          <a:p>
            <a:pPr indent="279400" algn="just">
              <a:spcAft>
                <a:spcPts val="0"/>
              </a:spcAft>
            </a:pPr>
            <a:r>
              <a:rPr lang="zh-CN" altLang="zh-CN" sz="2800" kern="100" dirty="0">
                <a:latin typeface="Times New Roman" panose="02020603050405020304"/>
                <a:ea typeface="楷体_GB2312"/>
              </a:rPr>
              <a:t>实际操作可以不用对</a:t>
            </a:r>
            <a:r>
              <a:rPr lang="en-US" altLang="zh-CN" sz="2800" i="1" kern="100" dirty="0">
                <a:latin typeface="Times New Roman" panose="02020603050405020304"/>
                <a:ea typeface="楷体_GB2312"/>
              </a:rPr>
              <a:t>m</a:t>
            </a:r>
            <a:r>
              <a:rPr lang="zh-CN" altLang="zh-CN" sz="2800" kern="100" dirty="0">
                <a:latin typeface="Times New Roman" panose="02020603050405020304"/>
                <a:ea typeface="楷体_GB2312"/>
              </a:rPr>
              <a:t>取模，因为取模是个效率极低的运算。可以使用</a:t>
            </a:r>
            <a:r>
              <a:rPr lang="en-US" altLang="zh-CN" sz="2800" kern="100" dirty="0">
                <a:latin typeface="Times New Roman" panose="02020603050405020304"/>
                <a:ea typeface="楷体_GB2312"/>
              </a:rPr>
              <a:t>unsigned long </a:t>
            </a:r>
            <a:r>
              <a:rPr lang="en-US" altLang="zh-CN" sz="2800" kern="100" dirty="0" err="1">
                <a:latin typeface="Times New Roman" panose="02020603050405020304"/>
                <a:ea typeface="楷体_GB2312"/>
              </a:rPr>
              <a:t>long</a:t>
            </a:r>
            <a:r>
              <a:rPr lang="zh-CN" altLang="zh-CN" sz="2800" kern="100" dirty="0">
                <a:latin typeface="Times New Roman" panose="02020603050405020304"/>
                <a:ea typeface="楷体_GB2312"/>
              </a:rPr>
              <a:t>类型保存哈希值，这样当数据过大时就会自然溢出且不会出现负数，这相当于一个模</a:t>
            </a:r>
            <a:r>
              <a:rPr lang="en-US" altLang="zh-CN" sz="2800" kern="100" dirty="0">
                <a:latin typeface="Times New Roman" panose="02020603050405020304"/>
                <a:ea typeface="楷体_GB2312"/>
              </a:rPr>
              <a:t>2</a:t>
            </a:r>
            <a:r>
              <a:rPr lang="en-US" altLang="zh-CN" sz="2800" kern="100" baseline="30000" dirty="0">
                <a:latin typeface="Times New Roman" panose="02020603050405020304"/>
                <a:ea typeface="楷体_GB2312"/>
              </a:rPr>
              <a:t>64</a:t>
            </a:r>
            <a:r>
              <a:rPr lang="zh-CN" altLang="zh-CN" sz="2800" kern="100" dirty="0">
                <a:latin typeface="Times New Roman" panose="02020603050405020304"/>
                <a:ea typeface="楷体_GB2312"/>
              </a:rPr>
              <a:t>的过程。</a:t>
            </a:r>
            <a:endParaRPr lang="zh-CN" altLang="zh-CN" sz="2400" kern="100" dirty="0">
              <a:latin typeface="Times New Roman" panose="02020603050405020304"/>
              <a:ea typeface="宋体" panose="02010600030101010101" pitchFamily="2" charset="-122"/>
            </a:endParaRPr>
          </a:p>
          <a:p>
            <a:r>
              <a:rPr lang="zh-CN" altLang="zh-CN" sz="2800" kern="100" dirty="0">
                <a:ea typeface="楷体_GB2312"/>
                <a:cs typeface="Times New Roman" panose="02020603050405020304"/>
              </a:rPr>
              <a:t>如果担心出现冲突现象，可以考虑设计多组</a:t>
            </a:r>
            <a:r>
              <a:rPr lang="en-US" altLang="zh-CN" sz="2800" i="1" kern="100" dirty="0">
                <a:ea typeface="楷体_GB2312"/>
                <a:cs typeface="Times New Roman" panose="02020603050405020304"/>
              </a:rPr>
              <a:t>p</a:t>
            </a:r>
            <a:r>
              <a:rPr lang="zh-CN" altLang="zh-CN" sz="2800" kern="100" dirty="0">
                <a:ea typeface="楷体_GB2312"/>
                <a:cs typeface="Times New Roman" panose="02020603050405020304"/>
              </a:rPr>
              <a:t>与</a:t>
            </a:r>
            <a:r>
              <a:rPr lang="en-US" altLang="zh-CN" sz="2800" i="1" kern="100" dirty="0">
                <a:ea typeface="楷体_GB2312"/>
                <a:cs typeface="Times New Roman" panose="02020603050405020304"/>
              </a:rPr>
              <a:t>m</a:t>
            </a:r>
            <a:r>
              <a:rPr lang="zh-CN" altLang="zh-CN" sz="2800" kern="100" dirty="0">
                <a:ea typeface="楷体_GB2312"/>
                <a:cs typeface="Times New Roman" panose="02020603050405020304"/>
              </a:rPr>
              <a:t>，判断时多判断几次，如果所有的哈希值都相等，即可做出匹配结论。实际操作时使用双哈希就可以将冲突的概率降到很低，例如</a:t>
            </a:r>
            <a:r>
              <a:rPr lang="en-US" altLang="zh-CN" sz="2800" i="1" kern="100" dirty="0">
                <a:ea typeface="楷体_GB2312"/>
                <a:cs typeface="Times New Roman" panose="02020603050405020304"/>
              </a:rPr>
              <a:t>m</a:t>
            </a:r>
            <a:r>
              <a:rPr lang="zh-CN" altLang="zh-CN" sz="2800" kern="100" dirty="0">
                <a:ea typeface="楷体_GB2312"/>
                <a:cs typeface="Times New Roman" panose="02020603050405020304"/>
              </a:rPr>
              <a:t>取</a:t>
            </a:r>
            <a:r>
              <a:rPr lang="en-US" altLang="zh-CN" sz="2800" kern="100" dirty="0">
                <a:ea typeface="楷体_GB2312"/>
                <a:cs typeface="Times New Roman" panose="02020603050405020304"/>
              </a:rPr>
              <a:t>1 000 000 007</a:t>
            </a:r>
            <a:r>
              <a:rPr lang="zh-CN" altLang="zh-CN" sz="2800" kern="100" dirty="0">
                <a:ea typeface="楷体_GB2312"/>
                <a:cs typeface="Times New Roman" panose="02020603050405020304"/>
              </a:rPr>
              <a:t>和</a:t>
            </a:r>
            <a:r>
              <a:rPr lang="en-US" altLang="zh-CN" sz="2800" kern="100" dirty="0">
                <a:ea typeface="楷体_GB2312"/>
                <a:cs typeface="Times New Roman" panose="02020603050405020304"/>
              </a:rPr>
              <a:t>1 000 000 009</a:t>
            </a:r>
            <a:r>
              <a:rPr lang="zh-CN" altLang="zh-CN" sz="2800" kern="100" dirty="0">
                <a:ea typeface="楷体_GB2312"/>
                <a:cs typeface="Times New Roman" panose="02020603050405020304"/>
              </a:rPr>
              <a:t>，因为它们是一对“孪生质数”，可能发生冲突的概率相当低。</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448"/>
            <a:ext cx="9078012" cy="1630045"/>
          </a:xfrm>
          <a:prstGeom prst="rect">
            <a:avLst/>
          </a:prstGeom>
        </p:spPr>
        <p:txBody>
          <a:bodyPr wrap="square">
            <a:spAutoFit/>
          </a:bodyPr>
          <a:lstStyle/>
          <a:p>
            <a:r>
              <a:rPr lang="zh-CN" altLang="zh-CN" sz="2000" dirty="0"/>
              <a:t>哈希函数</a:t>
            </a:r>
            <a:r>
              <a:rPr lang="en-US" altLang="zh-CN" sz="2000" i="1" dirty="0"/>
              <a:t>H</a:t>
            </a:r>
            <a:r>
              <a:rPr lang="en-US" altLang="zh-CN" sz="2000" dirty="0"/>
              <a:t>(</a:t>
            </a:r>
            <a:r>
              <a:rPr lang="en-US" altLang="zh-CN" sz="2000" i="1" dirty="0" err="1"/>
              <a:t>i</a:t>
            </a:r>
            <a:r>
              <a:rPr lang="en-US" altLang="zh-CN" sz="2000" dirty="0"/>
              <a:t>)</a:t>
            </a:r>
            <a:r>
              <a:rPr lang="zh-CN" altLang="zh-CN" sz="2000" dirty="0"/>
              <a:t>＝</a:t>
            </a:r>
            <a:r>
              <a:rPr lang="en-US" altLang="zh-CN" sz="2000" dirty="0"/>
              <a:t>(</a:t>
            </a:r>
            <a:r>
              <a:rPr lang="en-US" altLang="zh-CN" sz="2000" i="1" dirty="0"/>
              <a:t>H</a:t>
            </a:r>
            <a:r>
              <a:rPr lang="en-US" altLang="zh-CN" sz="2000" dirty="0"/>
              <a:t>(</a:t>
            </a:r>
            <a:r>
              <a:rPr lang="en-US" altLang="zh-CN" sz="2000" i="1" dirty="0" err="1"/>
              <a:t>i</a:t>
            </a:r>
            <a:r>
              <a:rPr lang="zh-CN" altLang="zh-CN" sz="2000" dirty="0"/>
              <a:t>－</a:t>
            </a:r>
            <a:r>
              <a:rPr lang="en-US" altLang="zh-CN" sz="2000" dirty="0"/>
              <a:t>1)</a:t>
            </a:r>
            <a:r>
              <a:rPr lang="zh-CN" altLang="zh-CN" sz="2000" dirty="0"/>
              <a:t>×</a:t>
            </a:r>
            <a:r>
              <a:rPr lang="en-US" altLang="zh-CN" sz="2000" i="1" dirty="0"/>
              <a:t>p</a:t>
            </a:r>
            <a:r>
              <a:rPr lang="zh-CN" altLang="zh-CN" sz="2000" dirty="0"/>
              <a:t>＋</a:t>
            </a:r>
            <a:r>
              <a:rPr lang="en-US" altLang="zh-CN" sz="2000" i="1" dirty="0"/>
              <a:t>C</a:t>
            </a:r>
            <a:r>
              <a:rPr lang="en-US" altLang="zh-CN" sz="2000" dirty="0"/>
              <a:t>(</a:t>
            </a:r>
            <a:r>
              <a:rPr lang="en-US" altLang="zh-CN" sz="2000" i="1" dirty="0" err="1"/>
              <a:t>i</a:t>
            </a:r>
            <a:r>
              <a:rPr lang="en-US" altLang="zh-CN" sz="2000" dirty="0"/>
              <a:t>))%</a:t>
            </a:r>
            <a:r>
              <a:rPr lang="en-US" altLang="zh-CN" sz="2000" i="1" dirty="0"/>
              <a:t>m</a:t>
            </a:r>
            <a:r>
              <a:rPr lang="zh-CN" altLang="zh-CN" sz="2000" dirty="0"/>
              <a:t>表示字符串第</a:t>
            </a:r>
            <a:r>
              <a:rPr lang="en-US" altLang="zh-CN" sz="2000" i="1" dirty="0" err="1"/>
              <a:t>i</a:t>
            </a:r>
            <a:r>
              <a:rPr lang="zh-CN" altLang="zh-CN" sz="2000" dirty="0"/>
              <a:t>个前缀的</a:t>
            </a:r>
            <a:r>
              <a:rPr lang="en-US" altLang="zh-CN" sz="2000" dirty="0"/>
              <a:t>hash</a:t>
            </a:r>
            <a:r>
              <a:rPr lang="zh-CN" altLang="zh-CN" sz="2000" dirty="0"/>
              <a:t>值。那么求字符串</a:t>
            </a:r>
            <a:r>
              <a:rPr lang="en-US" altLang="zh-CN" sz="2000" dirty="0"/>
              <a:t>S</a:t>
            </a:r>
            <a:r>
              <a:rPr lang="zh-CN" altLang="zh-CN" sz="2000" dirty="0"/>
              <a:t>的某一段子串，例如从下标</a:t>
            </a:r>
            <a:r>
              <a:rPr lang="en-US" altLang="zh-CN" sz="2000" i="1" dirty="0"/>
              <a:t>L</a:t>
            </a:r>
            <a:r>
              <a:rPr lang="zh-CN" altLang="zh-CN" sz="2000" dirty="0"/>
              <a:t>到下标</a:t>
            </a:r>
            <a:r>
              <a:rPr lang="en-US" altLang="zh-CN" sz="2000" i="1" dirty="0"/>
              <a:t>R</a:t>
            </a:r>
            <a:r>
              <a:rPr lang="zh-CN" altLang="zh-CN" sz="2000" dirty="0"/>
              <a:t>（</a:t>
            </a:r>
            <a:r>
              <a:rPr lang="en-US" altLang="zh-CN" sz="2000" i="1" dirty="0"/>
              <a:t>R</a:t>
            </a:r>
            <a:r>
              <a:rPr lang="zh-CN" altLang="zh-CN" sz="2000" dirty="0"/>
              <a:t>＞</a:t>
            </a:r>
            <a:r>
              <a:rPr lang="en-US" altLang="zh-CN" sz="2000" i="1" dirty="0"/>
              <a:t>L</a:t>
            </a:r>
            <a:r>
              <a:rPr lang="zh-CN" altLang="zh-CN" sz="2000" dirty="0"/>
              <a:t>）这一段即</a:t>
            </a:r>
            <a:r>
              <a:rPr lang="en-US" altLang="zh-CN" sz="2000" dirty="0"/>
              <a:t>S[</a:t>
            </a:r>
            <a:r>
              <a:rPr lang="en-US" altLang="zh-CN" sz="2000" i="1" dirty="0"/>
              <a:t>L</a:t>
            </a:r>
            <a:r>
              <a:rPr lang="en-US" altLang="zh-CN" sz="2000" dirty="0"/>
              <a:t>…</a:t>
            </a:r>
            <a:r>
              <a:rPr lang="en-US" altLang="zh-CN" sz="2000" i="1" dirty="0"/>
              <a:t>R</a:t>
            </a:r>
            <a:r>
              <a:rPr lang="en-US" altLang="zh-CN" sz="2000" dirty="0"/>
              <a:t>]</a:t>
            </a:r>
            <a:r>
              <a:rPr lang="zh-CN" altLang="zh-CN" sz="2000" dirty="0"/>
              <a:t>这个子串的</a:t>
            </a:r>
            <a:r>
              <a:rPr lang="en-US" altLang="zh-CN" sz="2000" dirty="0"/>
              <a:t>hash</a:t>
            </a:r>
            <a:r>
              <a:rPr lang="zh-CN" altLang="zh-CN" sz="2000" dirty="0"/>
              <a:t>值</a:t>
            </a:r>
            <a:r>
              <a:rPr lang="en-US" altLang="zh-CN" sz="2000" i="1" dirty="0"/>
              <a:t>H</a:t>
            </a:r>
            <a:r>
              <a:rPr lang="en-US" altLang="zh-CN" sz="2000" dirty="0"/>
              <a:t>(</a:t>
            </a:r>
            <a:r>
              <a:rPr lang="en-US" altLang="zh-CN" sz="2000" i="1" dirty="0"/>
              <a:t>L</a:t>
            </a:r>
            <a:r>
              <a:rPr lang="en-US" altLang="zh-CN" sz="2000" dirty="0"/>
              <a:t>…</a:t>
            </a:r>
            <a:r>
              <a:rPr lang="en-US" altLang="zh-CN" sz="2000" i="1" dirty="0"/>
              <a:t>R</a:t>
            </a:r>
            <a:r>
              <a:rPr lang="en-US" altLang="zh-CN" sz="2000" dirty="0"/>
              <a:t>)</a:t>
            </a:r>
            <a:r>
              <a:rPr lang="zh-CN" altLang="zh-CN" sz="2000" dirty="0"/>
              <a:t>呢？很简单，其公式为：</a:t>
            </a:r>
            <a:r>
              <a:rPr lang="en-US" altLang="zh-CN" sz="2000" i="1" dirty="0"/>
              <a:t>H</a:t>
            </a:r>
            <a:r>
              <a:rPr lang="en-US" altLang="zh-CN" sz="2000" dirty="0"/>
              <a:t>(</a:t>
            </a:r>
            <a:r>
              <a:rPr lang="en-US" altLang="zh-CN" sz="2000" i="1" dirty="0"/>
              <a:t>L</a:t>
            </a:r>
            <a:r>
              <a:rPr lang="en-US" altLang="zh-CN" sz="2000" dirty="0"/>
              <a:t>…</a:t>
            </a:r>
            <a:r>
              <a:rPr lang="en-US" altLang="zh-CN" sz="2000" i="1" dirty="0"/>
              <a:t>R</a:t>
            </a:r>
            <a:r>
              <a:rPr lang="en-US" altLang="zh-CN" sz="2000" dirty="0"/>
              <a:t>)</a:t>
            </a:r>
            <a:r>
              <a:rPr lang="zh-CN" altLang="zh-CN" sz="2000" dirty="0"/>
              <a:t>＝</a:t>
            </a:r>
            <a:r>
              <a:rPr lang="en-US" altLang="zh-CN" sz="2000" dirty="0"/>
              <a:t>(</a:t>
            </a:r>
            <a:r>
              <a:rPr lang="en-US" altLang="zh-CN" sz="2000" i="1" dirty="0"/>
              <a:t>H</a:t>
            </a:r>
            <a:r>
              <a:rPr lang="en-US" altLang="zh-CN" sz="2000" dirty="0"/>
              <a:t>(</a:t>
            </a:r>
            <a:r>
              <a:rPr lang="en-US" altLang="zh-CN" sz="2000" i="1" dirty="0"/>
              <a:t>R</a:t>
            </a:r>
            <a:r>
              <a:rPr lang="en-US" altLang="zh-CN" sz="2000" dirty="0"/>
              <a:t>)</a:t>
            </a:r>
            <a:r>
              <a:rPr lang="zh-CN" altLang="zh-CN" sz="2000" dirty="0"/>
              <a:t>－</a:t>
            </a:r>
            <a:r>
              <a:rPr lang="en-US" altLang="zh-CN" sz="2000" i="1" dirty="0"/>
              <a:t>H</a:t>
            </a:r>
            <a:r>
              <a:rPr lang="en-US" altLang="zh-CN" sz="2000" dirty="0"/>
              <a:t>(</a:t>
            </a:r>
            <a:r>
              <a:rPr lang="en-US" altLang="zh-CN" sz="2000" i="1" dirty="0"/>
              <a:t>L</a:t>
            </a:r>
            <a:r>
              <a:rPr lang="zh-CN" altLang="zh-CN" sz="2000" dirty="0"/>
              <a:t>－</a:t>
            </a:r>
            <a:r>
              <a:rPr lang="en-US" altLang="zh-CN" sz="2000" dirty="0"/>
              <a:t>1)</a:t>
            </a:r>
            <a:r>
              <a:rPr lang="zh-CN" altLang="zh-CN" sz="2000" dirty="0"/>
              <a:t>×</a:t>
            </a:r>
            <a:r>
              <a:rPr lang="en-US" altLang="zh-CN" sz="2000" i="1" dirty="0" err="1"/>
              <a:t>p</a:t>
            </a:r>
            <a:r>
              <a:rPr lang="en-US" altLang="zh-CN" sz="2000" baseline="30000" dirty="0" err="1"/>
              <a:t>R</a:t>
            </a:r>
            <a:r>
              <a:rPr lang="zh-CN" altLang="zh-CN" sz="2000" baseline="30000" dirty="0"/>
              <a:t>－</a:t>
            </a:r>
            <a:r>
              <a:rPr lang="en-US" altLang="zh-CN" sz="2000" baseline="30000" dirty="0"/>
              <a:t>L</a:t>
            </a:r>
            <a:r>
              <a:rPr lang="zh-CN" altLang="zh-CN" sz="2000" baseline="30000" dirty="0"/>
              <a:t>＋</a:t>
            </a:r>
            <a:r>
              <a:rPr lang="en-US" altLang="zh-CN" sz="2000" baseline="30000" dirty="0"/>
              <a:t>1</a:t>
            </a:r>
            <a:r>
              <a:rPr lang="en-US" altLang="zh-CN" sz="2000" dirty="0"/>
              <a:t>]%</a:t>
            </a:r>
            <a:r>
              <a:rPr lang="en-US" altLang="zh-CN" sz="2000" i="1" dirty="0"/>
              <a:t>m</a:t>
            </a:r>
            <a:r>
              <a:rPr lang="en-US" altLang="zh-CN" sz="2000" dirty="0"/>
              <a:t>  </a:t>
            </a:r>
            <a:endParaRPr lang="zh-CN" altLang="zh-CN" sz="2000" dirty="0"/>
          </a:p>
          <a:p>
            <a:r>
              <a:rPr lang="zh-CN" altLang="zh-CN" sz="2000" dirty="0"/>
              <a:t>，例如</a:t>
            </a:r>
            <a:r>
              <a:rPr lang="en-US" altLang="zh-CN" sz="2000" dirty="0" err="1"/>
              <a:t>aadaabac</a:t>
            </a:r>
            <a:r>
              <a:rPr lang="zh-CN" altLang="zh-CN" sz="2000" dirty="0"/>
              <a:t>存入的哈希值如图</a:t>
            </a:r>
            <a:r>
              <a:rPr lang="en-US" altLang="zh-CN" sz="2000" dirty="0"/>
              <a:t>6.2</a:t>
            </a:r>
            <a:r>
              <a:rPr lang="zh-CN" altLang="zh-CN" sz="2000" dirty="0"/>
              <a:t>所示（</a:t>
            </a:r>
            <a:r>
              <a:rPr lang="en-US" altLang="zh-CN" sz="2000" i="1" dirty="0"/>
              <a:t>p</a:t>
            </a:r>
            <a:r>
              <a:rPr lang="zh-CN" altLang="zh-CN" sz="2000" dirty="0"/>
              <a:t>＝</a:t>
            </a:r>
            <a:r>
              <a:rPr lang="en-US" altLang="zh-CN" sz="2000" dirty="0"/>
              <a:t>13</a:t>
            </a:r>
            <a:r>
              <a:rPr lang="zh-CN" altLang="zh-CN" sz="2000" dirty="0"/>
              <a:t>，</a:t>
            </a:r>
            <a:r>
              <a:rPr lang="en-US" altLang="zh-CN" sz="2000" i="1" dirty="0"/>
              <a:t>m</a:t>
            </a:r>
            <a:r>
              <a:rPr lang="zh-CN" altLang="zh-CN" sz="2000" dirty="0"/>
              <a:t>＝</a:t>
            </a:r>
            <a:r>
              <a:rPr lang="en-US" altLang="zh-CN" sz="2000" dirty="0"/>
              <a:t>101</a:t>
            </a:r>
            <a:r>
              <a:rPr lang="zh-CN" altLang="zh-CN" sz="2000" dirty="0"/>
              <a:t>），现在查找</a:t>
            </a:r>
            <a:r>
              <a:rPr lang="en-US" altLang="zh-CN" sz="2000" dirty="0"/>
              <a:t>aba</a:t>
            </a:r>
            <a:r>
              <a:rPr lang="zh-CN" altLang="zh-CN" sz="2000" dirty="0"/>
              <a:t>（哈希值是</a:t>
            </a:r>
            <a:r>
              <a:rPr lang="en-US" altLang="zh-CN" sz="2000" dirty="0"/>
              <a:t>95</a:t>
            </a:r>
            <a:r>
              <a:rPr lang="zh-CN" altLang="zh-CN" sz="2000" dirty="0"/>
              <a:t>）子串。</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0955" y="1681261"/>
            <a:ext cx="3524250" cy="84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32994" y="2826831"/>
            <a:ext cx="9012024" cy="1938992"/>
          </a:xfrm>
          <a:prstGeom prst="rect">
            <a:avLst/>
          </a:prstGeom>
        </p:spPr>
        <p:txBody>
          <a:bodyPr wrap="square">
            <a:spAutoFit/>
          </a:bodyPr>
          <a:lstStyle/>
          <a:p>
            <a:pPr indent="279400" algn="just">
              <a:spcAft>
                <a:spcPts val="0"/>
              </a:spcAft>
            </a:pPr>
            <a:r>
              <a:rPr lang="zh-CN" altLang="zh-CN" sz="2400" kern="100" dirty="0">
                <a:latin typeface="Times New Roman" panose="02020603050405020304"/>
                <a:ea typeface="宋体" panose="02010600030101010101" pitchFamily="2" charset="-122"/>
              </a:rPr>
              <a:t>则</a:t>
            </a:r>
            <a:r>
              <a:rPr lang="en-US" altLang="zh-CN" sz="2400" i="1" kern="100" dirty="0">
                <a:latin typeface="Times New Roman" panose="02020603050405020304"/>
                <a:ea typeface="宋体" panose="02010600030101010101" pitchFamily="2" charset="-122"/>
              </a:rPr>
              <a:t>H</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4</a:t>
            </a:r>
            <a:r>
              <a:rPr lang="en-US" altLang="zh-CN" sz="2400" kern="100" dirty="0">
                <a:latin typeface="宋体" panose="02010600030101010101" pitchFamily="2" charset="-122"/>
                <a:ea typeface="宋体" panose="02010600030101010101" pitchFamily="2" charset="-122"/>
              </a:rPr>
              <a:t>…</a:t>
            </a:r>
            <a:r>
              <a:rPr lang="en-US" altLang="zh-CN" sz="2400" kern="100" dirty="0">
                <a:latin typeface="Times New Roman" panose="02020603050405020304"/>
                <a:ea typeface="宋体" panose="02010600030101010101" pitchFamily="2" charset="-122"/>
              </a:rPr>
              <a:t>6</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H</a:t>
            </a:r>
            <a:r>
              <a:rPr lang="en-US" altLang="zh-CN" sz="2400" kern="100" dirty="0">
                <a:latin typeface="Times New Roman" panose="02020603050405020304"/>
                <a:ea typeface="宋体" panose="02010600030101010101" pitchFamily="2" charset="-122"/>
              </a:rPr>
              <a:t>(6)</a:t>
            </a:r>
            <a:r>
              <a:rPr lang="zh-CN"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H</a:t>
            </a:r>
            <a:r>
              <a:rPr lang="en-US" altLang="zh-CN" sz="2400" kern="100" dirty="0">
                <a:latin typeface="Times New Roman" panose="02020603050405020304"/>
                <a:ea typeface="宋体" panose="02010600030101010101" pitchFamily="2" charset="-122"/>
              </a:rPr>
              <a:t>(3)</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p</a:t>
            </a:r>
            <a:r>
              <a:rPr lang="en-US" altLang="zh-CN" sz="2400" kern="100" baseline="30000" dirty="0">
                <a:latin typeface="宋体" panose="02010600030101010101" pitchFamily="2" charset="-122"/>
                <a:ea typeface="宋体" panose="02010600030101010101" pitchFamily="2" charset="-122"/>
              </a:rPr>
              <a:t>6</a:t>
            </a:r>
            <a:r>
              <a:rPr lang="zh-CN" altLang="zh-CN" sz="2400" kern="100" baseline="30000" dirty="0">
                <a:latin typeface="Times New Roman" panose="02020603050405020304"/>
                <a:ea typeface="宋体" panose="02010600030101010101" pitchFamily="2" charset="-122"/>
              </a:rPr>
              <a:t>－</a:t>
            </a:r>
            <a:r>
              <a:rPr lang="en-US" altLang="zh-CN" sz="2400" kern="100" baseline="30000" dirty="0">
                <a:latin typeface="Times New Roman" panose="02020603050405020304"/>
                <a:ea typeface="宋体" panose="02010600030101010101" pitchFamily="2" charset="-122"/>
              </a:rPr>
              <a:t>4</a:t>
            </a:r>
            <a:r>
              <a:rPr lang="zh-CN" altLang="zh-CN" sz="2400" kern="100" baseline="30000" dirty="0">
                <a:latin typeface="Times New Roman" panose="02020603050405020304"/>
                <a:ea typeface="宋体" panose="02010600030101010101" pitchFamily="2" charset="-122"/>
              </a:rPr>
              <a:t>＋</a:t>
            </a:r>
            <a:r>
              <a:rPr lang="en-US" altLang="zh-CN" sz="2400" kern="100" baseline="30000" dirty="0">
                <a:latin typeface="Times New Roman" panose="02020603050405020304"/>
                <a:ea typeface="宋体" panose="02010600030101010101" pitchFamily="2" charset="-122"/>
              </a:rPr>
              <a:t>1</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m</a:t>
            </a:r>
            <a:endParaRPr lang="zh-CN" altLang="zh-CN" sz="2000" kern="100" dirty="0">
              <a:latin typeface="Times New Roman" panose="02020603050405020304"/>
              <a:ea typeface="宋体" panose="02010600030101010101" pitchFamily="2" charset="-122"/>
            </a:endParaRPr>
          </a:p>
          <a:p>
            <a:pPr indent="279400" algn="just">
              <a:spcAft>
                <a:spcPts val="0"/>
              </a:spcAft>
            </a:pPr>
            <a:r>
              <a:rPr lang="en-US" altLang="zh-CN" sz="2400" kern="100" dirty="0">
                <a:latin typeface="Times New Roman" panose="02020603050405020304"/>
                <a:ea typeface="宋体" panose="02010600030101010101" pitchFamily="2" charset="-122"/>
              </a:rPr>
              <a:t>            </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(18</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96</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13</a:t>
            </a:r>
            <a:r>
              <a:rPr lang="en-US" altLang="zh-CN" sz="2400" kern="100" baseline="30000" dirty="0">
                <a:latin typeface="Times New Roman" panose="02020603050405020304"/>
                <a:ea typeface="宋体" panose="02010600030101010101" pitchFamily="2" charset="-122"/>
              </a:rPr>
              <a:t>3</a:t>
            </a:r>
            <a:r>
              <a:rPr lang="en-US" altLang="zh-CN" sz="2400" kern="100" dirty="0">
                <a:latin typeface="Times New Roman" panose="02020603050405020304"/>
                <a:ea typeface="宋体" panose="02010600030101010101" pitchFamily="2" charset="-122"/>
              </a:rPr>
              <a:t>)%101</a:t>
            </a:r>
            <a:endParaRPr lang="zh-CN" altLang="zh-CN" sz="2000" kern="100" dirty="0">
              <a:latin typeface="Times New Roman" panose="02020603050405020304"/>
              <a:ea typeface="宋体" panose="02010600030101010101" pitchFamily="2" charset="-122"/>
            </a:endParaRPr>
          </a:p>
          <a:p>
            <a:pPr indent="1117600" algn="just">
              <a:spcAft>
                <a:spcPts val="0"/>
              </a:spcAft>
            </a:pP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-6</a:t>
            </a:r>
            <a:endParaRPr lang="zh-CN" altLang="zh-CN" sz="2000" kern="100" dirty="0">
              <a:latin typeface="Times New Roman" panose="02020603050405020304"/>
              <a:ea typeface="宋体" panose="02010600030101010101" pitchFamily="2" charset="-122"/>
            </a:endParaRPr>
          </a:p>
          <a:p>
            <a:pPr indent="276225" algn="just">
              <a:spcAft>
                <a:spcPts val="0"/>
              </a:spcAft>
            </a:pPr>
            <a:r>
              <a:rPr lang="zh-CN" altLang="zh-CN" sz="2400" kern="100" dirty="0">
                <a:latin typeface="Times New Roman" panose="02020603050405020304"/>
                <a:ea typeface="宋体" panose="02010600030101010101" pitchFamily="2" charset="-122"/>
              </a:rPr>
              <a:t>由于</a:t>
            </a:r>
            <a:r>
              <a:rPr lang="en-US" altLang="zh-CN" sz="2400" i="1" kern="100" dirty="0">
                <a:latin typeface="Times New Roman" panose="02020603050405020304"/>
                <a:ea typeface="宋体" panose="02010600030101010101" pitchFamily="2" charset="-122"/>
              </a:rPr>
              <a:t>H</a:t>
            </a:r>
            <a:r>
              <a:rPr lang="en-US" altLang="zh-CN" sz="2400" kern="100" dirty="0">
                <a:latin typeface="Times New Roman" panose="02020603050405020304"/>
                <a:ea typeface="宋体" panose="02010600030101010101" pitchFamily="2" charset="-122"/>
              </a:rPr>
              <a:t>(4</a:t>
            </a:r>
            <a:r>
              <a:rPr lang="en-US" altLang="zh-CN" sz="2400" kern="100" dirty="0">
                <a:latin typeface="宋体" panose="02010600030101010101" pitchFamily="2" charset="-122"/>
                <a:ea typeface="宋体" panose="02010600030101010101" pitchFamily="2" charset="-122"/>
              </a:rPr>
              <a:t>…</a:t>
            </a:r>
            <a:r>
              <a:rPr lang="en-US" altLang="zh-CN" sz="2400" kern="100" dirty="0">
                <a:latin typeface="Times New Roman" panose="02020603050405020304"/>
                <a:ea typeface="宋体" panose="02010600030101010101" pitchFamily="2" charset="-122"/>
              </a:rPr>
              <a:t>6)</a:t>
            </a:r>
            <a:r>
              <a:rPr lang="zh-CN" altLang="zh-CN" sz="2400" kern="100" dirty="0">
                <a:latin typeface="Times New Roman" panose="02020603050405020304"/>
                <a:ea typeface="宋体" panose="02010600030101010101" pitchFamily="2" charset="-122"/>
              </a:rPr>
              <a:t>的值不能为负数，解决办法是再加</a:t>
            </a:r>
            <a:r>
              <a:rPr lang="en-US" altLang="zh-CN" sz="2400" i="1" kern="100" dirty="0">
                <a:latin typeface="Times New Roman" panose="02020603050405020304"/>
                <a:ea typeface="宋体" panose="02010600030101010101" pitchFamily="2" charset="-122"/>
              </a:rPr>
              <a:t>m</a:t>
            </a:r>
            <a:r>
              <a:rPr lang="zh-CN" altLang="zh-CN" sz="2400" kern="100" dirty="0">
                <a:latin typeface="Times New Roman" panose="02020603050405020304"/>
                <a:ea typeface="宋体" panose="02010600030101010101" pitchFamily="2" charset="-122"/>
              </a:rPr>
              <a:t>后</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m</a:t>
            </a:r>
            <a:r>
              <a:rPr lang="zh-CN" altLang="zh-CN" sz="2400" kern="100" dirty="0">
                <a:latin typeface="Times New Roman" panose="02020603050405020304"/>
                <a:ea typeface="宋体" panose="02010600030101010101" pitchFamily="2" charset="-122"/>
              </a:rPr>
              <a:t>，即（</a:t>
            </a:r>
            <a:r>
              <a:rPr lang="en-US" altLang="zh-CN" sz="2400" kern="100" dirty="0">
                <a:latin typeface="Times New Roman" panose="02020603050405020304"/>
                <a:ea typeface="宋体" panose="02010600030101010101" pitchFamily="2" charset="-122"/>
              </a:rPr>
              <a:t>-6</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101</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%101</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95</a:t>
            </a:r>
            <a:r>
              <a:rPr lang="zh-CN" altLang="zh-CN" sz="2400" kern="100" dirty="0">
                <a:latin typeface="Times New Roman" panose="02020603050405020304"/>
                <a:ea typeface="宋体" panose="02010600030101010101" pitchFamily="2" charset="-122"/>
              </a:rPr>
              <a:t>，因此</a:t>
            </a:r>
            <a:r>
              <a:rPr lang="en-US" altLang="zh-CN" sz="2400" kern="100" dirty="0">
                <a:latin typeface="Times New Roman" panose="02020603050405020304"/>
                <a:ea typeface="宋体" panose="02010600030101010101" pitchFamily="2" charset="-122"/>
              </a:rPr>
              <a:t>S(4</a:t>
            </a:r>
            <a:r>
              <a:rPr lang="en-US" altLang="zh-CN" sz="2400" kern="100" dirty="0">
                <a:latin typeface="宋体" panose="02010600030101010101" pitchFamily="2" charset="-122"/>
                <a:ea typeface="宋体" panose="02010600030101010101" pitchFamily="2" charset="-122"/>
              </a:rPr>
              <a:t>…</a:t>
            </a:r>
            <a:r>
              <a:rPr lang="en-US" altLang="zh-CN" sz="2400" kern="100" dirty="0">
                <a:latin typeface="Times New Roman" panose="02020603050405020304"/>
                <a:ea typeface="宋体" panose="02010600030101010101" pitchFamily="2" charset="-122"/>
              </a:rPr>
              <a:t>6)</a:t>
            </a:r>
            <a:r>
              <a:rPr lang="zh-CN" altLang="zh-CN" sz="2400" kern="100" dirty="0">
                <a:latin typeface="Times New Roman" panose="02020603050405020304"/>
                <a:ea typeface="宋体" panose="02010600030101010101" pitchFamily="2" charset="-122"/>
              </a:rPr>
              <a:t>匹配字符串“</a:t>
            </a:r>
            <a:r>
              <a:rPr lang="en-US" altLang="zh-CN" sz="2400" kern="100" dirty="0">
                <a:latin typeface="Times New Roman" panose="02020603050405020304"/>
                <a:ea typeface="宋体" panose="02010600030101010101" pitchFamily="2" charset="-122"/>
              </a:rPr>
              <a:t>aba</a:t>
            </a:r>
            <a:r>
              <a:rPr lang="en-US" altLang="zh-CN" sz="2400" kern="100" dirty="0">
                <a:latin typeface="宋体" panose="02010600030101010101" pitchFamily="2" charset="-122"/>
                <a:ea typeface="宋体" panose="02010600030101010101" pitchFamily="2" charset="-122"/>
              </a:rPr>
              <a:t>”</a:t>
            </a:r>
            <a:r>
              <a:rPr lang="zh-CN" altLang="zh-CN" sz="2400" kern="100" dirty="0">
                <a:latin typeface="Times New Roman" panose="02020603050405020304"/>
                <a:ea typeface="宋体" panose="02010600030101010101" pitchFamily="2" charset="-122"/>
              </a:rPr>
              <a:t>。</a:t>
            </a:r>
            <a:endParaRPr lang="zh-CN" altLang="zh-CN" sz="2000" kern="100" dirty="0">
              <a:effectLst/>
              <a:latin typeface="Times New Roman" panose="02020603050405020304"/>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3675"/>
            <a:ext cx="9144000" cy="4093428"/>
          </a:xfrm>
          <a:prstGeom prst="rect">
            <a:avLst/>
          </a:prstGeom>
        </p:spPr>
        <p:txBody>
          <a:bodyPr wrap="square">
            <a:spAutoFit/>
          </a:bodyPr>
          <a:lstStyle/>
          <a:p>
            <a:r>
              <a:rPr lang="zh-CN" altLang="zh-CN" sz="2000" dirty="0"/>
              <a:t>【题目描述】面试（</a:t>
            </a:r>
            <a:r>
              <a:rPr lang="en-US" altLang="zh-CN" sz="2000" dirty="0"/>
              <a:t>interview</a:t>
            </a:r>
            <a:r>
              <a:rPr lang="zh-CN" altLang="zh-CN" sz="2000" dirty="0"/>
              <a:t>）</a:t>
            </a:r>
            <a:r>
              <a:rPr lang="en-US" altLang="zh-CN" sz="2000" dirty="0"/>
              <a:t>CDOJ 1092</a:t>
            </a:r>
            <a:endParaRPr lang="zh-CN" altLang="zh-CN" sz="2000" dirty="0"/>
          </a:p>
          <a:p>
            <a:r>
              <a:rPr lang="zh-CN" altLang="zh-CN" sz="2000" dirty="0"/>
              <a:t>面试官喜欢出的考题是：在时间限制和内存限制非常低的情况下，输入</a:t>
            </a:r>
            <a:r>
              <a:rPr lang="en-US" altLang="zh-CN" sz="2000" dirty="0"/>
              <a:t>2</a:t>
            </a:r>
            <a:r>
              <a:rPr lang="zh-CN" altLang="zh-CN" sz="2000" dirty="0"/>
              <a:t>万个字符串，每个字符串长度都是</a:t>
            </a:r>
            <a:r>
              <a:rPr lang="en-US" altLang="zh-CN" sz="2000" dirty="0"/>
              <a:t>100</a:t>
            </a:r>
            <a:r>
              <a:rPr lang="zh-CN" altLang="zh-CN" sz="2000" dirty="0"/>
              <a:t>，然后把</a:t>
            </a:r>
            <a:r>
              <a:rPr lang="en-US" altLang="zh-CN" sz="2000" dirty="0"/>
              <a:t>2</a:t>
            </a:r>
            <a:r>
              <a:rPr lang="zh-CN" altLang="zh-CN" sz="2000" dirty="0"/>
              <a:t>万个字符串丢入一个</a:t>
            </a:r>
            <a:r>
              <a:rPr lang="en-US" altLang="zh-CN" sz="2000" dirty="0"/>
              <a:t>set&lt; string &gt;g </a:t>
            </a:r>
            <a:r>
              <a:rPr lang="zh-CN" altLang="zh-CN" sz="2000" dirty="0"/>
              <a:t>中，问最终</a:t>
            </a:r>
            <a:r>
              <a:rPr lang="en-US" altLang="zh-CN" sz="2000" dirty="0"/>
              <a:t>set</a:t>
            </a:r>
            <a:r>
              <a:rPr lang="zh-CN" altLang="zh-CN" sz="2000" dirty="0"/>
              <a:t>里含有多少个元素？</a:t>
            </a:r>
          </a:p>
          <a:p>
            <a:r>
              <a:rPr lang="en-US" altLang="zh-CN" sz="2000" dirty="0"/>
              <a:t>g</a:t>
            </a:r>
            <a:r>
              <a:rPr lang="zh-CN" altLang="zh-CN" sz="2000" dirty="0"/>
              <a:t>是一个用来存储字符串、具有去重功能的容器，即相同字符串在</a:t>
            </a:r>
            <a:r>
              <a:rPr lang="en-US" altLang="zh-CN" sz="2000" dirty="0"/>
              <a:t>g</a:t>
            </a:r>
            <a:r>
              <a:rPr lang="zh-CN" altLang="zh-CN" sz="2000" dirty="0"/>
              <a:t>中只能保留一个。</a:t>
            </a:r>
          </a:p>
          <a:p>
            <a:r>
              <a:rPr lang="zh-CN" altLang="zh-CN" sz="2000" dirty="0"/>
              <a:t>两个字符串相等的定义是：当且仅当长度一样且对应位置的字符都一样。</a:t>
            </a:r>
          </a:p>
          <a:p>
            <a:r>
              <a:rPr lang="zh-CN" altLang="zh-CN" sz="2000" dirty="0"/>
              <a:t>【输入格式】</a:t>
            </a:r>
          </a:p>
          <a:p>
            <a:r>
              <a:rPr lang="zh-CN" altLang="zh-CN" sz="2000" dirty="0"/>
              <a:t>第一行为一个整数</a:t>
            </a:r>
            <a:r>
              <a:rPr lang="en-US" altLang="zh-CN" sz="2000" i="1" dirty="0"/>
              <a:t>n</a:t>
            </a:r>
            <a:r>
              <a:rPr lang="zh-CN" altLang="zh-CN" sz="2000" dirty="0"/>
              <a:t>，表示字符串数，字符串数最多不超过</a:t>
            </a:r>
            <a:r>
              <a:rPr lang="en-US" altLang="zh-CN" sz="2000" dirty="0"/>
              <a:t>2</a:t>
            </a:r>
            <a:r>
              <a:rPr lang="zh-CN" altLang="zh-CN" sz="2000" dirty="0"/>
              <a:t>万行，每一行包含一个字符串，每行字符串的长度都为</a:t>
            </a:r>
            <a:r>
              <a:rPr lang="en-US" altLang="zh-CN" sz="2000" dirty="0"/>
              <a:t>100</a:t>
            </a:r>
            <a:r>
              <a:rPr lang="zh-CN" altLang="zh-CN" sz="2000" dirty="0"/>
              <a:t>（样例除外）。</a:t>
            </a:r>
          </a:p>
          <a:p>
            <a:r>
              <a:rPr lang="zh-CN" altLang="zh-CN" sz="2000" dirty="0"/>
              <a:t>字符集为大写英文字母（</a:t>
            </a:r>
            <a:r>
              <a:rPr lang="en-US" altLang="zh-CN" sz="2000" dirty="0"/>
              <a:t>A~Z</a:t>
            </a:r>
            <a:r>
              <a:rPr lang="zh-CN" altLang="zh-CN" sz="2000" dirty="0"/>
              <a:t>），小写英文字母（</a:t>
            </a:r>
            <a:r>
              <a:rPr lang="en-US" altLang="zh-CN" sz="2000" dirty="0" err="1"/>
              <a:t>a~z</a:t>
            </a:r>
            <a:r>
              <a:rPr lang="zh-CN" altLang="zh-CN" sz="2000" dirty="0"/>
              <a:t>），数字（</a:t>
            </a:r>
            <a:r>
              <a:rPr lang="en-US" altLang="zh-CN" sz="2000" dirty="0"/>
              <a:t>0~9</a:t>
            </a:r>
            <a:r>
              <a:rPr lang="zh-CN" altLang="zh-CN" sz="2000" dirty="0"/>
              <a:t>）。</a:t>
            </a:r>
          </a:p>
          <a:p>
            <a:r>
              <a:rPr lang="zh-CN" altLang="zh-CN" sz="2000" dirty="0"/>
              <a:t>【输出格式】</a:t>
            </a:r>
          </a:p>
          <a:p>
            <a:r>
              <a:rPr lang="zh-CN" altLang="zh-CN" sz="2000" dirty="0"/>
              <a:t>输出一个整数，表示最终</a:t>
            </a:r>
            <a:r>
              <a:rPr lang="en-US" altLang="zh-CN" sz="2000" dirty="0"/>
              <a:t>set</a:t>
            </a:r>
            <a:r>
              <a:rPr lang="zh-CN" altLang="zh-CN" sz="2000" dirty="0"/>
              <a:t>里含有多少个元素。</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85950"/>
            <a:ext cx="9176994" cy="4892675"/>
          </a:xfrm>
          <a:prstGeom prst="rect">
            <a:avLst/>
          </a:prstGeom>
        </p:spPr>
        <p:txBody>
          <a:bodyPr wrap="square">
            <a:spAutoFit/>
          </a:bodyPr>
          <a:lstStyle/>
          <a:p>
            <a:r>
              <a:rPr lang="zh-CN" altLang="zh-CN" sz="2400" dirty="0"/>
              <a:t>【题目描述】起名大师（</a:t>
            </a:r>
            <a:r>
              <a:rPr lang="en-US" altLang="zh-CN" sz="2400" dirty="0"/>
              <a:t>name</a:t>
            </a:r>
            <a:r>
              <a:rPr lang="zh-CN" altLang="zh-CN" sz="2400" dirty="0"/>
              <a:t>）</a:t>
            </a:r>
            <a:r>
              <a:rPr lang="en-US" altLang="zh-CN" sz="2400" dirty="0"/>
              <a:t>POJ 2752</a:t>
            </a:r>
            <a:endParaRPr lang="zh-CN" altLang="zh-CN" sz="2400" dirty="0"/>
          </a:p>
          <a:p>
            <a:r>
              <a:rPr lang="zh-CN" altLang="zh-CN" sz="2400" dirty="0"/>
              <a:t>每个机器人都有一个独特的名字，对于它们来说，起一个寓意吉祥的名字会让它们找到一个好的主人，那么什么是寓意吉祥的名字呢？机器人是这么认为的：</a:t>
            </a:r>
          </a:p>
          <a:p>
            <a:r>
              <a:rPr lang="zh-CN" altLang="zh-CN" sz="2400" dirty="0"/>
              <a:t>对于一个由字母组成的字符串，如果既是前缀又是后缀的子字符串的长度越长，则名字越吉祥。例如有字符串“</a:t>
            </a:r>
            <a:r>
              <a:rPr lang="en-US" altLang="zh-CN" sz="2400" dirty="0" err="1"/>
              <a:t>alala</a:t>
            </a:r>
            <a:r>
              <a:rPr lang="zh-CN" altLang="zh-CN" sz="2400" dirty="0"/>
              <a:t>”，它的前缀分别为</a:t>
            </a:r>
            <a:r>
              <a:rPr lang="en-US" altLang="zh-CN" sz="2400" dirty="0"/>
              <a:t>{</a:t>
            </a:r>
            <a:r>
              <a:rPr lang="zh-CN" altLang="zh-CN" sz="2400" dirty="0"/>
              <a:t>“</a:t>
            </a:r>
            <a:r>
              <a:rPr lang="en-US" altLang="zh-CN" sz="2400" dirty="0"/>
              <a:t>a</a:t>
            </a:r>
            <a:r>
              <a:rPr lang="zh-CN" altLang="zh-CN" sz="2400" dirty="0"/>
              <a:t>”</a:t>
            </a:r>
            <a:r>
              <a:rPr lang="en-US" altLang="zh-CN" sz="2400" dirty="0"/>
              <a:t>,</a:t>
            </a:r>
            <a:r>
              <a:rPr lang="zh-CN" altLang="zh-CN" sz="2400" dirty="0"/>
              <a:t>“</a:t>
            </a:r>
            <a:r>
              <a:rPr lang="en-US" altLang="zh-CN" sz="2400" dirty="0"/>
              <a:t>al</a:t>
            </a:r>
            <a:r>
              <a:rPr lang="zh-CN" altLang="zh-CN" sz="2400" dirty="0"/>
              <a:t>”</a:t>
            </a:r>
            <a:r>
              <a:rPr lang="en-US" altLang="zh-CN" sz="2400" dirty="0"/>
              <a:t>,</a:t>
            </a:r>
            <a:r>
              <a:rPr lang="zh-CN" altLang="zh-CN" sz="2400" dirty="0"/>
              <a:t>“</a:t>
            </a:r>
            <a:r>
              <a:rPr lang="en-US" altLang="zh-CN" sz="2400" dirty="0"/>
              <a:t>ala</a:t>
            </a:r>
            <a:r>
              <a:rPr lang="zh-CN" altLang="zh-CN" sz="2400" dirty="0"/>
              <a:t>”</a:t>
            </a:r>
            <a:r>
              <a:rPr lang="en-US" altLang="zh-CN" sz="2400" dirty="0"/>
              <a:t>,</a:t>
            </a:r>
            <a:r>
              <a:rPr lang="zh-CN" altLang="zh-CN" sz="2400" dirty="0"/>
              <a:t>“</a:t>
            </a:r>
            <a:r>
              <a:rPr lang="en-US" altLang="zh-CN" sz="2400" dirty="0" err="1"/>
              <a:t>alal</a:t>
            </a:r>
            <a:r>
              <a:rPr lang="zh-CN" altLang="zh-CN" sz="2400" dirty="0"/>
              <a:t>”</a:t>
            </a:r>
            <a:r>
              <a:rPr lang="en-US" altLang="zh-CN" sz="2400" dirty="0"/>
              <a:t>,</a:t>
            </a:r>
            <a:r>
              <a:rPr lang="zh-CN" altLang="zh-CN" sz="2400" dirty="0"/>
              <a:t>“</a:t>
            </a:r>
            <a:r>
              <a:rPr lang="en-US" altLang="zh-CN" sz="2400" dirty="0" err="1"/>
              <a:t>alala</a:t>
            </a:r>
            <a:r>
              <a:rPr lang="zh-CN" altLang="zh-CN" sz="2400" dirty="0"/>
              <a:t>”</a:t>
            </a:r>
            <a:r>
              <a:rPr lang="en-US" altLang="zh-CN" sz="2400" dirty="0"/>
              <a:t>}</a:t>
            </a:r>
            <a:r>
              <a:rPr lang="zh-CN" altLang="zh-CN" sz="2400" dirty="0"/>
              <a:t>，后缀分别为</a:t>
            </a:r>
            <a:r>
              <a:rPr lang="en-US" altLang="zh-CN" sz="2400" dirty="0"/>
              <a:t>{</a:t>
            </a:r>
            <a:r>
              <a:rPr lang="zh-CN" altLang="zh-CN" sz="2400" dirty="0"/>
              <a:t>“</a:t>
            </a:r>
            <a:r>
              <a:rPr lang="en-US" altLang="zh-CN" sz="2400" dirty="0"/>
              <a:t>a</a:t>
            </a:r>
            <a:r>
              <a:rPr lang="zh-CN" altLang="zh-CN" sz="2400" dirty="0"/>
              <a:t>”</a:t>
            </a:r>
            <a:r>
              <a:rPr lang="en-US" altLang="zh-CN" sz="2400" dirty="0"/>
              <a:t>,</a:t>
            </a:r>
            <a:r>
              <a:rPr lang="zh-CN" altLang="zh-CN" sz="2400" dirty="0"/>
              <a:t>“</a:t>
            </a:r>
            <a:r>
              <a:rPr lang="en-US" altLang="zh-CN" sz="2400" dirty="0"/>
              <a:t>la</a:t>
            </a:r>
            <a:r>
              <a:rPr lang="zh-CN" altLang="zh-CN" sz="2400" dirty="0"/>
              <a:t>”</a:t>
            </a:r>
            <a:r>
              <a:rPr lang="en-US" altLang="zh-CN" sz="2400" dirty="0"/>
              <a:t>,</a:t>
            </a:r>
            <a:r>
              <a:rPr lang="zh-CN" altLang="zh-CN" sz="2400" dirty="0"/>
              <a:t>“</a:t>
            </a:r>
            <a:r>
              <a:rPr lang="en-US" altLang="zh-CN" sz="2400" dirty="0"/>
              <a:t>ala</a:t>
            </a:r>
            <a:r>
              <a:rPr lang="zh-CN" altLang="zh-CN" sz="2400" dirty="0"/>
              <a:t>”</a:t>
            </a:r>
            <a:r>
              <a:rPr lang="en-US" altLang="zh-CN" sz="2400" dirty="0"/>
              <a:t>,</a:t>
            </a:r>
            <a:r>
              <a:rPr lang="zh-CN" altLang="zh-CN" sz="2400" dirty="0"/>
              <a:t>“</a:t>
            </a:r>
            <a:r>
              <a:rPr lang="en-US" altLang="zh-CN" sz="2400" dirty="0" err="1"/>
              <a:t>lala</a:t>
            </a:r>
            <a:r>
              <a:rPr lang="zh-CN" altLang="zh-CN" sz="2400" dirty="0"/>
              <a:t>”</a:t>
            </a:r>
            <a:r>
              <a:rPr lang="en-US" altLang="zh-CN" sz="2400" dirty="0"/>
              <a:t>,</a:t>
            </a:r>
            <a:r>
              <a:rPr lang="zh-CN" altLang="zh-CN" sz="2400" dirty="0"/>
              <a:t>“</a:t>
            </a:r>
            <a:r>
              <a:rPr lang="en-US" altLang="zh-CN" sz="2400" dirty="0" err="1"/>
              <a:t>alala</a:t>
            </a:r>
            <a:r>
              <a:rPr lang="zh-CN" altLang="zh-CN" sz="2400" dirty="0"/>
              <a:t>”</a:t>
            </a:r>
            <a:r>
              <a:rPr lang="en-US" altLang="zh-CN" sz="2400" dirty="0"/>
              <a:t>}</a:t>
            </a:r>
            <a:r>
              <a:rPr lang="zh-CN" altLang="zh-CN" sz="2400" dirty="0"/>
              <a:t>， 其中有</a:t>
            </a:r>
            <a:r>
              <a:rPr lang="en-US" altLang="zh-CN" sz="2400" dirty="0"/>
              <a:t>{</a:t>
            </a:r>
            <a:r>
              <a:rPr lang="zh-CN" altLang="zh-CN" sz="2400" dirty="0"/>
              <a:t>“</a:t>
            </a:r>
            <a:r>
              <a:rPr lang="en-US" altLang="zh-CN" sz="2400" dirty="0"/>
              <a:t>a</a:t>
            </a:r>
            <a:r>
              <a:rPr lang="zh-CN" altLang="zh-CN" sz="2400" dirty="0"/>
              <a:t>”</a:t>
            </a:r>
            <a:r>
              <a:rPr lang="en-US" altLang="zh-CN" sz="2400" dirty="0"/>
              <a:t>,</a:t>
            </a:r>
            <a:r>
              <a:rPr lang="zh-CN" altLang="zh-CN" sz="2400" dirty="0"/>
              <a:t>“</a:t>
            </a:r>
            <a:r>
              <a:rPr lang="en-US" altLang="zh-CN" sz="2400" dirty="0"/>
              <a:t>ala</a:t>
            </a:r>
            <a:r>
              <a:rPr lang="zh-CN" altLang="zh-CN" sz="2400" dirty="0"/>
              <a:t>”</a:t>
            </a:r>
            <a:r>
              <a:rPr lang="en-US" altLang="zh-CN" sz="2400" dirty="0"/>
              <a:t>,</a:t>
            </a:r>
            <a:r>
              <a:rPr lang="zh-CN" altLang="zh-CN" sz="2400" dirty="0"/>
              <a:t>“</a:t>
            </a:r>
            <a:r>
              <a:rPr lang="en-US" altLang="zh-CN" sz="2400" dirty="0" err="1"/>
              <a:t>alala</a:t>
            </a:r>
            <a:r>
              <a:rPr lang="zh-CN" altLang="zh-CN" sz="2400" dirty="0"/>
              <a:t>”</a:t>
            </a:r>
            <a:r>
              <a:rPr lang="en-US" altLang="zh-CN" sz="2400" dirty="0"/>
              <a:t>}</a:t>
            </a:r>
            <a:r>
              <a:rPr lang="zh-CN" altLang="zh-CN" sz="2400" dirty="0"/>
              <a:t>是相同的，其长度分别为</a:t>
            </a:r>
            <a:r>
              <a:rPr lang="en-US" altLang="zh-CN" sz="2400" dirty="0"/>
              <a:t>1</a:t>
            </a:r>
            <a:r>
              <a:rPr lang="zh-CN" altLang="zh-CN" sz="2400" dirty="0"/>
              <a:t>，</a:t>
            </a:r>
            <a:r>
              <a:rPr lang="en-US" altLang="zh-CN" sz="2400" dirty="0"/>
              <a:t>3</a:t>
            </a:r>
            <a:r>
              <a:rPr lang="zh-CN" altLang="zh-CN" sz="2400" dirty="0"/>
              <a:t>，</a:t>
            </a:r>
            <a:r>
              <a:rPr lang="en-US" altLang="zh-CN" sz="2400" dirty="0"/>
              <a:t>5</a:t>
            </a:r>
            <a:r>
              <a:rPr lang="zh-CN" altLang="zh-CN" sz="2400" dirty="0"/>
              <a:t>。</a:t>
            </a:r>
          </a:p>
          <a:p>
            <a:r>
              <a:rPr lang="zh-CN" altLang="zh-CN" sz="2400" dirty="0"/>
              <a:t>【输入格式】</a:t>
            </a:r>
          </a:p>
          <a:p>
            <a:r>
              <a:rPr lang="zh-CN" altLang="zh-CN" sz="2400" dirty="0"/>
              <a:t>输入数据有多组，每组数据为一行由字母组成的字符串，字符串长度不超过</a:t>
            </a:r>
            <a:r>
              <a:rPr lang="en-US" altLang="zh-CN" sz="2400" dirty="0"/>
              <a:t>400 000</a:t>
            </a:r>
            <a:r>
              <a:rPr lang="zh-CN" altLang="zh-CN" sz="2400" dirty="0"/>
              <a:t>。</a:t>
            </a:r>
          </a:p>
          <a:p>
            <a:r>
              <a:rPr lang="zh-CN" altLang="zh-CN" sz="2400" dirty="0"/>
              <a:t>【输出格式】</a:t>
            </a:r>
          </a:p>
          <a:p>
            <a:r>
              <a:rPr lang="zh-CN" altLang="zh-CN" sz="2400" dirty="0"/>
              <a:t>输出所有即是前缀又是后缀的子字符串的长度。</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5078313"/>
          </a:xfrm>
          <a:prstGeom prst="rect">
            <a:avLst/>
          </a:prstGeom>
        </p:spPr>
        <p:txBody>
          <a:bodyPr wrap="square">
            <a:spAutoFit/>
          </a:bodyPr>
          <a:lstStyle/>
          <a:p>
            <a:r>
              <a:rPr lang="zh-CN" altLang="zh-CN" sz="1800" dirty="0"/>
              <a:t>【题目描述】</a:t>
            </a:r>
            <a:r>
              <a:rPr lang="en-US" altLang="zh-CN" sz="1800" dirty="0"/>
              <a:t>6.8 </a:t>
            </a:r>
            <a:r>
              <a:rPr lang="zh-CN" altLang="zh-CN" sz="1800" dirty="0"/>
              <a:t>寻找子串（</a:t>
            </a:r>
            <a:r>
              <a:rPr lang="en-US" altLang="zh-CN" sz="1800" dirty="0" err="1"/>
              <a:t>FindChar</a:t>
            </a:r>
            <a:r>
              <a:rPr lang="zh-CN" altLang="zh-CN" sz="1800" dirty="0"/>
              <a:t>）</a:t>
            </a:r>
            <a:r>
              <a:rPr lang="en-US" altLang="zh-CN" sz="1800" dirty="0"/>
              <a:t> POJ 3461</a:t>
            </a:r>
            <a:endParaRPr lang="zh-CN" altLang="zh-CN" sz="1800" dirty="0"/>
          </a:p>
          <a:p>
            <a:r>
              <a:rPr lang="zh-CN" altLang="zh-CN" sz="1800" dirty="0"/>
              <a:t>有两个全部由大写字母组成的字符串</a:t>
            </a:r>
            <a:r>
              <a:rPr lang="en-US" altLang="zh-CN" sz="1800" i="1" dirty="0"/>
              <a:t>S</a:t>
            </a:r>
            <a:r>
              <a:rPr lang="en-US" altLang="zh-CN" sz="1800" baseline="-25000" dirty="0"/>
              <a:t>1</a:t>
            </a:r>
            <a:r>
              <a:rPr lang="zh-CN" altLang="zh-CN" sz="1800" dirty="0"/>
              <a:t>和</a:t>
            </a:r>
            <a:r>
              <a:rPr lang="en-US" altLang="zh-CN" sz="1800" i="1" dirty="0"/>
              <a:t>S</a:t>
            </a:r>
            <a:r>
              <a:rPr lang="en-US" altLang="zh-CN" sz="1800" baseline="-25000" dirty="0"/>
              <a:t>2</a:t>
            </a:r>
            <a:r>
              <a:rPr lang="zh-CN" altLang="zh-CN" sz="1800" dirty="0"/>
              <a:t>，求</a:t>
            </a:r>
            <a:r>
              <a:rPr lang="en-US" altLang="zh-CN" sz="1800" i="1" dirty="0"/>
              <a:t>S</a:t>
            </a:r>
            <a:r>
              <a:rPr lang="en-US" altLang="zh-CN" sz="1800" baseline="-25000" dirty="0"/>
              <a:t>1</a:t>
            </a:r>
            <a:r>
              <a:rPr lang="zh-CN" altLang="zh-CN" sz="1800" dirty="0"/>
              <a:t>在</a:t>
            </a:r>
            <a:r>
              <a:rPr lang="en-US" altLang="zh-CN" sz="1800" i="1" dirty="0"/>
              <a:t>S</a:t>
            </a:r>
            <a:r>
              <a:rPr lang="en-US" altLang="zh-CN" sz="1800" baseline="-25000" dirty="0"/>
              <a:t>2</a:t>
            </a:r>
            <a:r>
              <a:rPr lang="zh-CN" altLang="zh-CN" sz="1800" dirty="0"/>
              <a:t>中出现的次数。</a:t>
            </a:r>
          </a:p>
          <a:p>
            <a:r>
              <a:rPr lang="zh-CN" altLang="zh-CN" sz="1800" dirty="0"/>
              <a:t>【输入格式】</a:t>
            </a:r>
          </a:p>
          <a:p>
            <a:r>
              <a:rPr lang="zh-CN" altLang="zh-CN" sz="1800" dirty="0"/>
              <a:t>输入有多组数据，每组数据第一行为字符串</a:t>
            </a:r>
            <a:r>
              <a:rPr lang="en-US" altLang="zh-CN" sz="1800" i="1" dirty="0"/>
              <a:t>S</a:t>
            </a:r>
            <a:r>
              <a:rPr lang="en-US" altLang="zh-CN" sz="1800" baseline="-25000" dirty="0"/>
              <a:t>1</a:t>
            </a:r>
            <a:r>
              <a:rPr lang="zh-CN" altLang="zh-CN" sz="1800" dirty="0"/>
              <a:t>，第二行为字符串</a:t>
            </a:r>
            <a:r>
              <a:rPr lang="en-US" altLang="zh-CN" sz="1800" i="1" dirty="0"/>
              <a:t>S</a:t>
            </a:r>
            <a:r>
              <a:rPr lang="en-US" altLang="zh-CN" sz="1800" baseline="-25000" dirty="0"/>
              <a:t>2</a:t>
            </a:r>
            <a:r>
              <a:rPr lang="zh-CN" altLang="zh-CN" sz="1800" dirty="0"/>
              <a:t>。</a:t>
            </a:r>
          </a:p>
          <a:p>
            <a:r>
              <a:rPr lang="zh-CN" altLang="zh-CN" sz="1800" dirty="0"/>
              <a:t>【输出格式】</a:t>
            </a:r>
          </a:p>
          <a:p>
            <a:r>
              <a:rPr lang="zh-CN" altLang="zh-CN" sz="1800" dirty="0"/>
              <a:t>每行一个整数，表示匹配次数。</a:t>
            </a:r>
          </a:p>
          <a:p>
            <a:r>
              <a:rPr lang="zh-CN" altLang="zh-CN" sz="1800" dirty="0"/>
              <a:t>【输入样例】</a:t>
            </a:r>
          </a:p>
          <a:p>
            <a:r>
              <a:rPr lang="en-US" altLang="zh-CN" sz="1800" dirty="0"/>
              <a:t>3</a:t>
            </a:r>
            <a:endParaRPr lang="zh-CN" altLang="zh-CN" sz="1800" dirty="0"/>
          </a:p>
          <a:p>
            <a:r>
              <a:rPr lang="en-US" altLang="zh-CN" sz="1800" dirty="0"/>
              <a:t>BAPC</a:t>
            </a:r>
            <a:endParaRPr lang="zh-CN" altLang="zh-CN" sz="1800" dirty="0"/>
          </a:p>
          <a:p>
            <a:r>
              <a:rPr lang="en-US" altLang="zh-CN" sz="1800" dirty="0"/>
              <a:t>BAPC</a:t>
            </a:r>
            <a:endParaRPr lang="zh-CN" altLang="zh-CN" sz="1800" dirty="0"/>
          </a:p>
          <a:p>
            <a:r>
              <a:rPr lang="en-US" altLang="zh-CN" sz="1800" dirty="0"/>
              <a:t>AZA</a:t>
            </a:r>
            <a:endParaRPr lang="zh-CN" altLang="zh-CN" sz="1800" dirty="0"/>
          </a:p>
          <a:p>
            <a:r>
              <a:rPr lang="en-US" altLang="zh-CN" sz="1800" dirty="0"/>
              <a:t>AZAZAZA</a:t>
            </a:r>
            <a:endParaRPr lang="zh-CN" altLang="zh-CN" sz="1800" dirty="0"/>
          </a:p>
          <a:p>
            <a:r>
              <a:rPr lang="en-US" altLang="zh-CN" sz="1800" dirty="0"/>
              <a:t>VERDI</a:t>
            </a:r>
            <a:endParaRPr lang="zh-CN" altLang="zh-CN" sz="1800" dirty="0"/>
          </a:p>
          <a:p>
            <a:r>
              <a:rPr lang="en-US" altLang="zh-CN" sz="1800" dirty="0"/>
              <a:t>AVERDXIVYERDIAN</a:t>
            </a:r>
            <a:endParaRPr lang="zh-CN" altLang="zh-CN" sz="1800" dirty="0"/>
          </a:p>
          <a:p>
            <a:r>
              <a:rPr lang="zh-CN" altLang="zh-CN" sz="1800" dirty="0"/>
              <a:t>【输出样例】</a:t>
            </a:r>
          </a:p>
          <a:p>
            <a:r>
              <a:rPr lang="en-US" altLang="zh-CN" sz="1800" dirty="0"/>
              <a:t>1</a:t>
            </a:r>
            <a:endParaRPr lang="zh-CN" altLang="zh-CN" sz="1800" dirty="0"/>
          </a:p>
          <a:p>
            <a:r>
              <a:rPr lang="en-US" altLang="zh-CN" sz="1800" dirty="0"/>
              <a:t>3</a:t>
            </a:r>
            <a:endParaRPr lang="zh-CN" altLang="zh-CN" sz="1800" dirty="0"/>
          </a:p>
          <a:p>
            <a:r>
              <a:rPr lang="en-US" altLang="zh-CN" sz="1800" dirty="0"/>
              <a:t>0</a:t>
            </a:r>
            <a:endParaRPr lang="zh-CN" altLang="zh-CN"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56821" y="525036"/>
            <a:ext cx="7748833" cy="2893100"/>
          </a:xfrm>
          <a:prstGeom prst="rect">
            <a:avLst/>
          </a:prstGeom>
        </p:spPr>
        <p:txBody>
          <a:bodyPr wrap="square">
            <a:spAutoFit/>
          </a:bodyPr>
          <a:lstStyle/>
          <a:p>
            <a:r>
              <a:rPr lang="zh-CN" altLang="zh-CN" dirty="0"/>
              <a:t>重复字符串（网站题目编号：</a:t>
            </a:r>
            <a:r>
              <a:rPr lang="en-US" altLang="zh-CN" dirty="0"/>
              <a:t>406009</a:t>
            </a:r>
            <a:r>
              <a:rPr lang="zh-CN" altLang="zh-CN" dirty="0"/>
              <a:t>）</a:t>
            </a:r>
          </a:p>
          <a:p>
            <a:r>
              <a:rPr lang="en-US" altLang="zh-CN" dirty="0"/>
              <a:t> </a:t>
            </a:r>
            <a:endParaRPr lang="zh-CN" altLang="zh-CN" dirty="0"/>
          </a:p>
          <a:p>
            <a:r>
              <a:rPr lang="zh-CN" altLang="zh-CN" dirty="0"/>
              <a:t>朋友（网站题目编号：</a:t>
            </a:r>
            <a:r>
              <a:rPr lang="en-US" altLang="zh-CN" dirty="0"/>
              <a:t>406010</a:t>
            </a:r>
            <a:r>
              <a:rPr lang="zh-CN" altLang="zh-CN" dirty="0"/>
              <a:t>）</a:t>
            </a:r>
          </a:p>
          <a:p>
            <a:r>
              <a:rPr lang="en-US" altLang="zh-CN" dirty="0"/>
              <a:t> </a:t>
            </a:r>
            <a:endParaRPr lang="zh-CN" altLang="zh-CN" dirty="0"/>
          </a:p>
          <a:p>
            <a:r>
              <a:rPr lang="zh-CN" altLang="zh-CN" dirty="0"/>
              <a:t>字符串（网站题目编号：</a:t>
            </a:r>
            <a:r>
              <a:rPr lang="en-US" altLang="zh-CN" dirty="0"/>
              <a:t>406011</a:t>
            </a:r>
            <a:r>
              <a:rPr lang="zh-CN" altLang="zh-CN" dirty="0"/>
              <a:t>）</a:t>
            </a:r>
          </a:p>
          <a:p>
            <a:r>
              <a:rPr lang="en-US" altLang="zh-CN" dirty="0"/>
              <a:t> </a:t>
            </a:r>
            <a:endParaRPr lang="zh-CN" altLang="zh-CN" dirty="0"/>
          </a:p>
          <a:p>
            <a:r>
              <a:rPr lang="zh-CN" altLang="zh-CN" dirty="0"/>
              <a:t>字符循环节（网站题目编号：</a:t>
            </a:r>
            <a:r>
              <a:rPr lang="en-US" altLang="zh-CN" dirty="0"/>
              <a:t>406012</a:t>
            </a:r>
            <a:r>
              <a:rPr lang="zh-CN" altLang="zh-CN"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686680" cy="492443"/>
          </a:xfrm>
          <a:prstGeom prst="rect">
            <a:avLst/>
          </a:prstGeom>
        </p:spPr>
        <p:txBody>
          <a:bodyPr wrap="none">
            <a:spAutoFit/>
          </a:bodyPr>
          <a:lstStyle/>
          <a:p>
            <a:r>
              <a:rPr lang="en-US" altLang="zh-CN" b="1" dirty="0"/>
              <a:t>6.3 </a:t>
            </a:r>
            <a:r>
              <a:rPr lang="zh-CN" altLang="zh-CN" b="1" dirty="0"/>
              <a:t>哈希树</a:t>
            </a:r>
          </a:p>
        </p:txBody>
      </p:sp>
      <p:sp>
        <p:nvSpPr>
          <p:cNvPr id="3" name="矩形 2"/>
          <p:cNvSpPr/>
          <p:nvPr/>
        </p:nvSpPr>
        <p:spPr>
          <a:xfrm>
            <a:off x="61274" y="503319"/>
            <a:ext cx="8922470" cy="2708434"/>
          </a:xfrm>
          <a:prstGeom prst="rect">
            <a:avLst/>
          </a:prstGeom>
        </p:spPr>
        <p:txBody>
          <a:bodyPr wrap="square">
            <a:spAutoFit/>
          </a:bodyPr>
          <a:lstStyle/>
          <a:p>
            <a:r>
              <a:rPr lang="zh-CN" altLang="zh-CN" sz="2400" dirty="0"/>
              <a:t>线性表、树等数据结构记录数据的相对位置是随机的，其查找的效率依赖于查找过程中所进行的“比较”次数，且随着数据记录数的增长而下降。</a:t>
            </a:r>
          </a:p>
          <a:p>
            <a:r>
              <a:rPr lang="zh-CN" altLang="zh-CN" sz="2400" dirty="0"/>
              <a:t>哈希树能够在时间和空间上寻求一个平衡点，平均查找时间一般不超过</a:t>
            </a:r>
            <a:r>
              <a:rPr lang="en-US" altLang="zh-CN" sz="2400" i="1" dirty="0"/>
              <a:t>O</a:t>
            </a:r>
            <a:r>
              <a:rPr lang="en-US" altLang="zh-CN" sz="2400" dirty="0"/>
              <a:t>(10)</a:t>
            </a:r>
            <a:r>
              <a:rPr lang="zh-CN" altLang="zh-CN" sz="2400" dirty="0"/>
              <a:t>。实际应用中，优化过的哈希树平均查找时间不超过</a:t>
            </a:r>
            <a:r>
              <a:rPr lang="en-US" altLang="zh-CN" sz="2400" i="1" dirty="0"/>
              <a:t>O</a:t>
            </a:r>
            <a:r>
              <a:rPr lang="en-US" altLang="zh-CN" sz="2400" dirty="0"/>
              <a:t>(5)</a:t>
            </a:r>
            <a:r>
              <a:rPr lang="zh-CN" altLang="zh-CN" sz="2400" dirty="0"/>
              <a:t>。如图所示的是一个可能的哈希树结构。</a:t>
            </a:r>
          </a:p>
          <a:p>
            <a:r>
              <a:rPr lang="en-US" altLang="zh-CN" dirty="0"/>
              <a:t> </a:t>
            </a:r>
            <a:endParaRPr lang="zh-CN" altLang="zh-CN"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440665" y="3261615"/>
            <a:ext cx="4238226" cy="175815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74764"/>
            <a:ext cx="9078012" cy="4493538"/>
          </a:xfrm>
          <a:prstGeom prst="rect">
            <a:avLst/>
          </a:prstGeom>
        </p:spPr>
        <p:txBody>
          <a:bodyPr wrap="square">
            <a:spAutoFit/>
          </a:bodyPr>
          <a:lstStyle/>
          <a:p>
            <a:r>
              <a:rPr lang="zh-CN" altLang="zh-CN" dirty="0"/>
              <a:t>图是以从</a:t>
            </a:r>
            <a:r>
              <a:rPr lang="en-US" altLang="zh-CN" dirty="0"/>
              <a:t>2</a:t>
            </a:r>
            <a:r>
              <a:rPr lang="zh-CN" altLang="zh-CN" dirty="0"/>
              <a:t>开始的连续质数创建的，即</a:t>
            </a:r>
            <a:r>
              <a:rPr lang="en-US" altLang="zh-CN" dirty="0"/>
              <a:t>2,3,5,7,11,13,17,19,23,29</a:t>
            </a:r>
            <a:r>
              <a:rPr lang="zh-CN" altLang="zh-CN" dirty="0"/>
              <a:t>…所以根结点的子树个数为</a:t>
            </a:r>
            <a:r>
              <a:rPr lang="en-US" altLang="zh-CN" dirty="0"/>
              <a:t>2</a:t>
            </a:r>
            <a:r>
              <a:rPr lang="zh-CN" altLang="zh-CN" dirty="0"/>
              <a:t>，第二层中的每个结点子树个数为</a:t>
            </a:r>
            <a:r>
              <a:rPr lang="en-US" altLang="zh-CN" dirty="0"/>
              <a:t>3</a:t>
            </a:r>
            <a:r>
              <a:rPr lang="zh-CN" altLang="zh-CN" dirty="0"/>
              <a:t>，第三层中的每个结点子树个数为</a:t>
            </a:r>
            <a:r>
              <a:rPr lang="en-US" altLang="zh-CN" dirty="0"/>
              <a:t>5……</a:t>
            </a:r>
            <a:r>
              <a:rPr lang="zh-CN" altLang="zh-CN" dirty="0"/>
              <a:t>这是基于质数分辨定理而构造的树。</a:t>
            </a:r>
          </a:p>
          <a:p>
            <a:r>
              <a:rPr lang="zh-CN" altLang="zh-CN" dirty="0"/>
              <a:t>所谓质数分辨定理，简单说就是</a:t>
            </a:r>
            <a:r>
              <a:rPr lang="en-US" altLang="zh-CN" i="1" dirty="0"/>
              <a:t>n</a:t>
            </a:r>
            <a:r>
              <a:rPr lang="zh-CN" altLang="zh-CN" dirty="0"/>
              <a:t>个不同的质数可以“分辨”的连续整数的个数和他们的乘积相等。“分辨”就是指这些连续的整数不可能有完全相同的余数序列。例如从</a:t>
            </a:r>
            <a:r>
              <a:rPr lang="en-US" altLang="zh-CN" dirty="0"/>
              <a:t>2</a:t>
            </a:r>
            <a:r>
              <a:rPr lang="zh-CN" altLang="zh-CN" dirty="0"/>
              <a:t>起的连续质数，连续</a:t>
            </a:r>
            <a:r>
              <a:rPr lang="en-US" altLang="zh-CN" dirty="0"/>
              <a:t>10</a:t>
            </a:r>
            <a:r>
              <a:rPr lang="zh-CN" altLang="zh-CN" dirty="0"/>
              <a:t>个质数就可以分辨大约</a:t>
            </a:r>
            <a:r>
              <a:rPr lang="en-US" altLang="zh-CN" dirty="0"/>
              <a:t>2</a:t>
            </a:r>
            <a:r>
              <a:rPr lang="zh-CN" altLang="zh-CN" dirty="0"/>
              <a:t>×</a:t>
            </a:r>
            <a:r>
              <a:rPr lang="en-US" altLang="zh-CN" dirty="0"/>
              <a:t>3</a:t>
            </a:r>
            <a:r>
              <a:rPr lang="zh-CN" altLang="zh-CN" dirty="0"/>
              <a:t>×</a:t>
            </a:r>
            <a:r>
              <a:rPr lang="en-US" altLang="zh-CN" dirty="0"/>
              <a:t>5</a:t>
            </a:r>
            <a:r>
              <a:rPr lang="zh-CN" altLang="zh-CN" dirty="0"/>
              <a:t>×</a:t>
            </a:r>
            <a:r>
              <a:rPr lang="en-US" altLang="zh-CN" dirty="0"/>
              <a:t>7</a:t>
            </a:r>
            <a:r>
              <a:rPr lang="zh-CN" altLang="zh-CN" dirty="0"/>
              <a:t>×</a:t>
            </a:r>
            <a:r>
              <a:rPr lang="en-US" altLang="zh-CN" dirty="0"/>
              <a:t>11</a:t>
            </a:r>
            <a:r>
              <a:rPr lang="zh-CN" altLang="zh-CN" dirty="0"/>
              <a:t>×</a:t>
            </a:r>
            <a:r>
              <a:rPr lang="en-US" altLang="zh-CN" dirty="0"/>
              <a:t>13</a:t>
            </a:r>
            <a:r>
              <a:rPr lang="zh-CN" altLang="zh-CN" dirty="0"/>
              <a:t>×</a:t>
            </a:r>
            <a:r>
              <a:rPr lang="en-US" altLang="zh-CN" dirty="0"/>
              <a:t>17</a:t>
            </a:r>
            <a:r>
              <a:rPr lang="zh-CN" altLang="zh-CN" dirty="0"/>
              <a:t>×</a:t>
            </a:r>
            <a:r>
              <a:rPr lang="en-US" altLang="zh-CN" dirty="0"/>
              <a:t>19</a:t>
            </a:r>
            <a:r>
              <a:rPr lang="zh-CN" altLang="zh-CN" dirty="0"/>
              <a:t>×</a:t>
            </a:r>
            <a:r>
              <a:rPr lang="en-US" altLang="zh-CN" dirty="0"/>
              <a:t>23</a:t>
            </a:r>
            <a:r>
              <a:rPr lang="zh-CN" altLang="zh-CN" dirty="0"/>
              <a:t>×</a:t>
            </a:r>
            <a:r>
              <a:rPr lang="en-US" altLang="zh-CN" dirty="0"/>
              <a:t>29</a:t>
            </a:r>
            <a:r>
              <a:rPr lang="zh-CN" altLang="zh-CN" dirty="0"/>
              <a:t>＝</a:t>
            </a:r>
            <a:r>
              <a:rPr lang="en-US" altLang="zh-CN" dirty="0"/>
              <a:t>6 464 693 230</a:t>
            </a:r>
            <a:r>
              <a:rPr lang="zh-CN" altLang="zh-CN" dirty="0"/>
              <a:t>个数，这已经超过</a:t>
            </a:r>
            <a:r>
              <a:rPr lang="en-US" altLang="zh-CN" dirty="0"/>
              <a:t>32</a:t>
            </a:r>
            <a:r>
              <a:rPr lang="zh-CN" altLang="zh-CN" dirty="0"/>
              <a:t>位整数的取值范围了，而连续</a:t>
            </a:r>
            <a:r>
              <a:rPr lang="en-US" altLang="zh-CN" dirty="0"/>
              <a:t>100</a:t>
            </a:r>
            <a:r>
              <a:rPr lang="zh-CN" altLang="zh-CN" dirty="0"/>
              <a:t>个质数就可以分辨大约</a:t>
            </a:r>
            <a:r>
              <a:rPr lang="en-US" altLang="zh-CN" dirty="0"/>
              <a:t>4.711930</a:t>
            </a:r>
            <a:r>
              <a:rPr lang="zh-CN" altLang="zh-CN" dirty="0"/>
              <a:t>×</a:t>
            </a:r>
            <a:r>
              <a:rPr lang="en-US" altLang="zh-CN" dirty="0"/>
              <a:t>10</a:t>
            </a:r>
            <a:r>
              <a:rPr lang="en-US" altLang="zh-CN" baseline="30000" dirty="0"/>
              <a:t>219</a:t>
            </a:r>
            <a:r>
              <a:rPr lang="zh-CN" altLang="zh-CN" dirty="0"/>
              <a:t>个数。</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3" y="51707"/>
            <a:ext cx="8946037" cy="892552"/>
          </a:xfrm>
          <a:prstGeom prst="rect">
            <a:avLst/>
          </a:prstGeom>
        </p:spPr>
        <p:txBody>
          <a:bodyPr wrap="square">
            <a:spAutoFit/>
          </a:bodyPr>
          <a:lstStyle/>
          <a:p>
            <a:r>
              <a:rPr lang="zh-CN" altLang="zh-CN" dirty="0"/>
              <a:t>那么数据是怎么插入哈希树的结点的呢？以随机的</a:t>
            </a:r>
            <a:r>
              <a:rPr lang="en-US" altLang="zh-CN" dirty="0"/>
              <a:t>8</a:t>
            </a:r>
            <a:r>
              <a:rPr lang="zh-CN" altLang="zh-CN" dirty="0"/>
              <a:t>个数</a:t>
            </a:r>
            <a:r>
              <a:rPr lang="en-US" altLang="zh-CN" dirty="0"/>
              <a:t>21,9,12,10,54,78,43,77</a:t>
            </a:r>
            <a:r>
              <a:rPr lang="zh-CN" altLang="zh-CN" dirty="0"/>
              <a:t>为例来说明，其插入过程如图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823915" y="1354095"/>
            <a:ext cx="7551799" cy="230821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89937"/>
            <a:ext cx="9045018" cy="3293209"/>
          </a:xfrm>
          <a:prstGeom prst="rect">
            <a:avLst/>
          </a:prstGeom>
        </p:spPr>
        <p:txBody>
          <a:bodyPr wrap="square">
            <a:spAutoFit/>
          </a:bodyPr>
          <a:lstStyle/>
          <a:p>
            <a:r>
              <a:rPr lang="zh-CN" altLang="zh-CN" dirty="0"/>
              <a:t>可以看到，子结点的建立是动态建立的，所以哈希树和其他树一样是一个动态结构。哈希树的结点查找过程和结点插入过程类似，就是对关键字用质数序列取余，根据余数确定下一结点的分叉路径，直到找到目标结点。</a:t>
            </a:r>
          </a:p>
          <a:p>
            <a:r>
              <a:rPr lang="zh-CN" altLang="zh-CN" dirty="0"/>
              <a:t>哈希树的结点删除过程也很简单，即只要把要删除结点的“占位标记”设为</a:t>
            </a:r>
            <a:r>
              <a:rPr lang="en-US" altLang="zh-CN" dirty="0"/>
              <a:t>false</a:t>
            </a:r>
            <a:r>
              <a:rPr lang="zh-CN" altLang="zh-CN" dirty="0"/>
              <a:t>而无需物理删除。</a:t>
            </a:r>
          </a:p>
          <a:p>
            <a:r>
              <a:rPr lang="zh-CN" altLang="zh-CN" dirty="0"/>
              <a:t>哈希树结构简单，操作简单，查找迅速，不存在“结构”退化的问题，其缺点是不支持排序算法。</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5-0315-3小清新手绘唯美教育教学PPT模板"/>
  <p:tag name="KSO_WPP_MARK_KEY" val="99187b26-01a5-4564-8dd2-2d670d3592f0"/>
  <p:tag name="COMMONDATA" val="eyJoZGlkIjoiZWNkNzQwYjliNGZkYjkxNzQ5NTNjZWEyZGU4NWM2NWIifQ=="/>
</p:tagLst>
</file>

<file path=ppt/theme/theme1.xml><?xml version="1.0" encoding="utf-8"?>
<a:theme xmlns:a="http://schemas.openxmlformats.org/drawingml/2006/main" name="AAAAAAAAAAAAAAAAAAAAAAAAAAA">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3143</Words>
  <Application>Microsoft Office PowerPoint</Application>
  <PresentationFormat>全屏显示(16:9)</PresentationFormat>
  <Paragraphs>158</Paragraphs>
  <Slides>23</Slides>
  <Notes>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23</vt:i4>
      </vt:variant>
    </vt:vector>
  </HeadingPairs>
  <TitlesOfParts>
    <vt:vector size="32" baseType="lpstr">
      <vt:lpstr>等线</vt:lpstr>
      <vt:lpstr>楷体_GB2312</vt:lpstr>
      <vt:lpstr>宋体</vt:lpstr>
      <vt:lpstr>微软雅黑</vt:lpstr>
      <vt:lpstr>Arial</vt:lpstr>
      <vt:lpstr>Calibri</vt:lpstr>
      <vt:lpstr>Calibri Light</vt:lpstr>
      <vt:lpstr>Times New Roman</vt:lpstr>
      <vt:lpstr>AAAAAAAAAAAAAAAAAAAAAAAAAAA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5-0315-3小清新手绘唯美教育教学PPT模板</dc:title>
  <dc:creator>Administrator</dc:creator>
  <cp:lastModifiedBy>立军 袁</cp:lastModifiedBy>
  <cp:revision>180</cp:revision>
  <dcterms:created xsi:type="dcterms:W3CDTF">2019-03-15T02:52:00Z</dcterms:created>
  <dcterms:modified xsi:type="dcterms:W3CDTF">2024-08-07T00:07:25Z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5F69699A6FD64C49AF6B0A3840949B4A</vt:lpwstr>
  </property>
  <property fmtid="{D5CDD505-2E9C-101B-9397-08002B2CF9AE}" pid="3" name="KSOProductBuildVer">
    <vt:lpwstr>2052-11.1.0.12763</vt:lpwstr>
  </property>
</Properties>
</file>