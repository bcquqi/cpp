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11088826" r:id="rId2"/>
    <p:sldId id="4873" r:id="rId3"/>
    <p:sldId id="11088827" r:id="rId4"/>
    <p:sldId id="11088831" r:id="rId5"/>
    <p:sldId id="11088830" r:id="rId6"/>
    <p:sldId id="11088828" r:id="rId7"/>
    <p:sldId id="11088829" r:id="rId8"/>
  </p:sldIdLst>
  <p:sldSz cx="9144000" cy="5143500" type="screen16x9"/>
  <p:notesSz cx="6858000" cy="9144000"/>
  <p:custDataLst>
    <p:tags r:id="rId10"/>
  </p:custDataLst>
  <p:defaultTextStyle>
    <a:defPPr>
      <a:defRPr lang="en-US"/>
    </a:defPPr>
    <a:lvl1pPr marL="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7246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4429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201676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8922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36105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403352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70598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37781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8ED0"/>
    <a:srgbClr val="075AA4"/>
    <a:srgbClr val="2F4732"/>
    <a:srgbClr val="2B44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76" autoAdjust="0"/>
    <p:restoredTop sz="87435" autoAdjust="0"/>
  </p:normalViewPr>
  <p:slideViewPr>
    <p:cSldViewPr snapToGrid="0" showGuides="1">
      <p:cViewPr varScale="1">
        <p:scale>
          <a:sx n="134" d="100"/>
          <a:sy n="134" d="100"/>
        </p:scale>
        <p:origin x="540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CBD01-EFF3-401D-9E3D-436DA00BC4F9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AD115-59BE-4C7A-B849-7A2D456698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344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6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99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1077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6502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0272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3475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6547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3575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35915" indent="0" algn="ctr">
              <a:buNone/>
              <a:defRPr sz="1400"/>
            </a:lvl2pPr>
            <a:lvl3pPr marL="672465" indent="0" algn="ctr">
              <a:buNone/>
              <a:defRPr sz="1400"/>
            </a:lvl3pPr>
            <a:lvl4pPr marL="1008380" indent="0" algn="ctr">
              <a:buNone/>
              <a:defRPr sz="1200"/>
            </a:lvl4pPr>
            <a:lvl5pPr marL="1344295" indent="0" algn="ctr">
              <a:buNone/>
              <a:defRPr sz="1200"/>
            </a:lvl5pPr>
            <a:lvl6pPr marL="1680845" indent="0" algn="ctr">
              <a:buNone/>
              <a:defRPr sz="1200"/>
            </a:lvl6pPr>
            <a:lvl7pPr marL="2016760" indent="0" algn="ctr">
              <a:buNone/>
              <a:defRPr sz="1200"/>
            </a:lvl7pPr>
            <a:lvl8pPr marL="2352675" indent="0" algn="ctr">
              <a:buNone/>
              <a:defRPr sz="1200"/>
            </a:lvl8pPr>
            <a:lvl9pPr marL="2689225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282306"/>
            <a:ext cx="7886700" cy="2139553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3591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724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083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4429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6808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167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52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68922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273846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5915" indent="0">
              <a:buNone/>
              <a:defRPr sz="1400" b="1"/>
            </a:lvl2pPr>
            <a:lvl3pPr marL="672465" indent="0">
              <a:buNone/>
              <a:defRPr sz="1400" b="1"/>
            </a:lvl3pPr>
            <a:lvl4pPr marL="1008380" indent="0">
              <a:buNone/>
              <a:defRPr sz="1200" b="1"/>
            </a:lvl4pPr>
            <a:lvl5pPr marL="1344295" indent="0">
              <a:buNone/>
              <a:defRPr sz="1200" b="1"/>
            </a:lvl5pPr>
            <a:lvl6pPr marL="1680845" indent="0">
              <a:buNone/>
              <a:defRPr sz="1200" b="1"/>
            </a:lvl6pPr>
            <a:lvl7pPr marL="2016760" indent="0">
              <a:buNone/>
              <a:defRPr sz="1200" b="1"/>
            </a:lvl7pPr>
            <a:lvl8pPr marL="2352675" indent="0">
              <a:buNone/>
              <a:defRPr sz="1200" b="1"/>
            </a:lvl8pPr>
            <a:lvl9pPr marL="268922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2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5915" indent="0">
              <a:buNone/>
              <a:defRPr sz="1400" b="1"/>
            </a:lvl2pPr>
            <a:lvl3pPr marL="672465" indent="0">
              <a:buNone/>
              <a:defRPr sz="1400" b="1"/>
            </a:lvl3pPr>
            <a:lvl4pPr marL="1008380" indent="0">
              <a:buNone/>
              <a:defRPr sz="1200" b="1"/>
            </a:lvl4pPr>
            <a:lvl5pPr marL="1344295" indent="0">
              <a:buNone/>
              <a:defRPr sz="1200" b="1"/>
            </a:lvl5pPr>
            <a:lvl6pPr marL="1680845" indent="0">
              <a:buNone/>
              <a:defRPr sz="1200" b="1"/>
            </a:lvl6pPr>
            <a:lvl7pPr marL="2016760" indent="0">
              <a:buNone/>
              <a:defRPr sz="1200" b="1"/>
            </a:lvl7pPr>
            <a:lvl8pPr marL="2352675" indent="0">
              <a:buNone/>
              <a:defRPr sz="1200" b="1"/>
            </a:lvl8pPr>
            <a:lvl9pPr marL="268922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2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4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4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35915" indent="0">
              <a:buNone/>
              <a:defRPr sz="1000"/>
            </a:lvl2pPr>
            <a:lvl3pPr marL="672465" indent="0">
              <a:buNone/>
              <a:defRPr sz="900"/>
            </a:lvl3pPr>
            <a:lvl4pPr marL="1008380" indent="0">
              <a:buNone/>
              <a:defRPr sz="800"/>
            </a:lvl4pPr>
            <a:lvl5pPr marL="1344295" indent="0">
              <a:buNone/>
              <a:defRPr sz="800"/>
            </a:lvl5pPr>
            <a:lvl6pPr marL="1680845" indent="0">
              <a:buNone/>
              <a:defRPr sz="800"/>
            </a:lvl6pPr>
            <a:lvl7pPr marL="2016760" indent="0">
              <a:buNone/>
              <a:defRPr sz="800"/>
            </a:lvl7pPr>
            <a:lvl8pPr marL="2352675" indent="0">
              <a:buNone/>
              <a:defRPr sz="800"/>
            </a:lvl8pPr>
            <a:lvl9pPr marL="2689225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4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35915" indent="0">
              <a:buNone/>
              <a:defRPr sz="2000"/>
            </a:lvl2pPr>
            <a:lvl3pPr marL="672465" indent="0">
              <a:buNone/>
              <a:defRPr sz="1800"/>
            </a:lvl3pPr>
            <a:lvl4pPr marL="1008380" indent="0">
              <a:buNone/>
              <a:defRPr sz="1400"/>
            </a:lvl4pPr>
            <a:lvl5pPr marL="1344295" indent="0">
              <a:buNone/>
              <a:defRPr sz="1400"/>
            </a:lvl5pPr>
            <a:lvl6pPr marL="1680845" indent="0">
              <a:buNone/>
              <a:defRPr sz="1400"/>
            </a:lvl6pPr>
            <a:lvl7pPr marL="2016760" indent="0">
              <a:buNone/>
              <a:defRPr sz="1400"/>
            </a:lvl7pPr>
            <a:lvl8pPr marL="2352675" indent="0">
              <a:buNone/>
              <a:defRPr sz="1400"/>
            </a:lvl8pPr>
            <a:lvl9pPr marL="2689225" indent="0">
              <a:buNone/>
              <a:defRPr sz="14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4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35915" indent="0">
              <a:buNone/>
              <a:defRPr sz="1000"/>
            </a:lvl2pPr>
            <a:lvl3pPr marL="672465" indent="0">
              <a:buNone/>
              <a:defRPr sz="900"/>
            </a:lvl3pPr>
            <a:lvl4pPr marL="1008380" indent="0">
              <a:buNone/>
              <a:defRPr sz="800"/>
            </a:lvl4pPr>
            <a:lvl5pPr marL="1344295" indent="0">
              <a:buNone/>
              <a:defRPr sz="800"/>
            </a:lvl5pPr>
            <a:lvl6pPr marL="1680845" indent="0">
              <a:buNone/>
              <a:defRPr sz="800"/>
            </a:lvl6pPr>
            <a:lvl7pPr marL="2016760" indent="0">
              <a:buNone/>
              <a:defRPr sz="800"/>
            </a:lvl7pPr>
            <a:lvl8pPr marL="2352675" indent="0">
              <a:buNone/>
              <a:defRPr sz="800"/>
            </a:lvl8pPr>
            <a:lvl9pPr marL="2689225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6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5"/>
            <a:ext cx="5800726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3801" y="4830418"/>
            <a:ext cx="9140200" cy="313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6"/>
            <a:ext cx="7886700" cy="994172"/>
          </a:xfrm>
          <a:prstGeom prst="rect">
            <a:avLst/>
          </a:prstGeom>
        </p:spPr>
        <p:txBody>
          <a:bodyPr vert="horz" lIns="134452" tIns="67226" rIns="134452" bIns="67226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134452" tIns="67226" rIns="134452" bIns="67226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4"/>
            <a:ext cx="30861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67246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672465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7665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1257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4848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8503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2095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5686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3591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7246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38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4429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8084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1676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5267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8922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9"/>
          <p:cNvSpPr txBox="1"/>
          <p:nvPr/>
        </p:nvSpPr>
        <p:spPr>
          <a:xfrm>
            <a:off x="834888" y="2109253"/>
            <a:ext cx="7255566" cy="1043706"/>
          </a:xfrm>
          <a:prstGeom prst="rect">
            <a:avLst/>
          </a:prstGeom>
          <a:noFill/>
        </p:spPr>
        <p:txBody>
          <a:bodyPr wrap="square" lIns="134452" tIns="67226" rIns="134452" bIns="67226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252095">
              <a:defRPr/>
            </a:pPr>
            <a:r>
              <a:rPr lang="zh-CN" altLang="en-US" sz="5900" b="1" dirty="0" smtClean="0">
                <a:solidFill>
                  <a:srgbClr val="075A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邮局问题</a:t>
            </a:r>
            <a:endParaRPr lang="zh-CN" altLang="en-US" sz="5900" b="1" dirty="0">
              <a:solidFill>
                <a:srgbClr val="075AA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erif SC" panose="02020400000000000000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0" y="10780"/>
            <a:ext cx="9144000" cy="4752413"/>
          </a:xfrm>
          <a:prstGeom prst="rect">
            <a:avLst/>
          </a:prstGeom>
        </p:spPr>
        <p:txBody>
          <a:bodyPr wrap="square" lIns="134452" tIns="67226" rIns="134452" bIns="67226">
            <a:spAutoFit/>
          </a:bodyPr>
          <a:lstStyle/>
          <a:p>
            <a:pPr indent="276225" algn="just">
              <a:spcAft>
                <a:spcPts val="0"/>
              </a:spcAft>
            </a:pP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</a:rPr>
              <a:t>一条高速公路边上有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V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</a:rPr>
              <a:t>个村庄，用一条坐标轴来描述这条公路，每个村庄的坐标各不相同，且都是整数，两个村庄间的距离用它们的坐标值差的绝对值表示。现在从这些村庄中选出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P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</a:rPr>
              <a:t>个建立邮局，邮局建立在村庄里，每个村庄使用离他最近的那个邮局，求一种建设方法，使得所有村庄到各自所使用的邮局的距离总和最小。</a:t>
            </a:r>
          </a:p>
          <a:p>
            <a:pPr indent="276225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【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</a:rPr>
              <a:t>输入格式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】</a:t>
            </a:r>
          </a:p>
          <a:p>
            <a:pPr indent="276225" algn="just">
              <a:spcAft>
                <a:spcPts val="0"/>
              </a:spcAft>
            </a:pP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</a:rPr>
              <a:t>共两行，第一行给出村庄数目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V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</a:rPr>
              <a:t>和邮局数目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P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1≤V≤300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1≤P≤30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P≤V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</a:rPr>
              <a:t>），第二行按递增顺序给出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V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</a:rPr>
              <a:t>个村庄的坐标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x1,x2,…,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xV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1≤xi≤10 000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</a:rPr>
              <a:t>）。</a:t>
            </a:r>
          </a:p>
          <a:p>
            <a:pPr indent="276225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【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</a:rPr>
              <a:t>输出格式</a:t>
            </a:r>
            <a:r>
              <a:rPr lang="en-US" altLang="zh-CN" sz="2000" kern="100" dirty="0" smtClean="0">
                <a:latin typeface="Times New Roman" panose="02020603050405020304"/>
                <a:ea typeface="宋体" panose="02010600030101010101" pitchFamily="2" charset="-122"/>
              </a:rPr>
              <a:t>】</a:t>
            </a:r>
            <a:r>
              <a:rPr lang="zh-CN" altLang="en-US" sz="2000" kern="100" dirty="0" smtClean="0">
                <a:latin typeface="Times New Roman" panose="02020603050405020304"/>
                <a:ea typeface="宋体" panose="02010600030101010101" pitchFamily="2" charset="-122"/>
              </a:rPr>
              <a:t>输出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</a:rPr>
              <a:t>一个</a:t>
            </a:r>
            <a:r>
              <a:rPr lang="zh-CN" altLang="en-US" sz="2000" kern="100" dirty="0" smtClean="0">
                <a:latin typeface="Times New Roman" panose="02020603050405020304"/>
                <a:ea typeface="宋体" panose="02010600030101010101" pitchFamily="2" charset="-122"/>
              </a:rPr>
              <a:t>值表示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</a:rPr>
              <a:t>所有村庄到各自所使用的邮局的距离总和的最小值。</a:t>
            </a:r>
          </a:p>
          <a:p>
            <a:pPr indent="276225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【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</a:rPr>
              <a:t>输入样例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】</a:t>
            </a:r>
          </a:p>
          <a:p>
            <a:pPr indent="276225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10 5</a:t>
            </a:r>
          </a:p>
          <a:p>
            <a:pPr indent="276225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1 2 3 6 7 9 11 22 44 50</a:t>
            </a:r>
          </a:p>
          <a:p>
            <a:pPr indent="276225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【</a:t>
            </a:r>
            <a:r>
              <a:rPr lang="zh-CN" altLang="en-US" sz="2000" kern="100" dirty="0">
                <a:latin typeface="Times New Roman" panose="02020603050405020304"/>
                <a:ea typeface="宋体" panose="02010600030101010101" pitchFamily="2" charset="-122"/>
              </a:rPr>
              <a:t>输出样例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】</a:t>
            </a:r>
          </a:p>
          <a:p>
            <a:pPr indent="276225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7825"/>
            <a:ext cx="917656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6225" algn="just"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考虑在</a:t>
            </a: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V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个村庄中只建立一个邮局的情况，显然将邮局建立在中间的那个村庄即取中位数即可，具体来说，就是奇数个村庄时取最中间的那个点最优，偶数个村庄时取中间两个点之间的任何位置都可以</a:t>
            </a:r>
            <a:r>
              <a:rPr lang="zh-CN" altLang="zh-CN" sz="2400" kern="100" dirty="0" smtClean="0"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7825"/>
            <a:ext cx="9176564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6225" algn="just">
              <a:spcAft>
                <a:spcPts val="0"/>
              </a:spcAft>
            </a:pPr>
            <a:r>
              <a:rPr lang="zh-CN" altLang="zh-CN" sz="2400" kern="100" dirty="0" smtClean="0">
                <a:latin typeface="Times New Roman" panose="02020603050405020304"/>
                <a:ea typeface="宋体" panose="02010600030101010101" pitchFamily="2" charset="-122"/>
              </a:rPr>
              <a:t>例如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，有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6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个村庄，村庄的坐标已知分别为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,p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,p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,p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,p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5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,p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6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；设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sum[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][j]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表示在第</a:t>
            </a:r>
            <a:r>
              <a:rPr lang="en-US" altLang="zh-CN" sz="2400" i="1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个村庄到第</a:t>
            </a: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j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个村庄中建立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个邮局的最短距离</a:t>
            </a:r>
            <a:r>
              <a:rPr lang="zh-CN" altLang="zh-CN" sz="2400" kern="100" dirty="0" smtClean="0"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en-US" altLang="zh-CN" sz="2400" kern="100" dirty="0" smtClean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endParaRPr lang="en-US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endParaRPr lang="en-US" altLang="zh-CN" sz="2400" kern="100" dirty="0" smtClean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endParaRPr lang="en-US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此时对于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sum[1][4]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来说，邮局建立在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或者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处其实是一样的。即：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放在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处的最短距离和为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(p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)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(p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)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(p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)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放在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处的最短距离和为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(p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)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(p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)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(p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)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p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 smtClean="0">
                <a:latin typeface="Times New Roman" panose="02020603050405020304"/>
                <a:ea typeface="宋体" panose="02010600030101010101" pitchFamily="2" charset="-122"/>
              </a:rPr>
              <a:t>p</a:t>
            </a:r>
            <a:r>
              <a:rPr lang="en-US" altLang="zh-CN" sz="2400" kern="100" baseline="-25000" dirty="0" smtClean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en-US" altLang="zh-CN" sz="1800" b="1" kern="0" dirty="0" smtClean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400" kern="100" dirty="0" smtClean="0">
                <a:latin typeface="Times New Roman" panose="02020603050405020304"/>
                <a:ea typeface="宋体" panose="02010600030101010101" pitchFamily="2" charset="-122"/>
              </a:rPr>
              <a:t>p</a:t>
            </a:r>
            <a:r>
              <a:rPr lang="en-US" altLang="zh-CN" sz="2400" kern="100" baseline="-25000" dirty="0" smtClean="0">
                <a:latin typeface="Times New Roman" panose="02020603050405020304"/>
                <a:ea typeface="宋体" panose="02010600030101010101" pitchFamily="2" charset="-122"/>
              </a:rPr>
              <a:t>1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823" y="1330501"/>
            <a:ext cx="6082431" cy="855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左大括号 1"/>
          <p:cNvSpPr/>
          <p:nvPr/>
        </p:nvSpPr>
        <p:spPr>
          <a:xfrm rot="5400000">
            <a:off x="3464349" y="-440720"/>
            <a:ext cx="433635" cy="3327661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7825"/>
            <a:ext cx="9176564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6225" algn="just">
              <a:spcAft>
                <a:spcPts val="0"/>
              </a:spcAft>
            </a:pPr>
            <a:endParaRPr lang="en-US" altLang="zh-CN" sz="2400" kern="100" dirty="0" smtClean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endParaRPr lang="en-US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endParaRPr lang="en-US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endParaRPr lang="en-US" altLang="zh-CN" sz="2400" kern="100" dirty="0" smtClean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endParaRPr lang="en-US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zh-CN" altLang="zh-CN" sz="2400" kern="100" dirty="0" smtClean="0">
                <a:latin typeface="Times New Roman" panose="02020603050405020304"/>
                <a:ea typeface="宋体" panose="02010600030101010101" pitchFamily="2" charset="-122"/>
              </a:rPr>
              <a:t>当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求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sum[1][5]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时处于中点的村庄是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，而村庄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1~4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到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的距离即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sum[1][4]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之前已经求出，故只需再加上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5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到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的距离即可。同理求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sum[1][6]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的时候也可以用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sum[1][5]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加上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6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到中点的距离。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故有递推关系：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sum[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][j]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sum[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][j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p[j]</a:t>
            </a:r>
            <a:r>
              <a:rPr lang="en-US" altLang="zh-CN" sz="18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p[(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j)/2]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　</a:t>
            </a:r>
            <a:endParaRPr lang="zh-CN" altLang="zh-CN" sz="20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823" y="1330501"/>
            <a:ext cx="6082431" cy="855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左大括号 1"/>
          <p:cNvSpPr/>
          <p:nvPr/>
        </p:nvSpPr>
        <p:spPr>
          <a:xfrm rot="5400000">
            <a:off x="3989893" y="-966265"/>
            <a:ext cx="433635" cy="4378751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564" y="0"/>
            <a:ext cx="904030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algn="just">
              <a:spcAft>
                <a:spcPts val="0"/>
              </a:spcAft>
            </a:pP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建多个邮局时，将该问题拆分为若干子问题，即在前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个村庄中建立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j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个邮局的最短距离，是在前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k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k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＜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）个村庄中建立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j-1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个邮局的最短距离与在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k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到第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个邮局建立一个邮局的最短距离的和。</a:t>
            </a:r>
          </a:p>
          <a:p>
            <a:pPr indent="304800" algn="just">
              <a:spcAft>
                <a:spcPts val="0"/>
              </a:spcAft>
            </a:pP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故开辟数组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dp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[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][j]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表示在前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个村庄中建立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j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个邮局的最短距离，则动态转移方程为：</a:t>
            </a:r>
          </a:p>
          <a:p>
            <a:pPr indent="304800" algn="just">
              <a:spcAft>
                <a:spcPts val="0"/>
              </a:spcAft>
            </a:pP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dp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[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][j]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min(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dp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[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][j]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dp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[k][j-1]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sum[k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1][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]) </a:t>
            </a:r>
          </a:p>
          <a:p>
            <a:pPr indent="304800" algn="just">
              <a:spcAft>
                <a:spcPts val="0"/>
              </a:spcAft>
            </a:pP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边界状态：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dp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[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][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]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0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dp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[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][1]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sum[1][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]</a:t>
            </a:r>
          </a:p>
          <a:p>
            <a:pPr indent="304800" algn="just">
              <a:spcAft>
                <a:spcPts val="0"/>
              </a:spcAft>
            </a:pP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例如：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dp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[10][3]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dp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[6][2]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sum[7][10]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，表示在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1~10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的区间建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个邮局可以由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1~6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的区间建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个邮局加上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7~10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的区间建一个邮局转化而来。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564" y="0"/>
            <a:ext cx="910843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V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++)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nb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</a:t>
            </a:r>
            <a:r>
              <a:rPr lang="nb-NO" altLang="zh-CN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nb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nb-NO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nb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j</a:t>
            </a:r>
            <a:r>
              <a:rPr lang="nb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nb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nb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nb-NO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nb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b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j</a:t>
            </a:r>
            <a:r>
              <a:rPr lang="nb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nb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V</a:t>
            </a:r>
            <a:r>
              <a:rPr lang="nb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b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j</a:t>
            </a:r>
            <a:r>
              <a:rPr lang="nb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++)</a:t>
            </a:r>
            <a:endParaRPr lang="nb-NO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sum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sum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]+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pos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]-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pos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[(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)/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2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nn-NO" altLang="zh-CN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nn-NO" altLang="zh-CN" sz="20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nn-NO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V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</a:t>
            </a:r>
            <a:endParaRPr lang="nn-NO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zh-CN" alt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{</a:t>
            </a:r>
            <a:endParaRPr lang="zh-CN" alt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dp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dp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sum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zh-CN" alt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}</a:t>
            </a:r>
            <a:endParaRPr lang="zh-CN" alt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j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2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j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P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            </a:t>
            </a:r>
            <a:r>
              <a:rPr lang="en-US" altLang="zh-CN" sz="20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枚举邮局 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V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        </a:t>
            </a:r>
            <a:r>
              <a:rPr lang="en-US" altLang="zh-CN" sz="20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枚举村庄 </a:t>
            </a:r>
          </a:p>
          <a:p>
            <a:r>
              <a:rPr lang="zh-CN" alt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{</a:t>
            </a:r>
            <a:endParaRPr lang="zh-CN" alt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dp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0x3f3f3f3f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k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k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k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  dp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min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dp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],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dp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k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</a:t>
            </a:r>
            <a:r>
              <a:rPr lang="nn-NO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]+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sum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k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nn-NO" altLang="zh-CN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]);</a:t>
            </a:r>
            <a:endParaRPr lang="nn-NO" altLang="zh-CN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zh-CN" alt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}</a:t>
            </a:r>
            <a:endParaRPr lang="zh-CN" alt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cout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&lt;&lt;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dp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V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P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]&lt;&lt;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</a:rPr>
              <a:t>'\n'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zh-CN" altLang="zh-CN" sz="18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5-0315-3小清新手绘唯美教育教学PPT模板"/>
  <p:tag name="KSO_WPP_MARK_KEY" val="2dffde61-cfa9-4e66-88c5-1b718bbf0401"/>
  <p:tag name="COMMONDATA" val="eyJoZGlkIjoiZWNkNzQwYjliNGZkYjkxNzQ5NTNjZWEyZGU4NWM2NWIifQ=="/>
</p:tagLst>
</file>

<file path=ppt/theme/theme1.xml><?xml version="1.0" encoding="utf-8"?>
<a:theme xmlns:a="http://schemas.openxmlformats.org/drawingml/2006/main" name="AAAAAAAAAAAAAAAAAAAAAAAAAAA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795</Words>
  <Application>Microsoft Office PowerPoint</Application>
  <PresentationFormat>全屏显示(16:9)</PresentationFormat>
  <Paragraphs>55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Source Han Serif SC</vt:lpstr>
      <vt:lpstr>YaHei Consolas Hybrid</vt:lpstr>
      <vt:lpstr>等线</vt:lpstr>
      <vt:lpstr>等线 Light</vt:lpstr>
      <vt:lpstr>宋体</vt:lpstr>
      <vt:lpstr>微软雅黑</vt:lpstr>
      <vt:lpstr>Arial</vt:lpstr>
      <vt:lpstr>Calibri</vt:lpstr>
      <vt:lpstr>Calibri Light</vt:lpstr>
      <vt:lpstr>Courier New</vt:lpstr>
      <vt:lpstr>Times New Roman</vt:lpstr>
      <vt:lpstr>AAAAAAAAAAAAAAAAAAAAAAAAAAA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5-0315-3小清新手绘唯美教育教学PPT模板</dc:title>
  <dc:creator>Administrator</dc:creator>
  <cp:lastModifiedBy>微软用户</cp:lastModifiedBy>
  <cp:revision>200</cp:revision>
  <dcterms:created xsi:type="dcterms:W3CDTF">2019-03-15T02:52:00Z</dcterms:created>
  <dcterms:modified xsi:type="dcterms:W3CDTF">2024-10-12T09:51:53Z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A39BDEB3708A40B293E40D2A866AC7A0</vt:lpwstr>
  </property>
  <property fmtid="{D5CDD505-2E9C-101B-9397-08002B2CF9AE}" pid="3" name="KSOProductBuildVer">
    <vt:lpwstr>2052-11.1.0.12763</vt:lpwstr>
  </property>
</Properties>
</file>